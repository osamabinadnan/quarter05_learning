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12192000"/>
  <p:embeddedFontLst>
    <p:embeddedFont>
      <p:font typeface="IBM Plex Sans"/>
      <p:regular r:id="rId22"/>
      <p:bold r:id="rId23"/>
      <p:italic r:id="rId24"/>
      <p:boldItalic r:id="rId25"/>
    </p:embeddedFont>
    <p:embeddedFont>
      <p:font typeface="Space Grotesk"/>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IBMPlexSans-regular.fntdata"/><Relationship Id="rId21" Type="http://schemas.openxmlformats.org/officeDocument/2006/relationships/slide" Target="slides/slide17.xml"/><Relationship Id="rId24" Type="http://schemas.openxmlformats.org/officeDocument/2006/relationships/font" Target="fonts/IBMPlexSans-italic.fntdata"/><Relationship Id="rId23" Type="http://schemas.openxmlformats.org/officeDocument/2006/relationships/font" Target="fonts/IBMPlex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SpaceGrotesk-regular.fntdata"/><Relationship Id="rId25" Type="http://schemas.openxmlformats.org/officeDocument/2006/relationships/font" Target="fonts/IBMPlexSans-boldItalic.fntdata"/><Relationship Id="rId27" Type="http://schemas.openxmlformats.org/officeDocument/2006/relationships/font" Target="fonts/SpaceGrotesk-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the class up front: there are exactly eight ideas, each one answers a question, and each one gets a real example.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which helper broke a rule? None — the hospital never made one.</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rules problem, not a smartness problem. Say it out loud.</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Come back to this slide between concepts so students always know where they are.</a:t>
            </a:r>
            <a:endParaRPr/>
          </a:p>
        </p:txBody>
      </p:sp>
      <p:sp>
        <p:nvSpPr>
          <p:cNvPr id="92" name="Google Shape;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 just means: the copy that settles an argument.</a:t>
            </a:r>
            <a:endParaRPr/>
          </a:p>
        </p:txBody>
      </p:sp>
      <p:sp>
        <p:nvSpPr>
          <p:cNvPr id="141" name="Google Shape;14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good helper reads the rule from the book, then checks today's numbers elsewhere.</a:t>
            </a:r>
            <a:endParaRPr/>
          </a:p>
        </p:txBody>
      </p:sp>
      <p:sp>
        <p:nvSpPr>
          <p:cNvPr id="179" name="Google Shape;17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at the version stamp: this is how you know version 3 lost.</a:t>
            </a:r>
            <a:endParaRPr/>
          </a:p>
        </p:txBody>
      </p:sp>
      <p:sp>
        <p:nvSpPr>
          <p:cNvPr id="221" name="Google Shape;22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search tools only ask check one. Asking check two is what makes this a record.</a:t>
            </a:r>
            <a:endParaRPr/>
          </a:p>
        </p:txBody>
      </p:sp>
      <p:sp>
        <p:nvSpPr>
          <p:cNvPr id="263" name="Google Shape;2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people read 'I don't know' as failing. Here it is the designed behaviour.</a:t>
            </a:r>
            <a:endParaRPr/>
          </a:p>
        </p:txBody>
      </p:sp>
      <p:sp>
        <p:nvSpPr>
          <p:cNvPr id="301" name="Google Shape;30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how you answer 'why did the computer say that?' six months later.</a:t>
            </a:r>
            <a:endParaRPr/>
          </a:p>
        </p:txBody>
      </p:sp>
      <p:sp>
        <p:nvSpPr>
          <p:cNvPr id="337" name="Google Shape;33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on Wednesday, what would a helper say? Nothing. It cannot see it.</a:t>
            </a:r>
            <a:endParaRPr/>
          </a:p>
        </p:txBody>
      </p:sp>
      <p:sp>
        <p:nvSpPr>
          <p:cNvPr id="374" name="Google Shape;37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 this back to the opening problem — it is the same failure, prevented.</a:t>
            </a:r>
            <a:endParaRPr/>
          </a:p>
        </p:txBody>
      </p:sp>
      <p:sp>
        <p:nvSpPr>
          <p:cNvPr id="417" name="Google Shape;41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honest part: the system tells you which promise you are getting, instead of pretending they are equal.</a:t>
            </a:r>
            <a:endParaRPr/>
          </a:p>
        </p:txBody>
      </p:sp>
      <p:sp>
        <p:nvSpPr>
          <p:cNvPr id="463" name="Google Shape;46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Without this line, two students in one class quietly end up on two different courses.</a:t>
            </a:r>
            <a:endParaRPr/>
          </a:p>
        </p:txBody>
      </p:sp>
      <p:sp>
        <p:nvSpPr>
          <p:cNvPr id="494" name="Google Shape;49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Put slide 2 and slide 16 side by side. That contrast is the whole lesson.</a:t>
            </a:r>
            <a:endParaRPr/>
          </a:p>
        </p:txBody>
      </p:sp>
      <p:sp>
        <p:nvSpPr>
          <p:cNvPr id="515" name="Google Shape;51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End here. Do not add a summary slide — slide 16 already was one.</a:t>
            </a:r>
            <a:endParaRPr/>
          </a:p>
        </p:txBody>
      </p:sp>
      <p:sp>
        <p:nvSpPr>
          <p:cNvPr id="550" name="Google Shape;55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f86e2ce572_0_4:notes"/>
          <p:cNvSpPr/>
          <p:nvPr>
            <p:ph idx="2" type="sldImg"/>
          </p:nvPr>
        </p:nvSpPr>
        <p:spPr>
          <a:xfrm>
            <a:off x="457200" y="762000"/>
            <a:ext cx="3657600" cy="2057400"/>
          </a:xfrm>
          <a:custGeom>
            <a:rect b="b" l="l" r="r" t="t"/>
            <a:pathLst>
              <a:path extrusionOk="0" h="120000" w="120000">
                <a:moveTo>
                  <a:pt x="0" y="0"/>
                </a:moveTo>
                <a:lnTo>
                  <a:pt x="120000" y="0"/>
                </a:lnTo>
                <a:lnTo>
                  <a:pt x="120000" y="120000"/>
                </a:lnTo>
                <a:lnTo>
                  <a:pt x="0" y="120000"/>
                </a:lnTo>
                <a:close/>
              </a:path>
            </a:pathLst>
          </a:custGeom>
          <a:noFill/>
          <a:ln cap="flat" cmpd="sng" w="8475">
            <a:solidFill>
              <a:srgbClr val="000000"/>
            </a:solidFill>
            <a:prstDash val="solid"/>
            <a:round/>
            <a:headEnd len="sm" w="sm" type="none"/>
            <a:tailEnd len="sm" w="sm" type="none"/>
          </a:ln>
        </p:spPr>
      </p:sp>
      <p:sp>
        <p:nvSpPr>
          <p:cNvPr id="560" name="Google Shape;560;g3f86e2ce572_0_4:notes"/>
          <p:cNvSpPr txBox="1"/>
          <p:nvPr>
            <p:ph idx="1" type="body"/>
          </p:nvPr>
        </p:nvSpPr>
        <p:spPr>
          <a:xfrm>
            <a:off x="457200" y="2933700"/>
            <a:ext cx="3657600" cy="2400300"/>
          </a:xfrm>
          <a:prstGeom prst="rect">
            <a:avLst/>
          </a:prstGeom>
          <a:noFill/>
          <a:ln>
            <a:noFill/>
          </a:ln>
        </p:spPr>
        <p:txBody>
          <a:bodyPr anchorCtr="0" anchor="t" bIns="30475" lIns="60950" spcFirstLastPara="1" rIns="60950" wrap="square" tIns="30475">
            <a:noAutofit/>
          </a:bodyPr>
          <a:lstStyle/>
          <a:p>
            <a:pPr indent="0" lvl="0" marL="0" rtl="0" algn="l">
              <a:spcBef>
                <a:spcPts val="0"/>
              </a:spcBef>
              <a:spcAft>
                <a:spcPts val="0"/>
              </a:spcAft>
              <a:buNone/>
            </a:pPr>
            <a:r>
              <a:rPr lang="en-US"/>
              <a:t>SAY: DEMO BEAT. Run it live: init, install, dev, then open localhost:3000 and edit a Markdown file so the room sees the site reload. Node 24 or newer is the only prerequisite. Nothing is downloaded at build time and nothing phones home. FALLBACK if the demo cannot run: talk over this slide as a screenshot and describe the reload rather than showing it.  ||  LIKELY OBJECTION: What happens when we outgrow flat files?  ||  ANSWER: You add the database rung when agents need to query it — provision once, refresh to publish, serve. Publishing stays a deliberate act, not a side effect of starting a server.</a:t>
            </a:r>
            <a:endParaRPr/>
          </a:p>
        </p:txBody>
      </p:sp>
      <p:sp>
        <p:nvSpPr>
          <p:cNvPr id="561" name="Google Shape;561;g3f86e2ce572_0_4:notes"/>
          <p:cNvSpPr txBox="1"/>
          <p:nvPr>
            <p:ph idx="12" type="sldNum"/>
          </p:nvPr>
        </p:nvSpPr>
        <p:spPr>
          <a:xfrm>
            <a:off x="2589742" y="5790142"/>
            <a:ext cx="1981200" cy="305700"/>
          </a:xfrm>
          <a:prstGeom prst="rect">
            <a:avLst/>
          </a:prstGeom>
          <a:noFill/>
          <a:ln>
            <a:noFill/>
          </a:ln>
        </p:spPr>
        <p:txBody>
          <a:bodyPr anchorCtr="0" anchor="b" bIns="30475" lIns="60950" spcFirstLastPara="1" rIns="60950" wrap="square" tIns="304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B39"/>
        </a:solidFill>
      </p:bgPr>
    </p:bg>
    <p:spTree>
      <p:nvGrpSpPr>
        <p:cNvPr id="15" name="Shape 15"/>
        <p:cNvGrpSpPr/>
        <p:nvPr/>
      </p:nvGrpSpPr>
      <p:grpSpPr>
        <a:xfrm>
          <a:off x="0" y="0"/>
          <a:ext cx="0" cy="0"/>
          <a:chOff x="0" y="0"/>
          <a:chExt cx="0" cy="0"/>
        </a:xfrm>
      </p:grpSpPr>
      <p:sp>
        <p:nvSpPr>
          <p:cNvPr id="16" name="Google Shape;16;p3"/>
          <p:cNvSpPr/>
          <p:nvPr/>
        </p:nvSpPr>
        <p:spPr>
          <a:xfrm>
            <a:off x="8778240" y="822960"/>
            <a:ext cx="3566160" cy="3566160"/>
          </a:xfrm>
          <a:prstGeom prst="ellipse">
            <a:avLst/>
          </a:prstGeom>
          <a:solidFill>
            <a:srgbClr val="FFFFFF">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9646920" y="1691640"/>
            <a:ext cx="1828800" cy="1828800"/>
          </a:xfrm>
          <a:prstGeom prst="ellipse">
            <a:avLst/>
          </a:prstGeom>
          <a:solidFill>
            <a:srgbClr val="0F6E56">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nvSpPr>
        <p:spPr>
          <a:xfrm>
            <a:off x="685800" y="1417320"/>
            <a:ext cx="7315200" cy="274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CFC5"/>
              </a:buClr>
              <a:buSzPts val="1100"/>
              <a:buFont typeface="Calibri"/>
              <a:buNone/>
            </a:pPr>
            <a:r>
              <a:rPr b="1" i="0" lang="en-US" sz="1100" u="none" cap="none" strike="noStrike">
                <a:solidFill>
                  <a:srgbClr val="A9CFC5"/>
                </a:solidFill>
                <a:latin typeface="Calibri"/>
                <a:ea typeface="Calibri"/>
                <a:cs typeface="Calibri"/>
                <a:sym typeface="Calibri"/>
              </a:rPr>
              <a:t>A LESSON ABOUT </a:t>
            </a:r>
            <a:r>
              <a:rPr b="1" lang="en-US" sz="1100">
                <a:solidFill>
                  <a:srgbClr val="A9CFC5"/>
                </a:solidFill>
                <a:latin typeface="Calibri"/>
                <a:ea typeface="Calibri"/>
                <a:cs typeface="Calibri"/>
                <a:sym typeface="Calibri"/>
              </a:rPr>
              <a:t>KSoR (Knowledge System of Record)</a:t>
            </a:r>
            <a:endParaRPr b="0" i="0" sz="1100" u="none" cap="none" strike="noStrike">
              <a:solidFill>
                <a:schemeClr val="dk1"/>
              </a:solidFill>
              <a:latin typeface="Calibri"/>
              <a:ea typeface="Calibri"/>
              <a:cs typeface="Calibri"/>
              <a:sym typeface="Calibri"/>
            </a:endParaRPr>
          </a:p>
        </p:txBody>
      </p:sp>
      <p:sp>
        <p:nvSpPr>
          <p:cNvPr id="19" name="Google Shape;19;p3"/>
          <p:cNvSpPr txBox="1"/>
          <p:nvPr/>
        </p:nvSpPr>
        <p:spPr>
          <a:xfrm>
            <a:off x="685800" y="1847088"/>
            <a:ext cx="8046720" cy="20116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One Book</a:t>
            </a:r>
            <a:endParaRPr b="0" i="0" sz="4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Everyone Must Follow</a:t>
            </a:r>
            <a:endParaRPr b="0" i="0" sz="4400" u="none" cap="none" strike="noStrike">
              <a:solidFill>
                <a:schemeClr val="dk1"/>
              </a:solidFill>
              <a:latin typeface="Calibri"/>
              <a:ea typeface="Calibri"/>
              <a:cs typeface="Calibri"/>
              <a:sym typeface="Calibri"/>
            </a:endParaRPr>
          </a:p>
        </p:txBody>
      </p:sp>
      <p:sp>
        <p:nvSpPr>
          <p:cNvPr id="20" name="Google Shape;20;p3"/>
          <p:cNvSpPr txBox="1"/>
          <p:nvPr/>
        </p:nvSpPr>
        <p:spPr>
          <a:xfrm>
            <a:off x="685800" y="3950208"/>
            <a:ext cx="7680960"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CFC5"/>
              </a:buClr>
              <a:buSzPts val="1800"/>
              <a:buFont typeface="Calibri"/>
              <a:buNone/>
            </a:pPr>
            <a:r>
              <a:rPr b="0" i="0" lang="en-US" sz="1800" u="none" cap="none" strike="noStrike">
                <a:solidFill>
                  <a:srgbClr val="A9CFC5"/>
                </a:solidFill>
                <a:latin typeface="Calibri"/>
                <a:ea typeface="Calibri"/>
                <a:cs typeface="Calibri"/>
                <a:sym typeface="Calibri"/>
              </a:rPr>
              <a:t>Eight ideas that stop a computer from making things up.</a:t>
            </a:r>
            <a:endParaRPr b="0" i="0" sz="1800" u="none" cap="none" strike="noStrike">
              <a:solidFill>
                <a:schemeClr val="dk1"/>
              </a:solidFill>
              <a:latin typeface="Calibri"/>
              <a:ea typeface="Calibri"/>
              <a:cs typeface="Calibri"/>
              <a:sym typeface="Calibri"/>
            </a:endParaRPr>
          </a:p>
        </p:txBody>
      </p:sp>
      <p:sp>
        <p:nvSpPr>
          <p:cNvPr id="21" name="Google Shape;21;p3"/>
          <p:cNvSpPr/>
          <p:nvPr/>
        </p:nvSpPr>
        <p:spPr>
          <a:xfrm>
            <a:off x="685800" y="4828032"/>
            <a:ext cx="7863840" cy="859536"/>
          </a:xfrm>
          <a:prstGeom prst="roundRect">
            <a:avLst>
              <a:gd fmla="val 10638" name="adj"/>
            </a:avLst>
          </a:prstGeom>
          <a:solidFill>
            <a:srgbClr val="1150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txBox="1"/>
          <p:nvPr/>
        </p:nvSpPr>
        <p:spPr>
          <a:xfrm>
            <a:off x="1051560" y="4828032"/>
            <a:ext cx="7132320" cy="85953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We will follow one hospital the whole way through. The grown-up name for the book is a Knowledge System of Record — KSoR for short.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4"/>
          <p:cNvSpPr/>
          <p:nvPr/>
        </p:nvSpPr>
        <p:spPr>
          <a:xfrm>
            <a:off x="685800" y="420624"/>
            <a:ext cx="603504" cy="603504"/>
          </a:xfrm>
          <a:prstGeom prst="ellipse">
            <a:avLst/>
          </a:prstGeom>
          <a:solidFill>
            <a:srgbClr val="B34A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4"/>
          <p:cNvPicPr preferRelativeResize="0"/>
          <p:nvPr/>
        </p:nvPicPr>
        <p:blipFill rotWithShape="1">
          <a:blip r:embed="rId3">
            <a:alphaModFix/>
          </a:blip>
          <a:srcRect b="0" l="0" r="0" t="0"/>
          <a:stretch/>
        </p:blipFill>
        <p:spPr>
          <a:xfrm>
            <a:off x="854781" y="589605"/>
            <a:ext cx="265542" cy="265542"/>
          </a:xfrm>
          <a:prstGeom prst="rect">
            <a:avLst/>
          </a:prstGeom>
          <a:noFill/>
          <a:ln>
            <a:noFill/>
          </a:ln>
        </p:spPr>
      </p:pic>
      <p:sp>
        <p:nvSpPr>
          <p:cNvPr id="30" name="Google Shape;30;p4"/>
          <p:cNvSpPr txBox="1"/>
          <p:nvPr/>
        </p:nvSpPr>
        <p:spPr>
          <a:xfrm>
            <a:off x="1545336" y="384048"/>
            <a:ext cx="9930384" cy="6583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3100"/>
              <a:buFont typeface="Cambria"/>
              <a:buNone/>
            </a:pPr>
            <a:r>
              <a:rPr b="1" i="0" lang="en-US" sz="3100" u="none" cap="none" strike="noStrike">
                <a:solidFill>
                  <a:srgbClr val="0B3B39"/>
                </a:solidFill>
                <a:latin typeface="Cambria"/>
                <a:ea typeface="Cambria"/>
                <a:cs typeface="Cambria"/>
                <a:sym typeface="Cambria"/>
              </a:rPr>
              <a:t>Three helpers. Three different answers.</a:t>
            </a:r>
            <a:endParaRPr b="0" i="0" sz="3100" u="none" cap="none" strike="noStrike">
              <a:solidFill>
                <a:schemeClr val="dk1"/>
              </a:solidFill>
              <a:latin typeface="Calibri"/>
              <a:ea typeface="Calibri"/>
              <a:cs typeface="Calibri"/>
              <a:sym typeface="Calibri"/>
            </a:endParaRPr>
          </a:p>
        </p:txBody>
      </p:sp>
      <p:sp>
        <p:nvSpPr>
          <p:cNvPr id="31" name="Google Shape;31;p4"/>
          <p:cNvSpPr txBox="1"/>
          <p:nvPr/>
        </p:nvSpPr>
        <p:spPr>
          <a:xfrm>
            <a:off x="685800" y="1133856"/>
            <a:ext cx="10789920"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500"/>
              <a:buFont typeface="Calibri"/>
              <a:buNone/>
            </a:pPr>
            <a:r>
              <a:rPr b="0" i="0" lang="en-US" sz="1500" u="none" cap="none" strike="noStrike">
                <a:solidFill>
                  <a:srgbClr val="51706B"/>
                </a:solidFill>
                <a:latin typeface="Calibri"/>
                <a:ea typeface="Calibri"/>
                <a:cs typeface="Calibri"/>
                <a:sym typeface="Calibri"/>
              </a:rPr>
              <a:t>A hospital gets three AI helpers. A nurse asks all three the same question:</a:t>
            </a:r>
            <a:endParaRPr b="0" i="0" sz="1500" u="none" cap="none" strike="noStrike">
              <a:solidFill>
                <a:schemeClr val="dk1"/>
              </a:solidFill>
              <a:latin typeface="Calibri"/>
              <a:ea typeface="Calibri"/>
              <a:cs typeface="Calibri"/>
              <a:sym typeface="Calibri"/>
            </a:endParaRPr>
          </a:p>
        </p:txBody>
      </p:sp>
      <p:sp>
        <p:nvSpPr>
          <p:cNvPr id="32" name="Google Shape;32;p4"/>
          <p:cNvSpPr/>
          <p:nvPr/>
        </p:nvSpPr>
        <p:spPr>
          <a:xfrm>
            <a:off x="685800" y="1554480"/>
            <a:ext cx="10789920" cy="640080"/>
          </a:xfrm>
          <a:prstGeom prst="roundRect">
            <a:avLst>
              <a:gd fmla="val 14286"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txBox="1"/>
          <p:nvPr/>
        </p:nvSpPr>
        <p:spPr>
          <a:xfrm>
            <a:off x="1005840" y="1554480"/>
            <a:ext cx="10149840" cy="640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94B3C"/>
              </a:buClr>
              <a:buSzPts val="1900"/>
              <a:buFont typeface="Cambria"/>
              <a:buNone/>
            </a:pPr>
            <a:r>
              <a:rPr b="1" i="0" lang="en-US" sz="1900" u="none" cap="none" strike="noStrike">
                <a:solidFill>
                  <a:srgbClr val="094B3C"/>
                </a:solidFill>
                <a:latin typeface="Cambria"/>
                <a:ea typeface="Cambria"/>
                <a:cs typeface="Cambria"/>
                <a:sym typeface="Cambria"/>
              </a:rPr>
              <a:t>“How much medicine dosage is safe for a six-year-old?”</a:t>
            </a:r>
            <a:endParaRPr b="0" i="0" sz="1900" u="none" cap="none" strike="noStrike">
              <a:solidFill>
                <a:schemeClr val="dk1"/>
              </a:solidFill>
              <a:latin typeface="Calibri"/>
              <a:ea typeface="Calibri"/>
              <a:cs typeface="Calibri"/>
              <a:sym typeface="Calibri"/>
            </a:endParaRPr>
          </a:p>
        </p:txBody>
      </p:sp>
      <p:sp>
        <p:nvSpPr>
          <p:cNvPr id="34" name="Google Shape;34;p4"/>
          <p:cNvSpPr/>
          <p:nvPr/>
        </p:nvSpPr>
        <p:spPr>
          <a:xfrm>
            <a:off x="685800" y="2377440"/>
            <a:ext cx="3401568" cy="1755648"/>
          </a:xfrm>
          <a:prstGeom prst="roundRect">
            <a:avLst>
              <a:gd fmla="val 5208"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996696" y="2615184"/>
            <a:ext cx="402336" cy="402336"/>
          </a:xfrm>
          <a:prstGeom prst="ellipse">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txBox="1"/>
          <p:nvPr/>
        </p:nvSpPr>
        <p:spPr>
          <a:xfrm>
            <a:off x="996696" y="26151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B34A2B"/>
              </a:buClr>
              <a:buSzPts val="1400"/>
              <a:buFont typeface="Cambria"/>
              <a:buNone/>
            </a:pPr>
            <a:r>
              <a:rPr b="1" i="0" lang="en-US" sz="1400" u="none" cap="none" strike="noStrike">
                <a:solidFill>
                  <a:srgbClr val="B34A2B"/>
                </a:solidFill>
                <a:latin typeface="Cambria"/>
                <a:ea typeface="Cambria"/>
                <a:cs typeface="Cambria"/>
                <a:sym typeface="Cambria"/>
              </a:rPr>
              <a:t>A</a:t>
            </a:r>
            <a:endParaRPr b="0" i="0" sz="1400" u="none" cap="none" strike="noStrike">
              <a:solidFill>
                <a:schemeClr val="dk1"/>
              </a:solidFill>
              <a:latin typeface="Calibri"/>
              <a:ea typeface="Calibri"/>
              <a:cs typeface="Calibri"/>
              <a:sym typeface="Calibri"/>
            </a:endParaRPr>
          </a:p>
        </p:txBody>
      </p:sp>
      <p:sp>
        <p:nvSpPr>
          <p:cNvPr id="37" name="Google Shape;37;p4"/>
          <p:cNvSpPr txBox="1"/>
          <p:nvPr/>
        </p:nvSpPr>
        <p:spPr>
          <a:xfrm>
            <a:off x="996696" y="3163824"/>
            <a:ext cx="2779776" cy="274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Helper A</a:t>
            </a:r>
            <a:endParaRPr b="0" i="0" sz="1600" u="none" cap="none" strike="noStrike">
              <a:solidFill>
                <a:schemeClr val="dk1"/>
              </a:solidFill>
              <a:latin typeface="Calibri"/>
              <a:ea typeface="Calibri"/>
              <a:cs typeface="Calibri"/>
              <a:sym typeface="Calibri"/>
            </a:endParaRPr>
          </a:p>
        </p:txBody>
      </p:sp>
      <p:sp>
        <p:nvSpPr>
          <p:cNvPr id="38" name="Google Shape;38;p4"/>
          <p:cNvSpPr txBox="1"/>
          <p:nvPr/>
        </p:nvSpPr>
        <p:spPr>
          <a:xfrm>
            <a:off x="996696" y="3474720"/>
            <a:ext cx="2779776" cy="25603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302D"/>
              </a:buClr>
              <a:buSzPts val="1400"/>
              <a:buFont typeface="Calibri"/>
              <a:buNone/>
            </a:pPr>
            <a:r>
              <a:rPr b="1" i="0" lang="en-US" sz="1400" u="none" cap="none" strike="noStrike">
                <a:solidFill>
                  <a:srgbClr val="16302D"/>
                </a:solidFill>
                <a:latin typeface="Calibri"/>
                <a:ea typeface="Calibri"/>
                <a:cs typeface="Calibri"/>
                <a:sym typeface="Calibri"/>
              </a:rPr>
              <a:t>Says one amount.</a:t>
            </a:r>
            <a:endParaRPr b="0" i="0" sz="1400" u="none" cap="none" strike="noStrike">
              <a:solidFill>
                <a:schemeClr val="dk1"/>
              </a:solidFill>
              <a:latin typeface="Calibri"/>
              <a:ea typeface="Calibri"/>
              <a:cs typeface="Calibri"/>
              <a:sym typeface="Calibri"/>
            </a:endParaRPr>
          </a:p>
        </p:txBody>
      </p:sp>
      <p:sp>
        <p:nvSpPr>
          <p:cNvPr id="39" name="Google Shape;39;p4"/>
          <p:cNvSpPr txBox="1"/>
          <p:nvPr/>
        </p:nvSpPr>
        <p:spPr>
          <a:xfrm>
            <a:off x="996696" y="3749040"/>
            <a:ext cx="2779776" cy="31089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1706B"/>
              </a:buClr>
              <a:buSzPts val="1300"/>
              <a:buFont typeface="Calibri"/>
              <a:buNone/>
            </a:pPr>
            <a:r>
              <a:rPr b="0" i="0" lang="en-US" sz="1300" u="none" cap="none" strike="noStrike">
                <a:solidFill>
                  <a:srgbClr val="51706B"/>
                </a:solidFill>
                <a:latin typeface="Calibri"/>
                <a:ea typeface="Calibri"/>
                <a:cs typeface="Calibri"/>
                <a:sym typeface="Calibri"/>
              </a:rPr>
              <a:t>It learned this from an old book.</a:t>
            </a:r>
            <a:endParaRPr b="0" i="0" sz="1300" u="none" cap="none" strike="noStrike">
              <a:solidFill>
                <a:schemeClr val="dk1"/>
              </a:solidFill>
              <a:latin typeface="Calibri"/>
              <a:ea typeface="Calibri"/>
              <a:cs typeface="Calibri"/>
              <a:sym typeface="Calibri"/>
            </a:endParaRPr>
          </a:p>
        </p:txBody>
      </p:sp>
      <p:sp>
        <p:nvSpPr>
          <p:cNvPr id="40" name="Google Shape;40;p4"/>
          <p:cNvSpPr/>
          <p:nvPr/>
        </p:nvSpPr>
        <p:spPr>
          <a:xfrm>
            <a:off x="4379976" y="2377440"/>
            <a:ext cx="3401568" cy="1755648"/>
          </a:xfrm>
          <a:prstGeom prst="roundRect">
            <a:avLst>
              <a:gd fmla="val 5208"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4690872" y="2615184"/>
            <a:ext cx="402336" cy="402336"/>
          </a:xfrm>
          <a:prstGeom prst="ellipse">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txBox="1"/>
          <p:nvPr/>
        </p:nvSpPr>
        <p:spPr>
          <a:xfrm>
            <a:off x="4690872" y="26151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B34A2B"/>
              </a:buClr>
              <a:buSzPts val="1400"/>
              <a:buFont typeface="Cambria"/>
              <a:buNone/>
            </a:pPr>
            <a:r>
              <a:rPr b="1" i="0" lang="en-US" sz="1400" u="none" cap="none" strike="noStrike">
                <a:solidFill>
                  <a:srgbClr val="B34A2B"/>
                </a:solidFill>
                <a:latin typeface="Cambria"/>
                <a:ea typeface="Cambria"/>
                <a:cs typeface="Cambria"/>
                <a:sym typeface="Cambria"/>
              </a:rPr>
              <a:t>B</a:t>
            </a:r>
            <a:endParaRPr b="0" i="0" sz="1400" u="none" cap="none" strike="noStrike">
              <a:solidFill>
                <a:schemeClr val="dk1"/>
              </a:solidFill>
              <a:latin typeface="Calibri"/>
              <a:ea typeface="Calibri"/>
              <a:cs typeface="Calibri"/>
              <a:sym typeface="Calibri"/>
            </a:endParaRPr>
          </a:p>
        </p:txBody>
      </p:sp>
      <p:sp>
        <p:nvSpPr>
          <p:cNvPr id="43" name="Google Shape;43;p4"/>
          <p:cNvSpPr txBox="1"/>
          <p:nvPr/>
        </p:nvSpPr>
        <p:spPr>
          <a:xfrm>
            <a:off x="4690872" y="3163824"/>
            <a:ext cx="2779776" cy="274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Helper B</a:t>
            </a:r>
            <a:endParaRPr b="0" i="0" sz="1600" u="none" cap="none" strike="noStrike">
              <a:solidFill>
                <a:schemeClr val="dk1"/>
              </a:solidFill>
              <a:latin typeface="Calibri"/>
              <a:ea typeface="Calibri"/>
              <a:cs typeface="Calibri"/>
              <a:sym typeface="Calibri"/>
            </a:endParaRPr>
          </a:p>
        </p:txBody>
      </p:sp>
      <p:sp>
        <p:nvSpPr>
          <p:cNvPr id="44" name="Google Shape;44;p4"/>
          <p:cNvSpPr txBox="1"/>
          <p:nvPr/>
        </p:nvSpPr>
        <p:spPr>
          <a:xfrm>
            <a:off x="4690872" y="3474720"/>
            <a:ext cx="2779776" cy="25603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302D"/>
              </a:buClr>
              <a:buSzPts val="1400"/>
              <a:buFont typeface="Calibri"/>
              <a:buNone/>
            </a:pPr>
            <a:r>
              <a:rPr b="1" i="0" lang="en-US" sz="1400" u="none" cap="none" strike="noStrike">
                <a:solidFill>
                  <a:srgbClr val="16302D"/>
                </a:solidFill>
                <a:latin typeface="Calibri"/>
                <a:ea typeface="Calibri"/>
                <a:cs typeface="Calibri"/>
                <a:sym typeface="Calibri"/>
              </a:rPr>
              <a:t>Says a different amount.</a:t>
            </a:r>
            <a:endParaRPr b="0" i="0" sz="1400" u="none" cap="none" strike="noStrike">
              <a:solidFill>
                <a:schemeClr val="dk1"/>
              </a:solidFill>
              <a:latin typeface="Calibri"/>
              <a:ea typeface="Calibri"/>
              <a:cs typeface="Calibri"/>
              <a:sym typeface="Calibri"/>
            </a:endParaRPr>
          </a:p>
        </p:txBody>
      </p:sp>
      <p:sp>
        <p:nvSpPr>
          <p:cNvPr id="45" name="Google Shape;45;p4"/>
          <p:cNvSpPr txBox="1"/>
          <p:nvPr/>
        </p:nvSpPr>
        <p:spPr>
          <a:xfrm>
            <a:off x="4690872" y="3749040"/>
            <a:ext cx="2779776" cy="31089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1706B"/>
              </a:buClr>
              <a:buSzPts val="1300"/>
              <a:buFont typeface="Calibri"/>
              <a:buNone/>
            </a:pPr>
            <a:r>
              <a:rPr b="0" i="0" lang="en-US" sz="1300" u="none" cap="none" strike="noStrike">
                <a:solidFill>
                  <a:srgbClr val="51706B"/>
                </a:solidFill>
                <a:latin typeface="Calibri"/>
                <a:ea typeface="Calibri"/>
                <a:cs typeface="Calibri"/>
                <a:sym typeface="Calibri"/>
              </a:rPr>
              <a:t>It read this somewhere online.</a:t>
            </a:r>
            <a:endParaRPr b="0" i="0" sz="1300" u="none" cap="none" strike="noStrike">
              <a:solidFill>
                <a:schemeClr val="dk1"/>
              </a:solidFill>
              <a:latin typeface="Calibri"/>
              <a:ea typeface="Calibri"/>
              <a:cs typeface="Calibri"/>
              <a:sym typeface="Calibri"/>
            </a:endParaRPr>
          </a:p>
        </p:txBody>
      </p:sp>
      <p:sp>
        <p:nvSpPr>
          <p:cNvPr id="46" name="Google Shape;46;p4"/>
          <p:cNvSpPr/>
          <p:nvPr/>
        </p:nvSpPr>
        <p:spPr>
          <a:xfrm>
            <a:off x="8074152" y="2377440"/>
            <a:ext cx="3401568" cy="1755648"/>
          </a:xfrm>
          <a:prstGeom prst="roundRect">
            <a:avLst>
              <a:gd fmla="val 5208"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8385048" y="2615184"/>
            <a:ext cx="402336" cy="402336"/>
          </a:xfrm>
          <a:prstGeom prst="ellipse">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txBox="1"/>
          <p:nvPr/>
        </p:nvSpPr>
        <p:spPr>
          <a:xfrm>
            <a:off x="8385048" y="26151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B34A2B"/>
              </a:buClr>
              <a:buSzPts val="1400"/>
              <a:buFont typeface="Cambria"/>
              <a:buNone/>
            </a:pPr>
            <a:r>
              <a:rPr b="1" i="0" lang="en-US" sz="1400" u="none" cap="none" strike="noStrike">
                <a:solidFill>
                  <a:srgbClr val="B34A2B"/>
                </a:solidFill>
                <a:latin typeface="Cambria"/>
                <a:ea typeface="Cambria"/>
                <a:cs typeface="Cambria"/>
                <a:sym typeface="Cambria"/>
              </a:rPr>
              <a:t>C</a:t>
            </a:r>
            <a:endParaRPr b="0" i="0" sz="1400" u="none" cap="none" strike="noStrike">
              <a:solidFill>
                <a:schemeClr val="dk1"/>
              </a:solidFill>
              <a:latin typeface="Calibri"/>
              <a:ea typeface="Calibri"/>
              <a:cs typeface="Calibri"/>
              <a:sym typeface="Calibri"/>
            </a:endParaRPr>
          </a:p>
        </p:txBody>
      </p:sp>
      <p:sp>
        <p:nvSpPr>
          <p:cNvPr id="49" name="Google Shape;49;p4"/>
          <p:cNvSpPr txBox="1"/>
          <p:nvPr/>
        </p:nvSpPr>
        <p:spPr>
          <a:xfrm>
            <a:off x="8385048" y="3163824"/>
            <a:ext cx="2779776" cy="274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Helper C</a:t>
            </a:r>
            <a:endParaRPr b="0" i="0" sz="1600" u="none" cap="none" strike="noStrike">
              <a:solidFill>
                <a:schemeClr val="dk1"/>
              </a:solidFill>
              <a:latin typeface="Calibri"/>
              <a:ea typeface="Calibri"/>
              <a:cs typeface="Calibri"/>
              <a:sym typeface="Calibri"/>
            </a:endParaRPr>
          </a:p>
        </p:txBody>
      </p:sp>
      <p:sp>
        <p:nvSpPr>
          <p:cNvPr id="50" name="Google Shape;50;p4"/>
          <p:cNvSpPr txBox="1"/>
          <p:nvPr/>
        </p:nvSpPr>
        <p:spPr>
          <a:xfrm>
            <a:off x="8385048" y="3474720"/>
            <a:ext cx="2779776" cy="25603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302D"/>
              </a:buClr>
              <a:buSzPts val="1400"/>
              <a:buFont typeface="Calibri"/>
              <a:buNone/>
            </a:pPr>
            <a:r>
              <a:rPr b="1" i="0" lang="en-US" sz="1400" u="none" cap="none" strike="noStrike">
                <a:solidFill>
                  <a:srgbClr val="16302D"/>
                </a:solidFill>
                <a:latin typeface="Calibri"/>
                <a:ea typeface="Calibri"/>
                <a:cs typeface="Calibri"/>
                <a:sym typeface="Calibri"/>
              </a:rPr>
              <a:t>Says a third amount.</a:t>
            </a:r>
            <a:endParaRPr b="0" i="0" sz="1400" u="none" cap="none" strike="noStrike">
              <a:solidFill>
                <a:schemeClr val="dk1"/>
              </a:solidFill>
              <a:latin typeface="Calibri"/>
              <a:ea typeface="Calibri"/>
              <a:cs typeface="Calibri"/>
              <a:sym typeface="Calibri"/>
            </a:endParaRPr>
          </a:p>
        </p:txBody>
      </p:sp>
      <p:sp>
        <p:nvSpPr>
          <p:cNvPr id="51" name="Google Shape;51;p4"/>
          <p:cNvSpPr txBox="1"/>
          <p:nvPr/>
        </p:nvSpPr>
        <p:spPr>
          <a:xfrm>
            <a:off x="8385048" y="3749040"/>
            <a:ext cx="2779776" cy="31089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1706B"/>
              </a:buClr>
              <a:buSzPts val="1300"/>
              <a:buFont typeface="Calibri"/>
              <a:buNone/>
            </a:pPr>
            <a:r>
              <a:rPr b="0" i="0" lang="en-US" sz="1300" u="none" cap="none" strike="noStrike">
                <a:solidFill>
                  <a:srgbClr val="51706B"/>
                </a:solidFill>
                <a:latin typeface="Calibri"/>
                <a:ea typeface="Calibri"/>
                <a:cs typeface="Calibri"/>
                <a:sym typeface="Calibri"/>
              </a:rPr>
              <a:t>It saw this in an old message.</a:t>
            </a:r>
            <a:endParaRPr b="0" i="0" sz="1300" u="none" cap="none" strike="noStrike">
              <a:solidFill>
                <a:schemeClr val="dk1"/>
              </a:solidFill>
              <a:latin typeface="Calibri"/>
              <a:ea typeface="Calibri"/>
              <a:cs typeface="Calibri"/>
              <a:sym typeface="Calibri"/>
            </a:endParaRPr>
          </a:p>
        </p:txBody>
      </p:sp>
      <p:sp>
        <p:nvSpPr>
          <p:cNvPr id="52" name="Google Shape;52;p4"/>
          <p:cNvSpPr/>
          <p:nvPr/>
        </p:nvSpPr>
        <p:spPr>
          <a:xfrm>
            <a:off x="685800" y="4315968"/>
            <a:ext cx="10789920" cy="1097280"/>
          </a:xfrm>
          <a:prstGeom prst="roundRect">
            <a:avLst>
              <a:gd fmla="val 8333"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996696" y="4553712"/>
            <a:ext cx="1463040" cy="274320"/>
          </a:xfrm>
          <a:prstGeom prst="roundRect">
            <a:avLst>
              <a:gd fmla="val 50000" name="adj"/>
            </a:avLst>
          </a:prstGeom>
          <a:solidFill>
            <a:srgbClr val="B34A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txBox="1"/>
          <p:nvPr/>
        </p:nvSpPr>
        <p:spPr>
          <a:xfrm>
            <a:off x="996696" y="4553712"/>
            <a:ext cx="1463040"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THE PROBLEM</a:t>
            </a:r>
            <a:endParaRPr b="0" i="0" sz="950" u="none" cap="none" strike="noStrike">
              <a:solidFill>
                <a:schemeClr val="dk1"/>
              </a:solidFill>
              <a:latin typeface="Calibri"/>
              <a:ea typeface="Calibri"/>
              <a:cs typeface="Calibri"/>
              <a:sym typeface="Calibri"/>
            </a:endParaRPr>
          </a:p>
        </p:txBody>
      </p:sp>
      <p:sp>
        <p:nvSpPr>
          <p:cNvPr id="55" name="Google Shape;55;p4"/>
          <p:cNvSpPr txBox="1"/>
          <p:nvPr/>
        </p:nvSpPr>
        <p:spPr>
          <a:xfrm>
            <a:off x="2624328" y="4480560"/>
            <a:ext cx="8540496" cy="3657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34A2B"/>
              </a:buClr>
              <a:buSzPts val="1800"/>
              <a:buFont typeface="Cambria"/>
              <a:buNone/>
            </a:pPr>
            <a:r>
              <a:rPr b="1" i="0" lang="en-US" sz="1800" u="none" cap="none" strike="noStrike">
                <a:solidFill>
                  <a:srgbClr val="B34A2B"/>
                </a:solidFill>
                <a:latin typeface="Cambria"/>
                <a:ea typeface="Cambria"/>
                <a:cs typeface="Cambria"/>
                <a:sym typeface="Cambria"/>
              </a:rPr>
              <a:t>All three sound sure. But only one can be right.</a:t>
            </a:r>
            <a:endParaRPr b="0" i="0" sz="1800" u="none" cap="none" strike="noStrike">
              <a:solidFill>
                <a:schemeClr val="dk1"/>
              </a:solidFill>
              <a:latin typeface="Calibri"/>
              <a:ea typeface="Calibri"/>
              <a:cs typeface="Calibri"/>
              <a:sym typeface="Calibri"/>
            </a:endParaRPr>
          </a:p>
        </p:txBody>
      </p:sp>
      <p:sp>
        <p:nvSpPr>
          <p:cNvPr id="56" name="Google Shape;56;p4"/>
          <p:cNvSpPr txBox="1"/>
          <p:nvPr/>
        </p:nvSpPr>
        <p:spPr>
          <a:xfrm>
            <a:off x="2624328" y="4882896"/>
            <a:ext cx="8540496" cy="3657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302D"/>
              </a:buClr>
              <a:buSzPts val="1450"/>
              <a:buFont typeface="Calibri"/>
              <a:buNone/>
            </a:pPr>
            <a:r>
              <a:rPr b="0" i="0" lang="en-US" sz="1450" u="none" cap="none" strike="noStrike">
                <a:solidFill>
                  <a:srgbClr val="16302D"/>
                </a:solidFill>
                <a:latin typeface="Calibri"/>
                <a:ea typeface="Calibri"/>
                <a:cs typeface="Calibri"/>
                <a:sym typeface="Calibri"/>
              </a:rPr>
              <a:t>Nobody in the hospital can say which one — and a wrong answer could hurt a child.</a:t>
            </a:r>
            <a:endParaRPr b="0" i="0" sz="1450" u="none" cap="none" strike="noStrike">
              <a:solidFill>
                <a:schemeClr val="dk1"/>
              </a:solidFill>
              <a:latin typeface="Calibri"/>
              <a:ea typeface="Calibri"/>
              <a:cs typeface="Calibri"/>
              <a:sym typeface="Calibri"/>
            </a:endParaRPr>
          </a:p>
        </p:txBody>
      </p:sp>
      <p:sp>
        <p:nvSpPr>
          <p:cNvPr id="57" name="Google Shape;57;p4"/>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60" name="Google Shape;60;p4"/>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When helpers disagree, someone has to decide who is right. Right now, nobody has.</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5"/>
          <p:cNvSpPr/>
          <p:nvPr/>
        </p:nvSpPr>
        <p:spPr>
          <a:xfrm>
            <a:off x="685800" y="420624"/>
            <a:ext cx="603504" cy="603504"/>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 name="Google Shape;67;p5"/>
          <p:cNvPicPr preferRelativeResize="0"/>
          <p:nvPr/>
        </p:nvPicPr>
        <p:blipFill rotWithShape="1">
          <a:blip r:embed="rId3">
            <a:alphaModFix/>
          </a:blip>
          <a:srcRect b="0" l="0" r="0" t="0"/>
          <a:stretch/>
        </p:blipFill>
        <p:spPr>
          <a:xfrm>
            <a:off x="854781" y="589605"/>
            <a:ext cx="265542" cy="265542"/>
          </a:xfrm>
          <a:prstGeom prst="rect">
            <a:avLst/>
          </a:prstGeom>
          <a:noFill/>
          <a:ln>
            <a:noFill/>
          </a:ln>
        </p:spPr>
      </p:pic>
      <p:sp>
        <p:nvSpPr>
          <p:cNvPr id="68" name="Google Shape;68;p5"/>
          <p:cNvSpPr txBox="1"/>
          <p:nvPr/>
        </p:nvSpPr>
        <p:spPr>
          <a:xfrm>
            <a:off x="1545336" y="384048"/>
            <a:ext cx="9930384" cy="6583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3100"/>
              <a:buFont typeface="Cambria"/>
              <a:buNone/>
            </a:pPr>
            <a:r>
              <a:rPr b="1" i="0" lang="en-US" sz="3100" u="none" cap="none" strike="noStrike">
                <a:solidFill>
                  <a:srgbClr val="0B3B39"/>
                </a:solidFill>
                <a:latin typeface="Cambria"/>
                <a:ea typeface="Cambria"/>
                <a:cs typeface="Cambria"/>
                <a:sym typeface="Cambria"/>
              </a:rPr>
              <a:t>Why did this happen?</a:t>
            </a:r>
            <a:endParaRPr b="0" i="0" sz="3100" u="none" cap="none" strike="noStrike">
              <a:solidFill>
                <a:schemeClr val="dk1"/>
              </a:solidFill>
              <a:latin typeface="Calibri"/>
              <a:ea typeface="Calibri"/>
              <a:cs typeface="Calibri"/>
              <a:sym typeface="Calibri"/>
            </a:endParaRPr>
          </a:p>
        </p:txBody>
      </p:sp>
      <p:sp>
        <p:nvSpPr>
          <p:cNvPr id="69" name="Google Shape;69;p5"/>
          <p:cNvSpPr txBox="1"/>
          <p:nvPr/>
        </p:nvSpPr>
        <p:spPr>
          <a:xfrm>
            <a:off x="685800" y="1133856"/>
            <a:ext cx="10789920"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500"/>
              <a:buFont typeface="Calibri"/>
              <a:buNone/>
            </a:pPr>
            <a:r>
              <a:rPr b="0" i="0" lang="en-US" sz="1500" u="none" cap="none" strike="noStrike">
                <a:solidFill>
                  <a:srgbClr val="51706B"/>
                </a:solidFill>
                <a:latin typeface="Calibri"/>
                <a:ea typeface="Calibri"/>
                <a:cs typeface="Calibri"/>
                <a:sym typeface="Calibri"/>
              </a:rPr>
              <a:t>Because each helper learned from a different place:</a:t>
            </a:r>
            <a:endParaRPr b="0" i="0" sz="1500" u="none" cap="none" strike="noStrike">
              <a:solidFill>
                <a:schemeClr val="dk1"/>
              </a:solidFill>
              <a:latin typeface="Calibri"/>
              <a:ea typeface="Calibri"/>
              <a:cs typeface="Calibri"/>
              <a:sym typeface="Calibri"/>
            </a:endParaRPr>
          </a:p>
        </p:txBody>
      </p:sp>
      <p:sp>
        <p:nvSpPr>
          <p:cNvPr id="70" name="Google Shape;70;p5"/>
          <p:cNvSpPr/>
          <p:nvPr/>
        </p:nvSpPr>
        <p:spPr>
          <a:xfrm>
            <a:off x="685800" y="1664208"/>
            <a:ext cx="2011680" cy="713232"/>
          </a:xfrm>
          <a:prstGeom prst="roundRect">
            <a:avLst>
              <a:gd fmla="val 12821"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txBox="1"/>
          <p:nvPr/>
        </p:nvSpPr>
        <p:spPr>
          <a:xfrm>
            <a:off x="777240" y="1664208"/>
            <a:ext cx="1828800" cy="713232"/>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51706B"/>
              </a:buClr>
              <a:buSzPts val="1350"/>
              <a:buFont typeface="Calibri"/>
              <a:buNone/>
            </a:pPr>
            <a:r>
              <a:rPr b="1" i="0" lang="en-US" sz="1350" u="none" cap="none" strike="noStrike">
                <a:solidFill>
                  <a:srgbClr val="51706B"/>
                </a:solidFill>
                <a:latin typeface="Calibri"/>
                <a:ea typeface="Calibri"/>
                <a:cs typeface="Calibri"/>
                <a:sym typeface="Calibri"/>
              </a:rPr>
              <a:t>An old wiki page</a:t>
            </a:r>
            <a:endParaRPr b="0" i="0" sz="1350" u="none" cap="none" strike="noStrike">
              <a:solidFill>
                <a:schemeClr val="dk1"/>
              </a:solidFill>
              <a:latin typeface="Calibri"/>
              <a:ea typeface="Calibri"/>
              <a:cs typeface="Calibri"/>
              <a:sym typeface="Calibri"/>
            </a:endParaRPr>
          </a:p>
        </p:txBody>
      </p:sp>
      <p:sp>
        <p:nvSpPr>
          <p:cNvPr id="72" name="Google Shape;72;p5"/>
          <p:cNvSpPr/>
          <p:nvPr/>
        </p:nvSpPr>
        <p:spPr>
          <a:xfrm>
            <a:off x="2880360" y="1664208"/>
            <a:ext cx="2011680" cy="713232"/>
          </a:xfrm>
          <a:prstGeom prst="roundRect">
            <a:avLst>
              <a:gd fmla="val 12821"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txBox="1"/>
          <p:nvPr/>
        </p:nvSpPr>
        <p:spPr>
          <a:xfrm>
            <a:off x="2971800" y="1664208"/>
            <a:ext cx="1828800" cy="713232"/>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51706B"/>
              </a:buClr>
              <a:buSzPts val="1350"/>
              <a:buFont typeface="Calibri"/>
              <a:buNone/>
            </a:pPr>
            <a:r>
              <a:rPr b="1" i="0" lang="en-US" sz="1350" u="none" cap="none" strike="noStrike">
                <a:solidFill>
                  <a:srgbClr val="51706B"/>
                </a:solidFill>
                <a:latin typeface="Calibri"/>
                <a:ea typeface="Calibri"/>
                <a:cs typeface="Calibri"/>
                <a:sym typeface="Calibri"/>
              </a:rPr>
              <a:t>A rule book PDF</a:t>
            </a:r>
            <a:endParaRPr b="0" i="0" sz="1350" u="none" cap="none" strike="noStrike">
              <a:solidFill>
                <a:schemeClr val="dk1"/>
              </a:solidFill>
              <a:latin typeface="Calibri"/>
              <a:ea typeface="Calibri"/>
              <a:cs typeface="Calibri"/>
              <a:sym typeface="Calibri"/>
            </a:endParaRPr>
          </a:p>
        </p:txBody>
      </p:sp>
      <p:sp>
        <p:nvSpPr>
          <p:cNvPr id="74" name="Google Shape;74;p5"/>
          <p:cNvSpPr/>
          <p:nvPr/>
        </p:nvSpPr>
        <p:spPr>
          <a:xfrm>
            <a:off x="5074920" y="1664208"/>
            <a:ext cx="2011680" cy="713232"/>
          </a:xfrm>
          <a:prstGeom prst="roundRect">
            <a:avLst>
              <a:gd fmla="val 12821"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txBox="1"/>
          <p:nvPr/>
        </p:nvSpPr>
        <p:spPr>
          <a:xfrm>
            <a:off x="5166360" y="1664208"/>
            <a:ext cx="1828800" cy="713232"/>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51706B"/>
              </a:buClr>
              <a:buSzPts val="1350"/>
              <a:buFont typeface="Calibri"/>
              <a:buNone/>
            </a:pPr>
            <a:r>
              <a:rPr b="1" i="0" lang="en-US" sz="1350" u="none" cap="none" strike="noStrike">
                <a:solidFill>
                  <a:srgbClr val="51706B"/>
                </a:solidFill>
                <a:latin typeface="Calibri"/>
                <a:ea typeface="Calibri"/>
                <a:cs typeface="Calibri"/>
                <a:sym typeface="Calibri"/>
              </a:rPr>
              <a:t>A chat message</a:t>
            </a:r>
            <a:endParaRPr b="0" i="0" sz="1350" u="none" cap="none" strike="noStrike">
              <a:solidFill>
                <a:schemeClr val="dk1"/>
              </a:solidFill>
              <a:latin typeface="Calibri"/>
              <a:ea typeface="Calibri"/>
              <a:cs typeface="Calibri"/>
              <a:sym typeface="Calibri"/>
            </a:endParaRPr>
          </a:p>
        </p:txBody>
      </p:sp>
      <p:sp>
        <p:nvSpPr>
          <p:cNvPr id="76" name="Google Shape;76;p5"/>
          <p:cNvSpPr/>
          <p:nvPr/>
        </p:nvSpPr>
        <p:spPr>
          <a:xfrm>
            <a:off x="7269480" y="1664208"/>
            <a:ext cx="2011680" cy="713232"/>
          </a:xfrm>
          <a:prstGeom prst="roundRect">
            <a:avLst>
              <a:gd fmla="val 12821"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txBox="1"/>
          <p:nvPr/>
        </p:nvSpPr>
        <p:spPr>
          <a:xfrm>
            <a:off x="7360920" y="1664208"/>
            <a:ext cx="1828800" cy="713232"/>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51706B"/>
              </a:buClr>
              <a:buSzPts val="1350"/>
              <a:buFont typeface="Calibri"/>
              <a:buNone/>
            </a:pPr>
            <a:r>
              <a:rPr b="1" i="0" lang="en-US" sz="1350" u="none" cap="none" strike="noStrike">
                <a:solidFill>
                  <a:srgbClr val="51706B"/>
                </a:solidFill>
                <a:latin typeface="Calibri"/>
                <a:ea typeface="Calibri"/>
                <a:cs typeface="Calibri"/>
                <a:sym typeface="Calibri"/>
              </a:rPr>
              <a:t>An old search list</a:t>
            </a:r>
            <a:endParaRPr b="0" i="0" sz="1350" u="none" cap="none" strike="noStrike">
              <a:solidFill>
                <a:schemeClr val="dk1"/>
              </a:solidFill>
              <a:latin typeface="Calibri"/>
              <a:ea typeface="Calibri"/>
              <a:cs typeface="Calibri"/>
              <a:sym typeface="Calibri"/>
            </a:endParaRPr>
          </a:p>
        </p:txBody>
      </p:sp>
      <p:sp>
        <p:nvSpPr>
          <p:cNvPr id="78" name="Google Shape;78;p5"/>
          <p:cNvSpPr/>
          <p:nvPr/>
        </p:nvSpPr>
        <p:spPr>
          <a:xfrm>
            <a:off x="9464040" y="1664208"/>
            <a:ext cx="2011680" cy="713232"/>
          </a:xfrm>
          <a:prstGeom prst="roundRect">
            <a:avLst>
              <a:gd fmla="val 12821"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txBox="1"/>
          <p:nvPr/>
        </p:nvSpPr>
        <p:spPr>
          <a:xfrm>
            <a:off x="9555480" y="1664208"/>
            <a:ext cx="1828800" cy="713232"/>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51706B"/>
              </a:buClr>
              <a:buSzPts val="1350"/>
              <a:buFont typeface="Calibri"/>
              <a:buNone/>
            </a:pPr>
            <a:r>
              <a:rPr b="1" i="0" lang="en-US" sz="1350" u="none" cap="none" strike="noStrike">
                <a:solidFill>
                  <a:srgbClr val="51706B"/>
                </a:solidFill>
                <a:latin typeface="Calibri"/>
                <a:ea typeface="Calibri"/>
                <a:cs typeface="Calibri"/>
                <a:sym typeface="Calibri"/>
              </a:rPr>
              <a:t>What it remembers</a:t>
            </a:r>
            <a:endParaRPr b="0" i="0" sz="1350" u="none" cap="none" strike="noStrike">
              <a:solidFill>
                <a:schemeClr val="dk1"/>
              </a:solidFill>
              <a:latin typeface="Calibri"/>
              <a:ea typeface="Calibri"/>
              <a:cs typeface="Calibri"/>
              <a:sym typeface="Calibri"/>
            </a:endParaRPr>
          </a:p>
        </p:txBody>
      </p:sp>
      <p:cxnSp>
        <p:nvCxnSpPr>
          <p:cNvPr id="80" name="Google Shape;80;p5"/>
          <p:cNvCxnSpPr/>
          <p:nvPr/>
        </p:nvCxnSpPr>
        <p:spPr>
          <a:xfrm>
            <a:off x="6080760" y="2505456"/>
            <a:ext cx="0" cy="402336"/>
          </a:xfrm>
          <a:prstGeom prst="straightConnector1">
            <a:avLst/>
          </a:prstGeom>
          <a:noFill/>
          <a:ln cap="flat" cmpd="sng" w="19050">
            <a:solidFill>
              <a:srgbClr val="B34A2B"/>
            </a:solidFill>
            <a:prstDash val="solid"/>
            <a:round/>
            <a:headEnd len="sm" w="sm" type="none"/>
            <a:tailEnd len="med" w="med" type="triangle"/>
          </a:ln>
        </p:spPr>
      </p:cxnSp>
      <p:sp>
        <p:nvSpPr>
          <p:cNvPr id="81" name="Google Shape;81;p5"/>
          <p:cNvSpPr/>
          <p:nvPr/>
        </p:nvSpPr>
        <p:spPr>
          <a:xfrm>
            <a:off x="3108960" y="2999232"/>
            <a:ext cx="5943600" cy="731520"/>
          </a:xfrm>
          <a:prstGeom prst="roundRect">
            <a:avLst>
              <a:gd fmla="val 12500"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txBox="1"/>
          <p:nvPr/>
        </p:nvSpPr>
        <p:spPr>
          <a:xfrm>
            <a:off x="3108960" y="2999232"/>
            <a:ext cx="5943600" cy="7315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B34A2B"/>
              </a:buClr>
              <a:buSzPts val="1900"/>
              <a:buFont typeface="Cambria"/>
              <a:buNone/>
            </a:pPr>
            <a:r>
              <a:rPr b="1" i="0" lang="en-US" sz="1900" u="none" cap="none" strike="noStrike">
                <a:solidFill>
                  <a:srgbClr val="B34A2B"/>
                </a:solidFill>
                <a:latin typeface="Cambria"/>
                <a:ea typeface="Cambria"/>
                <a:cs typeface="Cambria"/>
                <a:sym typeface="Cambria"/>
              </a:rPr>
              <a:t>Not one of them said: “I am the real one.”</a:t>
            </a:r>
            <a:endParaRPr b="0" i="0" sz="1900" u="none" cap="none" strike="noStrike">
              <a:solidFill>
                <a:schemeClr val="dk1"/>
              </a:solidFill>
              <a:latin typeface="Calibri"/>
              <a:ea typeface="Calibri"/>
              <a:cs typeface="Calibri"/>
              <a:sym typeface="Calibri"/>
            </a:endParaRPr>
          </a:p>
        </p:txBody>
      </p:sp>
      <p:sp>
        <p:nvSpPr>
          <p:cNvPr id="83" name="Google Shape;83;p5"/>
          <p:cNvSpPr/>
          <p:nvPr/>
        </p:nvSpPr>
        <p:spPr>
          <a:xfrm>
            <a:off x="685800" y="3968496"/>
            <a:ext cx="10789920" cy="1316736"/>
          </a:xfrm>
          <a:prstGeom prst="roundRect">
            <a:avLst>
              <a:gd fmla="val 6944" name="adj"/>
            </a:avLst>
          </a:prstGeom>
          <a:solidFill>
            <a:srgbClr val="F3F9F7"/>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txBox="1"/>
          <p:nvPr/>
        </p:nvSpPr>
        <p:spPr>
          <a:xfrm>
            <a:off x="1097280" y="3968496"/>
            <a:ext cx="9966960" cy="131673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B3B39"/>
              </a:buClr>
              <a:buSzPts val="1900"/>
              <a:buFont typeface="Cambria"/>
              <a:buNone/>
            </a:pPr>
            <a:r>
              <a:rPr b="1" i="0" lang="en-US" sz="1900" u="none" cap="none" strike="noStrike">
                <a:solidFill>
                  <a:srgbClr val="0B3B39"/>
                </a:solidFill>
                <a:latin typeface="Cambria"/>
                <a:ea typeface="Cambria"/>
                <a:cs typeface="Cambria"/>
                <a:sym typeface="Cambria"/>
              </a:rPr>
              <a:t>So each helper picked its own favourite. The computers were not broken.</a:t>
            </a:r>
            <a:endParaRPr b="0" i="0" sz="19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0B3B39"/>
              </a:buClr>
              <a:buSzPts val="1900"/>
              <a:buFont typeface="Cambria"/>
              <a:buNone/>
            </a:pPr>
            <a:r>
              <a:rPr b="1" i="0" lang="en-US" sz="1900" u="none" cap="none" strike="noStrike">
                <a:solidFill>
                  <a:srgbClr val="0B3B39"/>
                </a:solidFill>
                <a:latin typeface="Cambria"/>
                <a:ea typeface="Cambria"/>
                <a:cs typeface="Cambria"/>
                <a:sym typeface="Cambria"/>
              </a:rPr>
              <a:t>The hospital was missing a rule.</a:t>
            </a:r>
            <a:endParaRPr b="0" i="0" sz="1900" u="none" cap="none" strike="noStrike">
              <a:solidFill>
                <a:schemeClr val="dk1"/>
              </a:solidFill>
              <a:latin typeface="Calibri"/>
              <a:ea typeface="Calibri"/>
              <a:cs typeface="Calibri"/>
              <a:sym typeface="Calibri"/>
            </a:endParaRPr>
          </a:p>
        </p:txBody>
      </p:sp>
      <p:sp>
        <p:nvSpPr>
          <p:cNvPr id="85" name="Google Shape;85;p5"/>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88" name="Google Shape;88;p5"/>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A computer can guess what looks useful. It cannot guess what is official.</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6"/>
          <p:cNvSpPr/>
          <p:nvPr/>
        </p:nvSpPr>
        <p:spPr>
          <a:xfrm>
            <a:off x="685800" y="420624"/>
            <a:ext cx="603504" cy="603504"/>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5" name="Google Shape;95;p6"/>
          <p:cNvPicPr preferRelativeResize="0"/>
          <p:nvPr/>
        </p:nvPicPr>
        <p:blipFill rotWithShape="1">
          <a:blip r:embed="rId3">
            <a:alphaModFix/>
          </a:blip>
          <a:srcRect b="0" l="0" r="0" t="0"/>
          <a:stretch/>
        </p:blipFill>
        <p:spPr>
          <a:xfrm>
            <a:off x="854781" y="589605"/>
            <a:ext cx="265542" cy="265542"/>
          </a:xfrm>
          <a:prstGeom prst="rect">
            <a:avLst/>
          </a:prstGeom>
          <a:noFill/>
          <a:ln>
            <a:noFill/>
          </a:ln>
        </p:spPr>
      </p:pic>
      <p:sp>
        <p:nvSpPr>
          <p:cNvPr id="96" name="Google Shape;96;p6"/>
          <p:cNvSpPr txBox="1"/>
          <p:nvPr/>
        </p:nvSpPr>
        <p:spPr>
          <a:xfrm>
            <a:off x="1545336" y="384048"/>
            <a:ext cx="9930384" cy="6583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3100"/>
              <a:buFont typeface="Cambria"/>
              <a:buNone/>
            </a:pPr>
            <a:r>
              <a:rPr b="1" i="0" lang="en-US" sz="3100" u="none" cap="none" strike="noStrike">
                <a:solidFill>
                  <a:srgbClr val="0B3B39"/>
                </a:solidFill>
                <a:latin typeface="Cambria"/>
                <a:ea typeface="Cambria"/>
                <a:cs typeface="Cambria"/>
                <a:sym typeface="Cambria"/>
              </a:rPr>
              <a:t>The eight ideas that fix this</a:t>
            </a:r>
            <a:endParaRPr b="0" i="0" sz="3100" u="none" cap="none" strike="noStrike">
              <a:solidFill>
                <a:schemeClr val="dk1"/>
              </a:solidFill>
              <a:latin typeface="Calibri"/>
              <a:ea typeface="Calibri"/>
              <a:cs typeface="Calibri"/>
              <a:sym typeface="Calibri"/>
            </a:endParaRPr>
          </a:p>
        </p:txBody>
      </p:sp>
      <p:sp>
        <p:nvSpPr>
          <p:cNvPr id="97" name="Google Shape;97;p6"/>
          <p:cNvSpPr txBox="1"/>
          <p:nvPr/>
        </p:nvSpPr>
        <p:spPr>
          <a:xfrm>
            <a:off x="685800" y="1133856"/>
            <a:ext cx="10789920"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500"/>
              <a:buFont typeface="Calibri"/>
              <a:buNone/>
            </a:pPr>
            <a:r>
              <a:rPr b="0" i="0" lang="en-US" sz="1500" u="none" cap="none" strike="noStrike">
                <a:solidFill>
                  <a:srgbClr val="51706B"/>
                </a:solidFill>
                <a:latin typeface="Calibri"/>
                <a:ea typeface="Calibri"/>
                <a:cs typeface="Calibri"/>
                <a:sym typeface="Calibri"/>
              </a:rPr>
              <a:t>Each idea answers one question. We will do them in this order.</a:t>
            </a:r>
            <a:endParaRPr b="0" i="0" sz="1500" u="none" cap="none" strike="noStrike">
              <a:solidFill>
                <a:schemeClr val="dk1"/>
              </a:solidFill>
              <a:latin typeface="Calibri"/>
              <a:ea typeface="Calibri"/>
              <a:cs typeface="Calibri"/>
              <a:sym typeface="Calibri"/>
            </a:endParaRPr>
          </a:p>
        </p:txBody>
      </p:sp>
      <p:sp>
        <p:nvSpPr>
          <p:cNvPr id="98" name="Google Shape;98;p6"/>
          <p:cNvSpPr/>
          <p:nvPr/>
        </p:nvSpPr>
        <p:spPr>
          <a:xfrm>
            <a:off x="685800" y="1627632"/>
            <a:ext cx="5230368" cy="932688"/>
          </a:xfrm>
          <a:prstGeom prst="roundRect">
            <a:avLst>
              <a:gd fmla="val 9804"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941832" y="1865376"/>
            <a:ext cx="457200" cy="457200"/>
          </a:xfrm>
          <a:prstGeom prst="ellipse">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txBox="1"/>
          <p:nvPr/>
        </p:nvSpPr>
        <p:spPr>
          <a:xfrm>
            <a:off x="941832" y="186537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500"/>
              <a:buFont typeface="Cambria"/>
              <a:buNone/>
            </a:pPr>
            <a:r>
              <a:rPr b="1" i="0" lang="en-US" sz="1500" u="none" cap="none" strike="noStrike">
                <a:solidFill>
                  <a:srgbClr val="094B3C"/>
                </a:solidFill>
                <a:latin typeface="Cambria"/>
                <a:ea typeface="Cambria"/>
                <a:cs typeface="Cambria"/>
                <a:sym typeface="Cambria"/>
              </a:rPr>
              <a:t>1</a:t>
            </a:r>
            <a:endParaRPr b="0" i="0" sz="1500" u="none" cap="none" strike="noStrike">
              <a:solidFill>
                <a:schemeClr val="dk1"/>
              </a:solidFill>
              <a:latin typeface="Calibri"/>
              <a:ea typeface="Calibri"/>
              <a:cs typeface="Calibri"/>
              <a:sym typeface="Calibri"/>
            </a:endParaRPr>
          </a:p>
        </p:txBody>
      </p:sp>
      <p:sp>
        <p:nvSpPr>
          <p:cNvPr id="101" name="Google Shape;101;p6"/>
          <p:cNvSpPr txBox="1"/>
          <p:nvPr/>
        </p:nvSpPr>
        <p:spPr>
          <a:xfrm>
            <a:off x="1545336" y="1773936"/>
            <a:ext cx="409651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One official book</a:t>
            </a:r>
            <a:endParaRPr b="0" i="0" sz="1600" u="none" cap="none" strike="noStrike">
              <a:solidFill>
                <a:schemeClr val="dk1"/>
              </a:solidFill>
              <a:latin typeface="Calibri"/>
              <a:ea typeface="Calibri"/>
              <a:cs typeface="Calibri"/>
              <a:sym typeface="Calibri"/>
            </a:endParaRPr>
          </a:p>
        </p:txBody>
      </p:sp>
      <p:sp>
        <p:nvSpPr>
          <p:cNvPr id="102" name="Google Shape;102;p6"/>
          <p:cNvSpPr txBox="1"/>
          <p:nvPr/>
        </p:nvSpPr>
        <p:spPr>
          <a:xfrm>
            <a:off x="1545336" y="2121408"/>
            <a:ext cx="4096512"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Which page is the real one?</a:t>
            </a:r>
            <a:endParaRPr b="0" i="0" sz="1250" u="none" cap="none" strike="noStrike">
              <a:solidFill>
                <a:schemeClr val="dk1"/>
              </a:solidFill>
              <a:latin typeface="Calibri"/>
              <a:ea typeface="Calibri"/>
              <a:cs typeface="Calibri"/>
              <a:sym typeface="Calibri"/>
            </a:endParaRPr>
          </a:p>
        </p:txBody>
      </p:sp>
      <p:sp>
        <p:nvSpPr>
          <p:cNvPr id="103" name="Google Shape;103;p6"/>
          <p:cNvSpPr/>
          <p:nvPr/>
        </p:nvSpPr>
        <p:spPr>
          <a:xfrm>
            <a:off x="6245352" y="1627632"/>
            <a:ext cx="5230368" cy="932688"/>
          </a:xfrm>
          <a:prstGeom prst="roundRect">
            <a:avLst>
              <a:gd fmla="val 9804" name="adj"/>
            </a:avLst>
          </a:prstGeom>
          <a:solidFill>
            <a:srgbClr val="F3F9F7"/>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6501384" y="1865376"/>
            <a:ext cx="457200" cy="457200"/>
          </a:xfrm>
          <a:prstGeom prst="ellipse">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txBox="1"/>
          <p:nvPr/>
        </p:nvSpPr>
        <p:spPr>
          <a:xfrm>
            <a:off x="6501384" y="1865376"/>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500"/>
              <a:buFont typeface="Cambria"/>
              <a:buNone/>
            </a:pPr>
            <a:r>
              <a:rPr b="1" i="0" lang="en-US" sz="1500" u="none" cap="none" strike="noStrike">
                <a:solidFill>
                  <a:srgbClr val="094B3C"/>
                </a:solidFill>
                <a:latin typeface="Cambria"/>
                <a:ea typeface="Cambria"/>
                <a:cs typeface="Cambria"/>
                <a:sym typeface="Cambria"/>
              </a:rPr>
              <a:t>2</a:t>
            </a:r>
            <a:endParaRPr b="0" i="0" sz="1500" u="none" cap="none" strike="noStrike">
              <a:solidFill>
                <a:schemeClr val="dk1"/>
              </a:solidFill>
              <a:latin typeface="Calibri"/>
              <a:ea typeface="Calibri"/>
              <a:cs typeface="Calibri"/>
              <a:sym typeface="Calibri"/>
            </a:endParaRPr>
          </a:p>
        </p:txBody>
      </p:sp>
      <p:sp>
        <p:nvSpPr>
          <p:cNvPr id="106" name="Google Shape;106;p6"/>
          <p:cNvSpPr txBox="1"/>
          <p:nvPr/>
        </p:nvSpPr>
        <p:spPr>
          <a:xfrm>
            <a:off x="7104888" y="1773936"/>
            <a:ext cx="409651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What goes in it</a:t>
            </a:r>
            <a:endParaRPr b="0" i="0" sz="1600" u="none" cap="none" strike="noStrike">
              <a:solidFill>
                <a:schemeClr val="dk1"/>
              </a:solidFill>
              <a:latin typeface="Calibri"/>
              <a:ea typeface="Calibri"/>
              <a:cs typeface="Calibri"/>
              <a:sym typeface="Calibri"/>
            </a:endParaRPr>
          </a:p>
        </p:txBody>
      </p:sp>
      <p:sp>
        <p:nvSpPr>
          <p:cNvPr id="107" name="Google Shape;107;p6"/>
          <p:cNvSpPr txBox="1"/>
          <p:nvPr/>
        </p:nvSpPr>
        <p:spPr>
          <a:xfrm>
            <a:off x="7104888" y="2121408"/>
            <a:ext cx="4096512"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What kind of thing belongs in the book?</a:t>
            </a:r>
            <a:endParaRPr b="0" i="0" sz="1250" u="none" cap="none" strike="noStrike">
              <a:solidFill>
                <a:schemeClr val="dk1"/>
              </a:solidFill>
              <a:latin typeface="Calibri"/>
              <a:ea typeface="Calibri"/>
              <a:cs typeface="Calibri"/>
              <a:sym typeface="Calibri"/>
            </a:endParaRPr>
          </a:p>
        </p:txBody>
      </p:sp>
      <p:sp>
        <p:nvSpPr>
          <p:cNvPr id="108" name="Google Shape;108;p6"/>
          <p:cNvSpPr/>
          <p:nvPr/>
        </p:nvSpPr>
        <p:spPr>
          <a:xfrm>
            <a:off x="685800" y="2688336"/>
            <a:ext cx="5230368" cy="932688"/>
          </a:xfrm>
          <a:prstGeom prst="roundRect">
            <a:avLst>
              <a:gd fmla="val 9804"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941832" y="2926080"/>
            <a:ext cx="457200" cy="457200"/>
          </a:xfrm>
          <a:prstGeom prst="ellipse">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txBox="1"/>
          <p:nvPr/>
        </p:nvSpPr>
        <p:spPr>
          <a:xfrm>
            <a:off x="941832" y="292608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500"/>
              <a:buFont typeface="Cambria"/>
              <a:buNone/>
            </a:pPr>
            <a:r>
              <a:rPr b="1" i="0" lang="en-US" sz="1500" u="none" cap="none" strike="noStrike">
                <a:solidFill>
                  <a:srgbClr val="094B3C"/>
                </a:solidFill>
                <a:latin typeface="Cambria"/>
                <a:ea typeface="Cambria"/>
                <a:cs typeface="Cambria"/>
                <a:sym typeface="Cambria"/>
              </a:rPr>
              <a:t>3</a:t>
            </a:r>
            <a:endParaRPr b="0" i="0" sz="1500" u="none" cap="none" strike="noStrike">
              <a:solidFill>
                <a:schemeClr val="dk1"/>
              </a:solidFill>
              <a:latin typeface="Calibri"/>
              <a:ea typeface="Calibri"/>
              <a:cs typeface="Calibri"/>
              <a:sym typeface="Calibri"/>
            </a:endParaRPr>
          </a:p>
        </p:txBody>
      </p:sp>
      <p:sp>
        <p:nvSpPr>
          <p:cNvPr id="111" name="Google Shape;111;p6"/>
          <p:cNvSpPr txBox="1"/>
          <p:nvPr/>
        </p:nvSpPr>
        <p:spPr>
          <a:xfrm>
            <a:off x="1545336" y="2834640"/>
            <a:ext cx="409651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Stamps</a:t>
            </a:r>
            <a:endParaRPr b="0" i="0" sz="1600" u="none" cap="none" strike="noStrike">
              <a:solidFill>
                <a:schemeClr val="dk1"/>
              </a:solidFill>
              <a:latin typeface="Calibri"/>
              <a:ea typeface="Calibri"/>
              <a:cs typeface="Calibri"/>
              <a:sym typeface="Calibri"/>
            </a:endParaRPr>
          </a:p>
        </p:txBody>
      </p:sp>
      <p:sp>
        <p:nvSpPr>
          <p:cNvPr id="112" name="Google Shape;112;p6"/>
          <p:cNvSpPr txBox="1"/>
          <p:nvPr/>
        </p:nvSpPr>
        <p:spPr>
          <a:xfrm>
            <a:off x="1545336" y="3182112"/>
            <a:ext cx="4096512"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How do I know a page can be trusted?</a:t>
            </a:r>
            <a:endParaRPr b="0" i="0" sz="1250" u="none" cap="none" strike="noStrike">
              <a:solidFill>
                <a:schemeClr val="dk1"/>
              </a:solidFill>
              <a:latin typeface="Calibri"/>
              <a:ea typeface="Calibri"/>
              <a:cs typeface="Calibri"/>
              <a:sym typeface="Calibri"/>
            </a:endParaRPr>
          </a:p>
        </p:txBody>
      </p:sp>
      <p:sp>
        <p:nvSpPr>
          <p:cNvPr id="113" name="Google Shape;113;p6"/>
          <p:cNvSpPr/>
          <p:nvPr/>
        </p:nvSpPr>
        <p:spPr>
          <a:xfrm>
            <a:off x="6245352" y="2688336"/>
            <a:ext cx="5230368" cy="932688"/>
          </a:xfrm>
          <a:prstGeom prst="roundRect">
            <a:avLst>
              <a:gd fmla="val 9804" name="adj"/>
            </a:avLst>
          </a:prstGeom>
          <a:solidFill>
            <a:srgbClr val="F3F9F7"/>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6501384" y="2926080"/>
            <a:ext cx="457200" cy="457200"/>
          </a:xfrm>
          <a:prstGeom prst="ellipse">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txBox="1"/>
          <p:nvPr/>
        </p:nvSpPr>
        <p:spPr>
          <a:xfrm>
            <a:off x="6501384" y="292608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500"/>
              <a:buFont typeface="Cambria"/>
              <a:buNone/>
            </a:pPr>
            <a:r>
              <a:rPr b="1" i="0" lang="en-US" sz="1500" u="none" cap="none" strike="noStrike">
                <a:solidFill>
                  <a:srgbClr val="094B3C"/>
                </a:solidFill>
                <a:latin typeface="Cambria"/>
                <a:ea typeface="Cambria"/>
                <a:cs typeface="Cambria"/>
                <a:sym typeface="Cambria"/>
              </a:rPr>
              <a:t>4</a:t>
            </a:r>
            <a:endParaRPr b="0" i="0" sz="1500" u="none" cap="none" strike="noStrike">
              <a:solidFill>
                <a:schemeClr val="dk1"/>
              </a:solidFill>
              <a:latin typeface="Calibri"/>
              <a:ea typeface="Calibri"/>
              <a:cs typeface="Calibri"/>
              <a:sym typeface="Calibri"/>
            </a:endParaRPr>
          </a:p>
        </p:txBody>
      </p:sp>
      <p:sp>
        <p:nvSpPr>
          <p:cNvPr id="116" name="Google Shape;116;p6"/>
          <p:cNvSpPr txBox="1"/>
          <p:nvPr/>
        </p:nvSpPr>
        <p:spPr>
          <a:xfrm>
            <a:off x="7104888" y="2834640"/>
            <a:ext cx="409651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The door</a:t>
            </a:r>
            <a:endParaRPr b="0" i="0" sz="1600" u="none" cap="none" strike="noStrike">
              <a:solidFill>
                <a:schemeClr val="dk1"/>
              </a:solidFill>
              <a:latin typeface="Calibri"/>
              <a:ea typeface="Calibri"/>
              <a:cs typeface="Calibri"/>
              <a:sym typeface="Calibri"/>
            </a:endParaRPr>
          </a:p>
        </p:txBody>
      </p:sp>
      <p:sp>
        <p:nvSpPr>
          <p:cNvPr id="117" name="Google Shape;117;p6"/>
          <p:cNvSpPr txBox="1"/>
          <p:nvPr/>
        </p:nvSpPr>
        <p:spPr>
          <a:xfrm>
            <a:off x="7104888" y="3182112"/>
            <a:ext cx="4096512"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Should this answer be allowed out?</a:t>
            </a:r>
            <a:endParaRPr b="0" i="0" sz="1250" u="none" cap="none" strike="noStrike">
              <a:solidFill>
                <a:schemeClr val="dk1"/>
              </a:solidFill>
              <a:latin typeface="Calibri"/>
              <a:ea typeface="Calibri"/>
              <a:cs typeface="Calibri"/>
              <a:sym typeface="Calibri"/>
            </a:endParaRPr>
          </a:p>
        </p:txBody>
      </p:sp>
      <p:sp>
        <p:nvSpPr>
          <p:cNvPr id="118" name="Google Shape;118;p6"/>
          <p:cNvSpPr/>
          <p:nvPr/>
        </p:nvSpPr>
        <p:spPr>
          <a:xfrm>
            <a:off x="685800" y="3749040"/>
            <a:ext cx="5230368" cy="932688"/>
          </a:xfrm>
          <a:prstGeom prst="roundRect">
            <a:avLst>
              <a:gd fmla="val 9804"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941832" y="3986784"/>
            <a:ext cx="457200" cy="457200"/>
          </a:xfrm>
          <a:prstGeom prst="ellipse">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txBox="1"/>
          <p:nvPr/>
        </p:nvSpPr>
        <p:spPr>
          <a:xfrm>
            <a:off x="941832" y="3986784"/>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500"/>
              <a:buFont typeface="Cambria"/>
              <a:buNone/>
            </a:pPr>
            <a:r>
              <a:rPr b="1" i="0" lang="en-US" sz="1500" u="none" cap="none" strike="noStrike">
                <a:solidFill>
                  <a:srgbClr val="094B3C"/>
                </a:solidFill>
                <a:latin typeface="Cambria"/>
                <a:ea typeface="Cambria"/>
                <a:cs typeface="Cambria"/>
                <a:sym typeface="Cambria"/>
              </a:rPr>
              <a:t>5</a:t>
            </a:r>
            <a:endParaRPr b="0" i="0" sz="1500" u="none" cap="none" strike="noStrike">
              <a:solidFill>
                <a:schemeClr val="dk1"/>
              </a:solidFill>
              <a:latin typeface="Calibri"/>
              <a:ea typeface="Calibri"/>
              <a:cs typeface="Calibri"/>
              <a:sym typeface="Calibri"/>
            </a:endParaRPr>
          </a:p>
        </p:txBody>
      </p:sp>
      <p:sp>
        <p:nvSpPr>
          <p:cNvPr id="121" name="Google Shape;121;p6"/>
          <p:cNvSpPr txBox="1"/>
          <p:nvPr/>
        </p:nvSpPr>
        <p:spPr>
          <a:xfrm>
            <a:off x="1545336" y="3895344"/>
            <a:ext cx="409651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“I don't know”</a:t>
            </a:r>
            <a:endParaRPr b="0" i="0" sz="1600" u="none" cap="none" strike="noStrike">
              <a:solidFill>
                <a:schemeClr val="dk1"/>
              </a:solidFill>
              <a:latin typeface="Calibri"/>
              <a:ea typeface="Calibri"/>
              <a:cs typeface="Calibri"/>
              <a:sym typeface="Calibri"/>
            </a:endParaRPr>
          </a:p>
        </p:txBody>
      </p:sp>
      <p:sp>
        <p:nvSpPr>
          <p:cNvPr id="122" name="Google Shape;122;p6"/>
          <p:cNvSpPr txBox="1"/>
          <p:nvPr/>
        </p:nvSpPr>
        <p:spPr>
          <a:xfrm>
            <a:off x="1545336" y="4242816"/>
            <a:ext cx="4096512"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What if the answer is not in the book?</a:t>
            </a:r>
            <a:endParaRPr b="0" i="0" sz="1250" u="none" cap="none" strike="noStrike">
              <a:solidFill>
                <a:schemeClr val="dk1"/>
              </a:solidFill>
              <a:latin typeface="Calibri"/>
              <a:ea typeface="Calibri"/>
              <a:cs typeface="Calibri"/>
              <a:sym typeface="Calibri"/>
            </a:endParaRPr>
          </a:p>
        </p:txBody>
      </p:sp>
      <p:sp>
        <p:nvSpPr>
          <p:cNvPr id="123" name="Google Shape;123;p6"/>
          <p:cNvSpPr/>
          <p:nvPr/>
        </p:nvSpPr>
        <p:spPr>
          <a:xfrm>
            <a:off x="6245352" y="3749040"/>
            <a:ext cx="5230368" cy="932688"/>
          </a:xfrm>
          <a:prstGeom prst="roundRect">
            <a:avLst>
              <a:gd fmla="val 9804" name="adj"/>
            </a:avLst>
          </a:prstGeom>
          <a:solidFill>
            <a:srgbClr val="F3F9F7"/>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6501384" y="3986784"/>
            <a:ext cx="457200" cy="457200"/>
          </a:xfrm>
          <a:prstGeom prst="ellipse">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txBox="1"/>
          <p:nvPr/>
        </p:nvSpPr>
        <p:spPr>
          <a:xfrm>
            <a:off x="6501384" y="3986784"/>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500"/>
              <a:buFont typeface="Cambria"/>
              <a:buNone/>
            </a:pPr>
            <a:r>
              <a:rPr b="1" i="0" lang="en-US" sz="1500" u="none" cap="none" strike="noStrike">
                <a:solidFill>
                  <a:srgbClr val="094B3C"/>
                </a:solidFill>
                <a:latin typeface="Cambria"/>
                <a:ea typeface="Cambria"/>
                <a:cs typeface="Cambria"/>
                <a:sym typeface="Cambria"/>
              </a:rPr>
              <a:t>6</a:t>
            </a:r>
            <a:endParaRPr b="0" i="0" sz="1500" u="none" cap="none" strike="noStrike">
              <a:solidFill>
                <a:schemeClr val="dk1"/>
              </a:solidFill>
              <a:latin typeface="Calibri"/>
              <a:ea typeface="Calibri"/>
              <a:cs typeface="Calibri"/>
              <a:sym typeface="Calibri"/>
            </a:endParaRPr>
          </a:p>
        </p:txBody>
      </p:sp>
      <p:sp>
        <p:nvSpPr>
          <p:cNvPr id="126" name="Google Shape;126;p6"/>
          <p:cNvSpPr txBox="1"/>
          <p:nvPr/>
        </p:nvSpPr>
        <p:spPr>
          <a:xfrm>
            <a:off x="7104888" y="3895344"/>
            <a:ext cx="409651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Show the page</a:t>
            </a:r>
            <a:endParaRPr b="0" i="0" sz="1600" u="none" cap="none" strike="noStrike">
              <a:solidFill>
                <a:schemeClr val="dk1"/>
              </a:solidFill>
              <a:latin typeface="Calibri"/>
              <a:ea typeface="Calibri"/>
              <a:cs typeface="Calibri"/>
              <a:sym typeface="Calibri"/>
            </a:endParaRPr>
          </a:p>
        </p:txBody>
      </p:sp>
      <p:sp>
        <p:nvSpPr>
          <p:cNvPr id="127" name="Google Shape;127;p6"/>
          <p:cNvSpPr txBox="1"/>
          <p:nvPr/>
        </p:nvSpPr>
        <p:spPr>
          <a:xfrm>
            <a:off x="7104888" y="4242816"/>
            <a:ext cx="4096512"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How can I check the helper is honest?</a:t>
            </a:r>
            <a:endParaRPr b="0" i="0" sz="1250" u="none" cap="none" strike="noStrike">
              <a:solidFill>
                <a:schemeClr val="dk1"/>
              </a:solidFill>
              <a:latin typeface="Calibri"/>
              <a:ea typeface="Calibri"/>
              <a:cs typeface="Calibri"/>
              <a:sym typeface="Calibri"/>
            </a:endParaRPr>
          </a:p>
        </p:txBody>
      </p:sp>
      <p:sp>
        <p:nvSpPr>
          <p:cNvPr id="128" name="Google Shape;128;p6"/>
          <p:cNvSpPr/>
          <p:nvPr/>
        </p:nvSpPr>
        <p:spPr>
          <a:xfrm>
            <a:off x="685800" y="4809744"/>
            <a:ext cx="5230368" cy="932688"/>
          </a:xfrm>
          <a:prstGeom prst="roundRect">
            <a:avLst>
              <a:gd fmla="val 9804"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941832" y="5047488"/>
            <a:ext cx="457200" cy="457200"/>
          </a:xfrm>
          <a:prstGeom prst="ellipse">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txBox="1"/>
          <p:nvPr/>
        </p:nvSpPr>
        <p:spPr>
          <a:xfrm>
            <a:off x="941832" y="504748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500"/>
              <a:buFont typeface="Cambria"/>
              <a:buNone/>
            </a:pPr>
            <a:r>
              <a:rPr b="1" i="0" lang="en-US" sz="1500" u="none" cap="none" strike="noStrike">
                <a:solidFill>
                  <a:srgbClr val="094B3C"/>
                </a:solidFill>
                <a:latin typeface="Cambria"/>
                <a:ea typeface="Cambria"/>
                <a:cs typeface="Cambria"/>
                <a:sym typeface="Cambria"/>
              </a:rPr>
              <a:t>7</a:t>
            </a:r>
            <a:endParaRPr b="0" i="0" sz="1500" u="none" cap="none" strike="noStrike">
              <a:solidFill>
                <a:schemeClr val="dk1"/>
              </a:solidFill>
              <a:latin typeface="Calibri"/>
              <a:ea typeface="Calibri"/>
              <a:cs typeface="Calibri"/>
              <a:sym typeface="Calibri"/>
            </a:endParaRPr>
          </a:p>
        </p:txBody>
      </p:sp>
      <p:sp>
        <p:nvSpPr>
          <p:cNvPr id="131" name="Google Shape;131;p6"/>
          <p:cNvSpPr txBox="1"/>
          <p:nvPr/>
        </p:nvSpPr>
        <p:spPr>
          <a:xfrm>
            <a:off x="1545336" y="4956048"/>
            <a:ext cx="409651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Getting a page in</a:t>
            </a:r>
            <a:endParaRPr b="0" i="0" sz="1600" u="none" cap="none" strike="noStrike">
              <a:solidFill>
                <a:schemeClr val="dk1"/>
              </a:solidFill>
              <a:latin typeface="Calibri"/>
              <a:ea typeface="Calibri"/>
              <a:cs typeface="Calibri"/>
              <a:sym typeface="Calibri"/>
            </a:endParaRPr>
          </a:p>
        </p:txBody>
      </p:sp>
      <p:sp>
        <p:nvSpPr>
          <p:cNvPr id="132" name="Google Shape;132;p6"/>
          <p:cNvSpPr txBox="1"/>
          <p:nvPr/>
        </p:nvSpPr>
        <p:spPr>
          <a:xfrm>
            <a:off x="1545336" y="5303520"/>
            <a:ext cx="4096512"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How does something new become a rule?</a:t>
            </a:r>
            <a:endParaRPr b="0" i="0" sz="1250" u="none" cap="none" strike="noStrike">
              <a:solidFill>
                <a:schemeClr val="dk1"/>
              </a:solidFill>
              <a:latin typeface="Calibri"/>
              <a:ea typeface="Calibri"/>
              <a:cs typeface="Calibri"/>
              <a:sym typeface="Calibri"/>
            </a:endParaRPr>
          </a:p>
        </p:txBody>
      </p:sp>
      <p:sp>
        <p:nvSpPr>
          <p:cNvPr id="133" name="Google Shape;133;p6"/>
          <p:cNvSpPr/>
          <p:nvPr/>
        </p:nvSpPr>
        <p:spPr>
          <a:xfrm>
            <a:off x="6245352" y="4809744"/>
            <a:ext cx="5230368" cy="932688"/>
          </a:xfrm>
          <a:prstGeom prst="roundRect">
            <a:avLst>
              <a:gd fmla="val 9804" name="adj"/>
            </a:avLst>
          </a:prstGeom>
          <a:solidFill>
            <a:srgbClr val="F3F9F7"/>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6501384" y="5047488"/>
            <a:ext cx="457200" cy="457200"/>
          </a:xfrm>
          <a:prstGeom prst="ellipse">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txBox="1"/>
          <p:nvPr/>
        </p:nvSpPr>
        <p:spPr>
          <a:xfrm>
            <a:off x="6501384" y="504748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500"/>
              <a:buFont typeface="Cambria"/>
              <a:buNone/>
            </a:pPr>
            <a:r>
              <a:rPr b="1" i="0" lang="en-US" sz="1500" u="none" cap="none" strike="noStrike">
                <a:solidFill>
                  <a:srgbClr val="094B3C"/>
                </a:solidFill>
                <a:latin typeface="Cambria"/>
                <a:ea typeface="Cambria"/>
                <a:cs typeface="Cambria"/>
                <a:sym typeface="Cambria"/>
              </a:rPr>
              <a:t>8</a:t>
            </a:r>
            <a:endParaRPr b="0" i="0" sz="1500" u="none" cap="none" strike="noStrike">
              <a:solidFill>
                <a:schemeClr val="dk1"/>
              </a:solidFill>
              <a:latin typeface="Calibri"/>
              <a:ea typeface="Calibri"/>
              <a:cs typeface="Calibri"/>
              <a:sym typeface="Calibri"/>
            </a:endParaRPr>
          </a:p>
        </p:txBody>
      </p:sp>
      <p:sp>
        <p:nvSpPr>
          <p:cNvPr id="136" name="Google Shape;136;p6"/>
          <p:cNvSpPr txBox="1"/>
          <p:nvPr/>
        </p:nvSpPr>
        <p:spPr>
          <a:xfrm>
            <a:off x="7104888" y="4956048"/>
            <a:ext cx="409651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Many doors</a:t>
            </a:r>
            <a:endParaRPr b="0" i="0" sz="1600" u="none" cap="none" strike="noStrike">
              <a:solidFill>
                <a:schemeClr val="dk1"/>
              </a:solidFill>
              <a:latin typeface="Calibri"/>
              <a:ea typeface="Calibri"/>
              <a:cs typeface="Calibri"/>
              <a:sym typeface="Calibri"/>
            </a:endParaRPr>
          </a:p>
        </p:txBody>
      </p:sp>
      <p:sp>
        <p:nvSpPr>
          <p:cNvPr id="137" name="Google Shape;137;p6"/>
          <p:cNvSpPr txBox="1"/>
          <p:nvPr/>
        </p:nvSpPr>
        <p:spPr>
          <a:xfrm>
            <a:off x="7104888" y="5303520"/>
            <a:ext cx="4096512"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How do different people reach one book?</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7"/>
          <p:cNvSpPr/>
          <p:nvPr/>
        </p:nvSpPr>
        <p:spPr>
          <a:xfrm>
            <a:off x="685800" y="438912"/>
            <a:ext cx="640080" cy="6400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4" name="Google Shape;144;p7"/>
          <p:cNvPicPr preferRelativeResize="0"/>
          <p:nvPr/>
        </p:nvPicPr>
        <p:blipFill rotWithShape="1">
          <a:blip r:embed="rId3">
            <a:alphaModFix/>
          </a:blip>
          <a:srcRect b="0" l="0" r="0" t="0"/>
          <a:stretch/>
        </p:blipFill>
        <p:spPr>
          <a:xfrm>
            <a:off x="865022" y="618134"/>
            <a:ext cx="281635" cy="281635"/>
          </a:xfrm>
          <a:prstGeom prst="rect">
            <a:avLst/>
          </a:prstGeom>
          <a:noFill/>
          <a:ln>
            <a:noFill/>
          </a:ln>
        </p:spPr>
      </p:pic>
      <p:sp>
        <p:nvSpPr>
          <p:cNvPr id="145" name="Google Shape;145;p7"/>
          <p:cNvSpPr txBox="1"/>
          <p:nvPr/>
        </p:nvSpPr>
        <p:spPr>
          <a:xfrm>
            <a:off x="1581912" y="384048"/>
            <a:ext cx="9893808" cy="25603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34A2B"/>
              </a:buClr>
              <a:buSzPts val="1000"/>
              <a:buFont typeface="Calibri"/>
              <a:buNone/>
            </a:pPr>
            <a:r>
              <a:rPr b="1" i="0" lang="en-US" sz="1000" u="none" cap="none" strike="noStrike">
                <a:solidFill>
                  <a:srgbClr val="B34A2B"/>
                </a:solidFill>
                <a:latin typeface="Calibri"/>
                <a:ea typeface="Calibri"/>
                <a:cs typeface="Calibri"/>
                <a:sym typeface="Calibri"/>
              </a:rPr>
              <a:t>CONCEPT 1 OF 8  ·  ONE OFFICIAL BOOK</a:t>
            </a:r>
            <a:endParaRPr b="0" i="0" sz="1000" u="none" cap="none" strike="noStrike">
              <a:solidFill>
                <a:schemeClr val="dk1"/>
              </a:solidFill>
              <a:latin typeface="Calibri"/>
              <a:ea typeface="Calibri"/>
              <a:cs typeface="Calibri"/>
              <a:sym typeface="Calibri"/>
            </a:endParaRPr>
          </a:p>
        </p:txBody>
      </p:sp>
      <p:sp>
        <p:nvSpPr>
          <p:cNvPr id="146" name="Google Shape;146;p7"/>
          <p:cNvSpPr txBox="1"/>
          <p:nvPr/>
        </p:nvSpPr>
        <p:spPr>
          <a:xfrm>
            <a:off x="1581912" y="658368"/>
            <a:ext cx="9893808" cy="51206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2800"/>
              <a:buFont typeface="Cambria"/>
              <a:buNone/>
            </a:pPr>
            <a:r>
              <a:rPr b="1" i="0" lang="en-US" sz="2800" u="none" cap="none" strike="noStrike">
                <a:solidFill>
                  <a:srgbClr val="0B3B39"/>
                </a:solidFill>
                <a:latin typeface="Cambria"/>
                <a:ea typeface="Cambria"/>
                <a:cs typeface="Cambria"/>
                <a:sym typeface="Cambria"/>
              </a:rPr>
              <a:t>Somebody has to choose which page is real</a:t>
            </a:r>
            <a:endParaRPr b="0" i="0" sz="2800" u="none" cap="none" strike="noStrike">
              <a:solidFill>
                <a:schemeClr val="dk1"/>
              </a:solidFill>
              <a:latin typeface="Calibri"/>
              <a:ea typeface="Calibri"/>
              <a:cs typeface="Calibri"/>
              <a:sym typeface="Calibri"/>
            </a:endParaRPr>
          </a:p>
        </p:txBody>
      </p:sp>
      <p:sp>
        <p:nvSpPr>
          <p:cNvPr id="147" name="Google Shape;147;p7"/>
          <p:cNvSpPr/>
          <p:nvPr/>
        </p:nvSpPr>
        <p:spPr>
          <a:xfrm>
            <a:off x="685800" y="1353312"/>
            <a:ext cx="10789920" cy="585216"/>
          </a:xfrm>
          <a:prstGeom prst="roundRect">
            <a:avLst>
              <a:gd fmla="val 15625"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978408" y="1508760"/>
            <a:ext cx="129844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txBox="1"/>
          <p:nvPr/>
        </p:nvSpPr>
        <p:spPr>
          <a:xfrm>
            <a:off x="978408" y="1508760"/>
            <a:ext cx="129844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IT ANSWERS</a:t>
            </a:r>
            <a:endParaRPr b="0" i="0" sz="950" u="none" cap="none" strike="noStrike">
              <a:solidFill>
                <a:schemeClr val="dk1"/>
              </a:solidFill>
              <a:latin typeface="Calibri"/>
              <a:ea typeface="Calibri"/>
              <a:cs typeface="Calibri"/>
              <a:sym typeface="Calibri"/>
            </a:endParaRPr>
          </a:p>
        </p:txBody>
      </p:sp>
      <p:sp>
        <p:nvSpPr>
          <p:cNvPr id="150" name="Google Shape;150;p7"/>
          <p:cNvSpPr txBox="1"/>
          <p:nvPr/>
        </p:nvSpPr>
        <p:spPr>
          <a:xfrm>
            <a:off x="2532888" y="1353312"/>
            <a:ext cx="8650224"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94B3C"/>
              </a:buClr>
              <a:buSzPts val="1700"/>
              <a:buFont typeface="Cambria"/>
              <a:buNone/>
            </a:pPr>
            <a:r>
              <a:rPr b="1" i="0" lang="en-US" sz="1700" u="none" cap="none" strike="noStrike">
                <a:solidFill>
                  <a:srgbClr val="094B3C"/>
                </a:solidFill>
                <a:latin typeface="Cambria"/>
                <a:ea typeface="Cambria"/>
                <a:cs typeface="Cambria"/>
                <a:sym typeface="Cambria"/>
              </a:rPr>
              <a:t>Which page is the real one?</a:t>
            </a:r>
            <a:endParaRPr b="0" i="0" sz="1700" u="none" cap="none" strike="noStrike">
              <a:solidFill>
                <a:schemeClr val="dk1"/>
              </a:solidFill>
              <a:latin typeface="Calibri"/>
              <a:ea typeface="Calibri"/>
              <a:cs typeface="Calibri"/>
              <a:sym typeface="Calibri"/>
            </a:endParaRPr>
          </a:p>
        </p:txBody>
      </p:sp>
      <p:sp>
        <p:nvSpPr>
          <p:cNvPr id="151" name="Google Shape;151;p7"/>
          <p:cNvSpPr/>
          <p:nvPr/>
        </p:nvSpPr>
        <p:spPr>
          <a:xfrm>
            <a:off x="685800" y="2084832"/>
            <a:ext cx="3108960" cy="3328416"/>
          </a:xfrm>
          <a:prstGeom prst="roundRect">
            <a:avLst>
              <a:gd fmla="val 2941"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941832" y="2304288"/>
            <a:ext cx="1005840" cy="274320"/>
          </a:xfrm>
          <a:prstGeom prst="roundRect">
            <a:avLst>
              <a:gd fmla="val 50000" name="adj"/>
            </a:avLst>
          </a:prstGeom>
          <a:solidFill>
            <a:srgbClr val="B34A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txBox="1"/>
          <p:nvPr/>
        </p:nvSpPr>
        <p:spPr>
          <a:xfrm>
            <a:off x="941832" y="2304288"/>
            <a:ext cx="1005840"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BEFORE</a:t>
            </a:r>
            <a:endParaRPr b="0" i="0" sz="950" u="none" cap="none" strike="noStrike">
              <a:solidFill>
                <a:schemeClr val="dk1"/>
              </a:solidFill>
              <a:latin typeface="Calibri"/>
              <a:ea typeface="Calibri"/>
              <a:cs typeface="Calibri"/>
              <a:sym typeface="Calibri"/>
            </a:endParaRPr>
          </a:p>
        </p:txBody>
      </p:sp>
      <p:sp>
        <p:nvSpPr>
          <p:cNvPr id="154" name="Google Shape;154;p7"/>
          <p:cNvSpPr/>
          <p:nvPr/>
        </p:nvSpPr>
        <p:spPr>
          <a:xfrm>
            <a:off x="941832" y="2779776"/>
            <a:ext cx="2596896" cy="457200"/>
          </a:xfrm>
          <a:prstGeom prst="roundRect">
            <a:avLst>
              <a:gd fmla="val 20000" name="adj"/>
            </a:avLst>
          </a:prstGeom>
          <a:solidFill>
            <a:srgbClr val="F3F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txBox="1"/>
          <p:nvPr/>
        </p:nvSpPr>
        <p:spPr>
          <a:xfrm>
            <a:off x="1088136" y="2779776"/>
            <a:ext cx="2304288"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1706B"/>
              </a:buClr>
              <a:buSzPts val="1150"/>
              <a:buFont typeface="Calibri"/>
              <a:buNone/>
            </a:pPr>
            <a:r>
              <a:rPr b="0" i="0" lang="en-US" sz="1150" u="none" cap="none" strike="noStrike">
                <a:solidFill>
                  <a:srgbClr val="51706B"/>
                </a:solidFill>
                <a:latin typeface="Calibri"/>
                <a:ea typeface="Calibri"/>
                <a:cs typeface="Calibri"/>
                <a:sym typeface="Calibri"/>
              </a:rPr>
              <a:t>An old book says one amount</a:t>
            </a:r>
            <a:endParaRPr b="0" i="0" sz="1150" u="none" cap="none" strike="noStrike">
              <a:solidFill>
                <a:schemeClr val="dk1"/>
              </a:solidFill>
              <a:latin typeface="Calibri"/>
              <a:ea typeface="Calibri"/>
              <a:cs typeface="Calibri"/>
              <a:sym typeface="Calibri"/>
            </a:endParaRPr>
          </a:p>
        </p:txBody>
      </p:sp>
      <p:sp>
        <p:nvSpPr>
          <p:cNvPr id="156" name="Google Shape;156;p7"/>
          <p:cNvSpPr/>
          <p:nvPr/>
        </p:nvSpPr>
        <p:spPr>
          <a:xfrm>
            <a:off x="941832" y="3346704"/>
            <a:ext cx="2596896" cy="457200"/>
          </a:xfrm>
          <a:prstGeom prst="roundRect">
            <a:avLst>
              <a:gd fmla="val 20000" name="adj"/>
            </a:avLst>
          </a:prstGeom>
          <a:solidFill>
            <a:srgbClr val="F3F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txBox="1"/>
          <p:nvPr/>
        </p:nvSpPr>
        <p:spPr>
          <a:xfrm>
            <a:off x="1088136" y="3346704"/>
            <a:ext cx="2304288"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1706B"/>
              </a:buClr>
              <a:buSzPts val="1150"/>
              <a:buFont typeface="Calibri"/>
              <a:buNone/>
            </a:pPr>
            <a:r>
              <a:rPr b="0" i="0" lang="en-US" sz="1150" u="none" cap="none" strike="noStrike">
                <a:solidFill>
                  <a:srgbClr val="51706B"/>
                </a:solidFill>
                <a:latin typeface="Calibri"/>
                <a:ea typeface="Calibri"/>
                <a:cs typeface="Calibri"/>
                <a:sym typeface="Calibri"/>
              </a:rPr>
              <a:t>A website says another</a:t>
            </a:r>
            <a:endParaRPr b="0" i="0" sz="1150" u="none" cap="none" strike="noStrike">
              <a:solidFill>
                <a:schemeClr val="dk1"/>
              </a:solidFill>
              <a:latin typeface="Calibri"/>
              <a:ea typeface="Calibri"/>
              <a:cs typeface="Calibri"/>
              <a:sym typeface="Calibri"/>
            </a:endParaRPr>
          </a:p>
        </p:txBody>
      </p:sp>
      <p:sp>
        <p:nvSpPr>
          <p:cNvPr id="158" name="Google Shape;158;p7"/>
          <p:cNvSpPr/>
          <p:nvPr/>
        </p:nvSpPr>
        <p:spPr>
          <a:xfrm>
            <a:off x="941832" y="3913632"/>
            <a:ext cx="2596896" cy="457200"/>
          </a:xfrm>
          <a:prstGeom prst="roundRect">
            <a:avLst>
              <a:gd fmla="val 20000" name="adj"/>
            </a:avLst>
          </a:prstGeom>
          <a:solidFill>
            <a:srgbClr val="F3F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txBox="1"/>
          <p:nvPr/>
        </p:nvSpPr>
        <p:spPr>
          <a:xfrm>
            <a:off x="1088136" y="3913632"/>
            <a:ext cx="2304288"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1706B"/>
              </a:buClr>
              <a:buSzPts val="1150"/>
              <a:buFont typeface="Calibri"/>
              <a:buNone/>
            </a:pPr>
            <a:r>
              <a:rPr b="0" i="0" lang="en-US" sz="1150" u="none" cap="none" strike="noStrike">
                <a:solidFill>
                  <a:srgbClr val="51706B"/>
                </a:solidFill>
                <a:latin typeface="Calibri"/>
                <a:ea typeface="Calibri"/>
                <a:cs typeface="Calibri"/>
                <a:sym typeface="Calibri"/>
              </a:rPr>
              <a:t>An old message says a third</a:t>
            </a:r>
            <a:endParaRPr b="0" i="0" sz="1150" u="none" cap="none" strike="noStrike">
              <a:solidFill>
                <a:schemeClr val="dk1"/>
              </a:solidFill>
              <a:latin typeface="Calibri"/>
              <a:ea typeface="Calibri"/>
              <a:cs typeface="Calibri"/>
              <a:sym typeface="Calibri"/>
            </a:endParaRPr>
          </a:p>
        </p:txBody>
      </p:sp>
      <p:sp>
        <p:nvSpPr>
          <p:cNvPr id="160" name="Google Shape;160;p7"/>
          <p:cNvSpPr txBox="1"/>
          <p:nvPr/>
        </p:nvSpPr>
        <p:spPr>
          <a:xfrm>
            <a:off x="941832" y="4553712"/>
            <a:ext cx="2596896" cy="7315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B34A2B"/>
              </a:buClr>
              <a:buSzPts val="1500"/>
              <a:buFont typeface="Cambria"/>
              <a:buNone/>
            </a:pPr>
            <a:r>
              <a:rPr b="1" i="0" lang="en-US" sz="1500" u="none" cap="none" strike="noStrike">
                <a:solidFill>
                  <a:srgbClr val="B34A2B"/>
                </a:solidFill>
                <a:latin typeface="Cambria"/>
                <a:ea typeface="Cambria"/>
                <a:cs typeface="Cambria"/>
                <a:sym typeface="Cambria"/>
              </a:rPr>
              <a:t>Three answers.</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B34A2B"/>
              </a:buClr>
              <a:buSzPts val="1500"/>
              <a:buFont typeface="Cambria"/>
              <a:buNone/>
            </a:pPr>
            <a:r>
              <a:rPr b="1" i="0" lang="en-US" sz="1500" u="none" cap="none" strike="noStrike">
                <a:solidFill>
                  <a:srgbClr val="B34A2B"/>
                </a:solidFill>
                <a:latin typeface="Cambria"/>
                <a:ea typeface="Cambria"/>
                <a:cs typeface="Cambria"/>
                <a:sym typeface="Cambria"/>
              </a:rPr>
              <a:t>Nobody can pick.</a:t>
            </a:r>
            <a:endParaRPr b="0" i="0" sz="1500" u="none" cap="none" strike="noStrike">
              <a:solidFill>
                <a:schemeClr val="dk1"/>
              </a:solidFill>
              <a:latin typeface="Calibri"/>
              <a:ea typeface="Calibri"/>
              <a:cs typeface="Calibri"/>
              <a:sym typeface="Calibri"/>
            </a:endParaRPr>
          </a:p>
        </p:txBody>
      </p:sp>
      <p:sp>
        <p:nvSpPr>
          <p:cNvPr id="161" name="Google Shape;161;p7"/>
          <p:cNvSpPr/>
          <p:nvPr/>
        </p:nvSpPr>
        <p:spPr>
          <a:xfrm>
            <a:off x="3977640" y="2084832"/>
            <a:ext cx="3108960" cy="3328416"/>
          </a:xfrm>
          <a:prstGeom prst="roundRect">
            <a:avLst>
              <a:gd fmla="val 2941"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p:nvPr/>
        </p:nvSpPr>
        <p:spPr>
          <a:xfrm>
            <a:off x="4233672" y="2304288"/>
            <a:ext cx="1005840"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txBox="1"/>
          <p:nvPr/>
        </p:nvSpPr>
        <p:spPr>
          <a:xfrm>
            <a:off x="4233672" y="2304288"/>
            <a:ext cx="1005840"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AFTER</a:t>
            </a:r>
            <a:endParaRPr b="0" i="0" sz="950" u="none" cap="none" strike="noStrike">
              <a:solidFill>
                <a:schemeClr val="dk1"/>
              </a:solidFill>
              <a:latin typeface="Calibri"/>
              <a:ea typeface="Calibri"/>
              <a:cs typeface="Calibri"/>
              <a:sym typeface="Calibri"/>
            </a:endParaRPr>
          </a:p>
        </p:txBody>
      </p:sp>
      <p:sp>
        <p:nvSpPr>
          <p:cNvPr id="164" name="Google Shape;164;p7"/>
          <p:cNvSpPr/>
          <p:nvPr/>
        </p:nvSpPr>
        <p:spPr>
          <a:xfrm>
            <a:off x="4233672" y="3017520"/>
            <a:ext cx="2596896" cy="896112"/>
          </a:xfrm>
          <a:prstGeom prst="roundRect">
            <a:avLst>
              <a:gd fmla="val 1020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txBox="1"/>
          <p:nvPr/>
        </p:nvSpPr>
        <p:spPr>
          <a:xfrm>
            <a:off x="4379976" y="3017520"/>
            <a:ext cx="2304288" cy="896112"/>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94B3C"/>
              </a:buClr>
              <a:buSzPts val="1300"/>
              <a:buFont typeface="Calibri"/>
              <a:buNone/>
            </a:pPr>
            <a:r>
              <a:rPr b="1" i="0" lang="en-US" sz="1300" u="none" cap="none" strike="noStrike">
                <a:solidFill>
                  <a:srgbClr val="094B3C"/>
                </a:solidFill>
                <a:latin typeface="Calibri"/>
                <a:ea typeface="Calibri"/>
                <a:cs typeface="Calibri"/>
                <a:sym typeface="Calibri"/>
              </a:rPr>
              <a:t>The book, page 7</a:t>
            </a:r>
            <a:endParaRPr b="0" i="0" sz="13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094B3C"/>
              </a:buClr>
              <a:buSzPts val="1300"/>
              <a:buFont typeface="Calibri"/>
              <a:buNone/>
            </a:pPr>
            <a:r>
              <a:rPr b="1" i="0" lang="en-US" sz="1300" u="none" cap="none" strike="noStrike">
                <a:solidFill>
                  <a:srgbClr val="094B3C"/>
                </a:solidFill>
                <a:latin typeface="Calibri"/>
                <a:ea typeface="Calibri"/>
                <a:cs typeface="Calibri"/>
                <a:sym typeface="Calibri"/>
              </a:rPr>
              <a:t>says one amount</a:t>
            </a:r>
            <a:endParaRPr b="0" i="0" sz="1300" u="none" cap="none" strike="noStrike">
              <a:solidFill>
                <a:schemeClr val="dk1"/>
              </a:solidFill>
              <a:latin typeface="Calibri"/>
              <a:ea typeface="Calibri"/>
              <a:cs typeface="Calibri"/>
              <a:sym typeface="Calibri"/>
            </a:endParaRPr>
          </a:p>
        </p:txBody>
      </p:sp>
      <p:sp>
        <p:nvSpPr>
          <p:cNvPr id="166" name="Google Shape;166;p7"/>
          <p:cNvSpPr txBox="1"/>
          <p:nvPr/>
        </p:nvSpPr>
        <p:spPr>
          <a:xfrm>
            <a:off x="4233672" y="4553712"/>
            <a:ext cx="2596896" cy="7315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4B3C"/>
              </a:buClr>
              <a:buSzPts val="1500"/>
              <a:buFont typeface="Cambria"/>
              <a:buNone/>
            </a:pPr>
            <a:r>
              <a:rPr b="1" i="0" lang="en-US" sz="1500" u="none" cap="none" strike="noStrike">
                <a:solidFill>
                  <a:srgbClr val="094B3C"/>
                </a:solidFill>
                <a:latin typeface="Cambria"/>
                <a:ea typeface="Cambria"/>
                <a:cs typeface="Cambria"/>
                <a:sym typeface="Cambria"/>
              </a:rPr>
              <a:t>One answer.</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94B3C"/>
              </a:buClr>
              <a:buSzPts val="1500"/>
              <a:buFont typeface="Cambria"/>
              <a:buNone/>
            </a:pPr>
            <a:r>
              <a:rPr b="1" i="0" lang="en-US" sz="1500" u="none" cap="none" strike="noStrike">
                <a:solidFill>
                  <a:srgbClr val="094B3C"/>
                </a:solidFill>
                <a:latin typeface="Cambria"/>
                <a:ea typeface="Cambria"/>
                <a:cs typeface="Cambria"/>
                <a:sym typeface="Cambria"/>
              </a:rPr>
              <a:t>Every helper the same.</a:t>
            </a:r>
            <a:endParaRPr b="0" i="0" sz="1500" u="none" cap="none" strike="noStrike">
              <a:solidFill>
                <a:schemeClr val="dk1"/>
              </a:solidFill>
              <a:latin typeface="Calibri"/>
              <a:ea typeface="Calibri"/>
              <a:cs typeface="Calibri"/>
              <a:sym typeface="Calibri"/>
            </a:endParaRPr>
          </a:p>
        </p:txBody>
      </p:sp>
      <p:sp>
        <p:nvSpPr>
          <p:cNvPr id="167" name="Google Shape;167;p7"/>
          <p:cNvSpPr/>
          <p:nvPr/>
        </p:nvSpPr>
        <p:spPr>
          <a:xfrm>
            <a:off x="7415784" y="2084832"/>
            <a:ext cx="4059936" cy="3328416"/>
          </a:xfrm>
          <a:prstGeom prst="roundRect">
            <a:avLst>
              <a:gd fmla="val 2747"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txBox="1"/>
          <p:nvPr/>
        </p:nvSpPr>
        <p:spPr>
          <a:xfrm>
            <a:off x="7690104" y="2286000"/>
            <a:ext cx="3511296"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700"/>
              <a:buFont typeface="Cambria"/>
              <a:buNone/>
            </a:pPr>
            <a:r>
              <a:rPr b="1" i="0" lang="en-US" sz="1700" u="none" cap="none" strike="noStrike">
                <a:solidFill>
                  <a:srgbClr val="0B3B39"/>
                </a:solidFill>
                <a:latin typeface="Cambria"/>
                <a:ea typeface="Cambria"/>
                <a:cs typeface="Cambria"/>
                <a:sym typeface="Cambria"/>
              </a:rPr>
              <a:t>What is going on here</a:t>
            </a:r>
            <a:endParaRPr b="0" i="0" sz="1700" u="none" cap="none" strike="noStrike">
              <a:solidFill>
                <a:schemeClr val="dk1"/>
              </a:solidFill>
              <a:latin typeface="Calibri"/>
              <a:ea typeface="Calibri"/>
              <a:cs typeface="Calibri"/>
              <a:sym typeface="Calibri"/>
            </a:endParaRPr>
          </a:p>
        </p:txBody>
      </p:sp>
      <p:sp>
        <p:nvSpPr>
          <p:cNvPr id="169" name="Google Shape;169;p7"/>
          <p:cNvSpPr txBox="1"/>
          <p:nvPr/>
        </p:nvSpPr>
        <p:spPr>
          <a:xfrm>
            <a:off x="7690104" y="2670048"/>
            <a:ext cx="3511296" cy="1828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The hospital picks ONE book and says out loud: this is the real one.</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Every helper must answer from it. If a helper remembers something different, the book wins like a referee's rule book beating what a player thinks.</a:t>
            </a:r>
            <a:endParaRPr b="0" i="0" sz="1300" u="none" cap="none" strike="noStrike">
              <a:solidFill>
                <a:schemeClr val="dk1"/>
              </a:solidFill>
              <a:latin typeface="Calibri"/>
              <a:ea typeface="Calibri"/>
              <a:cs typeface="Calibri"/>
              <a:sym typeface="Calibri"/>
            </a:endParaRPr>
          </a:p>
        </p:txBody>
      </p:sp>
      <p:sp>
        <p:nvSpPr>
          <p:cNvPr id="170" name="Google Shape;170;p7"/>
          <p:cNvSpPr/>
          <p:nvPr/>
        </p:nvSpPr>
        <p:spPr>
          <a:xfrm>
            <a:off x="7690104" y="4572000"/>
            <a:ext cx="3511296" cy="841248"/>
          </a:xfrm>
          <a:prstGeom prst="roundRect">
            <a:avLst>
              <a:gd fmla="val 10870"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txBox="1"/>
          <p:nvPr/>
        </p:nvSpPr>
        <p:spPr>
          <a:xfrm>
            <a:off x="7909560" y="4572000"/>
            <a:ext cx="3072384" cy="841248"/>
          </a:xfrm>
          <a:prstGeom prst="rect">
            <a:avLst/>
          </a:prstGeom>
          <a:noFill/>
          <a:ln>
            <a:noFill/>
          </a:ln>
        </p:spPr>
        <p:txBody>
          <a:bodyPr anchorCtr="0" anchor="ctr" bIns="0" lIns="0" spcFirstLastPara="1" rIns="0" wrap="square" tIns="0">
            <a:noAutofit/>
          </a:bodyPr>
          <a:lstStyle/>
          <a:p>
            <a:pPr indent="0" lvl="0" marL="0" marR="0" rtl="0" algn="l">
              <a:lnSpc>
                <a:spcPct val="126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IN REAL LIFE: the book is a folder of plain text files called knowledge/. You can open it, read it and print it.</a:t>
            </a:r>
            <a:endParaRPr b="0" i="0" sz="1200" u="none" cap="none" strike="noStrike">
              <a:solidFill>
                <a:schemeClr val="dk1"/>
              </a:solidFill>
              <a:latin typeface="Calibri"/>
              <a:ea typeface="Calibri"/>
              <a:cs typeface="Calibri"/>
              <a:sym typeface="Calibri"/>
            </a:endParaRPr>
          </a:p>
        </p:txBody>
      </p:sp>
      <p:sp>
        <p:nvSpPr>
          <p:cNvPr id="172" name="Google Shape;172;p7"/>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175" name="Google Shape;175;p7"/>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A computer cannot choose which page is real. A person has to.</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8"/>
          <p:cNvSpPr/>
          <p:nvPr/>
        </p:nvSpPr>
        <p:spPr>
          <a:xfrm>
            <a:off x="685800" y="438912"/>
            <a:ext cx="640080" cy="6400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2" name="Google Shape;182;p8"/>
          <p:cNvPicPr preferRelativeResize="0"/>
          <p:nvPr/>
        </p:nvPicPr>
        <p:blipFill rotWithShape="1">
          <a:blip r:embed="rId3">
            <a:alphaModFix/>
          </a:blip>
          <a:srcRect b="0" l="0" r="0" t="0"/>
          <a:stretch/>
        </p:blipFill>
        <p:spPr>
          <a:xfrm>
            <a:off x="865022" y="618134"/>
            <a:ext cx="281635" cy="281635"/>
          </a:xfrm>
          <a:prstGeom prst="rect">
            <a:avLst/>
          </a:prstGeom>
          <a:noFill/>
          <a:ln>
            <a:noFill/>
          </a:ln>
        </p:spPr>
      </p:pic>
      <p:sp>
        <p:nvSpPr>
          <p:cNvPr id="183" name="Google Shape;183;p8"/>
          <p:cNvSpPr txBox="1"/>
          <p:nvPr/>
        </p:nvSpPr>
        <p:spPr>
          <a:xfrm>
            <a:off x="1581912" y="384048"/>
            <a:ext cx="9893808" cy="25603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34A2B"/>
              </a:buClr>
              <a:buSzPts val="1000"/>
              <a:buFont typeface="Calibri"/>
              <a:buNone/>
            </a:pPr>
            <a:r>
              <a:rPr b="1" i="0" lang="en-US" sz="1000" u="none" cap="none" strike="noStrike">
                <a:solidFill>
                  <a:srgbClr val="B34A2B"/>
                </a:solidFill>
                <a:latin typeface="Calibri"/>
                <a:ea typeface="Calibri"/>
                <a:cs typeface="Calibri"/>
                <a:sym typeface="Calibri"/>
              </a:rPr>
              <a:t>CONCEPT 2 OF 8  ·  WHAT GOES IN IT</a:t>
            </a:r>
            <a:endParaRPr b="0" i="0" sz="1000" u="none" cap="none" strike="noStrike">
              <a:solidFill>
                <a:schemeClr val="dk1"/>
              </a:solidFill>
              <a:latin typeface="Calibri"/>
              <a:ea typeface="Calibri"/>
              <a:cs typeface="Calibri"/>
              <a:sym typeface="Calibri"/>
            </a:endParaRPr>
          </a:p>
        </p:txBody>
      </p:sp>
      <p:sp>
        <p:nvSpPr>
          <p:cNvPr id="184" name="Google Shape;184;p8"/>
          <p:cNvSpPr txBox="1"/>
          <p:nvPr/>
        </p:nvSpPr>
        <p:spPr>
          <a:xfrm>
            <a:off x="1581912" y="658368"/>
            <a:ext cx="9893808" cy="51206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2800"/>
              <a:buFont typeface="Cambria"/>
              <a:buNone/>
            </a:pPr>
            <a:r>
              <a:rPr b="1" i="0" lang="en-US" sz="2800" u="none" cap="none" strike="noStrike">
                <a:solidFill>
                  <a:srgbClr val="0B3B39"/>
                </a:solidFill>
                <a:latin typeface="Cambria"/>
                <a:ea typeface="Cambria"/>
                <a:cs typeface="Cambria"/>
                <a:sym typeface="Cambria"/>
              </a:rPr>
              <a:t>Rules go in the book. Today's numbers do not.</a:t>
            </a:r>
            <a:endParaRPr b="0" i="0" sz="2800" u="none" cap="none" strike="noStrike">
              <a:solidFill>
                <a:schemeClr val="dk1"/>
              </a:solidFill>
              <a:latin typeface="Calibri"/>
              <a:ea typeface="Calibri"/>
              <a:cs typeface="Calibri"/>
              <a:sym typeface="Calibri"/>
            </a:endParaRPr>
          </a:p>
        </p:txBody>
      </p:sp>
      <p:sp>
        <p:nvSpPr>
          <p:cNvPr id="185" name="Google Shape;185;p8"/>
          <p:cNvSpPr/>
          <p:nvPr/>
        </p:nvSpPr>
        <p:spPr>
          <a:xfrm>
            <a:off x="685800" y="1353312"/>
            <a:ext cx="10789920" cy="585216"/>
          </a:xfrm>
          <a:prstGeom prst="roundRect">
            <a:avLst>
              <a:gd fmla="val 15625"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a:off x="978408" y="1508760"/>
            <a:ext cx="129844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txBox="1"/>
          <p:nvPr/>
        </p:nvSpPr>
        <p:spPr>
          <a:xfrm>
            <a:off x="978408" y="1508760"/>
            <a:ext cx="129844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IT ANSWERS</a:t>
            </a:r>
            <a:endParaRPr b="0" i="0" sz="950" u="none" cap="none" strike="noStrike">
              <a:solidFill>
                <a:schemeClr val="dk1"/>
              </a:solidFill>
              <a:latin typeface="Calibri"/>
              <a:ea typeface="Calibri"/>
              <a:cs typeface="Calibri"/>
              <a:sym typeface="Calibri"/>
            </a:endParaRPr>
          </a:p>
        </p:txBody>
      </p:sp>
      <p:sp>
        <p:nvSpPr>
          <p:cNvPr id="188" name="Google Shape;188;p8"/>
          <p:cNvSpPr txBox="1"/>
          <p:nvPr/>
        </p:nvSpPr>
        <p:spPr>
          <a:xfrm>
            <a:off x="2532888" y="1353312"/>
            <a:ext cx="8650224"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94B3C"/>
              </a:buClr>
              <a:buSzPts val="1700"/>
              <a:buFont typeface="Cambria"/>
              <a:buNone/>
            </a:pPr>
            <a:r>
              <a:rPr b="1" i="0" lang="en-US" sz="1700" u="none" cap="none" strike="noStrike">
                <a:solidFill>
                  <a:srgbClr val="094B3C"/>
                </a:solidFill>
                <a:latin typeface="Cambria"/>
                <a:ea typeface="Cambria"/>
                <a:cs typeface="Cambria"/>
                <a:sym typeface="Cambria"/>
              </a:rPr>
              <a:t>What kind of thing belongs in the book?</a:t>
            </a:r>
            <a:endParaRPr b="0" i="0" sz="1700" u="none" cap="none" strike="noStrike">
              <a:solidFill>
                <a:schemeClr val="dk1"/>
              </a:solidFill>
              <a:latin typeface="Calibri"/>
              <a:ea typeface="Calibri"/>
              <a:cs typeface="Calibri"/>
              <a:sym typeface="Calibri"/>
            </a:endParaRPr>
          </a:p>
        </p:txBody>
      </p:sp>
      <p:sp>
        <p:nvSpPr>
          <p:cNvPr id="189" name="Google Shape;189;p8"/>
          <p:cNvSpPr/>
          <p:nvPr/>
        </p:nvSpPr>
        <p:spPr>
          <a:xfrm>
            <a:off x="685800" y="2084832"/>
            <a:ext cx="3108960" cy="3328416"/>
          </a:xfrm>
          <a:prstGeom prst="roundRect">
            <a:avLst>
              <a:gd fmla="val 2941"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941832" y="2304288"/>
            <a:ext cx="1700784"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txBox="1"/>
          <p:nvPr/>
        </p:nvSpPr>
        <p:spPr>
          <a:xfrm>
            <a:off x="941832" y="2304288"/>
            <a:ext cx="1700784"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GOES IN THE BOOK</a:t>
            </a:r>
            <a:endParaRPr b="0" i="0" sz="950" u="none" cap="none" strike="noStrike">
              <a:solidFill>
                <a:schemeClr val="dk1"/>
              </a:solidFill>
              <a:latin typeface="Calibri"/>
              <a:ea typeface="Calibri"/>
              <a:cs typeface="Calibri"/>
              <a:sym typeface="Calibri"/>
            </a:endParaRPr>
          </a:p>
        </p:txBody>
      </p:sp>
      <p:sp>
        <p:nvSpPr>
          <p:cNvPr id="192" name="Google Shape;192;p8"/>
          <p:cNvSpPr/>
          <p:nvPr/>
        </p:nvSpPr>
        <p:spPr>
          <a:xfrm>
            <a:off x="941832" y="2816352"/>
            <a:ext cx="2596896" cy="512064"/>
          </a:xfrm>
          <a:prstGeom prst="roundRect">
            <a:avLst>
              <a:gd fmla="val 1785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txBox="1"/>
          <p:nvPr/>
        </p:nvSpPr>
        <p:spPr>
          <a:xfrm>
            <a:off x="1088136" y="2816352"/>
            <a:ext cx="2304288" cy="512064"/>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How do we treat a fever?</a:t>
            </a:r>
            <a:endParaRPr b="0" i="0" sz="1200" u="none" cap="none" strike="noStrike">
              <a:solidFill>
                <a:schemeClr val="dk1"/>
              </a:solidFill>
              <a:latin typeface="Calibri"/>
              <a:ea typeface="Calibri"/>
              <a:cs typeface="Calibri"/>
              <a:sym typeface="Calibri"/>
            </a:endParaRPr>
          </a:p>
        </p:txBody>
      </p:sp>
      <p:sp>
        <p:nvSpPr>
          <p:cNvPr id="194" name="Google Shape;194;p8"/>
          <p:cNvSpPr/>
          <p:nvPr/>
        </p:nvSpPr>
        <p:spPr>
          <a:xfrm>
            <a:off x="941832" y="3438144"/>
            <a:ext cx="2596896" cy="512064"/>
          </a:xfrm>
          <a:prstGeom prst="roundRect">
            <a:avLst>
              <a:gd fmla="val 1785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txBox="1"/>
          <p:nvPr/>
        </p:nvSpPr>
        <p:spPr>
          <a:xfrm>
            <a:off x="1088136" y="3438144"/>
            <a:ext cx="2304288" cy="512064"/>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Who is allowed to sign this?</a:t>
            </a:r>
            <a:endParaRPr b="0" i="0" sz="1200" u="none" cap="none" strike="noStrike">
              <a:solidFill>
                <a:schemeClr val="dk1"/>
              </a:solidFill>
              <a:latin typeface="Calibri"/>
              <a:ea typeface="Calibri"/>
              <a:cs typeface="Calibri"/>
              <a:sym typeface="Calibri"/>
            </a:endParaRPr>
          </a:p>
        </p:txBody>
      </p:sp>
      <p:sp>
        <p:nvSpPr>
          <p:cNvPr id="196" name="Google Shape;196;p8"/>
          <p:cNvSpPr/>
          <p:nvPr/>
        </p:nvSpPr>
        <p:spPr>
          <a:xfrm>
            <a:off x="941832" y="4059936"/>
            <a:ext cx="2596896" cy="512064"/>
          </a:xfrm>
          <a:prstGeom prst="roundRect">
            <a:avLst>
              <a:gd fmla="val 1785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txBox="1"/>
          <p:nvPr/>
        </p:nvSpPr>
        <p:spPr>
          <a:xfrm>
            <a:off x="1088136" y="4059936"/>
            <a:ext cx="2304288" cy="512064"/>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What is the safe amount?</a:t>
            </a:r>
            <a:endParaRPr b="0" i="0" sz="1200" u="none" cap="none" strike="noStrike">
              <a:solidFill>
                <a:schemeClr val="dk1"/>
              </a:solidFill>
              <a:latin typeface="Calibri"/>
              <a:ea typeface="Calibri"/>
              <a:cs typeface="Calibri"/>
              <a:sym typeface="Calibri"/>
            </a:endParaRPr>
          </a:p>
        </p:txBody>
      </p:sp>
      <p:sp>
        <p:nvSpPr>
          <p:cNvPr id="198" name="Google Shape;198;p8"/>
          <p:cNvSpPr txBox="1"/>
          <p:nvPr/>
        </p:nvSpPr>
        <p:spPr>
          <a:xfrm>
            <a:off x="941832" y="4700016"/>
            <a:ext cx="2596896" cy="5669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4B3C"/>
              </a:buClr>
              <a:buSzPts val="1250"/>
              <a:buFont typeface="Calibri"/>
              <a:buNone/>
            </a:pPr>
            <a:r>
              <a:rPr b="1" i="0" lang="en-US" sz="1250" u="none" cap="none" strike="noStrike">
                <a:solidFill>
                  <a:srgbClr val="094B3C"/>
                </a:solidFill>
                <a:latin typeface="Calibri"/>
                <a:ea typeface="Calibri"/>
                <a:cs typeface="Calibri"/>
                <a:sym typeface="Calibri"/>
              </a:rPr>
              <a:t>These change slowly. Someone signs them.</a:t>
            </a:r>
            <a:endParaRPr b="0" i="0" sz="1250" u="none" cap="none" strike="noStrike">
              <a:solidFill>
                <a:schemeClr val="dk1"/>
              </a:solidFill>
              <a:latin typeface="Calibri"/>
              <a:ea typeface="Calibri"/>
              <a:cs typeface="Calibri"/>
              <a:sym typeface="Calibri"/>
            </a:endParaRPr>
          </a:p>
        </p:txBody>
      </p:sp>
      <p:sp>
        <p:nvSpPr>
          <p:cNvPr id="199" name="Google Shape;199;p8"/>
          <p:cNvSpPr/>
          <p:nvPr/>
        </p:nvSpPr>
        <p:spPr>
          <a:xfrm>
            <a:off x="3977640" y="2084832"/>
            <a:ext cx="3108960" cy="3328416"/>
          </a:xfrm>
          <a:prstGeom prst="roundRect">
            <a:avLst>
              <a:gd fmla="val 2941"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4233672" y="2304288"/>
            <a:ext cx="1700784" cy="274320"/>
          </a:xfrm>
          <a:prstGeom prst="roundRect">
            <a:avLst>
              <a:gd fmla="val 50000" name="adj"/>
            </a:avLst>
          </a:prstGeom>
          <a:solidFill>
            <a:srgbClr val="B34A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txBox="1"/>
          <p:nvPr/>
        </p:nvSpPr>
        <p:spPr>
          <a:xfrm>
            <a:off x="4233672" y="2304288"/>
            <a:ext cx="1700784"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DOES NOT GO IN</a:t>
            </a:r>
            <a:endParaRPr b="0" i="0" sz="950" u="none" cap="none" strike="noStrike">
              <a:solidFill>
                <a:schemeClr val="dk1"/>
              </a:solidFill>
              <a:latin typeface="Calibri"/>
              <a:ea typeface="Calibri"/>
              <a:cs typeface="Calibri"/>
              <a:sym typeface="Calibri"/>
            </a:endParaRPr>
          </a:p>
        </p:txBody>
      </p:sp>
      <p:sp>
        <p:nvSpPr>
          <p:cNvPr id="202" name="Google Shape;202;p8"/>
          <p:cNvSpPr/>
          <p:nvPr/>
        </p:nvSpPr>
        <p:spPr>
          <a:xfrm>
            <a:off x="4233672" y="2816352"/>
            <a:ext cx="2596896" cy="512064"/>
          </a:xfrm>
          <a:prstGeom prst="roundRect">
            <a:avLst>
              <a:gd fmla="val 17857" name="adj"/>
            </a:avLst>
          </a:prstGeom>
          <a:solidFill>
            <a:srgbClr val="F3F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txBox="1"/>
          <p:nvPr/>
        </p:nvSpPr>
        <p:spPr>
          <a:xfrm>
            <a:off x="4379976" y="2816352"/>
            <a:ext cx="2304288" cy="512064"/>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How many beds are free?</a:t>
            </a:r>
            <a:endParaRPr b="0" i="0" sz="1200" u="none" cap="none" strike="noStrike">
              <a:solidFill>
                <a:schemeClr val="dk1"/>
              </a:solidFill>
              <a:latin typeface="Calibri"/>
              <a:ea typeface="Calibri"/>
              <a:cs typeface="Calibri"/>
              <a:sym typeface="Calibri"/>
            </a:endParaRPr>
          </a:p>
        </p:txBody>
      </p:sp>
      <p:sp>
        <p:nvSpPr>
          <p:cNvPr id="204" name="Google Shape;204;p8"/>
          <p:cNvSpPr/>
          <p:nvPr/>
        </p:nvSpPr>
        <p:spPr>
          <a:xfrm>
            <a:off x="4233672" y="3438144"/>
            <a:ext cx="2596896" cy="512064"/>
          </a:xfrm>
          <a:prstGeom prst="roundRect">
            <a:avLst>
              <a:gd fmla="val 17857" name="adj"/>
            </a:avLst>
          </a:prstGeom>
          <a:solidFill>
            <a:srgbClr val="F3F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txBox="1"/>
          <p:nvPr/>
        </p:nvSpPr>
        <p:spPr>
          <a:xfrm>
            <a:off x="4379976" y="3438144"/>
            <a:ext cx="2304288" cy="512064"/>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Who is in room 4 right now?</a:t>
            </a:r>
            <a:endParaRPr b="0" i="0" sz="1200" u="none" cap="none" strike="noStrike">
              <a:solidFill>
                <a:schemeClr val="dk1"/>
              </a:solidFill>
              <a:latin typeface="Calibri"/>
              <a:ea typeface="Calibri"/>
              <a:cs typeface="Calibri"/>
              <a:sym typeface="Calibri"/>
            </a:endParaRPr>
          </a:p>
        </p:txBody>
      </p:sp>
      <p:sp>
        <p:nvSpPr>
          <p:cNvPr id="206" name="Google Shape;206;p8"/>
          <p:cNvSpPr/>
          <p:nvPr/>
        </p:nvSpPr>
        <p:spPr>
          <a:xfrm>
            <a:off x="4233672" y="4059936"/>
            <a:ext cx="2596896" cy="512064"/>
          </a:xfrm>
          <a:prstGeom prst="roundRect">
            <a:avLst>
              <a:gd fmla="val 17857" name="adj"/>
            </a:avLst>
          </a:prstGeom>
          <a:solidFill>
            <a:srgbClr val="F3F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txBox="1"/>
          <p:nvPr/>
        </p:nvSpPr>
        <p:spPr>
          <a:xfrm>
            <a:off x="4379976" y="4059936"/>
            <a:ext cx="2304288" cy="512064"/>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How much medicine is left?</a:t>
            </a:r>
            <a:endParaRPr b="0" i="0" sz="1200" u="none" cap="none" strike="noStrike">
              <a:solidFill>
                <a:schemeClr val="dk1"/>
              </a:solidFill>
              <a:latin typeface="Calibri"/>
              <a:ea typeface="Calibri"/>
              <a:cs typeface="Calibri"/>
              <a:sym typeface="Calibri"/>
            </a:endParaRPr>
          </a:p>
        </p:txBody>
      </p:sp>
      <p:sp>
        <p:nvSpPr>
          <p:cNvPr id="208" name="Google Shape;208;p8"/>
          <p:cNvSpPr txBox="1"/>
          <p:nvPr/>
        </p:nvSpPr>
        <p:spPr>
          <a:xfrm>
            <a:off x="4233672" y="4700016"/>
            <a:ext cx="2596896" cy="5669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34A2B"/>
              </a:buClr>
              <a:buSzPts val="1250"/>
              <a:buFont typeface="Calibri"/>
              <a:buNone/>
            </a:pPr>
            <a:r>
              <a:rPr b="1" i="0" lang="en-US" sz="1250" u="none" cap="none" strike="noStrike">
                <a:solidFill>
                  <a:srgbClr val="B34A2B"/>
                </a:solidFill>
                <a:latin typeface="Calibri"/>
                <a:ea typeface="Calibri"/>
                <a:cs typeface="Calibri"/>
                <a:sym typeface="Calibri"/>
              </a:rPr>
              <a:t>These change every minute. Nobody signs them.</a:t>
            </a:r>
            <a:endParaRPr b="0" i="0" sz="1250" u="none" cap="none" strike="noStrike">
              <a:solidFill>
                <a:schemeClr val="dk1"/>
              </a:solidFill>
              <a:latin typeface="Calibri"/>
              <a:ea typeface="Calibri"/>
              <a:cs typeface="Calibri"/>
              <a:sym typeface="Calibri"/>
            </a:endParaRPr>
          </a:p>
        </p:txBody>
      </p:sp>
      <p:sp>
        <p:nvSpPr>
          <p:cNvPr id="209" name="Google Shape;209;p8"/>
          <p:cNvSpPr/>
          <p:nvPr/>
        </p:nvSpPr>
        <p:spPr>
          <a:xfrm>
            <a:off x="7415784" y="2084832"/>
            <a:ext cx="4059936" cy="3328416"/>
          </a:xfrm>
          <a:prstGeom prst="roundRect">
            <a:avLst>
              <a:gd fmla="val 2747"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txBox="1"/>
          <p:nvPr/>
        </p:nvSpPr>
        <p:spPr>
          <a:xfrm>
            <a:off x="7690104" y="2286000"/>
            <a:ext cx="3511296"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700"/>
              <a:buFont typeface="Cambria"/>
              <a:buNone/>
            </a:pPr>
            <a:r>
              <a:rPr b="1" i="0" lang="en-US" sz="1700" u="none" cap="none" strike="noStrike">
                <a:solidFill>
                  <a:srgbClr val="0B3B39"/>
                </a:solidFill>
                <a:latin typeface="Cambria"/>
                <a:ea typeface="Cambria"/>
                <a:cs typeface="Cambria"/>
                <a:sym typeface="Cambria"/>
              </a:rPr>
              <a:t>Why split them up?</a:t>
            </a:r>
            <a:endParaRPr b="0" i="0" sz="1700" u="none" cap="none" strike="noStrike">
              <a:solidFill>
                <a:schemeClr val="dk1"/>
              </a:solidFill>
              <a:latin typeface="Calibri"/>
              <a:ea typeface="Calibri"/>
              <a:cs typeface="Calibri"/>
              <a:sym typeface="Calibri"/>
            </a:endParaRPr>
          </a:p>
        </p:txBody>
      </p:sp>
      <p:sp>
        <p:nvSpPr>
          <p:cNvPr id="211" name="Google Shape;211;p8"/>
          <p:cNvSpPr txBox="1"/>
          <p:nvPr/>
        </p:nvSpPr>
        <p:spPr>
          <a:xfrm>
            <a:off x="7690104" y="2670048"/>
            <a:ext cx="3511296" cy="1828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A rule is something a person decided and signed. It should stay the same until somebody changes it on purpose.</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A number like “beds free today” is different</a:t>
            </a:r>
            <a:r>
              <a:rPr lang="en-US" sz="1300">
                <a:solidFill>
                  <a:srgbClr val="16302D"/>
                </a:solidFill>
                <a:latin typeface="Calibri"/>
                <a:ea typeface="Calibri"/>
                <a:cs typeface="Calibri"/>
                <a:sym typeface="Calibri"/>
              </a:rPr>
              <a:t>,</a:t>
            </a:r>
            <a:r>
              <a:rPr b="0" i="0" lang="en-US" sz="1300" u="none" cap="none" strike="noStrike">
                <a:solidFill>
                  <a:srgbClr val="16302D"/>
                </a:solidFill>
                <a:latin typeface="Calibri"/>
                <a:ea typeface="Calibri"/>
                <a:cs typeface="Calibri"/>
                <a:sym typeface="Calibri"/>
              </a:rPr>
              <a:t> it is true for ten minutes. Signing it would be silly.</a:t>
            </a:r>
            <a:endParaRPr b="0" i="0" sz="1300" u="none" cap="none" strike="noStrike">
              <a:solidFill>
                <a:schemeClr val="dk1"/>
              </a:solidFill>
              <a:latin typeface="Calibri"/>
              <a:ea typeface="Calibri"/>
              <a:cs typeface="Calibri"/>
              <a:sym typeface="Calibri"/>
            </a:endParaRPr>
          </a:p>
        </p:txBody>
      </p:sp>
      <p:sp>
        <p:nvSpPr>
          <p:cNvPr id="212" name="Google Shape;212;p8"/>
          <p:cNvSpPr/>
          <p:nvPr/>
        </p:nvSpPr>
        <p:spPr>
          <a:xfrm>
            <a:off x="7690104" y="4572000"/>
            <a:ext cx="3511296" cy="841248"/>
          </a:xfrm>
          <a:prstGeom prst="roundRect">
            <a:avLst>
              <a:gd fmla="val 10870"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txBox="1"/>
          <p:nvPr/>
        </p:nvSpPr>
        <p:spPr>
          <a:xfrm>
            <a:off x="7909560" y="4572000"/>
            <a:ext cx="3072384" cy="841248"/>
          </a:xfrm>
          <a:prstGeom prst="rect">
            <a:avLst/>
          </a:prstGeom>
          <a:noFill/>
          <a:ln>
            <a:noFill/>
          </a:ln>
        </p:spPr>
        <p:txBody>
          <a:bodyPr anchorCtr="0" anchor="ctr" bIns="0" lIns="0" spcFirstLastPara="1" rIns="0" wrap="square" tIns="0">
            <a:noAutofit/>
          </a:bodyPr>
          <a:lstStyle/>
          <a:p>
            <a:pPr indent="0" lvl="0" marL="0" marR="0" rtl="0" algn="l">
              <a:lnSpc>
                <a:spcPct val="126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IN REAL LIFE: the “right now” system has a name too</a:t>
            </a:r>
            <a:r>
              <a:rPr lang="en-US" sz="1200">
                <a:solidFill>
                  <a:srgbClr val="16302D"/>
                </a:solidFill>
                <a:latin typeface="Calibri"/>
                <a:ea typeface="Calibri"/>
                <a:cs typeface="Calibri"/>
                <a:sym typeface="Calibri"/>
              </a:rPr>
              <a:t>, </a:t>
            </a:r>
            <a:r>
              <a:rPr b="0" i="0" lang="en-US" sz="1200" u="none" cap="none" strike="noStrike">
                <a:solidFill>
                  <a:srgbClr val="16302D"/>
                </a:solidFill>
                <a:latin typeface="Calibri"/>
                <a:ea typeface="Calibri"/>
                <a:cs typeface="Calibri"/>
                <a:sym typeface="Calibri"/>
              </a:rPr>
              <a:t> a System of Record. Your school register is one.</a:t>
            </a:r>
            <a:endParaRPr b="0" i="0" sz="1200" u="none" cap="none" strike="noStrike">
              <a:solidFill>
                <a:schemeClr val="dk1"/>
              </a:solidFill>
              <a:latin typeface="Calibri"/>
              <a:ea typeface="Calibri"/>
              <a:cs typeface="Calibri"/>
              <a:sym typeface="Calibri"/>
            </a:endParaRPr>
          </a:p>
        </p:txBody>
      </p:sp>
      <p:sp>
        <p:nvSpPr>
          <p:cNvPr id="214" name="Google Shape;214;p8"/>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217" name="Google Shape;217;p8"/>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The book holds what we decided. Other systems hold what is happening.</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9"/>
          <p:cNvSpPr/>
          <p:nvPr/>
        </p:nvSpPr>
        <p:spPr>
          <a:xfrm>
            <a:off x="685800" y="438912"/>
            <a:ext cx="640080" cy="6400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4" name="Google Shape;224;p9"/>
          <p:cNvPicPr preferRelativeResize="0"/>
          <p:nvPr/>
        </p:nvPicPr>
        <p:blipFill rotWithShape="1">
          <a:blip r:embed="rId3">
            <a:alphaModFix/>
          </a:blip>
          <a:srcRect b="0" l="0" r="0" t="0"/>
          <a:stretch/>
        </p:blipFill>
        <p:spPr>
          <a:xfrm>
            <a:off x="865022" y="618134"/>
            <a:ext cx="281635" cy="281635"/>
          </a:xfrm>
          <a:prstGeom prst="rect">
            <a:avLst/>
          </a:prstGeom>
          <a:noFill/>
          <a:ln>
            <a:noFill/>
          </a:ln>
        </p:spPr>
      </p:pic>
      <p:sp>
        <p:nvSpPr>
          <p:cNvPr id="225" name="Google Shape;225;p9"/>
          <p:cNvSpPr txBox="1"/>
          <p:nvPr/>
        </p:nvSpPr>
        <p:spPr>
          <a:xfrm>
            <a:off x="1581912" y="384048"/>
            <a:ext cx="9893808" cy="25603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34A2B"/>
              </a:buClr>
              <a:buSzPts val="1000"/>
              <a:buFont typeface="Calibri"/>
              <a:buNone/>
            </a:pPr>
            <a:r>
              <a:rPr b="1" i="0" lang="en-US" sz="1000" u="none" cap="none" strike="noStrike">
                <a:solidFill>
                  <a:srgbClr val="B34A2B"/>
                </a:solidFill>
                <a:latin typeface="Calibri"/>
                <a:ea typeface="Calibri"/>
                <a:cs typeface="Calibri"/>
                <a:sym typeface="Calibri"/>
              </a:rPr>
              <a:t>CONCEPT 3 OF 8  ·  STAMPS</a:t>
            </a:r>
            <a:endParaRPr b="0" i="0" sz="1000" u="none" cap="none" strike="noStrike">
              <a:solidFill>
                <a:schemeClr val="dk1"/>
              </a:solidFill>
              <a:latin typeface="Calibri"/>
              <a:ea typeface="Calibri"/>
              <a:cs typeface="Calibri"/>
              <a:sym typeface="Calibri"/>
            </a:endParaRPr>
          </a:p>
        </p:txBody>
      </p:sp>
      <p:sp>
        <p:nvSpPr>
          <p:cNvPr id="226" name="Google Shape;226;p9"/>
          <p:cNvSpPr txBox="1"/>
          <p:nvPr/>
        </p:nvSpPr>
        <p:spPr>
          <a:xfrm>
            <a:off x="1581912" y="658368"/>
            <a:ext cx="9893808" cy="51206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2800"/>
              <a:buFont typeface="Cambria"/>
              <a:buNone/>
            </a:pPr>
            <a:r>
              <a:rPr b="1" i="0" lang="en-US" sz="2800" u="none" cap="none" strike="noStrike">
                <a:solidFill>
                  <a:srgbClr val="0B3B39"/>
                </a:solidFill>
                <a:latin typeface="Cambria"/>
                <a:ea typeface="Cambria"/>
                <a:cs typeface="Cambria"/>
                <a:sym typeface="Cambria"/>
              </a:rPr>
              <a:t>A page carries proof of where it came from</a:t>
            </a:r>
            <a:endParaRPr b="0" i="0" sz="2800" u="none" cap="none" strike="noStrike">
              <a:solidFill>
                <a:schemeClr val="dk1"/>
              </a:solidFill>
              <a:latin typeface="Calibri"/>
              <a:ea typeface="Calibri"/>
              <a:cs typeface="Calibri"/>
              <a:sym typeface="Calibri"/>
            </a:endParaRPr>
          </a:p>
        </p:txBody>
      </p:sp>
      <p:sp>
        <p:nvSpPr>
          <p:cNvPr id="227" name="Google Shape;227;p9"/>
          <p:cNvSpPr/>
          <p:nvPr/>
        </p:nvSpPr>
        <p:spPr>
          <a:xfrm>
            <a:off x="685800" y="1353312"/>
            <a:ext cx="10789920" cy="585216"/>
          </a:xfrm>
          <a:prstGeom prst="roundRect">
            <a:avLst>
              <a:gd fmla="val 15625"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p:nvPr/>
        </p:nvSpPr>
        <p:spPr>
          <a:xfrm>
            <a:off x="978408" y="1508760"/>
            <a:ext cx="129844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txBox="1"/>
          <p:nvPr/>
        </p:nvSpPr>
        <p:spPr>
          <a:xfrm>
            <a:off x="978408" y="1508760"/>
            <a:ext cx="129844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IT ANSWERS</a:t>
            </a:r>
            <a:endParaRPr b="0" i="0" sz="950" u="none" cap="none" strike="noStrike">
              <a:solidFill>
                <a:schemeClr val="dk1"/>
              </a:solidFill>
              <a:latin typeface="Calibri"/>
              <a:ea typeface="Calibri"/>
              <a:cs typeface="Calibri"/>
              <a:sym typeface="Calibri"/>
            </a:endParaRPr>
          </a:p>
        </p:txBody>
      </p:sp>
      <p:sp>
        <p:nvSpPr>
          <p:cNvPr id="230" name="Google Shape;230;p9"/>
          <p:cNvSpPr txBox="1"/>
          <p:nvPr/>
        </p:nvSpPr>
        <p:spPr>
          <a:xfrm>
            <a:off x="2532888" y="1353312"/>
            <a:ext cx="8650224"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94B3C"/>
              </a:buClr>
              <a:buSzPts val="1700"/>
              <a:buFont typeface="Cambria"/>
              <a:buNone/>
            </a:pPr>
            <a:r>
              <a:rPr b="1" i="0" lang="en-US" sz="1700" u="none" cap="none" strike="noStrike">
                <a:solidFill>
                  <a:srgbClr val="094B3C"/>
                </a:solidFill>
                <a:latin typeface="Cambria"/>
                <a:ea typeface="Cambria"/>
                <a:cs typeface="Cambria"/>
                <a:sym typeface="Cambria"/>
              </a:rPr>
              <a:t>How do I know a page can be trusted?</a:t>
            </a:r>
            <a:endParaRPr b="0" i="0" sz="1700" u="none" cap="none" strike="noStrike">
              <a:solidFill>
                <a:schemeClr val="dk1"/>
              </a:solidFill>
              <a:latin typeface="Calibri"/>
              <a:ea typeface="Calibri"/>
              <a:cs typeface="Calibri"/>
              <a:sym typeface="Calibri"/>
            </a:endParaRPr>
          </a:p>
        </p:txBody>
      </p:sp>
      <p:sp>
        <p:nvSpPr>
          <p:cNvPr id="231" name="Google Shape;231;p9"/>
          <p:cNvSpPr/>
          <p:nvPr/>
        </p:nvSpPr>
        <p:spPr>
          <a:xfrm>
            <a:off x="685800" y="2084832"/>
            <a:ext cx="6400800" cy="3328416"/>
          </a:xfrm>
          <a:prstGeom prst="roundRect">
            <a:avLst>
              <a:gd fmla="val 2747"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txBox="1"/>
          <p:nvPr/>
        </p:nvSpPr>
        <p:spPr>
          <a:xfrm>
            <a:off x="1051560" y="2322576"/>
            <a:ext cx="5669280" cy="2377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1706B"/>
              </a:buClr>
              <a:buSzPts val="950"/>
              <a:buFont typeface="Calibri"/>
              <a:buNone/>
            </a:pPr>
            <a:r>
              <a:rPr b="1" i="0" lang="en-US" sz="950" u="none" cap="none" strike="noStrike">
                <a:solidFill>
                  <a:srgbClr val="51706B"/>
                </a:solidFill>
                <a:latin typeface="Calibri"/>
                <a:ea typeface="Calibri"/>
                <a:cs typeface="Calibri"/>
                <a:sym typeface="Calibri"/>
              </a:rPr>
              <a:t>MEDICINE RULES  ·  PAGE 7</a:t>
            </a:r>
            <a:endParaRPr b="0" i="0" sz="950" u="none" cap="none" strike="noStrike">
              <a:solidFill>
                <a:schemeClr val="dk1"/>
              </a:solidFill>
              <a:latin typeface="Calibri"/>
              <a:ea typeface="Calibri"/>
              <a:cs typeface="Calibri"/>
              <a:sym typeface="Calibri"/>
            </a:endParaRPr>
          </a:p>
        </p:txBody>
      </p:sp>
      <p:sp>
        <p:nvSpPr>
          <p:cNvPr id="233" name="Google Shape;233;p9"/>
          <p:cNvSpPr txBox="1"/>
          <p:nvPr/>
        </p:nvSpPr>
        <p:spPr>
          <a:xfrm>
            <a:off x="1051560" y="2596896"/>
            <a:ext cx="5669280" cy="3840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2100"/>
              <a:buFont typeface="Cambria"/>
              <a:buNone/>
            </a:pPr>
            <a:r>
              <a:rPr b="1" i="0" lang="en-US" sz="2100" u="none" cap="none" strike="noStrike">
                <a:solidFill>
                  <a:srgbClr val="0B3B39"/>
                </a:solidFill>
                <a:latin typeface="Cambria"/>
                <a:ea typeface="Cambria"/>
                <a:cs typeface="Cambria"/>
                <a:sym typeface="Cambria"/>
              </a:rPr>
              <a:t>Safe amounts for children</a:t>
            </a:r>
            <a:endParaRPr b="0" i="0" sz="2100" u="none" cap="none" strike="noStrike">
              <a:solidFill>
                <a:schemeClr val="dk1"/>
              </a:solidFill>
              <a:latin typeface="Calibri"/>
              <a:ea typeface="Calibri"/>
              <a:cs typeface="Calibri"/>
              <a:sym typeface="Calibri"/>
            </a:endParaRPr>
          </a:p>
        </p:txBody>
      </p:sp>
      <p:cxnSp>
        <p:nvCxnSpPr>
          <p:cNvPr id="234" name="Google Shape;234;p9"/>
          <p:cNvCxnSpPr/>
          <p:nvPr/>
        </p:nvCxnSpPr>
        <p:spPr>
          <a:xfrm>
            <a:off x="1051560" y="3072384"/>
            <a:ext cx="5669280" cy="0"/>
          </a:xfrm>
          <a:prstGeom prst="straightConnector1">
            <a:avLst/>
          </a:prstGeom>
          <a:noFill/>
          <a:ln cap="flat" cmpd="sng" w="12700">
            <a:solidFill>
              <a:srgbClr val="C9DCD6"/>
            </a:solidFill>
            <a:prstDash val="solid"/>
            <a:round/>
            <a:headEnd len="sm" w="sm" type="none"/>
            <a:tailEnd len="sm" w="sm" type="none"/>
          </a:ln>
        </p:spPr>
      </p:cxnSp>
      <p:sp>
        <p:nvSpPr>
          <p:cNvPr id="235" name="Google Shape;235;p9"/>
          <p:cNvSpPr txBox="1"/>
          <p:nvPr/>
        </p:nvSpPr>
        <p:spPr>
          <a:xfrm>
            <a:off x="1051560" y="3200400"/>
            <a:ext cx="5669280" cy="2377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6E56"/>
              </a:buClr>
              <a:buSzPts val="950"/>
              <a:buFont typeface="Calibri"/>
              <a:buNone/>
            </a:pPr>
            <a:r>
              <a:rPr b="1" i="0" lang="en-US" sz="950" u="none" cap="none" strike="noStrike">
                <a:solidFill>
                  <a:srgbClr val="0F6E56"/>
                </a:solidFill>
                <a:latin typeface="Calibri"/>
                <a:ea typeface="Calibri"/>
                <a:cs typeface="Calibri"/>
                <a:sym typeface="Calibri"/>
              </a:rPr>
              <a:t>THE FIVE STAMPS ON THIS PAGE</a:t>
            </a:r>
            <a:endParaRPr b="0" i="0" sz="950" u="none" cap="none" strike="noStrike">
              <a:solidFill>
                <a:schemeClr val="dk1"/>
              </a:solidFill>
              <a:latin typeface="Calibri"/>
              <a:ea typeface="Calibri"/>
              <a:cs typeface="Calibri"/>
              <a:sym typeface="Calibri"/>
            </a:endParaRPr>
          </a:p>
        </p:txBody>
      </p:sp>
      <p:sp>
        <p:nvSpPr>
          <p:cNvPr id="236" name="Google Shape;236;p9"/>
          <p:cNvSpPr/>
          <p:nvPr/>
        </p:nvSpPr>
        <p:spPr>
          <a:xfrm>
            <a:off x="1069848" y="3639312"/>
            <a:ext cx="164592" cy="164592"/>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txBox="1"/>
          <p:nvPr/>
        </p:nvSpPr>
        <p:spPr>
          <a:xfrm>
            <a:off x="1380744" y="3529584"/>
            <a:ext cx="17373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Written by</a:t>
            </a:r>
            <a:endParaRPr b="0" i="0" sz="1250" u="none" cap="none" strike="noStrike">
              <a:solidFill>
                <a:schemeClr val="dk1"/>
              </a:solidFill>
              <a:latin typeface="Calibri"/>
              <a:ea typeface="Calibri"/>
              <a:cs typeface="Calibri"/>
              <a:sym typeface="Calibri"/>
            </a:endParaRPr>
          </a:p>
        </p:txBody>
      </p:sp>
      <p:sp>
        <p:nvSpPr>
          <p:cNvPr id="238" name="Google Shape;238;p9"/>
          <p:cNvSpPr txBox="1"/>
          <p:nvPr/>
        </p:nvSpPr>
        <p:spPr>
          <a:xfrm>
            <a:off x="3154680" y="3529584"/>
            <a:ext cx="35661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350"/>
              <a:buFont typeface="Calibri"/>
              <a:buNone/>
            </a:pPr>
            <a:r>
              <a:rPr b="1" i="0" lang="en-US" sz="1350" u="none" cap="none" strike="noStrike">
                <a:solidFill>
                  <a:srgbClr val="0B3B39"/>
                </a:solidFill>
                <a:latin typeface="Calibri"/>
                <a:ea typeface="Calibri"/>
                <a:cs typeface="Calibri"/>
                <a:sym typeface="Calibri"/>
              </a:rPr>
              <a:t>Dr Sana Malik</a:t>
            </a:r>
            <a:endParaRPr b="0" i="0" sz="1350" u="none" cap="none" strike="noStrike">
              <a:solidFill>
                <a:schemeClr val="dk1"/>
              </a:solidFill>
              <a:latin typeface="Calibri"/>
              <a:ea typeface="Calibri"/>
              <a:cs typeface="Calibri"/>
              <a:sym typeface="Calibri"/>
            </a:endParaRPr>
          </a:p>
        </p:txBody>
      </p:sp>
      <p:sp>
        <p:nvSpPr>
          <p:cNvPr id="239" name="Google Shape;239;p9"/>
          <p:cNvSpPr/>
          <p:nvPr/>
        </p:nvSpPr>
        <p:spPr>
          <a:xfrm>
            <a:off x="1069848" y="4023360"/>
            <a:ext cx="164592" cy="164592"/>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txBox="1"/>
          <p:nvPr/>
        </p:nvSpPr>
        <p:spPr>
          <a:xfrm>
            <a:off x="1380744" y="3913632"/>
            <a:ext cx="17373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Signed by</a:t>
            </a:r>
            <a:endParaRPr b="0" i="0" sz="1250" u="none" cap="none" strike="noStrike">
              <a:solidFill>
                <a:schemeClr val="dk1"/>
              </a:solidFill>
              <a:latin typeface="Calibri"/>
              <a:ea typeface="Calibri"/>
              <a:cs typeface="Calibri"/>
              <a:sym typeface="Calibri"/>
            </a:endParaRPr>
          </a:p>
        </p:txBody>
      </p:sp>
      <p:sp>
        <p:nvSpPr>
          <p:cNvPr id="241" name="Google Shape;241;p9"/>
          <p:cNvSpPr txBox="1"/>
          <p:nvPr/>
        </p:nvSpPr>
        <p:spPr>
          <a:xfrm>
            <a:off x="3154680" y="3913632"/>
            <a:ext cx="35661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350"/>
              <a:buFont typeface="Calibri"/>
              <a:buNone/>
            </a:pPr>
            <a:r>
              <a:rPr b="1" i="0" lang="en-US" sz="1350" u="none" cap="none" strike="noStrike">
                <a:solidFill>
                  <a:srgbClr val="0B3B39"/>
                </a:solidFill>
                <a:latin typeface="Calibri"/>
                <a:ea typeface="Calibri"/>
                <a:cs typeface="Calibri"/>
                <a:sym typeface="Calibri"/>
              </a:rPr>
              <a:t>The Medicines Committee</a:t>
            </a:r>
            <a:endParaRPr b="0" i="0" sz="1350" u="none" cap="none" strike="noStrike">
              <a:solidFill>
                <a:schemeClr val="dk1"/>
              </a:solidFill>
              <a:latin typeface="Calibri"/>
              <a:ea typeface="Calibri"/>
              <a:cs typeface="Calibri"/>
              <a:sym typeface="Calibri"/>
            </a:endParaRPr>
          </a:p>
        </p:txBody>
      </p:sp>
      <p:sp>
        <p:nvSpPr>
          <p:cNvPr id="242" name="Google Shape;242;p9"/>
          <p:cNvSpPr/>
          <p:nvPr/>
        </p:nvSpPr>
        <p:spPr>
          <a:xfrm>
            <a:off x="1069848" y="4407408"/>
            <a:ext cx="164592" cy="164592"/>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txBox="1"/>
          <p:nvPr/>
        </p:nvSpPr>
        <p:spPr>
          <a:xfrm>
            <a:off x="1380744" y="4297680"/>
            <a:ext cx="17373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Started on</a:t>
            </a:r>
            <a:endParaRPr b="0" i="0" sz="1250" u="none" cap="none" strike="noStrike">
              <a:solidFill>
                <a:schemeClr val="dk1"/>
              </a:solidFill>
              <a:latin typeface="Calibri"/>
              <a:ea typeface="Calibri"/>
              <a:cs typeface="Calibri"/>
              <a:sym typeface="Calibri"/>
            </a:endParaRPr>
          </a:p>
        </p:txBody>
      </p:sp>
      <p:sp>
        <p:nvSpPr>
          <p:cNvPr id="244" name="Google Shape;244;p9"/>
          <p:cNvSpPr txBox="1"/>
          <p:nvPr/>
        </p:nvSpPr>
        <p:spPr>
          <a:xfrm>
            <a:off x="3154680" y="4297680"/>
            <a:ext cx="35661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350"/>
              <a:buFont typeface="Calibri"/>
              <a:buNone/>
            </a:pPr>
            <a:r>
              <a:rPr b="1" i="0" lang="en-US" sz="1350" u="none" cap="none" strike="noStrike">
                <a:solidFill>
                  <a:srgbClr val="0B3B39"/>
                </a:solidFill>
                <a:latin typeface="Calibri"/>
                <a:ea typeface="Calibri"/>
                <a:cs typeface="Calibri"/>
                <a:sym typeface="Calibri"/>
              </a:rPr>
              <a:t>3 March 2026</a:t>
            </a:r>
            <a:endParaRPr b="0" i="0" sz="1350" u="none" cap="none" strike="noStrike">
              <a:solidFill>
                <a:schemeClr val="dk1"/>
              </a:solidFill>
              <a:latin typeface="Calibri"/>
              <a:ea typeface="Calibri"/>
              <a:cs typeface="Calibri"/>
              <a:sym typeface="Calibri"/>
            </a:endParaRPr>
          </a:p>
        </p:txBody>
      </p:sp>
      <p:sp>
        <p:nvSpPr>
          <p:cNvPr id="245" name="Google Shape;245;p9"/>
          <p:cNvSpPr/>
          <p:nvPr/>
        </p:nvSpPr>
        <p:spPr>
          <a:xfrm>
            <a:off x="1069848" y="4791456"/>
            <a:ext cx="164592" cy="164592"/>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txBox="1"/>
          <p:nvPr/>
        </p:nvSpPr>
        <p:spPr>
          <a:xfrm>
            <a:off x="1380744" y="4681728"/>
            <a:ext cx="17373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Version</a:t>
            </a:r>
            <a:endParaRPr b="0" i="0" sz="1250" u="none" cap="none" strike="noStrike">
              <a:solidFill>
                <a:schemeClr val="dk1"/>
              </a:solidFill>
              <a:latin typeface="Calibri"/>
              <a:ea typeface="Calibri"/>
              <a:cs typeface="Calibri"/>
              <a:sym typeface="Calibri"/>
            </a:endParaRPr>
          </a:p>
        </p:txBody>
      </p:sp>
      <p:sp>
        <p:nvSpPr>
          <p:cNvPr id="247" name="Google Shape;247;p9"/>
          <p:cNvSpPr txBox="1"/>
          <p:nvPr/>
        </p:nvSpPr>
        <p:spPr>
          <a:xfrm>
            <a:off x="3154680" y="4681728"/>
            <a:ext cx="35661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350"/>
              <a:buFont typeface="Calibri"/>
              <a:buNone/>
            </a:pPr>
            <a:r>
              <a:rPr b="1" i="0" lang="en-US" sz="1350" u="none" cap="none" strike="noStrike">
                <a:solidFill>
                  <a:srgbClr val="0B3B39"/>
                </a:solidFill>
                <a:latin typeface="Calibri"/>
                <a:ea typeface="Calibri"/>
                <a:cs typeface="Calibri"/>
                <a:sym typeface="Calibri"/>
              </a:rPr>
              <a:t>4  (version 3 is out of date)</a:t>
            </a:r>
            <a:endParaRPr b="0" i="0" sz="1350" u="none" cap="none" strike="noStrike">
              <a:solidFill>
                <a:schemeClr val="dk1"/>
              </a:solidFill>
              <a:latin typeface="Calibri"/>
              <a:ea typeface="Calibri"/>
              <a:cs typeface="Calibri"/>
              <a:sym typeface="Calibri"/>
            </a:endParaRPr>
          </a:p>
        </p:txBody>
      </p:sp>
      <p:sp>
        <p:nvSpPr>
          <p:cNvPr id="248" name="Google Shape;248;p9"/>
          <p:cNvSpPr/>
          <p:nvPr/>
        </p:nvSpPr>
        <p:spPr>
          <a:xfrm>
            <a:off x="1069848" y="5175504"/>
            <a:ext cx="164592" cy="164592"/>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txBox="1"/>
          <p:nvPr/>
        </p:nvSpPr>
        <p:spPr>
          <a:xfrm>
            <a:off x="1380744" y="5065776"/>
            <a:ext cx="17373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0" lang="en-US" sz="1250" u="none" cap="none" strike="noStrike">
                <a:solidFill>
                  <a:srgbClr val="51706B"/>
                </a:solidFill>
                <a:latin typeface="Calibri"/>
                <a:ea typeface="Calibri"/>
                <a:cs typeface="Calibri"/>
                <a:sym typeface="Calibri"/>
              </a:rPr>
              <a:t>May be read by</a:t>
            </a:r>
            <a:endParaRPr b="0" i="0" sz="1250" u="none" cap="none" strike="noStrike">
              <a:solidFill>
                <a:schemeClr val="dk1"/>
              </a:solidFill>
              <a:latin typeface="Calibri"/>
              <a:ea typeface="Calibri"/>
              <a:cs typeface="Calibri"/>
              <a:sym typeface="Calibri"/>
            </a:endParaRPr>
          </a:p>
        </p:txBody>
      </p:sp>
      <p:sp>
        <p:nvSpPr>
          <p:cNvPr id="250" name="Google Shape;250;p9"/>
          <p:cNvSpPr txBox="1"/>
          <p:nvPr/>
        </p:nvSpPr>
        <p:spPr>
          <a:xfrm>
            <a:off x="3154680" y="5065776"/>
            <a:ext cx="35661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350"/>
              <a:buFont typeface="Calibri"/>
              <a:buNone/>
            </a:pPr>
            <a:r>
              <a:rPr b="1" i="0" lang="en-US" sz="1350" u="none" cap="none" strike="noStrike">
                <a:solidFill>
                  <a:srgbClr val="0B3B39"/>
                </a:solidFill>
                <a:latin typeface="Calibri"/>
                <a:ea typeface="Calibri"/>
                <a:cs typeface="Calibri"/>
                <a:sym typeface="Calibri"/>
              </a:rPr>
              <a:t>All nurses and doctors</a:t>
            </a:r>
            <a:endParaRPr b="0" i="0" sz="1350" u="none" cap="none" strike="noStrike">
              <a:solidFill>
                <a:schemeClr val="dk1"/>
              </a:solidFill>
              <a:latin typeface="Calibri"/>
              <a:ea typeface="Calibri"/>
              <a:cs typeface="Calibri"/>
              <a:sym typeface="Calibri"/>
            </a:endParaRPr>
          </a:p>
        </p:txBody>
      </p:sp>
      <p:sp>
        <p:nvSpPr>
          <p:cNvPr id="251" name="Google Shape;251;p9"/>
          <p:cNvSpPr/>
          <p:nvPr/>
        </p:nvSpPr>
        <p:spPr>
          <a:xfrm>
            <a:off x="7415784" y="2084832"/>
            <a:ext cx="4059936" cy="3328416"/>
          </a:xfrm>
          <a:prstGeom prst="roundRect">
            <a:avLst>
              <a:gd fmla="val 2747"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txBox="1"/>
          <p:nvPr/>
        </p:nvSpPr>
        <p:spPr>
          <a:xfrm>
            <a:off x="7690104" y="2286000"/>
            <a:ext cx="3511296"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700"/>
              <a:buFont typeface="Cambria"/>
              <a:buNone/>
            </a:pPr>
            <a:r>
              <a:rPr b="1" i="0" lang="en-US" sz="1700" u="none" cap="none" strike="noStrike">
                <a:solidFill>
                  <a:srgbClr val="0B3B39"/>
                </a:solidFill>
                <a:latin typeface="Cambria"/>
                <a:ea typeface="Cambria"/>
                <a:cs typeface="Cambria"/>
                <a:sym typeface="Cambria"/>
              </a:rPr>
              <a:t>Take the stamps away</a:t>
            </a:r>
            <a:endParaRPr b="0" i="0" sz="1700" u="none" cap="none" strike="noStrike">
              <a:solidFill>
                <a:schemeClr val="dk1"/>
              </a:solidFill>
              <a:latin typeface="Calibri"/>
              <a:ea typeface="Calibri"/>
              <a:cs typeface="Calibri"/>
              <a:sym typeface="Calibri"/>
            </a:endParaRPr>
          </a:p>
        </p:txBody>
      </p:sp>
      <p:sp>
        <p:nvSpPr>
          <p:cNvPr id="253" name="Google Shape;253;p9"/>
          <p:cNvSpPr txBox="1"/>
          <p:nvPr/>
        </p:nvSpPr>
        <p:spPr>
          <a:xfrm>
            <a:off x="7690104" y="2670048"/>
            <a:ext cx="3511296" cy="1828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Now it is just text on a page. You cannot tell whether a doctor wrote it or somebody guessed. You cannot tell if it is this year's version.</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The stamps are what turn writing into a rule.</a:t>
            </a:r>
            <a:endParaRPr b="0" i="0" sz="1300" u="none" cap="none" strike="noStrike">
              <a:solidFill>
                <a:schemeClr val="dk1"/>
              </a:solidFill>
              <a:latin typeface="Calibri"/>
              <a:ea typeface="Calibri"/>
              <a:cs typeface="Calibri"/>
              <a:sym typeface="Calibri"/>
            </a:endParaRPr>
          </a:p>
        </p:txBody>
      </p:sp>
      <p:sp>
        <p:nvSpPr>
          <p:cNvPr id="254" name="Google Shape;254;p9"/>
          <p:cNvSpPr/>
          <p:nvPr/>
        </p:nvSpPr>
        <p:spPr>
          <a:xfrm>
            <a:off x="7690104" y="4572000"/>
            <a:ext cx="3511296" cy="841248"/>
          </a:xfrm>
          <a:prstGeom prst="roundRect">
            <a:avLst>
              <a:gd fmla="val 10870"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txBox="1"/>
          <p:nvPr/>
        </p:nvSpPr>
        <p:spPr>
          <a:xfrm>
            <a:off x="7909560" y="4572000"/>
            <a:ext cx="3072384" cy="841248"/>
          </a:xfrm>
          <a:prstGeom prst="rect">
            <a:avLst/>
          </a:prstGeom>
          <a:noFill/>
          <a:ln>
            <a:noFill/>
          </a:ln>
        </p:spPr>
        <p:txBody>
          <a:bodyPr anchorCtr="0" anchor="ctr" bIns="0" lIns="0" spcFirstLastPara="1" rIns="0" wrap="square" tIns="0">
            <a:noAutofit/>
          </a:bodyPr>
          <a:lstStyle/>
          <a:p>
            <a:pPr indent="0" lvl="0" marL="0" marR="0" rtl="0" algn="l">
              <a:lnSpc>
                <a:spcPct val="126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IN REAL LIFE: the stamps sit at the top of the file. If a page never says who may read it, then not everyone may quiet never means yes.</a:t>
            </a:r>
            <a:endParaRPr b="0" i="0" sz="1200" u="none" cap="none" strike="noStrike">
              <a:solidFill>
                <a:schemeClr val="dk1"/>
              </a:solidFill>
              <a:latin typeface="Calibri"/>
              <a:ea typeface="Calibri"/>
              <a:cs typeface="Calibri"/>
              <a:sym typeface="Calibri"/>
            </a:endParaRPr>
          </a:p>
        </p:txBody>
      </p:sp>
      <p:sp>
        <p:nvSpPr>
          <p:cNvPr id="256" name="Google Shape;256;p9"/>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259" name="Google Shape;259;p9"/>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No stamps, no trust. A page nobody signed is only a note.</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0"/>
          <p:cNvSpPr/>
          <p:nvPr/>
        </p:nvSpPr>
        <p:spPr>
          <a:xfrm>
            <a:off x="685800" y="438912"/>
            <a:ext cx="640080" cy="6400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6" name="Google Shape;266;p10"/>
          <p:cNvPicPr preferRelativeResize="0"/>
          <p:nvPr/>
        </p:nvPicPr>
        <p:blipFill rotWithShape="1">
          <a:blip r:embed="rId3">
            <a:alphaModFix/>
          </a:blip>
          <a:srcRect b="0" l="0" r="0" t="0"/>
          <a:stretch/>
        </p:blipFill>
        <p:spPr>
          <a:xfrm>
            <a:off x="865022" y="618134"/>
            <a:ext cx="281635" cy="281635"/>
          </a:xfrm>
          <a:prstGeom prst="rect">
            <a:avLst/>
          </a:prstGeom>
          <a:noFill/>
          <a:ln>
            <a:noFill/>
          </a:ln>
        </p:spPr>
      </p:pic>
      <p:sp>
        <p:nvSpPr>
          <p:cNvPr id="267" name="Google Shape;267;p10"/>
          <p:cNvSpPr txBox="1"/>
          <p:nvPr/>
        </p:nvSpPr>
        <p:spPr>
          <a:xfrm>
            <a:off x="1581912" y="384048"/>
            <a:ext cx="9893808" cy="25603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34A2B"/>
              </a:buClr>
              <a:buSzPts val="1000"/>
              <a:buFont typeface="Calibri"/>
              <a:buNone/>
            </a:pPr>
            <a:r>
              <a:rPr b="1" i="0" lang="en-US" sz="1000" u="none" cap="none" strike="noStrike">
                <a:solidFill>
                  <a:srgbClr val="B34A2B"/>
                </a:solidFill>
                <a:latin typeface="Calibri"/>
                <a:ea typeface="Calibri"/>
                <a:cs typeface="Calibri"/>
                <a:sym typeface="Calibri"/>
              </a:rPr>
              <a:t>CONCEPT 4 OF 8  ·  THE DOOR</a:t>
            </a:r>
            <a:endParaRPr b="0" i="0" sz="1000" u="none" cap="none" strike="noStrike">
              <a:solidFill>
                <a:schemeClr val="dk1"/>
              </a:solidFill>
              <a:latin typeface="Calibri"/>
              <a:ea typeface="Calibri"/>
              <a:cs typeface="Calibri"/>
              <a:sym typeface="Calibri"/>
            </a:endParaRPr>
          </a:p>
        </p:txBody>
      </p:sp>
      <p:sp>
        <p:nvSpPr>
          <p:cNvPr id="268" name="Google Shape;268;p10"/>
          <p:cNvSpPr txBox="1"/>
          <p:nvPr/>
        </p:nvSpPr>
        <p:spPr>
          <a:xfrm>
            <a:off x="1581912" y="658368"/>
            <a:ext cx="9893808" cy="51206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2800"/>
              <a:buFont typeface="Cambria"/>
              <a:buNone/>
            </a:pPr>
            <a:r>
              <a:rPr b="1" i="0" lang="en-US" sz="2800" u="none" cap="none" strike="noStrike">
                <a:solidFill>
                  <a:srgbClr val="0B3B39"/>
                </a:solidFill>
                <a:latin typeface="Cambria"/>
                <a:ea typeface="Cambria"/>
                <a:cs typeface="Cambria"/>
                <a:sym typeface="Cambria"/>
              </a:rPr>
              <a:t>Two checks before any answer comes out</a:t>
            </a:r>
            <a:endParaRPr b="0" i="0" sz="2800" u="none" cap="none" strike="noStrike">
              <a:solidFill>
                <a:schemeClr val="dk1"/>
              </a:solidFill>
              <a:latin typeface="Calibri"/>
              <a:ea typeface="Calibri"/>
              <a:cs typeface="Calibri"/>
              <a:sym typeface="Calibri"/>
            </a:endParaRPr>
          </a:p>
        </p:txBody>
      </p:sp>
      <p:sp>
        <p:nvSpPr>
          <p:cNvPr id="269" name="Google Shape;269;p10"/>
          <p:cNvSpPr/>
          <p:nvPr/>
        </p:nvSpPr>
        <p:spPr>
          <a:xfrm>
            <a:off x="685800" y="1353312"/>
            <a:ext cx="10789920" cy="585216"/>
          </a:xfrm>
          <a:prstGeom prst="roundRect">
            <a:avLst>
              <a:gd fmla="val 15625"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978408" y="1508760"/>
            <a:ext cx="129844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txBox="1"/>
          <p:nvPr/>
        </p:nvSpPr>
        <p:spPr>
          <a:xfrm>
            <a:off x="978408" y="1508760"/>
            <a:ext cx="129844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IT ANSWERS</a:t>
            </a:r>
            <a:endParaRPr b="0" i="0" sz="950" u="none" cap="none" strike="noStrike">
              <a:solidFill>
                <a:schemeClr val="dk1"/>
              </a:solidFill>
              <a:latin typeface="Calibri"/>
              <a:ea typeface="Calibri"/>
              <a:cs typeface="Calibri"/>
              <a:sym typeface="Calibri"/>
            </a:endParaRPr>
          </a:p>
        </p:txBody>
      </p:sp>
      <p:sp>
        <p:nvSpPr>
          <p:cNvPr id="272" name="Google Shape;272;p10"/>
          <p:cNvSpPr txBox="1"/>
          <p:nvPr/>
        </p:nvSpPr>
        <p:spPr>
          <a:xfrm>
            <a:off x="2532888" y="1353312"/>
            <a:ext cx="8650224"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94B3C"/>
              </a:buClr>
              <a:buSzPts val="1700"/>
              <a:buFont typeface="Cambria"/>
              <a:buNone/>
            </a:pPr>
            <a:r>
              <a:rPr b="1" i="0" lang="en-US" sz="1700" u="none" cap="none" strike="noStrike">
                <a:solidFill>
                  <a:srgbClr val="094B3C"/>
                </a:solidFill>
                <a:latin typeface="Cambria"/>
                <a:ea typeface="Cambria"/>
                <a:cs typeface="Cambria"/>
                <a:sym typeface="Cambria"/>
              </a:rPr>
              <a:t>Should this answer be allowed out?</a:t>
            </a:r>
            <a:endParaRPr b="0" i="0" sz="1700" u="none" cap="none" strike="noStrike">
              <a:solidFill>
                <a:schemeClr val="dk1"/>
              </a:solidFill>
              <a:latin typeface="Calibri"/>
              <a:ea typeface="Calibri"/>
              <a:cs typeface="Calibri"/>
              <a:sym typeface="Calibri"/>
            </a:endParaRPr>
          </a:p>
        </p:txBody>
      </p:sp>
      <p:sp>
        <p:nvSpPr>
          <p:cNvPr id="273" name="Google Shape;273;p10"/>
          <p:cNvSpPr/>
          <p:nvPr/>
        </p:nvSpPr>
        <p:spPr>
          <a:xfrm>
            <a:off x="685800" y="2084832"/>
            <a:ext cx="6400800" cy="1554480"/>
          </a:xfrm>
          <a:prstGeom prst="roundRect">
            <a:avLst>
              <a:gd fmla="val 5882"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
          <p:cNvSpPr txBox="1"/>
          <p:nvPr/>
        </p:nvSpPr>
        <p:spPr>
          <a:xfrm>
            <a:off x="960120" y="2267712"/>
            <a:ext cx="5852160"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94B3C"/>
              </a:buClr>
              <a:buSzPts val="1500"/>
              <a:buFont typeface="Cambria"/>
              <a:buNone/>
            </a:pPr>
            <a:r>
              <a:rPr b="1" i="0" lang="en-US" sz="1500" u="none" cap="none" strike="noStrike">
                <a:solidFill>
                  <a:srgbClr val="094B3C"/>
                </a:solidFill>
                <a:latin typeface="Cambria"/>
                <a:ea typeface="Cambria"/>
                <a:cs typeface="Cambria"/>
                <a:sym typeface="Cambria"/>
              </a:rPr>
              <a:t>A nurse asks: “How much medicine for a six-year-old?”</a:t>
            </a:r>
            <a:endParaRPr b="0" i="0" sz="1500" u="none" cap="none" strike="noStrike">
              <a:solidFill>
                <a:schemeClr val="dk1"/>
              </a:solidFill>
              <a:latin typeface="Calibri"/>
              <a:ea typeface="Calibri"/>
              <a:cs typeface="Calibri"/>
              <a:sym typeface="Calibri"/>
            </a:endParaRPr>
          </a:p>
        </p:txBody>
      </p:sp>
      <p:sp>
        <p:nvSpPr>
          <p:cNvPr id="275" name="Google Shape;275;p10"/>
          <p:cNvSpPr/>
          <p:nvPr/>
        </p:nvSpPr>
        <p:spPr>
          <a:xfrm>
            <a:off x="960120" y="2779776"/>
            <a:ext cx="1883664" cy="603504"/>
          </a:xfrm>
          <a:prstGeom prst="roundRect">
            <a:avLst>
              <a:gd fmla="val 151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txBox="1"/>
          <p:nvPr/>
        </p:nvSpPr>
        <p:spPr>
          <a:xfrm>
            <a:off x="1051560" y="2779776"/>
            <a:ext cx="1700784" cy="603504"/>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16302D"/>
              </a:buClr>
              <a:buSzPts val="1150"/>
              <a:buFont typeface="Calibri"/>
              <a:buNone/>
            </a:pPr>
            <a:r>
              <a:rPr b="0" i="0" lang="en-US" sz="1150" u="none" cap="none" strike="noStrike">
                <a:solidFill>
                  <a:srgbClr val="16302D"/>
                </a:solidFill>
                <a:latin typeface="Calibri"/>
                <a:ea typeface="Calibri"/>
                <a:cs typeface="Calibri"/>
                <a:sym typeface="Calibri"/>
              </a:rPr>
              <a:t>In the book?  YES</a:t>
            </a:r>
            <a:endParaRPr b="0" i="0" sz="1150" u="none" cap="none" strike="noStrike">
              <a:solidFill>
                <a:schemeClr val="dk1"/>
              </a:solidFill>
              <a:latin typeface="Calibri"/>
              <a:ea typeface="Calibri"/>
              <a:cs typeface="Calibri"/>
              <a:sym typeface="Calibri"/>
            </a:endParaRPr>
          </a:p>
        </p:txBody>
      </p:sp>
      <p:sp>
        <p:nvSpPr>
          <p:cNvPr id="277" name="Google Shape;277;p10"/>
          <p:cNvSpPr/>
          <p:nvPr/>
        </p:nvSpPr>
        <p:spPr>
          <a:xfrm>
            <a:off x="2990088" y="2779776"/>
            <a:ext cx="1883664" cy="603504"/>
          </a:xfrm>
          <a:prstGeom prst="roundRect">
            <a:avLst>
              <a:gd fmla="val 151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txBox="1"/>
          <p:nvPr/>
        </p:nvSpPr>
        <p:spPr>
          <a:xfrm>
            <a:off x="3081528" y="2779776"/>
            <a:ext cx="1700784" cy="603504"/>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16302D"/>
              </a:buClr>
              <a:buSzPts val="1150"/>
              <a:buFont typeface="Calibri"/>
              <a:buNone/>
            </a:pPr>
            <a:r>
              <a:rPr b="0" i="0" lang="en-US" sz="1150" u="none" cap="none" strike="noStrike">
                <a:solidFill>
                  <a:srgbClr val="16302D"/>
                </a:solidFill>
                <a:latin typeface="Calibri"/>
                <a:ea typeface="Calibri"/>
                <a:cs typeface="Calibri"/>
                <a:sym typeface="Calibri"/>
              </a:rPr>
              <a:t>Allowed to see it?  YES</a:t>
            </a:r>
            <a:endParaRPr b="0" i="0" sz="1150" u="none" cap="none" strike="noStrike">
              <a:solidFill>
                <a:schemeClr val="dk1"/>
              </a:solidFill>
              <a:latin typeface="Calibri"/>
              <a:ea typeface="Calibri"/>
              <a:cs typeface="Calibri"/>
              <a:sym typeface="Calibri"/>
            </a:endParaRPr>
          </a:p>
        </p:txBody>
      </p:sp>
      <p:sp>
        <p:nvSpPr>
          <p:cNvPr id="279" name="Google Shape;279;p10"/>
          <p:cNvSpPr/>
          <p:nvPr/>
        </p:nvSpPr>
        <p:spPr>
          <a:xfrm>
            <a:off x="5020056" y="2779776"/>
            <a:ext cx="1883664" cy="603504"/>
          </a:xfrm>
          <a:prstGeom prst="roundRect">
            <a:avLst>
              <a:gd fmla="val 151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0"/>
          <p:cNvSpPr txBox="1"/>
          <p:nvPr/>
        </p:nvSpPr>
        <p:spPr>
          <a:xfrm>
            <a:off x="5111496" y="2779776"/>
            <a:ext cx="1700784" cy="603504"/>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94B3C"/>
              </a:buClr>
              <a:buSzPts val="1150"/>
              <a:buFont typeface="Calibri"/>
              <a:buNone/>
            </a:pPr>
            <a:r>
              <a:rPr b="1" i="0" lang="en-US" sz="1150" u="none" cap="none" strike="noStrike">
                <a:solidFill>
                  <a:srgbClr val="094B3C"/>
                </a:solidFill>
                <a:latin typeface="Calibri"/>
                <a:ea typeface="Calibri"/>
                <a:cs typeface="Calibri"/>
                <a:sym typeface="Calibri"/>
              </a:rPr>
              <a:t>→ Answer, and the page</a:t>
            </a:r>
            <a:endParaRPr b="0" i="0" sz="1150" u="none" cap="none" strike="noStrike">
              <a:solidFill>
                <a:schemeClr val="dk1"/>
              </a:solidFill>
              <a:latin typeface="Calibri"/>
              <a:ea typeface="Calibri"/>
              <a:cs typeface="Calibri"/>
              <a:sym typeface="Calibri"/>
            </a:endParaRPr>
          </a:p>
        </p:txBody>
      </p:sp>
      <p:sp>
        <p:nvSpPr>
          <p:cNvPr id="281" name="Google Shape;281;p10"/>
          <p:cNvSpPr/>
          <p:nvPr/>
        </p:nvSpPr>
        <p:spPr>
          <a:xfrm>
            <a:off x="685800" y="3803904"/>
            <a:ext cx="6400800" cy="1554480"/>
          </a:xfrm>
          <a:prstGeom prst="roundRect">
            <a:avLst>
              <a:gd fmla="val 5882"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txBox="1"/>
          <p:nvPr/>
        </p:nvSpPr>
        <p:spPr>
          <a:xfrm>
            <a:off x="960120" y="3986784"/>
            <a:ext cx="5852160"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34A2B"/>
              </a:buClr>
              <a:buSzPts val="1500"/>
              <a:buFont typeface="Cambria"/>
              <a:buNone/>
            </a:pPr>
            <a:r>
              <a:rPr b="1" i="0" lang="en-US" sz="1500" u="none" cap="none" strike="noStrike">
                <a:solidFill>
                  <a:srgbClr val="B34A2B"/>
                </a:solidFill>
                <a:latin typeface="Cambria"/>
                <a:ea typeface="Cambria"/>
                <a:cs typeface="Cambria"/>
                <a:sym typeface="Cambria"/>
              </a:rPr>
              <a:t>A visitor asks: “What is written in room 4's notes?”</a:t>
            </a:r>
            <a:endParaRPr b="0" i="0" sz="1500" u="none" cap="none" strike="noStrike">
              <a:solidFill>
                <a:schemeClr val="dk1"/>
              </a:solidFill>
              <a:latin typeface="Calibri"/>
              <a:ea typeface="Calibri"/>
              <a:cs typeface="Calibri"/>
              <a:sym typeface="Calibri"/>
            </a:endParaRPr>
          </a:p>
        </p:txBody>
      </p:sp>
      <p:sp>
        <p:nvSpPr>
          <p:cNvPr id="283" name="Google Shape;283;p10"/>
          <p:cNvSpPr/>
          <p:nvPr/>
        </p:nvSpPr>
        <p:spPr>
          <a:xfrm>
            <a:off x="960120" y="4498848"/>
            <a:ext cx="1883664" cy="603504"/>
          </a:xfrm>
          <a:prstGeom prst="roundRect">
            <a:avLst>
              <a:gd fmla="val 151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
          <p:cNvSpPr txBox="1"/>
          <p:nvPr/>
        </p:nvSpPr>
        <p:spPr>
          <a:xfrm>
            <a:off x="1051560" y="4498848"/>
            <a:ext cx="1700784" cy="603504"/>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16302D"/>
              </a:buClr>
              <a:buSzPts val="1150"/>
              <a:buFont typeface="Calibri"/>
              <a:buNone/>
            </a:pPr>
            <a:r>
              <a:rPr b="0" i="0" lang="en-US" sz="1150" u="none" cap="none" strike="noStrike">
                <a:solidFill>
                  <a:srgbClr val="16302D"/>
                </a:solidFill>
                <a:latin typeface="Calibri"/>
                <a:ea typeface="Calibri"/>
                <a:cs typeface="Calibri"/>
                <a:sym typeface="Calibri"/>
              </a:rPr>
              <a:t>In the book?  YES</a:t>
            </a:r>
            <a:endParaRPr b="0" i="0" sz="1150" u="none" cap="none" strike="noStrike">
              <a:solidFill>
                <a:schemeClr val="dk1"/>
              </a:solidFill>
              <a:latin typeface="Calibri"/>
              <a:ea typeface="Calibri"/>
              <a:cs typeface="Calibri"/>
              <a:sym typeface="Calibri"/>
            </a:endParaRPr>
          </a:p>
        </p:txBody>
      </p:sp>
      <p:sp>
        <p:nvSpPr>
          <p:cNvPr id="285" name="Google Shape;285;p10"/>
          <p:cNvSpPr/>
          <p:nvPr/>
        </p:nvSpPr>
        <p:spPr>
          <a:xfrm>
            <a:off x="2990088" y="4498848"/>
            <a:ext cx="1883664" cy="603504"/>
          </a:xfrm>
          <a:prstGeom prst="roundRect">
            <a:avLst>
              <a:gd fmla="val 151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txBox="1"/>
          <p:nvPr/>
        </p:nvSpPr>
        <p:spPr>
          <a:xfrm>
            <a:off x="3081528" y="4498848"/>
            <a:ext cx="1700784" cy="603504"/>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16302D"/>
              </a:buClr>
              <a:buSzPts val="1150"/>
              <a:buFont typeface="Calibri"/>
              <a:buNone/>
            </a:pPr>
            <a:r>
              <a:rPr b="0" i="0" lang="en-US" sz="1150" u="none" cap="none" strike="noStrike">
                <a:solidFill>
                  <a:srgbClr val="16302D"/>
                </a:solidFill>
                <a:latin typeface="Calibri"/>
                <a:ea typeface="Calibri"/>
                <a:cs typeface="Calibri"/>
                <a:sym typeface="Calibri"/>
              </a:rPr>
              <a:t>Allowed to see it?  NO</a:t>
            </a:r>
            <a:endParaRPr b="0" i="0" sz="1150" u="none" cap="none" strike="noStrike">
              <a:solidFill>
                <a:schemeClr val="dk1"/>
              </a:solidFill>
              <a:latin typeface="Calibri"/>
              <a:ea typeface="Calibri"/>
              <a:cs typeface="Calibri"/>
              <a:sym typeface="Calibri"/>
            </a:endParaRPr>
          </a:p>
        </p:txBody>
      </p:sp>
      <p:sp>
        <p:nvSpPr>
          <p:cNvPr id="287" name="Google Shape;287;p10"/>
          <p:cNvSpPr/>
          <p:nvPr/>
        </p:nvSpPr>
        <p:spPr>
          <a:xfrm>
            <a:off x="5020056" y="4498848"/>
            <a:ext cx="1883664" cy="603504"/>
          </a:xfrm>
          <a:prstGeom prst="roundRect">
            <a:avLst>
              <a:gd fmla="val 151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0"/>
          <p:cNvSpPr txBox="1"/>
          <p:nvPr/>
        </p:nvSpPr>
        <p:spPr>
          <a:xfrm>
            <a:off x="5111496" y="4498848"/>
            <a:ext cx="1700784" cy="603504"/>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B34A2B"/>
              </a:buClr>
              <a:buSzPts val="1150"/>
              <a:buFont typeface="Calibri"/>
              <a:buNone/>
            </a:pPr>
            <a:r>
              <a:rPr b="1" i="0" lang="en-US" sz="1150" u="none" cap="none" strike="noStrike">
                <a:solidFill>
                  <a:srgbClr val="B34A2B"/>
                </a:solidFill>
                <a:latin typeface="Calibri"/>
                <a:ea typeface="Calibri"/>
                <a:cs typeface="Calibri"/>
                <a:sym typeface="Calibri"/>
              </a:rPr>
              <a:t>→ Nothing comes out</a:t>
            </a:r>
            <a:endParaRPr b="0" i="0" sz="1150" u="none" cap="none" strike="noStrike">
              <a:solidFill>
                <a:schemeClr val="dk1"/>
              </a:solidFill>
              <a:latin typeface="Calibri"/>
              <a:ea typeface="Calibri"/>
              <a:cs typeface="Calibri"/>
              <a:sym typeface="Calibri"/>
            </a:endParaRPr>
          </a:p>
        </p:txBody>
      </p:sp>
      <p:sp>
        <p:nvSpPr>
          <p:cNvPr id="289" name="Google Shape;289;p10"/>
          <p:cNvSpPr/>
          <p:nvPr/>
        </p:nvSpPr>
        <p:spPr>
          <a:xfrm>
            <a:off x="7415784" y="2084832"/>
            <a:ext cx="4059936" cy="3328416"/>
          </a:xfrm>
          <a:prstGeom prst="roundRect">
            <a:avLst>
              <a:gd fmla="val 2747"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0"/>
          <p:cNvSpPr txBox="1"/>
          <p:nvPr/>
        </p:nvSpPr>
        <p:spPr>
          <a:xfrm>
            <a:off x="7690104" y="2286000"/>
            <a:ext cx="3511296"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700"/>
              <a:buFont typeface="Cambria"/>
              <a:buNone/>
            </a:pPr>
            <a:r>
              <a:rPr b="1" i="0" lang="en-US" sz="1700" u="none" cap="none" strike="noStrike">
                <a:solidFill>
                  <a:srgbClr val="0B3B39"/>
                </a:solidFill>
                <a:latin typeface="Cambria"/>
                <a:ea typeface="Cambria"/>
                <a:cs typeface="Cambria"/>
                <a:sym typeface="Cambria"/>
              </a:rPr>
              <a:t>Same book, different answers</a:t>
            </a:r>
            <a:endParaRPr b="0" i="0" sz="1700" u="none" cap="none" strike="noStrike">
              <a:solidFill>
                <a:schemeClr val="dk1"/>
              </a:solidFill>
              <a:latin typeface="Calibri"/>
              <a:ea typeface="Calibri"/>
              <a:cs typeface="Calibri"/>
              <a:sym typeface="Calibri"/>
            </a:endParaRPr>
          </a:p>
        </p:txBody>
      </p:sp>
      <p:sp>
        <p:nvSpPr>
          <p:cNvPr id="291" name="Google Shape;291;p10"/>
          <p:cNvSpPr txBox="1"/>
          <p:nvPr/>
        </p:nvSpPr>
        <p:spPr>
          <a:xfrm>
            <a:off x="7690104" y="2670048"/>
            <a:ext cx="3511296" cy="1828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Both questions had answers sitting in the book. The nurse got hers. The visitor got nothing.</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That is why there are two checks and not one. Knowing something and being allowed to hear it are separate.</a:t>
            </a:r>
            <a:endParaRPr b="0" i="0" sz="1300" u="none" cap="none" strike="noStrike">
              <a:solidFill>
                <a:schemeClr val="dk1"/>
              </a:solidFill>
              <a:latin typeface="Calibri"/>
              <a:ea typeface="Calibri"/>
              <a:cs typeface="Calibri"/>
              <a:sym typeface="Calibri"/>
            </a:endParaRPr>
          </a:p>
        </p:txBody>
      </p:sp>
      <p:sp>
        <p:nvSpPr>
          <p:cNvPr id="292" name="Google Shape;292;p10"/>
          <p:cNvSpPr/>
          <p:nvPr/>
        </p:nvSpPr>
        <p:spPr>
          <a:xfrm>
            <a:off x="7690104" y="4572000"/>
            <a:ext cx="3511296" cy="841248"/>
          </a:xfrm>
          <a:prstGeom prst="roundRect">
            <a:avLst>
              <a:gd fmla="val 10870"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txBox="1"/>
          <p:nvPr/>
        </p:nvSpPr>
        <p:spPr>
          <a:xfrm>
            <a:off x="7909560" y="4572000"/>
            <a:ext cx="3072384" cy="841248"/>
          </a:xfrm>
          <a:prstGeom prst="rect">
            <a:avLst/>
          </a:prstGeom>
          <a:noFill/>
          <a:ln>
            <a:noFill/>
          </a:ln>
        </p:spPr>
        <p:txBody>
          <a:bodyPr anchorCtr="0" anchor="ctr" bIns="0" lIns="0" spcFirstLastPara="1" rIns="0" wrap="square" tIns="0">
            <a:noAutofit/>
          </a:bodyPr>
          <a:lstStyle/>
          <a:p>
            <a:pPr indent="0" lvl="0" marL="0" marR="0" rtl="0" algn="l">
              <a:lnSpc>
                <a:spcPct val="126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IN REAL LIFE: this door is called the governance boundary. Nothing reaches anybody without passing both checks first.</a:t>
            </a:r>
            <a:endParaRPr b="0" i="0" sz="1200" u="none" cap="none" strike="noStrike">
              <a:solidFill>
                <a:schemeClr val="dk1"/>
              </a:solidFill>
              <a:latin typeface="Calibri"/>
              <a:ea typeface="Calibri"/>
              <a:cs typeface="Calibri"/>
              <a:sym typeface="Calibri"/>
            </a:endParaRPr>
          </a:p>
        </p:txBody>
      </p:sp>
      <p:sp>
        <p:nvSpPr>
          <p:cNvPr id="294" name="Google Shape;294;p10"/>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0"/>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0"/>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297" name="Google Shape;297;p10"/>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The book does not just store answers. It decides who may hear them.</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1"/>
          <p:cNvSpPr/>
          <p:nvPr/>
        </p:nvSpPr>
        <p:spPr>
          <a:xfrm>
            <a:off x="685800" y="438912"/>
            <a:ext cx="640080" cy="6400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4" name="Google Shape;304;p11"/>
          <p:cNvPicPr preferRelativeResize="0"/>
          <p:nvPr/>
        </p:nvPicPr>
        <p:blipFill rotWithShape="1">
          <a:blip r:embed="rId3">
            <a:alphaModFix/>
          </a:blip>
          <a:srcRect b="0" l="0" r="0" t="0"/>
          <a:stretch/>
        </p:blipFill>
        <p:spPr>
          <a:xfrm>
            <a:off x="865022" y="618134"/>
            <a:ext cx="281635" cy="281635"/>
          </a:xfrm>
          <a:prstGeom prst="rect">
            <a:avLst/>
          </a:prstGeom>
          <a:noFill/>
          <a:ln>
            <a:noFill/>
          </a:ln>
        </p:spPr>
      </p:pic>
      <p:sp>
        <p:nvSpPr>
          <p:cNvPr id="305" name="Google Shape;305;p11"/>
          <p:cNvSpPr txBox="1"/>
          <p:nvPr/>
        </p:nvSpPr>
        <p:spPr>
          <a:xfrm>
            <a:off x="1581912" y="384048"/>
            <a:ext cx="9893808" cy="25603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34A2B"/>
              </a:buClr>
              <a:buSzPts val="1000"/>
              <a:buFont typeface="Calibri"/>
              <a:buNone/>
            </a:pPr>
            <a:r>
              <a:rPr b="1" i="0" lang="en-US" sz="1000" u="none" cap="none" strike="noStrike">
                <a:solidFill>
                  <a:srgbClr val="B34A2B"/>
                </a:solidFill>
                <a:latin typeface="Calibri"/>
                <a:ea typeface="Calibri"/>
                <a:cs typeface="Calibri"/>
                <a:sym typeface="Calibri"/>
              </a:rPr>
              <a:t>CONCEPT 5 OF 8  ·  “I DON'T KNOW”</a:t>
            </a:r>
            <a:endParaRPr b="0" i="0" sz="1000" u="none" cap="none" strike="noStrike">
              <a:solidFill>
                <a:schemeClr val="dk1"/>
              </a:solidFill>
              <a:latin typeface="Calibri"/>
              <a:ea typeface="Calibri"/>
              <a:cs typeface="Calibri"/>
              <a:sym typeface="Calibri"/>
            </a:endParaRPr>
          </a:p>
        </p:txBody>
      </p:sp>
      <p:sp>
        <p:nvSpPr>
          <p:cNvPr id="306" name="Google Shape;306;p11"/>
          <p:cNvSpPr txBox="1"/>
          <p:nvPr/>
        </p:nvSpPr>
        <p:spPr>
          <a:xfrm>
            <a:off x="1581912" y="658368"/>
            <a:ext cx="9893808" cy="51206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2800"/>
              <a:buFont typeface="Cambria"/>
              <a:buNone/>
            </a:pPr>
            <a:r>
              <a:rPr b="1" i="0" lang="en-US" sz="2800" u="none" cap="none" strike="noStrike">
                <a:solidFill>
                  <a:srgbClr val="0B3B39"/>
                </a:solidFill>
                <a:latin typeface="Cambria"/>
                <a:ea typeface="Cambria"/>
                <a:cs typeface="Cambria"/>
                <a:sym typeface="Cambria"/>
              </a:rPr>
              <a:t>Refusing is an answer, and often the right one</a:t>
            </a:r>
            <a:endParaRPr b="0" i="0" sz="2800" u="none" cap="none" strike="noStrike">
              <a:solidFill>
                <a:schemeClr val="dk1"/>
              </a:solidFill>
              <a:latin typeface="Calibri"/>
              <a:ea typeface="Calibri"/>
              <a:cs typeface="Calibri"/>
              <a:sym typeface="Calibri"/>
            </a:endParaRPr>
          </a:p>
        </p:txBody>
      </p:sp>
      <p:sp>
        <p:nvSpPr>
          <p:cNvPr id="307" name="Google Shape;307;p11"/>
          <p:cNvSpPr/>
          <p:nvPr/>
        </p:nvSpPr>
        <p:spPr>
          <a:xfrm>
            <a:off x="685800" y="1353312"/>
            <a:ext cx="10789920" cy="585216"/>
          </a:xfrm>
          <a:prstGeom prst="roundRect">
            <a:avLst>
              <a:gd fmla="val 15625"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978408" y="1508760"/>
            <a:ext cx="129844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txBox="1"/>
          <p:nvPr/>
        </p:nvSpPr>
        <p:spPr>
          <a:xfrm>
            <a:off x="978408" y="1508760"/>
            <a:ext cx="129844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IT ANSWERS</a:t>
            </a:r>
            <a:endParaRPr b="0" i="0" sz="950" u="none" cap="none" strike="noStrike">
              <a:solidFill>
                <a:schemeClr val="dk1"/>
              </a:solidFill>
              <a:latin typeface="Calibri"/>
              <a:ea typeface="Calibri"/>
              <a:cs typeface="Calibri"/>
              <a:sym typeface="Calibri"/>
            </a:endParaRPr>
          </a:p>
        </p:txBody>
      </p:sp>
      <p:sp>
        <p:nvSpPr>
          <p:cNvPr id="310" name="Google Shape;310;p11"/>
          <p:cNvSpPr txBox="1"/>
          <p:nvPr/>
        </p:nvSpPr>
        <p:spPr>
          <a:xfrm>
            <a:off x="2532888" y="1353312"/>
            <a:ext cx="8650224"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94B3C"/>
              </a:buClr>
              <a:buSzPts val="1700"/>
              <a:buFont typeface="Cambria"/>
              <a:buNone/>
            </a:pPr>
            <a:r>
              <a:rPr b="1" i="0" lang="en-US" sz="1700" u="none" cap="none" strike="noStrike">
                <a:solidFill>
                  <a:srgbClr val="094B3C"/>
                </a:solidFill>
                <a:latin typeface="Cambria"/>
                <a:ea typeface="Cambria"/>
                <a:cs typeface="Cambria"/>
                <a:sym typeface="Cambria"/>
              </a:rPr>
              <a:t>What if the answer is not in the book?</a:t>
            </a:r>
            <a:endParaRPr b="0" i="0" sz="1700" u="none" cap="none" strike="noStrike">
              <a:solidFill>
                <a:schemeClr val="dk1"/>
              </a:solidFill>
              <a:latin typeface="Calibri"/>
              <a:ea typeface="Calibri"/>
              <a:cs typeface="Calibri"/>
              <a:sym typeface="Calibri"/>
            </a:endParaRPr>
          </a:p>
        </p:txBody>
      </p:sp>
      <p:sp>
        <p:nvSpPr>
          <p:cNvPr id="311" name="Google Shape;311;p11"/>
          <p:cNvSpPr/>
          <p:nvPr/>
        </p:nvSpPr>
        <p:spPr>
          <a:xfrm>
            <a:off x="685800" y="2084832"/>
            <a:ext cx="3108960" cy="3328416"/>
          </a:xfrm>
          <a:prstGeom prst="roundRect">
            <a:avLst>
              <a:gd fmla="val 2941"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txBox="1"/>
          <p:nvPr/>
        </p:nvSpPr>
        <p:spPr>
          <a:xfrm>
            <a:off x="960120" y="2322576"/>
            <a:ext cx="2560320"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34A2B"/>
              </a:buClr>
              <a:buSzPts val="1700"/>
              <a:buFont typeface="Cambria"/>
              <a:buNone/>
            </a:pPr>
            <a:r>
              <a:rPr b="1" i="0" lang="en-US" sz="1700" u="none" cap="none" strike="noStrike">
                <a:solidFill>
                  <a:srgbClr val="B34A2B"/>
                </a:solidFill>
                <a:latin typeface="Cambria"/>
                <a:ea typeface="Cambria"/>
                <a:cs typeface="Cambria"/>
                <a:sym typeface="Cambria"/>
              </a:rPr>
              <a:t>The guess</a:t>
            </a:r>
            <a:endParaRPr b="0" i="0" sz="1700" u="none" cap="none" strike="noStrike">
              <a:solidFill>
                <a:schemeClr val="dk1"/>
              </a:solidFill>
              <a:latin typeface="Calibri"/>
              <a:ea typeface="Calibri"/>
              <a:cs typeface="Calibri"/>
              <a:sym typeface="Calibri"/>
            </a:endParaRPr>
          </a:p>
        </p:txBody>
      </p:sp>
      <p:sp>
        <p:nvSpPr>
          <p:cNvPr id="313" name="Google Shape;313;p11"/>
          <p:cNvSpPr/>
          <p:nvPr/>
        </p:nvSpPr>
        <p:spPr>
          <a:xfrm>
            <a:off x="960120" y="2798064"/>
            <a:ext cx="2560320" cy="1188720"/>
          </a:xfrm>
          <a:prstGeom prst="roundRect">
            <a:avLst>
              <a:gd fmla="val 769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txBox="1"/>
          <p:nvPr/>
        </p:nvSpPr>
        <p:spPr>
          <a:xfrm>
            <a:off x="1106424" y="2798064"/>
            <a:ext cx="2267712" cy="11887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6302D"/>
              </a:buClr>
              <a:buSzPts val="1300"/>
              <a:buFont typeface="Calibri"/>
              <a:buNone/>
            </a:pPr>
            <a:r>
              <a:rPr b="0" i="1" lang="en-US" sz="1300" u="none" cap="none" strike="noStrike">
                <a:solidFill>
                  <a:srgbClr val="16302D"/>
                </a:solidFill>
                <a:latin typeface="Calibri"/>
                <a:ea typeface="Calibri"/>
                <a:cs typeface="Calibri"/>
                <a:sym typeface="Calibri"/>
              </a:rPr>
              <a:t>“It is probably about this much.”</a:t>
            </a:r>
            <a:endParaRPr b="0" i="0" sz="1300" u="none" cap="none" strike="noStrike">
              <a:solidFill>
                <a:schemeClr val="dk1"/>
              </a:solidFill>
              <a:latin typeface="Calibri"/>
              <a:ea typeface="Calibri"/>
              <a:cs typeface="Calibri"/>
              <a:sym typeface="Calibri"/>
            </a:endParaRPr>
          </a:p>
        </p:txBody>
      </p:sp>
      <p:sp>
        <p:nvSpPr>
          <p:cNvPr id="315" name="Google Shape;315;p11"/>
          <p:cNvSpPr txBox="1"/>
          <p:nvPr/>
        </p:nvSpPr>
        <p:spPr>
          <a:xfrm>
            <a:off x="960120" y="4133088"/>
            <a:ext cx="2560320" cy="603504"/>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6302D"/>
              </a:buClr>
              <a:buSzPts val="1250"/>
              <a:buFont typeface="Calibri"/>
              <a:buNone/>
            </a:pPr>
            <a:r>
              <a:rPr b="0" i="0" lang="en-US" sz="1250" u="none" cap="none" strike="noStrike">
                <a:solidFill>
                  <a:srgbClr val="16302D"/>
                </a:solidFill>
                <a:latin typeface="Calibri"/>
                <a:ea typeface="Calibri"/>
                <a:cs typeface="Calibri"/>
                <a:sym typeface="Calibri"/>
              </a:rPr>
              <a:t>Sounds helpful. Might be wrong. Nobody can check it.</a:t>
            </a:r>
            <a:endParaRPr b="0" i="0" sz="1250" u="none" cap="none" strike="noStrike">
              <a:solidFill>
                <a:schemeClr val="dk1"/>
              </a:solidFill>
              <a:latin typeface="Calibri"/>
              <a:ea typeface="Calibri"/>
              <a:cs typeface="Calibri"/>
              <a:sym typeface="Calibri"/>
            </a:endParaRPr>
          </a:p>
        </p:txBody>
      </p:sp>
      <p:sp>
        <p:nvSpPr>
          <p:cNvPr id="316" name="Google Shape;316;p11"/>
          <p:cNvSpPr/>
          <p:nvPr/>
        </p:nvSpPr>
        <p:spPr>
          <a:xfrm>
            <a:off x="960120" y="4846320"/>
            <a:ext cx="1371600" cy="274320"/>
          </a:xfrm>
          <a:prstGeom prst="roundRect">
            <a:avLst>
              <a:gd fmla="val 50000" name="adj"/>
            </a:avLst>
          </a:prstGeom>
          <a:solidFill>
            <a:srgbClr val="B34A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txBox="1"/>
          <p:nvPr/>
        </p:nvSpPr>
        <p:spPr>
          <a:xfrm>
            <a:off x="960120" y="4846320"/>
            <a:ext cx="1371600"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DANGEROUS</a:t>
            </a:r>
            <a:endParaRPr b="0" i="0" sz="950" u="none" cap="none" strike="noStrike">
              <a:solidFill>
                <a:schemeClr val="dk1"/>
              </a:solidFill>
              <a:latin typeface="Calibri"/>
              <a:ea typeface="Calibri"/>
              <a:cs typeface="Calibri"/>
              <a:sym typeface="Calibri"/>
            </a:endParaRPr>
          </a:p>
        </p:txBody>
      </p:sp>
      <p:sp>
        <p:nvSpPr>
          <p:cNvPr id="318" name="Google Shape;318;p11"/>
          <p:cNvSpPr/>
          <p:nvPr/>
        </p:nvSpPr>
        <p:spPr>
          <a:xfrm>
            <a:off x="3977640" y="2084832"/>
            <a:ext cx="3108960" cy="3328416"/>
          </a:xfrm>
          <a:prstGeom prst="roundRect">
            <a:avLst>
              <a:gd fmla="val 2941"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txBox="1"/>
          <p:nvPr/>
        </p:nvSpPr>
        <p:spPr>
          <a:xfrm>
            <a:off x="4251960" y="2322576"/>
            <a:ext cx="2560320"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94B3C"/>
              </a:buClr>
              <a:buSzPts val="1700"/>
              <a:buFont typeface="Cambria"/>
              <a:buNone/>
            </a:pPr>
            <a:r>
              <a:rPr b="1" i="0" lang="en-US" sz="1700" u="none" cap="none" strike="noStrike">
                <a:solidFill>
                  <a:srgbClr val="094B3C"/>
                </a:solidFill>
                <a:latin typeface="Cambria"/>
                <a:ea typeface="Cambria"/>
                <a:cs typeface="Cambria"/>
                <a:sym typeface="Cambria"/>
              </a:rPr>
              <a:t>The honest answer</a:t>
            </a:r>
            <a:endParaRPr b="0" i="0" sz="1700" u="none" cap="none" strike="noStrike">
              <a:solidFill>
                <a:schemeClr val="dk1"/>
              </a:solidFill>
              <a:latin typeface="Calibri"/>
              <a:ea typeface="Calibri"/>
              <a:cs typeface="Calibri"/>
              <a:sym typeface="Calibri"/>
            </a:endParaRPr>
          </a:p>
        </p:txBody>
      </p:sp>
      <p:sp>
        <p:nvSpPr>
          <p:cNvPr id="320" name="Google Shape;320;p11"/>
          <p:cNvSpPr/>
          <p:nvPr/>
        </p:nvSpPr>
        <p:spPr>
          <a:xfrm>
            <a:off x="4251960" y="2798064"/>
            <a:ext cx="2560320" cy="1188720"/>
          </a:xfrm>
          <a:prstGeom prst="roundRect">
            <a:avLst>
              <a:gd fmla="val 769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txBox="1"/>
          <p:nvPr/>
        </p:nvSpPr>
        <p:spPr>
          <a:xfrm>
            <a:off x="4398264" y="2798064"/>
            <a:ext cx="2267712" cy="11887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6302D"/>
              </a:buClr>
              <a:buSzPts val="1300"/>
              <a:buFont typeface="Calibri"/>
              <a:buNone/>
            </a:pPr>
            <a:r>
              <a:rPr b="0" i="1" lang="en-US" sz="1300" u="none" cap="none" strike="noStrike">
                <a:solidFill>
                  <a:srgbClr val="16302D"/>
                </a:solidFill>
                <a:latin typeface="Calibri"/>
                <a:ea typeface="Calibri"/>
                <a:cs typeface="Calibri"/>
                <a:sym typeface="Calibri"/>
              </a:rPr>
              <a:t>“The book does not cover babies under two. Please ask a doctor.”</a:t>
            </a:r>
            <a:endParaRPr b="0" i="0" sz="1300" u="none" cap="none" strike="noStrike">
              <a:solidFill>
                <a:schemeClr val="dk1"/>
              </a:solidFill>
              <a:latin typeface="Calibri"/>
              <a:ea typeface="Calibri"/>
              <a:cs typeface="Calibri"/>
              <a:sym typeface="Calibri"/>
            </a:endParaRPr>
          </a:p>
        </p:txBody>
      </p:sp>
      <p:sp>
        <p:nvSpPr>
          <p:cNvPr id="322" name="Google Shape;322;p11"/>
          <p:cNvSpPr txBox="1"/>
          <p:nvPr/>
        </p:nvSpPr>
        <p:spPr>
          <a:xfrm>
            <a:off x="4251960" y="4133088"/>
            <a:ext cx="2560320" cy="603504"/>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6302D"/>
              </a:buClr>
              <a:buSzPts val="1250"/>
              <a:buFont typeface="Calibri"/>
              <a:buNone/>
            </a:pPr>
            <a:r>
              <a:rPr b="0" i="0" lang="en-US" sz="1250" u="none" cap="none" strike="noStrike">
                <a:solidFill>
                  <a:srgbClr val="16302D"/>
                </a:solidFill>
                <a:latin typeface="Calibri"/>
                <a:ea typeface="Calibri"/>
                <a:cs typeface="Calibri"/>
                <a:sym typeface="Calibri"/>
              </a:rPr>
              <a:t>Sounds unhelpful. Is actually the safe one.</a:t>
            </a:r>
            <a:endParaRPr b="0" i="0" sz="1250" u="none" cap="none" strike="noStrike">
              <a:solidFill>
                <a:schemeClr val="dk1"/>
              </a:solidFill>
              <a:latin typeface="Calibri"/>
              <a:ea typeface="Calibri"/>
              <a:cs typeface="Calibri"/>
              <a:sym typeface="Calibri"/>
            </a:endParaRPr>
          </a:p>
        </p:txBody>
      </p:sp>
      <p:sp>
        <p:nvSpPr>
          <p:cNvPr id="323" name="Google Shape;323;p11"/>
          <p:cNvSpPr/>
          <p:nvPr/>
        </p:nvSpPr>
        <p:spPr>
          <a:xfrm>
            <a:off x="4251960" y="4846320"/>
            <a:ext cx="1371600" cy="274320"/>
          </a:xfrm>
          <a:prstGeom prst="roundRect">
            <a:avLst>
              <a:gd fmla="val 50000" name="adj"/>
            </a:avLst>
          </a:prstGeom>
          <a:solidFill>
            <a:srgbClr val="094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txBox="1"/>
          <p:nvPr/>
        </p:nvSpPr>
        <p:spPr>
          <a:xfrm>
            <a:off x="4251960" y="4846320"/>
            <a:ext cx="1371600"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SAFE</a:t>
            </a:r>
            <a:endParaRPr b="0" i="0" sz="950" u="none" cap="none" strike="noStrike">
              <a:solidFill>
                <a:schemeClr val="dk1"/>
              </a:solidFill>
              <a:latin typeface="Calibri"/>
              <a:ea typeface="Calibri"/>
              <a:cs typeface="Calibri"/>
              <a:sym typeface="Calibri"/>
            </a:endParaRPr>
          </a:p>
        </p:txBody>
      </p:sp>
      <p:sp>
        <p:nvSpPr>
          <p:cNvPr id="325" name="Google Shape;325;p11"/>
          <p:cNvSpPr/>
          <p:nvPr/>
        </p:nvSpPr>
        <p:spPr>
          <a:xfrm>
            <a:off x="7415784" y="2084832"/>
            <a:ext cx="4059936" cy="3328416"/>
          </a:xfrm>
          <a:prstGeom prst="roundRect">
            <a:avLst>
              <a:gd fmla="val 2747"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txBox="1"/>
          <p:nvPr/>
        </p:nvSpPr>
        <p:spPr>
          <a:xfrm>
            <a:off x="7690104" y="2286000"/>
            <a:ext cx="3511296"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700"/>
              <a:buFont typeface="Cambria"/>
              <a:buNone/>
            </a:pPr>
            <a:r>
              <a:rPr b="1" i="0" lang="en-US" sz="1700" u="none" cap="none" strike="noStrike">
                <a:solidFill>
                  <a:srgbClr val="0B3B39"/>
                </a:solidFill>
                <a:latin typeface="Cambria"/>
                <a:ea typeface="Cambria"/>
                <a:cs typeface="Cambria"/>
                <a:sym typeface="Cambria"/>
              </a:rPr>
              <a:t>Why the second one wins</a:t>
            </a:r>
            <a:endParaRPr b="0" i="0" sz="1700" u="none" cap="none" strike="noStrike">
              <a:solidFill>
                <a:schemeClr val="dk1"/>
              </a:solidFill>
              <a:latin typeface="Calibri"/>
              <a:ea typeface="Calibri"/>
              <a:cs typeface="Calibri"/>
              <a:sym typeface="Calibri"/>
            </a:endParaRPr>
          </a:p>
        </p:txBody>
      </p:sp>
      <p:sp>
        <p:nvSpPr>
          <p:cNvPr id="327" name="Google Shape;327;p11"/>
          <p:cNvSpPr txBox="1"/>
          <p:nvPr/>
        </p:nvSpPr>
        <p:spPr>
          <a:xfrm>
            <a:off x="7690104" y="2670048"/>
            <a:ext cx="3511296" cy="1828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A helper that always answers will sometimes invent things, because answering is the only thing it knows how to do.</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A helper that may refuse is telling you exactly where the book ends. That line is useful information.</a:t>
            </a:r>
            <a:endParaRPr b="0" i="0" sz="1300" u="none" cap="none" strike="noStrike">
              <a:solidFill>
                <a:schemeClr val="dk1"/>
              </a:solidFill>
              <a:latin typeface="Calibri"/>
              <a:ea typeface="Calibri"/>
              <a:cs typeface="Calibri"/>
              <a:sym typeface="Calibri"/>
            </a:endParaRPr>
          </a:p>
        </p:txBody>
      </p:sp>
      <p:sp>
        <p:nvSpPr>
          <p:cNvPr id="328" name="Google Shape;328;p11"/>
          <p:cNvSpPr/>
          <p:nvPr/>
        </p:nvSpPr>
        <p:spPr>
          <a:xfrm>
            <a:off x="7690104" y="4572000"/>
            <a:ext cx="3511296" cy="841248"/>
          </a:xfrm>
          <a:prstGeom prst="roundRect">
            <a:avLst>
              <a:gd fmla="val 10870"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1"/>
          <p:cNvSpPr txBox="1"/>
          <p:nvPr/>
        </p:nvSpPr>
        <p:spPr>
          <a:xfrm>
            <a:off x="7909560" y="4572000"/>
            <a:ext cx="3072384" cy="841248"/>
          </a:xfrm>
          <a:prstGeom prst="rect">
            <a:avLst/>
          </a:prstGeom>
          <a:noFill/>
          <a:ln>
            <a:noFill/>
          </a:ln>
        </p:spPr>
        <p:txBody>
          <a:bodyPr anchorCtr="0" anchor="ctr" bIns="0" lIns="0" spcFirstLastPara="1" rIns="0" wrap="square" tIns="0">
            <a:noAutofit/>
          </a:bodyPr>
          <a:lstStyle/>
          <a:p>
            <a:pPr indent="0" lvl="0" marL="0" marR="0" rtl="0" algn="l">
              <a:lnSpc>
                <a:spcPct val="126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IN REAL LIFE: the grown-up word is abstention</a:t>
            </a:r>
            <a:r>
              <a:rPr lang="en-US" sz="1200">
                <a:solidFill>
                  <a:srgbClr val="16302D"/>
                </a:solidFill>
                <a:latin typeface="Calibri"/>
                <a:ea typeface="Calibri"/>
                <a:cs typeface="Calibri"/>
                <a:sym typeface="Calibri"/>
              </a:rPr>
              <a:t>,</a:t>
            </a:r>
            <a:r>
              <a:rPr b="0" i="0" lang="en-US" sz="1200" u="none" cap="none" strike="noStrike">
                <a:solidFill>
                  <a:srgbClr val="16302D"/>
                </a:solidFill>
                <a:latin typeface="Calibri"/>
                <a:ea typeface="Calibri"/>
                <a:cs typeface="Calibri"/>
                <a:sym typeface="Calibri"/>
              </a:rPr>
              <a:t> choosing not to answer, on purpose.</a:t>
            </a:r>
            <a:endParaRPr b="0" i="0" sz="1200" u="none" cap="none" strike="noStrike">
              <a:solidFill>
                <a:schemeClr val="dk1"/>
              </a:solidFill>
              <a:latin typeface="Calibri"/>
              <a:ea typeface="Calibri"/>
              <a:cs typeface="Calibri"/>
              <a:sym typeface="Calibri"/>
            </a:endParaRPr>
          </a:p>
        </p:txBody>
      </p:sp>
      <p:sp>
        <p:nvSpPr>
          <p:cNvPr id="330" name="Google Shape;330;p11"/>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1"/>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333" name="Google Shape;333;p11"/>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A guess that sounds right is more dangerous than no answer at all.</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2"/>
          <p:cNvSpPr/>
          <p:nvPr/>
        </p:nvSpPr>
        <p:spPr>
          <a:xfrm>
            <a:off x="685800" y="438912"/>
            <a:ext cx="640080" cy="6400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0" name="Google Shape;340;p12"/>
          <p:cNvPicPr preferRelativeResize="0"/>
          <p:nvPr/>
        </p:nvPicPr>
        <p:blipFill rotWithShape="1">
          <a:blip r:embed="rId3">
            <a:alphaModFix/>
          </a:blip>
          <a:srcRect b="0" l="0" r="0" t="0"/>
          <a:stretch/>
        </p:blipFill>
        <p:spPr>
          <a:xfrm>
            <a:off x="865022" y="618134"/>
            <a:ext cx="281635" cy="281635"/>
          </a:xfrm>
          <a:prstGeom prst="rect">
            <a:avLst/>
          </a:prstGeom>
          <a:noFill/>
          <a:ln>
            <a:noFill/>
          </a:ln>
        </p:spPr>
      </p:pic>
      <p:sp>
        <p:nvSpPr>
          <p:cNvPr id="341" name="Google Shape;341;p12"/>
          <p:cNvSpPr txBox="1"/>
          <p:nvPr/>
        </p:nvSpPr>
        <p:spPr>
          <a:xfrm>
            <a:off x="1581912" y="384048"/>
            <a:ext cx="9893808" cy="25603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34A2B"/>
              </a:buClr>
              <a:buSzPts val="1000"/>
              <a:buFont typeface="Calibri"/>
              <a:buNone/>
            </a:pPr>
            <a:r>
              <a:rPr b="1" i="0" lang="en-US" sz="1000" u="none" cap="none" strike="noStrike">
                <a:solidFill>
                  <a:srgbClr val="B34A2B"/>
                </a:solidFill>
                <a:latin typeface="Calibri"/>
                <a:ea typeface="Calibri"/>
                <a:cs typeface="Calibri"/>
                <a:sym typeface="Calibri"/>
              </a:rPr>
              <a:t>CONCEPT 6 OF 8  ·  SHOW THE PAGE</a:t>
            </a:r>
            <a:endParaRPr b="0" i="0" sz="1000" u="none" cap="none" strike="noStrike">
              <a:solidFill>
                <a:schemeClr val="dk1"/>
              </a:solidFill>
              <a:latin typeface="Calibri"/>
              <a:ea typeface="Calibri"/>
              <a:cs typeface="Calibri"/>
              <a:sym typeface="Calibri"/>
            </a:endParaRPr>
          </a:p>
        </p:txBody>
      </p:sp>
      <p:sp>
        <p:nvSpPr>
          <p:cNvPr id="342" name="Google Shape;342;p12"/>
          <p:cNvSpPr txBox="1"/>
          <p:nvPr/>
        </p:nvSpPr>
        <p:spPr>
          <a:xfrm>
            <a:off x="1581912" y="658368"/>
            <a:ext cx="9893808" cy="51206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2800"/>
              <a:buFont typeface="Cambria"/>
              <a:buNone/>
            </a:pPr>
            <a:r>
              <a:rPr b="1" i="0" lang="en-US" sz="2800" u="none" cap="none" strike="noStrike">
                <a:solidFill>
                  <a:srgbClr val="0B3B39"/>
                </a:solidFill>
                <a:latin typeface="Cambria"/>
                <a:ea typeface="Cambria"/>
                <a:cs typeface="Cambria"/>
                <a:sym typeface="Cambria"/>
              </a:rPr>
              <a:t>Every answer drags its evidence along behind it</a:t>
            </a:r>
            <a:endParaRPr b="0" i="0" sz="2800" u="none" cap="none" strike="noStrike">
              <a:solidFill>
                <a:schemeClr val="dk1"/>
              </a:solidFill>
              <a:latin typeface="Calibri"/>
              <a:ea typeface="Calibri"/>
              <a:cs typeface="Calibri"/>
              <a:sym typeface="Calibri"/>
            </a:endParaRPr>
          </a:p>
        </p:txBody>
      </p:sp>
      <p:sp>
        <p:nvSpPr>
          <p:cNvPr id="343" name="Google Shape;343;p12"/>
          <p:cNvSpPr/>
          <p:nvPr/>
        </p:nvSpPr>
        <p:spPr>
          <a:xfrm>
            <a:off x="685800" y="1353312"/>
            <a:ext cx="10789920" cy="585216"/>
          </a:xfrm>
          <a:prstGeom prst="roundRect">
            <a:avLst>
              <a:gd fmla="val 15625"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a:off x="978408" y="1508760"/>
            <a:ext cx="129844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
          <p:cNvSpPr txBox="1"/>
          <p:nvPr/>
        </p:nvSpPr>
        <p:spPr>
          <a:xfrm>
            <a:off x="978408" y="1508760"/>
            <a:ext cx="129844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IT ANSWERS</a:t>
            </a:r>
            <a:endParaRPr b="0" i="0" sz="950" u="none" cap="none" strike="noStrike">
              <a:solidFill>
                <a:schemeClr val="dk1"/>
              </a:solidFill>
              <a:latin typeface="Calibri"/>
              <a:ea typeface="Calibri"/>
              <a:cs typeface="Calibri"/>
              <a:sym typeface="Calibri"/>
            </a:endParaRPr>
          </a:p>
        </p:txBody>
      </p:sp>
      <p:sp>
        <p:nvSpPr>
          <p:cNvPr id="346" name="Google Shape;346;p12"/>
          <p:cNvSpPr txBox="1"/>
          <p:nvPr/>
        </p:nvSpPr>
        <p:spPr>
          <a:xfrm>
            <a:off x="2532888" y="1353312"/>
            <a:ext cx="8650224"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94B3C"/>
              </a:buClr>
              <a:buSzPts val="1700"/>
              <a:buFont typeface="Cambria"/>
              <a:buNone/>
            </a:pPr>
            <a:r>
              <a:rPr b="1" i="0" lang="en-US" sz="1700" u="none" cap="none" strike="noStrike">
                <a:solidFill>
                  <a:srgbClr val="094B3C"/>
                </a:solidFill>
                <a:latin typeface="Cambria"/>
                <a:ea typeface="Cambria"/>
                <a:cs typeface="Cambria"/>
                <a:sym typeface="Cambria"/>
              </a:rPr>
              <a:t>How can I check the helper is being honest?</a:t>
            </a:r>
            <a:endParaRPr b="0" i="0" sz="1700" u="none" cap="none" strike="noStrike">
              <a:solidFill>
                <a:schemeClr val="dk1"/>
              </a:solidFill>
              <a:latin typeface="Calibri"/>
              <a:ea typeface="Calibri"/>
              <a:cs typeface="Calibri"/>
              <a:sym typeface="Calibri"/>
            </a:endParaRPr>
          </a:p>
        </p:txBody>
      </p:sp>
      <p:sp>
        <p:nvSpPr>
          <p:cNvPr id="347" name="Google Shape;347;p12"/>
          <p:cNvSpPr/>
          <p:nvPr/>
        </p:nvSpPr>
        <p:spPr>
          <a:xfrm>
            <a:off x="685800" y="2084832"/>
            <a:ext cx="6400800" cy="1133856"/>
          </a:xfrm>
          <a:prstGeom prst="roundRect">
            <a:avLst>
              <a:gd fmla="val 8065"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2"/>
          <p:cNvSpPr txBox="1"/>
          <p:nvPr/>
        </p:nvSpPr>
        <p:spPr>
          <a:xfrm>
            <a:off x="996696" y="2267712"/>
            <a:ext cx="5779008" cy="2377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6E56"/>
              </a:buClr>
              <a:buSzPts val="950"/>
              <a:buFont typeface="Calibri"/>
              <a:buNone/>
            </a:pPr>
            <a:r>
              <a:rPr b="1" i="0" lang="en-US" sz="950" u="none" cap="none" strike="noStrike">
                <a:solidFill>
                  <a:srgbClr val="0F6E56"/>
                </a:solidFill>
                <a:latin typeface="Calibri"/>
                <a:ea typeface="Calibri"/>
                <a:cs typeface="Calibri"/>
                <a:sym typeface="Calibri"/>
              </a:rPr>
              <a:t>THE HELPER'S ANSWER</a:t>
            </a:r>
            <a:endParaRPr b="0" i="0" sz="950" u="none" cap="none" strike="noStrike">
              <a:solidFill>
                <a:schemeClr val="dk1"/>
              </a:solidFill>
              <a:latin typeface="Calibri"/>
              <a:ea typeface="Calibri"/>
              <a:cs typeface="Calibri"/>
              <a:sym typeface="Calibri"/>
            </a:endParaRPr>
          </a:p>
        </p:txBody>
      </p:sp>
      <p:sp>
        <p:nvSpPr>
          <p:cNvPr id="349" name="Google Shape;349;p12"/>
          <p:cNvSpPr txBox="1"/>
          <p:nvPr/>
        </p:nvSpPr>
        <p:spPr>
          <a:xfrm>
            <a:off x="996696" y="2560320"/>
            <a:ext cx="5779008"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94B3C"/>
              </a:buClr>
              <a:buSzPts val="1600"/>
              <a:buFont typeface="Cambria"/>
              <a:buNone/>
            </a:pPr>
            <a:r>
              <a:rPr b="1" i="0" lang="en-US" sz="1600" u="none" cap="none" strike="noStrike">
                <a:solidFill>
                  <a:srgbClr val="094B3C"/>
                </a:solidFill>
                <a:latin typeface="Cambria"/>
                <a:ea typeface="Cambria"/>
                <a:cs typeface="Cambria"/>
                <a:sym typeface="Cambria"/>
              </a:rPr>
              <a:t>“Here is the safe amount from Medicine rules, </a:t>
            </a:r>
            <a:endParaRPr b="1" i="0" sz="1600" u="none" cap="none" strike="noStrike">
              <a:solidFill>
                <a:srgbClr val="094B3C"/>
              </a:solidFill>
              <a:latin typeface="Cambria"/>
              <a:ea typeface="Cambria"/>
              <a:cs typeface="Cambria"/>
              <a:sym typeface="Cambria"/>
            </a:endParaRPr>
          </a:p>
          <a:p>
            <a:pPr indent="0" lvl="0" marL="0" marR="0" rtl="0" algn="l">
              <a:lnSpc>
                <a:spcPct val="120000"/>
              </a:lnSpc>
              <a:spcBef>
                <a:spcPts val="0"/>
              </a:spcBef>
              <a:spcAft>
                <a:spcPts val="0"/>
              </a:spcAft>
              <a:buClr>
                <a:srgbClr val="094B3C"/>
              </a:buClr>
              <a:buSzPts val="1600"/>
              <a:buFont typeface="Cambria"/>
              <a:buNone/>
            </a:pPr>
            <a:r>
              <a:rPr b="1" i="0" lang="en-US" sz="1600" u="none" cap="none" strike="noStrike">
                <a:solidFill>
                  <a:srgbClr val="094B3C"/>
                </a:solidFill>
                <a:latin typeface="Cambria"/>
                <a:ea typeface="Cambria"/>
                <a:cs typeface="Cambria"/>
                <a:sym typeface="Cambria"/>
              </a:rPr>
              <a:t>page 7, version 4.”</a:t>
            </a:r>
            <a:endParaRPr b="0" i="0" sz="1600" u="none" cap="none" strike="noStrike">
              <a:solidFill>
                <a:schemeClr val="dk1"/>
              </a:solidFill>
              <a:latin typeface="Calibri"/>
              <a:ea typeface="Calibri"/>
              <a:cs typeface="Calibri"/>
              <a:sym typeface="Calibri"/>
            </a:endParaRPr>
          </a:p>
        </p:txBody>
      </p:sp>
      <p:sp>
        <p:nvSpPr>
          <p:cNvPr id="350" name="Google Shape;350;p12"/>
          <p:cNvSpPr txBox="1"/>
          <p:nvPr/>
        </p:nvSpPr>
        <p:spPr>
          <a:xfrm>
            <a:off x="685800" y="3383280"/>
            <a:ext cx="6400800" cy="25603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1706B"/>
              </a:buClr>
              <a:buSzPts val="1250"/>
              <a:buFont typeface="Calibri"/>
              <a:buNone/>
            </a:pPr>
            <a:r>
              <a:rPr b="0" i="1" lang="en-US" sz="1250" u="none" cap="none" strike="noStrike">
                <a:solidFill>
                  <a:srgbClr val="51706B"/>
                </a:solidFill>
                <a:latin typeface="Calibri"/>
                <a:ea typeface="Calibri"/>
                <a:cs typeface="Calibri"/>
                <a:sym typeface="Calibri"/>
              </a:rPr>
              <a:t>Now follow it backwards. Anyone can:</a:t>
            </a:r>
            <a:endParaRPr b="0" i="0" sz="1250" u="none" cap="none" strike="noStrike">
              <a:solidFill>
                <a:schemeClr val="dk1"/>
              </a:solidFill>
              <a:latin typeface="Calibri"/>
              <a:ea typeface="Calibri"/>
              <a:cs typeface="Calibri"/>
              <a:sym typeface="Calibri"/>
            </a:endParaRPr>
          </a:p>
        </p:txBody>
      </p:sp>
      <p:sp>
        <p:nvSpPr>
          <p:cNvPr id="351" name="Google Shape;351;p12"/>
          <p:cNvSpPr/>
          <p:nvPr/>
        </p:nvSpPr>
        <p:spPr>
          <a:xfrm>
            <a:off x="996696" y="3840480"/>
            <a:ext cx="182880" cy="1828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2" name="Google Shape;352;p12"/>
          <p:cNvCxnSpPr/>
          <p:nvPr/>
        </p:nvCxnSpPr>
        <p:spPr>
          <a:xfrm>
            <a:off x="1088136" y="4023360"/>
            <a:ext cx="0" cy="182880"/>
          </a:xfrm>
          <a:prstGeom prst="straightConnector1">
            <a:avLst/>
          </a:prstGeom>
          <a:noFill/>
          <a:ln cap="flat" cmpd="sng" w="19050">
            <a:solidFill>
              <a:srgbClr val="C9DCD6"/>
            </a:solidFill>
            <a:prstDash val="solid"/>
            <a:round/>
            <a:headEnd len="sm" w="sm" type="none"/>
            <a:tailEnd len="sm" w="sm" type="none"/>
          </a:ln>
        </p:spPr>
      </p:cxnSp>
      <p:sp>
        <p:nvSpPr>
          <p:cNvPr id="353" name="Google Shape;353;p12"/>
          <p:cNvSpPr txBox="1"/>
          <p:nvPr/>
        </p:nvSpPr>
        <p:spPr>
          <a:xfrm>
            <a:off x="1362456" y="3712464"/>
            <a:ext cx="5394960"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302D"/>
              </a:buClr>
              <a:buSzPts val="1350"/>
              <a:buFont typeface="Calibri"/>
              <a:buNone/>
            </a:pPr>
            <a:r>
              <a:rPr b="0" i="0" lang="en-US" sz="1350" u="none" cap="none" strike="noStrike">
                <a:solidFill>
                  <a:srgbClr val="16302D"/>
                </a:solidFill>
                <a:latin typeface="Calibri"/>
                <a:ea typeface="Calibri"/>
                <a:cs typeface="Calibri"/>
                <a:sym typeface="Calibri"/>
              </a:rPr>
              <a:t>Page 7 of the medicine rules</a:t>
            </a:r>
            <a:endParaRPr b="0" i="0" sz="1350" u="none" cap="none" strike="noStrike">
              <a:solidFill>
                <a:schemeClr val="dk1"/>
              </a:solidFill>
              <a:latin typeface="Calibri"/>
              <a:ea typeface="Calibri"/>
              <a:cs typeface="Calibri"/>
              <a:sym typeface="Calibri"/>
            </a:endParaRPr>
          </a:p>
        </p:txBody>
      </p:sp>
      <p:sp>
        <p:nvSpPr>
          <p:cNvPr id="354" name="Google Shape;354;p12"/>
          <p:cNvSpPr/>
          <p:nvPr/>
        </p:nvSpPr>
        <p:spPr>
          <a:xfrm>
            <a:off x="996696" y="4297680"/>
            <a:ext cx="182880" cy="1828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5" name="Google Shape;355;p12"/>
          <p:cNvCxnSpPr/>
          <p:nvPr/>
        </p:nvCxnSpPr>
        <p:spPr>
          <a:xfrm>
            <a:off x="1088136" y="4480560"/>
            <a:ext cx="0" cy="182880"/>
          </a:xfrm>
          <a:prstGeom prst="straightConnector1">
            <a:avLst/>
          </a:prstGeom>
          <a:noFill/>
          <a:ln cap="flat" cmpd="sng" w="19050">
            <a:solidFill>
              <a:srgbClr val="C9DCD6"/>
            </a:solidFill>
            <a:prstDash val="solid"/>
            <a:round/>
            <a:headEnd len="sm" w="sm" type="none"/>
            <a:tailEnd len="sm" w="sm" type="none"/>
          </a:ln>
        </p:spPr>
      </p:cxnSp>
      <p:sp>
        <p:nvSpPr>
          <p:cNvPr id="356" name="Google Shape;356;p12"/>
          <p:cNvSpPr txBox="1"/>
          <p:nvPr/>
        </p:nvSpPr>
        <p:spPr>
          <a:xfrm>
            <a:off x="1362456" y="4169664"/>
            <a:ext cx="5394960"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302D"/>
              </a:buClr>
              <a:buSzPts val="1350"/>
              <a:buFont typeface="Calibri"/>
              <a:buNone/>
            </a:pPr>
            <a:r>
              <a:rPr b="0" i="0" lang="en-US" sz="1350" u="none" cap="none" strike="noStrike">
                <a:solidFill>
                  <a:srgbClr val="16302D"/>
                </a:solidFill>
                <a:latin typeface="Calibri"/>
                <a:ea typeface="Calibri"/>
                <a:cs typeface="Calibri"/>
                <a:sym typeface="Calibri"/>
              </a:rPr>
              <a:t>The file that page lives in</a:t>
            </a:r>
            <a:endParaRPr b="0" i="0" sz="1350" u="none" cap="none" strike="noStrike">
              <a:solidFill>
                <a:schemeClr val="dk1"/>
              </a:solidFill>
              <a:latin typeface="Calibri"/>
              <a:ea typeface="Calibri"/>
              <a:cs typeface="Calibri"/>
              <a:sym typeface="Calibri"/>
            </a:endParaRPr>
          </a:p>
        </p:txBody>
      </p:sp>
      <p:sp>
        <p:nvSpPr>
          <p:cNvPr id="357" name="Google Shape;357;p12"/>
          <p:cNvSpPr/>
          <p:nvPr/>
        </p:nvSpPr>
        <p:spPr>
          <a:xfrm>
            <a:off x="996696" y="4754880"/>
            <a:ext cx="182880" cy="1828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8" name="Google Shape;358;p12"/>
          <p:cNvCxnSpPr/>
          <p:nvPr/>
        </p:nvCxnSpPr>
        <p:spPr>
          <a:xfrm>
            <a:off x="1088136" y="4937760"/>
            <a:ext cx="0" cy="182880"/>
          </a:xfrm>
          <a:prstGeom prst="straightConnector1">
            <a:avLst/>
          </a:prstGeom>
          <a:noFill/>
          <a:ln cap="flat" cmpd="sng" w="19050">
            <a:solidFill>
              <a:srgbClr val="C9DCD6"/>
            </a:solidFill>
            <a:prstDash val="solid"/>
            <a:round/>
            <a:headEnd len="sm" w="sm" type="none"/>
            <a:tailEnd len="sm" w="sm" type="none"/>
          </a:ln>
        </p:spPr>
      </p:cxnSp>
      <p:sp>
        <p:nvSpPr>
          <p:cNvPr id="359" name="Google Shape;359;p12"/>
          <p:cNvSpPr txBox="1"/>
          <p:nvPr/>
        </p:nvSpPr>
        <p:spPr>
          <a:xfrm>
            <a:off x="1362456" y="4626864"/>
            <a:ext cx="5394960"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302D"/>
              </a:buClr>
              <a:buSzPts val="1350"/>
              <a:buFont typeface="Calibri"/>
              <a:buNone/>
            </a:pPr>
            <a:r>
              <a:rPr b="0" i="0" lang="en-US" sz="1350" u="none" cap="none" strike="noStrike">
                <a:solidFill>
                  <a:srgbClr val="16302D"/>
                </a:solidFill>
                <a:latin typeface="Calibri"/>
                <a:ea typeface="Calibri"/>
                <a:cs typeface="Calibri"/>
                <a:sym typeface="Calibri"/>
              </a:rPr>
              <a:t>Version 4, started 3 March 2026</a:t>
            </a:r>
            <a:endParaRPr b="0" i="0" sz="1350" u="none" cap="none" strike="noStrike">
              <a:solidFill>
                <a:schemeClr val="dk1"/>
              </a:solidFill>
              <a:latin typeface="Calibri"/>
              <a:ea typeface="Calibri"/>
              <a:cs typeface="Calibri"/>
              <a:sym typeface="Calibri"/>
            </a:endParaRPr>
          </a:p>
        </p:txBody>
      </p:sp>
      <p:sp>
        <p:nvSpPr>
          <p:cNvPr id="360" name="Google Shape;360;p12"/>
          <p:cNvSpPr/>
          <p:nvPr/>
        </p:nvSpPr>
        <p:spPr>
          <a:xfrm>
            <a:off x="996696" y="5212080"/>
            <a:ext cx="182880" cy="1828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2"/>
          <p:cNvSpPr txBox="1"/>
          <p:nvPr/>
        </p:nvSpPr>
        <p:spPr>
          <a:xfrm>
            <a:off x="1362456" y="5084064"/>
            <a:ext cx="5394960"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302D"/>
              </a:buClr>
              <a:buSzPts val="1350"/>
              <a:buFont typeface="Calibri"/>
              <a:buNone/>
            </a:pPr>
            <a:r>
              <a:rPr b="0" i="0" lang="en-US" sz="1350" u="none" cap="none" strike="noStrike">
                <a:solidFill>
                  <a:srgbClr val="16302D"/>
                </a:solidFill>
                <a:latin typeface="Calibri"/>
                <a:ea typeface="Calibri"/>
                <a:cs typeface="Calibri"/>
                <a:sym typeface="Calibri"/>
              </a:rPr>
              <a:t>Signed by the Medicines Committee</a:t>
            </a:r>
            <a:endParaRPr b="0" i="0" sz="1350" u="none" cap="none" strike="noStrike">
              <a:solidFill>
                <a:schemeClr val="dk1"/>
              </a:solidFill>
              <a:latin typeface="Calibri"/>
              <a:ea typeface="Calibri"/>
              <a:cs typeface="Calibri"/>
              <a:sym typeface="Calibri"/>
            </a:endParaRPr>
          </a:p>
        </p:txBody>
      </p:sp>
      <p:sp>
        <p:nvSpPr>
          <p:cNvPr id="362" name="Google Shape;362;p12"/>
          <p:cNvSpPr/>
          <p:nvPr/>
        </p:nvSpPr>
        <p:spPr>
          <a:xfrm>
            <a:off x="7415784" y="2084832"/>
            <a:ext cx="4059936" cy="3328416"/>
          </a:xfrm>
          <a:prstGeom prst="roundRect">
            <a:avLst>
              <a:gd fmla="val 2747"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2"/>
          <p:cNvSpPr txBox="1"/>
          <p:nvPr/>
        </p:nvSpPr>
        <p:spPr>
          <a:xfrm>
            <a:off x="7690104" y="2286000"/>
            <a:ext cx="3511296"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700"/>
              <a:buFont typeface="Cambria"/>
              <a:buNone/>
            </a:pPr>
            <a:r>
              <a:rPr b="1" i="0" lang="en-US" sz="1700" u="none" cap="none" strike="noStrike">
                <a:solidFill>
                  <a:srgbClr val="0B3B39"/>
                </a:solidFill>
                <a:latin typeface="Cambria"/>
                <a:ea typeface="Cambria"/>
                <a:cs typeface="Cambria"/>
                <a:sym typeface="Cambria"/>
              </a:rPr>
              <a:t>You land on a real person</a:t>
            </a:r>
            <a:endParaRPr b="0" i="0" sz="1700" u="none" cap="none" strike="noStrike">
              <a:solidFill>
                <a:schemeClr val="dk1"/>
              </a:solidFill>
              <a:latin typeface="Calibri"/>
              <a:ea typeface="Calibri"/>
              <a:cs typeface="Calibri"/>
              <a:sym typeface="Calibri"/>
            </a:endParaRPr>
          </a:p>
        </p:txBody>
      </p:sp>
      <p:sp>
        <p:nvSpPr>
          <p:cNvPr id="364" name="Google Shape;364;p12"/>
          <p:cNvSpPr txBox="1"/>
          <p:nvPr/>
        </p:nvSpPr>
        <p:spPr>
          <a:xfrm>
            <a:off x="7690104" y="2670048"/>
            <a:ext cx="3511296" cy="1828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Follow the trail far enough and it ends at a real person who put their name to it. That is what makes an answer checkable.</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Compare: “I think it is this much.” Where would you even start?</a:t>
            </a:r>
            <a:endParaRPr b="0" i="0" sz="1300" u="none" cap="none" strike="noStrike">
              <a:solidFill>
                <a:schemeClr val="dk1"/>
              </a:solidFill>
              <a:latin typeface="Calibri"/>
              <a:ea typeface="Calibri"/>
              <a:cs typeface="Calibri"/>
              <a:sym typeface="Calibri"/>
            </a:endParaRPr>
          </a:p>
        </p:txBody>
      </p:sp>
      <p:sp>
        <p:nvSpPr>
          <p:cNvPr id="365" name="Google Shape;365;p12"/>
          <p:cNvSpPr/>
          <p:nvPr/>
        </p:nvSpPr>
        <p:spPr>
          <a:xfrm>
            <a:off x="7690104" y="4572000"/>
            <a:ext cx="3511296" cy="841248"/>
          </a:xfrm>
          <a:prstGeom prst="roundRect">
            <a:avLst>
              <a:gd fmla="val 10870"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2"/>
          <p:cNvSpPr txBox="1"/>
          <p:nvPr/>
        </p:nvSpPr>
        <p:spPr>
          <a:xfrm>
            <a:off x="7909560" y="4572000"/>
            <a:ext cx="3072384" cy="841248"/>
          </a:xfrm>
          <a:prstGeom prst="rect">
            <a:avLst/>
          </a:prstGeom>
          <a:noFill/>
          <a:ln>
            <a:noFill/>
          </a:ln>
        </p:spPr>
        <p:txBody>
          <a:bodyPr anchorCtr="0" anchor="ctr" bIns="0" lIns="0" spcFirstLastPara="1" rIns="0" wrap="square" tIns="0">
            <a:noAutofit/>
          </a:bodyPr>
          <a:lstStyle/>
          <a:p>
            <a:pPr indent="0" lvl="0" marL="0" marR="0" rtl="0" algn="l">
              <a:lnSpc>
                <a:spcPct val="126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IN REAL LIFE: the grown-up word is provenance. It only means: where this came from.</a:t>
            </a:r>
            <a:endParaRPr b="0" i="0" sz="1200" u="none" cap="none" strike="noStrike">
              <a:solidFill>
                <a:schemeClr val="dk1"/>
              </a:solidFill>
              <a:latin typeface="Calibri"/>
              <a:ea typeface="Calibri"/>
              <a:cs typeface="Calibri"/>
              <a:sym typeface="Calibri"/>
            </a:endParaRPr>
          </a:p>
        </p:txBody>
      </p:sp>
      <p:sp>
        <p:nvSpPr>
          <p:cNvPr id="367" name="Google Shape;367;p12"/>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2"/>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2"/>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370" name="Google Shape;370;p12"/>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You can always ask one question: which page said that?</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3"/>
          <p:cNvSpPr/>
          <p:nvPr/>
        </p:nvSpPr>
        <p:spPr>
          <a:xfrm>
            <a:off x="685800" y="438912"/>
            <a:ext cx="640080" cy="6400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7" name="Google Shape;377;p13"/>
          <p:cNvPicPr preferRelativeResize="0"/>
          <p:nvPr/>
        </p:nvPicPr>
        <p:blipFill rotWithShape="1">
          <a:blip r:embed="rId3">
            <a:alphaModFix/>
          </a:blip>
          <a:srcRect b="0" l="0" r="0" t="0"/>
          <a:stretch/>
        </p:blipFill>
        <p:spPr>
          <a:xfrm>
            <a:off x="865022" y="618134"/>
            <a:ext cx="281635" cy="281635"/>
          </a:xfrm>
          <a:prstGeom prst="rect">
            <a:avLst/>
          </a:prstGeom>
          <a:noFill/>
          <a:ln>
            <a:noFill/>
          </a:ln>
        </p:spPr>
      </p:pic>
      <p:sp>
        <p:nvSpPr>
          <p:cNvPr id="378" name="Google Shape;378;p13"/>
          <p:cNvSpPr txBox="1"/>
          <p:nvPr/>
        </p:nvSpPr>
        <p:spPr>
          <a:xfrm>
            <a:off x="1581912" y="384048"/>
            <a:ext cx="9893808" cy="25603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34A2B"/>
              </a:buClr>
              <a:buSzPts val="1000"/>
              <a:buFont typeface="Calibri"/>
              <a:buNone/>
            </a:pPr>
            <a:r>
              <a:rPr b="1" i="0" lang="en-US" sz="1000" u="none" cap="none" strike="noStrike">
                <a:solidFill>
                  <a:srgbClr val="B34A2B"/>
                </a:solidFill>
                <a:latin typeface="Calibri"/>
                <a:ea typeface="Calibri"/>
                <a:cs typeface="Calibri"/>
                <a:sym typeface="Calibri"/>
              </a:rPr>
              <a:t>CONCEPT 7 OF 8  ·  GETTING A PAGE IN</a:t>
            </a:r>
            <a:endParaRPr b="0" i="0" sz="1000" u="none" cap="none" strike="noStrike">
              <a:solidFill>
                <a:schemeClr val="dk1"/>
              </a:solidFill>
              <a:latin typeface="Calibri"/>
              <a:ea typeface="Calibri"/>
              <a:cs typeface="Calibri"/>
              <a:sym typeface="Calibri"/>
            </a:endParaRPr>
          </a:p>
        </p:txBody>
      </p:sp>
      <p:sp>
        <p:nvSpPr>
          <p:cNvPr id="379" name="Google Shape;379;p13"/>
          <p:cNvSpPr txBox="1"/>
          <p:nvPr/>
        </p:nvSpPr>
        <p:spPr>
          <a:xfrm>
            <a:off x="1581912" y="658368"/>
            <a:ext cx="9893808" cy="51206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2800"/>
              <a:buFont typeface="Cambria"/>
              <a:buNone/>
            </a:pPr>
            <a:r>
              <a:rPr b="1" i="0" lang="en-US" sz="2800" u="none" cap="none" strike="noStrike">
                <a:solidFill>
                  <a:srgbClr val="0B3B39"/>
                </a:solidFill>
                <a:latin typeface="Cambria"/>
                <a:ea typeface="Cambria"/>
                <a:cs typeface="Cambria"/>
                <a:sym typeface="Cambria"/>
              </a:rPr>
              <a:t>Follow one new page through one week</a:t>
            </a:r>
            <a:endParaRPr b="0" i="0" sz="2800" u="none" cap="none" strike="noStrike">
              <a:solidFill>
                <a:schemeClr val="dk1"/>
              </a:solidFill>
              <a:latin typeface="Calibri"/>
              <a:ea typeface="Calibri"/>
              <a:cs typeface="Calibri"/>
              <a:sym typeface="Calibri"/>
            </a:endParaRPr>
          </a:p>
        </p:txBody>
      </p:sp>
      <p:sp>
        <p:nvSpPr>
          <p:cNvPr id="380" name="Google Shape;380;p13"/>
          <p:cNvSpPr/>
          <p:nvPr/>
        </p:nvSpPr>
        <p:spPr>
          <a:xfrm>
            <a:off x="685800" y="1353312"/>
            <a:ext cx="10789920" cy="585216"/>
          </a:xfrm>
          <a:prstGeom prst="roundRect">
            <a:avLst>
              <a:gd fmla="val 15625"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3"/>
          <p:cNvSpPr/>
          <p:nvPr/>
        </p:nvSpPr>
        <p:spPr>
          <a:xfrm>
            <a:off x="978408" y="1508760"/>
            <a:ext cx="129844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3"/>
          <p:cNvSpPr txBox="1"/>
          <p:nvPr/>
        </p:nvSpPr>
        <p:spPr>
          <a:xfrm>
            <a:off x="978408" y="1508760"/>
            <a:ext cx="129844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IT ANSWERS</a:t>
            </a:r>
            <a:endParaRPr b="0" i="0" sz="950" u="none" cap="none" strike="noStrike">
              <a:solidFill>
                <a:schemeClr val="dk1"/>
              </a:solidFill>
              <a:latin typeface="Calibri"/>
              <a:ea typeface="Calibri"/>
              <a:cs typeface="Calibri"/>
              <a:sym typeface="Calibri"/>
            </a:endParaRPr>
          </a:p>
        </p:txBody>
      </p:sp>
      <p:sp>
        <p:nvSpPr>
          <p:cNvPr id="383" name="Google Shape;383;p13"/>
          <p:cNvSpPr txBox="1"/>
          <p:nvPr/>
        </p:nvSpPr>
        <p:spPr>
          <a:xfrm>
            <a:off x="2532888" y="1353312"/>
            <a:ext cx="8650224"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94B3C"/>
              </a:buClr>
              <a:buSzPts val="1700"/>
              <a:buFont typeface="Cambria"/>
              <a:buNone/>
            </a:pPr>
            <a:r>
              <a:rPr b="1" i="0" lang="en-US" sz="1700" u="none" cap="none" strike="noStrike">
                <a:solidFill>
                  <a:srgbClr val="094B3C"/>
                </a:solidFill>
                <a:latin typeface="Cambria"/>
                <a:ea typeface="Cambria"/>
                <a:cs typeface="Cambria"/>
                <a:sym typeface="Cambria"/>
              </a:rPr>
              <a:t>How does something new become a rule?</a:t>
            </a:r>
            <a:endParaRPr b="0" i="0" sz="1700" u="none" cap="none" strike="noStrike">
              <a:solidFill>
                <a:schemeClr val="dk1"/>
              </a:solidFill>
              <a:latin typeface="Calibri"/>
              <a:ea typeface="Calibri"/>
              <a:cs typeface="Calibri"/>
              <a:sym typeface="Calibri"/>
            </a:endParaRPr>
          </a:p>
        </p:txBody>
      </p:sp>
      <p:sp>
        <p:nvSpPr>
          <p:cNvPr id="384" name="Google Shape;384;p13"/>
          <p:cNvSpPr/>
          <p:nvPr/>
        </p:nvSpPr>
        <p:spPr>
          <a:xfrm>
            <a:off x="685800" y="2084832"/>
            <a:ext cx="1463040" cy="2743200"/>
          </a:xfrm>
          <a:prstGeom prst="roundRect">
            <a:avLst>
              <a:gd fmla="val 6250"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3"/>
          <p:cNvSpPr txBox="1"/>
          <p:nvPr/>
        </p:nvSpPr>
        <p:spPr>
          <a:xfrm>
            <a:off x="813816" y="2286000"/>
            <a:ext cx="1207008" cy="23774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1706B"/>
              </a:buClr>
              <a:buSzPts val="900"/>
              <a:buFont typeface="Calibri"/>
              <a:buNone/>
            </a:pPr>
            <a:r>
              <a:rPr b="1" i="0" lang="en-US" sz="900" u="none" cap="none" strike="noStrike">
                <a:solidFill>
                  <a:srgbClr val="51706B"/>
                </a:solidFill>
                <a:latin typeface="Calibri"/>
                <a:ea typeface="Calibri"/>
                <a:cs typeface="Calibri"/>
                <a:sym typeface="Calibri"/>
              </a:rPr>
              <a:t>MONDAY</a:t>
            </a:r>
            <a:endParaRPr b="0" i="0" sz="900" u="none" cap="none" strike="noStrike">
              <a:solidFill>
                <a:schemeClr val="dk1"/>
              </a:solidFill>
              <a:latin typeface="Calibri"/>
              <a:ea typeface="Calibri"/>
              <a:cs typeface="Calibri"/>
              <a:sym typeface="Calibri"/>
            </a:endParaRPr>
          </a:p>
        </p:txBody>
      </p:sp>
      <p:sp>
        <p:nvSpPr>
          <p:cNvPr id="386" name="Google Shape;386;p13"/>
          <p:cNvSpPr txBox="1"/>
          <p:nvPr/>
        </p:nvSpPr>
        <p:spPr>
          <a:xfrm>
            <a:off x="813816" y="2688336"/>
            <a:ext cx="1207008" cy="9144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0B3B39"/>
              </a:buClr>
              <a:buSzPts val="1400"/>
              <a:buFont typeface="Cambria"/>
              <a:buNone/>
            </a:pPr>
            <a:r>
              <a:rPr b="1" i="0" lang="en-US" sz="1400" u="none" cap="none" strike="noStrike">
                <a:solidFill>
                  <a:srgbClr val="0B3B39"/>
                </a:solidFill>
                <a:latin typeface="Cambria"/>
                <a:ea typeface="Cambria"/>
                <a:cs typeface="Cambria"/>
                <a:sym typeface="Cambria"/>
              </a:rPr>
              <a:t>Dr Sana writes</a:t>
            </a:r>
            <a:endParaRPr b="0" i="0" sz="140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0B3B39"/>
              </a:buClr>
              <a:buSzPts val="1400"/>
              <a:buFont typeface="Cambria"/>
              <a:buNone/>
            </a:pPr>
            <a:r>
              <a:rPr b="1" i="0" lang="en-US" sz="1400" u="none" cap="none" strike="noStrike">
                <a:solidFill>
                  <a:srgbClr val="0B3B39"/>
                </a:solidFill>
                <a:latin typeface="Cambria"/>
                <a:ea typeface="Cambria"/>
                <a:cs typeface="Cambria"/>
                <a:sym typeface="Cambria"/>
              </a:rPr>
              <a:t>a new page</a:t>
            </a:r>
            <a:endParaRPr b="0" i="0" sz="1400" u="none" cap="none" strike="noStrike">
              <a:solidFill>
                <a:schemeClr val="dk1"/>
              </a:solidFill>
              <a:latin typeface="Calibri"/>
              <a:ea typeface="Calibri"/>
              <a:cs typeface="Calibri"/>
              <a:sym typeface="Calibri"/>
            </a:endParaRPr>
          </a:p>
        </p:txBody>
      </p:sp>
      <p:sp>
        <p:nvSpPr>
          <p:cNvPr id="387" name="Google Shape;387;p13"/>
          <p:cNvSpPr txBox="1"/>
          <p:nvPr/>
        </p:nvSpPr>
        <p:spPr>
          <a:xfrm>
            <a:off x="813816" y="4059936"/>
            <a:ext cx="1207008" cy="56692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1706B"/>
              </a:buClr>
              <a:buSzPts val="1100"/>
              <a:buFont typeface="Calibri"/>
              <a:buNone/>
            </a:pPr>
            <a:r>
              <a:rPr b="0" i="0" lang="en-US" sz="1100" u="none" cap="none" strike="noStrike">
                <a:solidFill>
                  <a:srgbClr val="51706B"/>
                </a:solidFill>
                <a:latin typeface="Calibri"/>
                <a:ea typeface="Calibri"/>
                <a:cs typeface="Calibri"/>
                <a:sym typeface="Calibri"/>
              </a:rPr>
              <a:t>Helpers cannot see it</a:t>
            </a:r>
            <a:endParaRPr b="0" i="0" sz="1100" u="none" cap="none" strike="noStrike">
              <a:solidFill>
                <a:schemeClr val="dk1"/>
              </a:solidFill>
              <a:latin typeface="Calibri"/>
              <a:ea typeface="Calibri"/>
              <a:cs typeface="Calibri"/>
              <a:sym typeface="Calibri"/>
            </a:endParaRPr>
          </a:p>
        </p:txBody>
      </p:sp>
      <p:cxnSp>
        <p:nvCxnSpPr>
          <p:cNvPr id="388" name="Google Shape;388;p13"/>
          <p:cNvCxnSpPr/>
          <p:nvPr/>
        </p:nvCxnSpPr>
        <p:spPr>
          <a:xfrm>
            <a:off x="2167128" y="3456432"/>
            <a:ext cx="146304" cy="0"/>
          </a:xfrm>
          <a:prstGeom prst="straightConnector1">
            <a:avLst/>
          </a:prstGeom>
          <a:noFill/>
          <a:ln cap="flat" cmpd="sng" w="19050">
            <a:solidFill>
              <a:srgbClr val="51706B"/>
            </a:solidFill>
            <a:prstDash val="solid"/>
            <a:round/>
            <a:headEnd len="sm" w="sm" type="none"/>
            <a:tailEnd len="med" w="med" type="triangle"/>
          </a:ln>
        </p:spPr>
      </p:cxnSp>
      <p:sp>
        <p:nvSpPr>
          <p:cNvPr id="389" name="Google Shape;389;p13"/>
          <p:cNvSpPr/>
          <p:nvPr/>
        </p:nvSpPr>
        <p:spPr>
          <a:xfrm>
            <a:off x="2331720" y="2084832"/>
            <a:ext cx="1463040" cy="2743200"/>
          </a:xfrm>
          <a:prstGeom prst="roundRect">
            <a:avLst>
              <a:gd fmla="val 6250"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txBox="1"/>
          <p:nvPr/>
        </p:nvSpPr>
        <p:spPr>
          <a:xfrm>
            <a:off x="2459736" y="2286000"/>
            <a:ext cx="1207008" cy="23774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1706B"/>
              </a:buClr>
              <a:buSzPts val="900"/>
              <a:buFont typeface="Calibri"/>
              <a:buNone/>
            </a:pPr>
            <a:r>
              <a:rPr b="1" i="0" lang="en-US" sz="900" u="none" cap="none" strike="noStrike">
                <a:solidFill>
                  <a:srgbClr val="51706B"/>
                </a:solidFill>
                <a:latin typeface="Calibri"/>
                <a:ea typeface="Calibri"/>
                <a:cs typeface="Calibri"/>
                <a:sym typeface="Calibri"/>
              </a:rPr>
              <a:t>TUESDAY</a:t>
            </a:r>
            <a:endParaRPr b="0" i="0" sz="900" u="none" cap="none" strike="noStrike">
              <a:solidFill>
                <a:schemeClr val="dk1"/>
              </a:solidFill>
              <a:latin typeface="Calibri"/>
              <a:ea typeface="Calibri"/>
              <a:cs typeface="Calibri"/>
              <a:sym typeface="Calibri"/>
            </a:endParaRPr>
          </a:p>
        </p:txBody>
      </p:sp>
      <p:sp>
        <p:nvSpPr>
          <p:cNvPr id="391" name="Google Shape;391;p13"/>
          <p:cNvSpPr txBox="1"/>
          <p:nvPr/>
        </p:nvSpPr>
        <p:spPr>
          <a:xfrm>
            <a:off x="2459736" y="2688336"/>
            <a:ext cx="1207008" cy="9144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0B3B39"/>
              </a:buClr>
              <a:buSzPts val="1400"/>
              <a:buFont typeface="Cambria"/>
              <a:buNone/>
            </a:pPr>
            <a:r>
              <a:rPr b="1" i="0" lang="en-US" sz="1400" u="none" cap="none" strike="noStrike">
                <a:solidFill>
                  <a:srgbClr val="0B3B39"/>
                </a:solidFill>
                <a:latin typeface="Cambria"/>
                <a:ea typeface="Cambria"/>
                <a:cs typeface="Cambria"/>
                <a:sym typeface="Cambria"/>
              </a:rPr>
              <a:t>The head nurse</a:t>
            </a:r>
            <a:endParaRPr b="0" i="0" sz="140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0B3B39"/>
              </a:buClr>
              <a:buSzPts val="1400"/>
              <a:buFont typeface="Cambria"/>
              <a:buNone/>
            </a:pPr>
            <a:r>
              <a:rPr b="1" i="0" lang="en-US" sz="1400" u="none" cap="none" strike="noStrike">
                <a:solidFill>
                  <a:srgbClr val="0B3B39"/>
                </a:solidFill>
                <a:latin typeface="Cambria"/>
                <a:ea typeface="Cambria"/>
                <a:cs typeface="Cambria"/>
                <a:sym typeface="Cambria"/>
              </a:rPr>
              <a:t>checks it</a:t>
            </a:r>
            <a:endParaRPr b="0" i="0" sz="1400" u="none" cap="none" strike="noStrike">
              <a:solidFill>
                <a:schemeClr val="dk1"/>
              </a:solidFill>
              <a:latin typeface="Calibri"/>
              <a:ea typeface="Calibri"/>
              <a:cs typeface="Calibri"/>
              <a:sym typeface="Calibri"/>
            </a:endParaRPr>
          </a:p>
        </p:txBody>
      </p:sp>
      <p:sp>
        <p:nvSpPr>
          <p:cNvPr id="392" name="Google Shape;392;p13"/>
          <p:cNvSpPr txBox="1"/>
          <p:nvPr/>
        </p:nvSpPr>
        <p:spPr>
          <a:xfrm>
            <a:off x="2459736" y="4059936"/>
            <a:ext cx="1207008" cy="56692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1706B"/>
              </a:buClr>
              <a:buSzPts val="1100"/>
              <a:buFont typeface="Calibri"/>
              <a:buNone/>
            </a:pPr>
            <a:r>
              <a:rPr b="0" i="0" lang="en-US" sz="1100" u="none" cap="none" strike="noStrike">
                <a:solidFill>
                  <a:srgbClr val="51706B"/>
                </a:solidFill>
                <a:latin typeface="Calibri"/>
                <a:ea typeface="Calibri"/>
                <a:cs typeface="Calibri"/>
                <a:sym typeface="Calibri"/>
              </a:rPr>
              <a:t>Helpers cannot see it</a:t>
            </a:r>
            <a:endParaRPr b="0" i="0" sz="1100" u="none" cap="none" strike="noStrike">
              <a:solidFill>
                <a:schemeClr val="dk1"/>
              </a:solidFill>
              <a:latin typeface="Calibri"/>
              <a:ea typeface="Calibri"/>
              <a:cs typeface="Calibri"/>
              <a:sym typeface="Calibri"/>
            </a:endParaRPr>
          </a:p>
        </p:txBody>
      </p:sp>
      <p:cxnSp>
        <p:nvCxnSpPr>
          <p:cNvPr id="393" name="Google Shape;393;p13"/>
          <p:cNvCxnSpPr/>
          <p:nvPr/>
        </p:nvCxnSpPr>
        <p:spPr>
          <a:xfrm>
            <a:off x="3813048" y="3456432"/>
            <a:ext cx="146304" cy="0"/>
          </a:xfrm>
          <a:prstGeom prst="straightConnector1">
            <a:avLst/>
          </a:prstGeom>
          <a:noFill/>
          <a:ln cap="flat" cmpd="sng" w="19050">
            <a:solidFill>
              <a:srgbClr val="51706B"/>
            </a:solidFill>
            <a:prstDash val="solid"/>
            <a:round/>
            <a:headEnd len="sm" w="sm" type="none"/>
            <a:tailEnd len="med" w="med" type="triangle"/>
          </a:ln>
        </p:spPr>
      </p:cxnSp>
      <p:sp>
        <p:nvSpPr>
          <p:cNvPr id="394" name="Google Shape;394;p13"/>
          <p:cNvSpPr/>
          <p:nvPr/>
        </p:nvSpPr>
        <p:spPr>
          <a:xfrm>
            <a:off x="3977640" y="2084832"/>
            <a:ext cx="1463040" cy="2743200"/>
          </a:xfrm>
          <a:prstGeom prst="roundRect">
            <a:avLst>
              <a:gd fmla="val 6250"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3"/>
          <p:cNvSpPr txBox="1"/>
          <p:nvPr/>
        </p:nvSpPr>
        <p:spPr>
          <a:xfrm>
            <a:off x="4105656" y="2286000"/>
            <a:ext cx="1207008" cy="23774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B34A2B"/>
              </a:buClr>
              <a:buSzPts val="900"/>
              <a:buFont typeface="Calibri"/>
              <a:buNone/>
            </a:pPr>
            <a:r>
              <a:rPr b="1" i="0" lang="en-US" sz="900" u="none" cap="none" strike="noStrike">
                <a:solidFill>
                  <a:srgbClr val="B34A2B"/>
                </a:solidFill>
                <a:latin typeface="Calibri"/>
                <a:ea typeface="Calibri"/>
                <a:cs typeface="Calibri"/>
                <a:sym typeface="Calibri"/>
              </a:rPr>
              <a:t>FRIDAY</a:t>
            </a:r>
            <a:endParaRPr b="0" i="0" sz="900" u="none" cap="none" strike="noStrike">
              <a:solidFill>
                <a:schemeClr val="dk1"/>
              </a:solidFill>
              <a:latin typeface="Calibri"/>
              <a:ea typeface="Calibri"/>
              <a:cs typeface="Calibri"/>
              <a:sym typeface="Calibri"/>
            </a:endParaRPr>
          </a:p>
        </p:txBody>
      </p:sp>
      <p:sp>
        <p:nvSpPr>
          <p:cNvPr id="396" name="Google Shape;396;p13"/>
          <p:cNvSpPr txBox="1"/>
          <p:nvPr/>
        </p:nvSpPr>
        <p:spPr>
          <a:xfrm>
            <a:off x="4105656" y="2688336"/>
            <a:ext cx="1207008" cy="9144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0B3B39"/>
              </a:buClr>
              <a:buSzPts val="1400"/>
              <a:buFont typeface="Cambria"/>
              <a:buNone/>
            </a:pPr>
            <a:r>
              <a:rPr b="1" i="0" lang="en-US" sz="1400" u="none" cap="none" strike="noStrike">
                <a:solidFill>
                  <a:srgbClr val="0B3B39"/>
                </a:solidFill>
                <a:latin typeface="Cambria"/>
                <a:ea typeface="Cambria"/>
                <a:cs typeface="Cambria"/>
                <a:sym typeface="Cambria"/>
              </a:rPr>
              <a:t>The committee</a:t>
            </a:r>
            <a:endParaRPr b="0" i="0" sz="140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0B3B39"/>
              </a:buClr>
              <a:buSzPts val="1400"/>
              <a:buFont typeface="Cambria"/>
              <a:buNone/>
            </a:pPr>
            <a:r>
              <a:rPr b="1" i="0" lang="en-US" sz="1400" u="none" cap="none" strike="noStrike">
                <a:solidFill>
                  <a:srgbClr val="0B3B39"/>
                </a:solidFill>
                <a:latin typeface="Cambria"/>
                <a:ea typeface="Cambria"/>
                <a:cs typeface="Cambria"/>
                <a:sym typeface="Cambria"/>
              </a:rPr>
              <a:t>signs it</a:t>
            </a:r>
            <a:endParaRPr b="0" i="0" sz="1400" u="none" cap="none" strike="noStrike">
              <a:solidFill>
                <a:schemeClr val="dk1"/>
              </a:solidFill>
              <a:latin typeface="Calibri"/>
              <a:ea typeface="Calibri"/>
              <a:cs typeface="Calibri"/>
              <a:sym typeface="Calibri"/>
            </a:endParaRPr>
          </a:p>
        </p:txBody>
      </p:sp>
      <p:sp>
        <p:nvSpPr>
          <p:cNvPr id="397" name="Google Shape;397;p13"/>
          <p:cNvSpPr txBox="1"/>
          <p:nvPr/>
        </p:nvSpPr>
        <p:spPr>
          <a:xfrm>
            <a:off x="4105656" y="4059936"/>
            <a:ext cx="1207008" cy="56692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B34A2B"/>
              </a:buClr>
              <a:buSzPts val="1100"/>
              <a:buFont typeface="Calibri"/>
              <a:buNone/>
            </a:pPr>
            <a:r>
              <a:rPr b="1" i="0" lang="en-US" sz="1100" u="none" cap="none" strike="noStrike">
                <a:solidFill>
                  <a:srgbClr val="B34A2B"/>
                </a:solidFill>
                <a:latin typeface="Calibri"/>
                <a:ea typeface="Calibri"/>
                <a:cs typeface="Calibri"/>
                <a:sym typeface="Calibri"/>
              </a:rPr>
              <a:t>This is the moment</a:t>
            </a:r>
            <a:endParaRPr b="0" i="0" sz="1100" u="none" cap="none" strike="noStrike">
              <a:solidFill>
                <a:schemeClr val="dk1"/>
              </a:solidFill>
              <a:latin typeface="Calibri"/>
              <a:ea typeface="Calibri"/>
              <a:cs typeface="Calibri"/>
              <a:sym typeface="Calibri"/>
            </a:endParaRPr>
          </a:p>
        </p:txBody>
      </p:sp>
      <p:cxnSp>
        <p:nvCxnSpPr>
          <p:cNvPr id="398" name="Google Shape;398;p13"/>
          <p:cNvCxnSpPr/>
          <p:nvPr/>
        </p:nvCxnSpPr>
        <p:spPr>
          <a:xfrm>
            <a:off x="5458968" y="3456432"/>
            <a:ext cx="146304" cy="0"/>
          </a:xfrm>
          <a:prstGeom prst="straightConnector1">
            <a:avLst/>
          </a:prstGeom>
          <a:noFill/>
          <a:ln cap="flat" cmpd="sng" w="19050">
            <a:solidFill>
              <a:srgbClr val="51706B"/>
            </a:solidFill>
            <a:prstDash val="solid"/>
            <a:round/>
            <a:headEnd len="sm" w="sm" type="none"/>
            <a:tailEnd len="med" w="med" type="triangle"/>
          </a:ln>
        </p:spPr>
      </p:cxnSp>
      <p:sp>
        <p:nvSpPr>
          <p:cNvPr id="399" name="Google Shape;399;p13"/>
          <p:cNvSpPr/>
          <p:nvPr/>
        </p:nvSpPr>
        <p:spPr>
          <a:xfrm>
            <a:off x="5623560" y="2084832"/>
            <a:ext cx="1463040" cy="2743200"/>
          </a:xfrm>
          <a:prstGeom prst="roundRect">
            <a:avLst>
              <a:gd fmla="val 625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3"/>
          <p:cNvSpPr txBox="1"/>
          <p:nvPr/>
        </p:nvSpPr>
        <p:spPr>
          <a:xfrm>
            <a:off x="5751576" y="2286000"/>
            <a:ext cx="1207008" cy="23774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94B3C"/>
              </a:buClr>
              <a:buSzPts val="900"/>
              <a:buFont typeface="Calibri"/>
              <a:buNone/>
            </a:pPr>
            <a:r>
              <a:rPr b="1" i="0" lang="en-US" sz="900" u="none" cap="none" strike="noStrike">
                <a:solidFill>
                  <a:srgbClr val="094B3C"/>
                </a:solidFill>
                <a:latin typeface="Calibri"/>
                <a:ea typeface="Calibri"/>
                <a:cs typeface="Calibri"/>
                <a:sym typeface="Calibri"/>
              </a:rPr>
              <a:t>FROM FRIDAY</a:t>
            </a:r>
            <a:endParaRPr b="0" i="0" sz="900" u="none" cap="none" strike="noStrike">
              <a:solidFill>
                <a:schemeClr val="dk1"/>
              </a:solidFill>
              <a:latin typeface="Calibri"/>
              <a:ea typeface="Calibri"/>
              <a:cs typeface="Calibri"/>
              <a:sym typeface="Calibri"/>
            </a:endParaRPr>
          </a:p>
        </p:txBody>
      </p:sp>
      <p:sp>
        <p:nvSpPr>
          <p:cNvPr id="401" name="Google Shape;401;p13"/>
          <p:cNvSpPr txBox="1"/>
          <p:nvPr/>
        </p:nvSpPr>
        <p:spPr>
          <a:xfrm>
            <a:off x="5751576" y="2688336"/>
            <a:ext cx="1207008" cy="9144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0B3B39"/>
              </a:buClr>
              <a:buSzPts val="1400"/>
              <a:buFont typeface="Cambria"/>
              <a:buNone/>
            </a:pPr>
            <a:r>
              <a:rPr b="1" i="0" lang="en-US" sz="1400" u="none" cap="none" strike="noStrike">
                <a:solidFill>
                  <a:srgbClr val="0B3B39"/>
                </a:solidFill>
                <a:latin typeface="Cambria"/>
                <a:ea typeface="Cambria"/>
                <a:cs typeface="Cambria"/>
                <a:sym typeface="Cambria"/>
              </a:rPr>
              <a:t>It is in</a:t>
            </a:r>
            <a:endParaRPr b="0" i="0" sz="140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0B3B39"/>
              </a:buClr>
              <a:buSzPts val="1400"/>
              <a:buFont typeface="Cambria"/>
              <a:buNone/>
            </a:pPr>
            <a:r>
              <a:rPr b="1" i="0" lang="en-US" sz="1400" u="none" cap="none" strike="noStrike">
                <a:solidFill>
                  <a:srgbClr val="0B3B39"/>
                </a:solidFill>
                <a:latin typeface="Cambria"/>
                <a:ea typeface="Cambria"/>
                <a:cs typeface="Cambria"/>
                <a:sym typeface="Cambria"/>
              </a:rPr>
              <a:t>the book</a:t>
            </a:r>
            <a:endParaRPr b="0" i="0" sz="1400" u="none" cap="none" strike="noStrike">
              <a:solidFill>
                <a:schemeClr val="dk1"/>
              </a:solidFill>
              <a:latin typeface="Calibri"/>
              <a:ea typeface="Calibri"/>
              <a:cs typeface="Calibri"/>
              <a:sym typeface="Calibri"/>
            </a:endParaRPr>
          </a:p>
        </p:txBody>
      </p:sp>
      <p:sp>
        <p:nvSpPr>
          <p:cNvPr id="402" name="Google Shape;402;p13"/>
          <p:cNvSpPr txBox="1"/>
          <p:nvPr/>
        </p:nvSpPr>
        <p:spPr>
          <a:xfrm>
            <a:off x="5751576" y="4059936"/>
            <a:ext cx="1207008" cy="56692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94B3C"/>
              </a:buClr>
              <a:buSzPts val="1100"/>
              <a:buFont typeface="Calibri"/>
              <a:buNone/>
            </a:pPr>
            <a:r>
              <a:rPr b="1" i="0" lang="en-US" sz="1100" u="none" cap="none" strike="noStrike">
                <a:solidFill>
                  <a:srgbClr val="094B3C"/>
                </a:solidFill>
                <a:latin typeface="Calibri"/>
                <a:ea typeface="Calibri"/>
                <a:cs typeface="Calibri"/>
                <a:sym typeface="Calibri"/>
              </a:rPr>
              <a:t>Helpers may use it</a:t>
            </a:r>
            <a:endParaRPr b="0" i="0" sz="1100" u="none" cap="none" strike="noStrike">
              <a:solidFill>
                <a:schemeClr val="dk1"/>
              </a:solidFill>
              <a:latin typeface="Calibri"/>
              <a:ea typeface="Calibri"/>
              <a:cs typeface="Calibri"/>
              <a:sym typeface="Calibri"/>
            </a:endParaRPr>
          </a:p>
        </p:txBody>
      </p:sp>
      <p:sp>
        <p:nvSpPr>
          <p:cNvPr id="403" name="Google Shape;403;p13"/>
          <p:cNvSpPr/>
          <p:nvPr/>
        </p:nvSpPr>
        <p:spPr>
          <a:xfrm>
            <a:off x="685800" y="4974336"/>
            <a:ext cx="6400800" cy="438912"/>
          </a:xfrm>
          <a:prstGeom prst="roundRect">
            <a:avLst>
              <a:gd fmla="val 20833" name="adj"/>
            </a:avLst>
          </a:prstGeom>
          <a:solidFill>
            <a:srgbClr val="F3F9F7"/>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3"/>
          <p:cNvSpPr txBox="1"/>
          <p:nvPr/>
        </p:nvSpPr>
        <p:spPr>
          <a:xfrm>
            <a:off x="905256" y="4974336"/>
            <a:ext cx="5961888"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250"/>
              <a:buFont typeface="Calibri"/>
              <a:buNone/>
            </a:pPr>
            <a:r>
              <a:rPr b="1" i="0" lang="en-US" sz="1250" u="none" cap="none" strike="noStrike">
                <a:solidFill>
                  <a:srgbClr val="0B3B39"/>
                </a:solidFill>
                <a:latin typeface="Calibri"/>
                <a:ea typeface="Calibri"/>
                <a:cs typeface="Calibri"/>
                <a:sym typeface="Calibri"/>
              </a:rPr>
              <a:t>Same page all week. Only Friday changed what it is allowed to do.</a:t>
            </a:r>
            <a:endParaRPr b="0" i="0" sz="1250" u="none" cap="none" strike="noStrike">
              <a:solidFill>
                <a:schemeClr val="dk1"/>
              </a:solidFill>
              <a:latin typeface="Calibri"/>
              <a:ea typeface="Calibri"/>
              <a:cs typeface="Calibri"/>
              <a:sym typeface="Calibri"/>
            </a:endParaRPr>
          </a:p>
        </p:txBody>
      </p:sp>
      <p:sp>
        <p:nvSpPr>
          <p:cNvPr id="405" name="Google Shape;405;p13"/>
          <p:cNvSpPr/>
          <p:nvPr/>
        </p:nvSpPr>
        <p:spPr>
          <a:xfrm>
            <a:off x="7415784" y="2084832"/>
            <a:ext cx="4059936" cy="3328416"/>
          </a:xfrm>
          <a:prstGeom prst="roundRect">
            <a:avLst>
              <a:gd fmla="val 2747"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3"/>
          <p:cNvSpPr txBox="1"/>
          <p:nvPr/>
        </p:nvSpPr>
        <p:spPr>
          <a:xfrm>
            <a:off x="7690104" y="2286000"/>
            <a:ext cx="3511296"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700"/>
              <a:buFont typeface="Cambria"/>
              <a:buNone/>
            </a:pPr>
            <a:r>
              <a:rPr b="1" i="0" lang="en-US" sz="1700" u="none" cap="none" strike="noStrike">
                <a:solidFill>
                  <a:srgbClr val="0B3B39"/>
                </a:solidFill>
                <a:latin typeface="Cambria"/>
                <a:ea typeface="Cambria"/>
                <a:cs typeface="Cambria"/>
                <a:sym typeface="Cambria"/>
              </a:rPr>
              <a:t>Signing is the whole thing</a:t>
            </a:r>
            <a:endParaRPr b="0" i="0" sz="1700" u="none" cap="none" strike="noStrike">
              <a:solidFill>
                <a:schemeClr val="dk1"/>
              </a:solidFill>
              <a:latin typeface="Calibri"/>
              <a:ea typeface="Calibri"/>
              <a:cs typeface="Calibri"/>
              <a:sym typeface="Calibri"/>
            </a:endParaRPr>
          </a:p>
        </p:txBody>
      </p:sp>
      <p:sp>
        <p:nvSpPr>
          <p:cNvPr id="407" name="Google Shape;407;p13"/>
          <p:cNvSpPr txBox="1"/>
          <p:nvPr/>
        </p:nvSpPr>
        <p:spPr>
          <a:xfrm>
            <a:off x="7690104" y="2670048"/>
            <a:ext cx="3511296" cy="1828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Nothing becomes a rule because somebody typed the word “rule” at the top of it.</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It becomes one the moment a person who is allowed to sign, signs it. Before that it is a draft, and helpers cannot see it.</a:t>
            </a:r>
            <a:endParaRPr b="0" i="0" sz="1300" u="none" cap="none" strike="noStrike">
              <a:solidFill>
                <a:schemeClr val="dk1"/>
              </a:solidFill>
              <a:latin typeface="Calibri"/>
              <a:ea typeface="Calibri"/>
              <a:cs typeface="Calibri"/>
              <a:sym typeface="Calibri"/>
            </a:endParaRPr>
          </a:p>
        </p:txBody>
      </p:sp>
      <p:sp>
        <p:nvSpPr>
          <p:cNvPr id="408" name="Google Shape;408;p13"/>
          <p:cNvSpPr/>
          <p:nvPr/>
        </p:nvSpPr>
        <p:spPr>
          <a:xfrm>
            <a:off x="7690104" y="4572000"/>
            <a:ext cx="3511296" cy="841248"/>
          </a:xfrm>
          <a:prstGeom prst="roundRect">
            <a:avLst>
              <a:gd fmla="val 10870"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3"/>
          <p:cNvSpPr txBox="1"/>
          <p:nvPr/>
        </p:nvSpPr>
        <p:spPr>
          <a:xfrm>
            <a:off x="7909560" y="4572000"/>
            <a:ext cx="3072384" cy="841248"/>
          </a:xfrm>
          <a:prstGeom prst="rect">
            <a:avLst/>
          </a:prstGeom>
          <a:noFill/>
          <a:ln>
            <a:noFill/>
          </a:ln>
        </p:spPr>
        <p:txBody>
          <a:bodyPr anchorCtr="0" anchor="ctr" bIns="0" lIns="0" spcFirstLastPara="1" rIns="0" wrap="square" tIns="0">
            <a:noAutofit/>
          </a:bodyPr>
          <a:lstStyle/>
          <a:p>
            <a:pPr indent="0" lvl="0" marL="0" marR="0" rtl="0" algn="l">
              <a:lnSpc>
                <a:spcPct val="126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IN REAL LIFE: a page copied in from another hospital starts back at Monday, even if someone signed it there.</a:t>
            </a:r>
            <a:endParaRPr b="0" i="0" sz="1200" u="none" cap="none" strike="noStrike">
              <a:solidFill>
                <a:schemeClr val="dk1"/>
              </a:solidFill>
              <a:latin typeface="Calibri"/>
              <a:ea typeface="Calibri"/>
              <a:cs typeface="Calibri"/>
              <a:sym typeface="Calibri"/>
            </a:endParaRPr>
          </a:p>
        </p:txBody>
      </p:sp>
      <p:sp>
        <p:nvSpPr>
          <p:cNvPr id="410" name="Google Shape;410;p13"/>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3"/>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3"/>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413" name="Google Shape;413;p13"/>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A page becomes a rule when a person signs it not when someone says it is one.</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14"/>
          <p:cNvSpPr/>
          <p:nvPr/>
        </p:nvSpPr>
        <p:spPr>
          <a:xfrm>
            <a:off x="685800" y="438912"/>
            <a:ext cx="640080" cy="6400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0" name="Google Shape;420;p14"/>
          <p:cNvPicPr preferRelativeResize="0"/>
          <p:nvPr/>
        </p:nvPicPr>
        <p:blipFill rotWithShape="1">
          <a:blip r:embed="rId3">
            <a:alphaModFix/>
          </a:blip>
          <a:srcRect b="0" l="0" r="0" t="0"/>
          <a:stretch/>
        </p:blipFill>
        <p:spPr>
          <a:xfrm>
            <a:off x="865022" y="618134"/>
            <a:ext cx="281635" cy="281635"/>
          </a:xfrm>
          <a:prstGeom prst="rect">
            <a:avLst/>
          </a:prstGeom>
          <a:noFill/>
          <a:ln>
            <a:noFill/>
          </a:ln>
        </p:spPr>
      </p:pic>
      <p:sp>
        <p:nvSpPr>
          <p:cNvPr id="421" name="Google Shape;421;p14"/>
          <p:cNvSpPr txBox="1"/>
          <p:nvPr/>
        </p:nvSpPr>
        <p:spPr>
          <a:xfrm>
            <a:off x="1581912" y="384048"/>
            <a:ext cx="9893808" cy="25603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34A2B"/>
              </a:buClr>
              <a:buSzPts val="1000"/>
              <a:buFont typeface="Calibri"/>
              <a:buNone/>
            </a:pPr>
            <a:r>
              <a:rPr b="1" i="0" lang="en-US" sz="1000" u="none" cap="none" strike="noStrike">
                <a:solidFill>
                  <a:srgbClr val="B34A2B"/>
                </a:solidFill>
                <a:latin typeface="Calibri"/>
                <a:ea typeface="Calibri"/>
                <a:cs typeface="Calibri"/>
                <a:sym typeface="Calibri"/>
              </a:rPr>
              <a:t>CONCEPT 8 OF 8  ·  MANY DOORS</a:t>
            </a:r>
            <a:endParaRPr b="0" i="0" sz="1000" u="none" cap="none" strike="noStrike">
              <a:solidFill>
                <a:schemeClr val="dk1"/>
              </a:solidFill>
              <a:latin typeface="Calibri"/>
              <a:ea typeface="Calibri"/>
              <a:cs typeface="Calibri"/>
              <a:sym typeface="Calibri"/>
            </a:endParaRPr>
          </a:p>
        </p:txBody>
      </p:sp>
      <p:sp>
        <p:nvSpPr>
          <p:cNvPr id="422" name="Google Shape;422;p14"/>
          <p:cNvSpPr txBox="1"/>
          <p:nvPr/>
        </p:nvSpPr>
        <p:spPr>
          <a:xfrm>
            <a:off x="1581912" y="658368"/>
            <a:ext cx="9893808" cy="51206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2800"/>
              <a:buFont typeface="Cambria"/>
              <a:buNone/>
            </a:pPr>
            <a:r>
              <a:rPr b="1" i="0" lang="en-US" sz="2800" u="none" cap="none" strike="noStrike">
                <a:solidFill>
                  <a:srgbClr val="0B3B39"/>
                </a:solidFill>
                <a:latin typeface="Cambria"/>
                <a:ea typeface="Cambria"/>
                <a:cs typeface="Cambria"/>
                <a:sym typeface="Cambria"/>
              </a:rPr>
              <a:t>Four ways in, and only one book behind them</a:t>
            </a:r>
            <a:endParaRPr b="0" i="0" sz="2800" u="none" cap="none" strike="noStrike">
              <a:solidFill>
                <a:schemeClr val="dk1"/>
              </a:solidFill>
              <a:latin typeface="Calibri"/>
              <a:ea typeface="Calibri"/>
              <a:cs typeface="Calibri"/>
              <a:sym typeface="Calibri"/>
            </a:endParaRPr>
          </a:p>
        </p:txBody>
      </p:sp>
      <p:sp>
        <p:nvSpPr>
          <p:cNvPr id="423" name="Google Shape;423;p14"/>
          <p:cNvSpPr/>
          <p:nvPr/>
        </p:nvSpPr>
        <p:spPr>
          <a:xfrm>
            <a:off x="685800" y="1353312"/>
            <a:ext cx="10789920" cy="585216"/>
          </a:xfrm>
          <a:prstGeom prst="roundRect">
            <a:avLst>
              <a:gd fmla="val 15625"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4"/>
          <p:cNvSpPr/>
          <p:nvPr/>
        </p:nvSpPr>
        <p:spPr>
          <a:xfrm>
            <a:off x="978408" y="1508760"/>
            <a:ext cx="129844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4"/>
          <p:cNvSpPr txBox="1"/>
          <p:nvPr/>
        </p:nvSpPr>
        <p:spPr>
          <a:xfrm>
            <a:off x="978408" y="1508760"/>
            <a:ext cx="129844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IT ANSWERS</a:t>
            </a:r>
            <a:endParaRPr b="0" i="0" sz="950" u="none" cap="none" strike="noStrike">
              <a:solidFill>
                <a:schemeClr val="dk1"/>
              </a:solidFill>
              <a:latin typeface="Calibri"/>
              <a:ea typeface="Calibri"/>
              <a:cs typeface="Calibri"/>
              <a:sym typeface="Calibri"/>
            </a:endParaRPr>
          </a:p>
        </p:txBody>
      </p:sp>
      <p:sp>
        <p:nvSpPr>
          <p:cNvPr id="426" name="Google Shape;426;p14"/>
          <p:cNvSpPr txBox="1"/>
          <p:nvPr/>
        </p:nvSpPr>
        <p:spPr>
          <a:xfrm>
            <a:off x="2532888" y="1353312"/>
            <a:ext cx="8650224"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94B3C"/>
              </a:buClr>
              <a:buSzPts val="1700"/>
              <a:buFont typeface="Cambria"/>
              <a:buNone/>
            </a:pPr>
            <a:r>
              <a:rPr b="1" i="0" lang="en-US" sz="1700" u="none" cap="none" strike="noStrike">
                <a:solidFill>
                  <a:srgbClr val="094B3C"/>
                </a:solidFill>
                <a:latin typeface="Cambria"/>
                <a:ea typeface="Cambria"/>
                <a:cs typeface="Cambria"/>
                <a:sym typeface="Cambria"/>
              </a:rPr>
              <a:t>How do different people reach one book?</a:t>
            </a:r>
            <a:endParaRPr b="0" i="0" sz="1700" u="none" cap="none" strike="noStrike">
              <a:solidFill>
                <a:schemeClr val="dk1"/>
              </a:solidFill>
              <a:latin typeface="Calibri"/>
              <a:ea typeface="Calibri"/>
              <a:cs typeface="Calibri"/>
              <a:sym typeface="Calibri"/>
            </a:endParaRPr>
          </a:p>
        </p:txBody>
      </p:sp>
      <p:sp>
        <p:nvSpPr>
          <p:cNvPr id="427" name="Google Shape;427;p14"/>
          <p:cNvSpPr/>
          <p:nvPr/>
        </p:nvSpPr>
        <p:spPr>
          <a:xfrm>
            <a:off x="685800" y="2084832"/>
            <a:ext cx="1463040" cy="3328416"/>
          </a:xfrm>
          <a:prstGeom prst="roundRect">
            <a:avLst>
              <a:gd fmla="val 6250"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4"/>
          <p:cNvSpPr/>
          <p:nvPr/>
        </p:nvSpPr>
        <p:spPr>
          <a:xfrm>
            <a:off x="1225296" y="2304288"/>
            <a:ext cx="384048" cy="384048"/>
          </a:xfrm>
          <a:prstGeom prst="ellipse">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4"/>
          <p:cNvSpPr txBox="1"/>
          <p:nvPr/>
        </p:nvSpPr>
        <p:spPr>
          <a:xfrm>
            <a:off x="1225296" y="2304288"/>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400"/>
              <a:buFont typeface="Cambria"/>
              <a:buNone/>
            </a:pPr>
            <a:r>
              <a:rPr b="1" i="0" lang="en-US" sz="1400" u="none" cap="none" strike="noStrike">
                <a:solidFill>
                  <a:srgbClr val="094B3C"/>
                </a:solidFill>
                <a:latin typeface="Cambria"/>
                <a:ea typeface="Cambria"/>
                <a:cs typeface="Cambria"/>
                <a:sym typeface="Cambria"/>
              </a:rPr>
              <a:t>1</a:t>
            </a:r>
            <a:endParaRPr b="0" i="0" sz="1400" u="none" cap="none" strike="noStrike">
              <a:solidFill>
                <a:schemeClr val="dk1"/>
              </a:solidFill>
              <a:latin typeface="Calibri"/>
              <a:ea typeface="Calibri"/>
              <a:cs typeface="Calibri"/>
              <a:sym typeface="Calibri"/>
            </a:endParaRPr>
          </a:p>
        </p:txBody>
      </p:sp>
      <p:sp>
        <p:nvSpPr>
          <p:cNvPr id="430" name="Google Shape;430;p14"/>
          <p:cNvSpPr txBox="1"/>
          <p:nvPr/>
        </p:nvSpPr>
        <p:spPr>
          <a:xfrm>
            <a:off x="795528" y="2834640"/>
            <a:ext cx="1243584"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B3B39"/>
              </a:buClr>
              <a:buSzPts val="1450"/>
              <a:buFont typeface="Cambria"/>
              <a:buNone/>
            </a:pPr>
            <a:r>
              <a:rPr b="1" i="0" lang="en-US" sz="1450" u="none" cap="none" strike="noStrike">
                <a:solidFill>
                  <a:srgbClr val="0B3B39"/>
                </a:solidFill>
                <a:latin typeface="Cambria"/>
                <a:ea typeface="Cambria"/>
                <a:cs typeface="Cambria"/>
                <a:sym typeface="Cambria"/>
              </a:rPr>
              <a:t>A website</a:t>
            </a:r>
            <a:endParaRPr b="0" i="0" sz="1450" u="none" cap="none" strike="noStrike">
              <a:solidFill>
                <a:schemeClr val="dk1"/>
              </a:solidFill>
              <a:latin typeface="Calibri"/>
              <a:ea typeface="Calibri"/>
              <a:cs typeface="Calibri"/>
              <a:sym typeface="Calibri"/>
            </a:endParaRPr>
          </a:p>
        </p:txBody>
      </p:sp>
      <p:sp>
        <p:nvSpPr>
          <p:cNvPr id="431" name="Google Shape;431;p14"/>
          <p:cNvSpPr txBox="1"/>
          <p:nvPr/>
        </p:nvSpPr>
        <p:spPr>
          <a:xfrm>
            <a:off x="777240" y="3456432"/>
            <a:ext cx="1280160" cy="402336"/>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51706B"/>
              </a:buClr>
              <a:buSzPts val="850"/>
              <a:buFont typeface="Calibri"/>
              <a:buNone/>
            </a:pPr>
            <a:r>
              <a:rPr b="1" i="0" lang="en-US" sz="850" u="none" cap="none" strike="noStrike">
                <a:solidFill>
                  <a:srgbClr val="51706B"/>
                </a:solidFill>
                <a:latin typeface="Calibri"/>
                <a:ea typeface="Calibri"/>
                <a:cs typeface="Calibri"/>
                <a:sym typeface="Calibri"/>
              </a:rPr>
              <a:t>NURSES AND PARENTS</a:t>
            </a:r>
            <a:endParaRPr b="0" i="0" sz="850" u="none" cap="none" strike="noStrike">
              <a:solidFill>
                <a:schemeClr val="dk1"/>
              </a:solidFill>
              <a:latin typeface="Calibri"/>
              <a:ea typeface="Calibri"/>
              <a:cs typeface="Calibri"/>
              <a:sym typeface="Calibri"/>
            </a:endParaRPr>
          </a:p>
        </p:txBody>
      </p:sp>
      <p:sp>
        <p:nvSpPr>
          <p:cNvPr id="432" name="Google Shape;432;p14"/>
          <p:cNvSpPr txBox="1"/>
          <p:nvPr/>
        </p:nvSpPr>
        <p:spPr>
          <a:xfrm>
            <a:off x="795528" y="3968496"/>
            <a:ext cx="1243584" cy="118872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1706B"/>
              </a:buClr>
              <a:buSzPts val="1150"/>
              <a:buFont typeface="Calibri"/>
              <a:buNone/>
            </a:pPr>
            <a:r>
              <a:rPr b="0" i="0" lang="en-US" sz="1150" u="none" cap="none" strike="noStrike">
                <a:solidFill>
                  <a:srgbClr val="51706B"/>
                </a:solidFill>
                <a:latin typeface="Calibri"/>
                <a:ea typeface="Calibri"/>
                <a:cs typeface="Calibri"/>
                <a:sym typeface="Calibri"/>
              </a:rPr>
              <a:t>Open it and read it, like any web page.</a:t>
            </a:r>
            <a:endParaRPr b="0" i="0" sz="1150" u="none" cap="none" strike="noStrike">
              <a:solidFill>
                <a:schemeClr val="dk1"/>
              </a:solidFill>
              <a:latin typeface="Calibri"/>
              <a:ea typeface="Calibri"/>
              <a:cs typeface="Calibri"/>
              <a:sym typeface="Calibri"/>
            </a:endParaRPr>
          </a:p>
        </p:txBody>
      </p:sp>
      <p:sp>
        <p:nvSpPr>
          <p:cNvPr id="433" name="Google Shape;433;p14"/>
          <p:cNvSpPr/>
          <p:nvPr/>
        </p:nvSpPr>
        <p:spPr>
          <a:xfrm>
            <a:off x="2331720" y="2084832"/>
            <a:ext cx="1463040" cy="3328416"/>
          </a:xfrm>
          <a:prstGeom prst="roundRect">
            <a:avLst>
              <a:gd fmla="val 6250"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4"/>
          <p:cNvSpPr/>
          <p:nvPr/>
        </p:nvSpPr>
        <p:spPr>
          <a:xfrm>
            <a:off x="2871216" y="2304288"/>
            <a:ext cx="384048" cy="384048"/>
          </a:xfrm>
          <a:prstGeom prst="ellipse">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4"/>
          <p:cNvSpPr txBox="1"/>
          <p:nvPr/>
        </p:nvSpPr>
        <p:spPr>
          <a:xfrm>
            <a:off x="2871216" y="2304288"/>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400"/>
              <a:buFont typeface="Cambria"/>
              <a:buNone/>
            </a:pPr>
            <a:r>
              <a:rPr b="1" i="0" lang="en-US" sz="1400" u="none" cap="none" strike="noStrike">
                <a:solidFill>
                  <a:srgbClr val="094B3C"/>
                </a:solidFill>
                <a:latin typeface="Cambria"/>
                <a:ea typeface="Cambria"/>
                <a:cs typeface="Cambria"/>
                <a:sym typeface="Cambria"/>
              </a:rPr>
              <a:t>2</a:t>
            </a:r>
            <a:endParaRPr b="0" i="0" sz="1400" u="none" cap="none" strike="noStrike">
              <a:solidFill>
                <a:schemeClr val="dk1"/>
              </a:solidFill>
              <a:latin typeface="Calibri"/>
              <a:ea typeface="Calibri"/>
              <a:cs typeface="Calibri"/>
              <a:sym typeface="Calibri"/>
            </a:endParaRPr>
          </a:p>
        </p:txBody>
      </p:sp>
      <p:sp>
        <p:nvSpPr>
          <p:cNvPr id="436" name="Google Shape;436;p14"/>
          <p:cNvSpPr txBox="1"/>
          <p:nvPr/>
        </p:nvSpPr>
        <p:spPr>
          <a:xfrm>
            <a:off x="2441448" y="2834640"/>
            <a:ext cx="1243584"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B3B39"/>
              </a:buClr>
              <a:buSzPts val="1450"/>
              <a:buFont typeface="Cambria"/>
              <a:buNone/>
            </a:pPr>
            <a:r>
              <a:rPr b="1" i="0" lang="en-US" sz="1450" u="none" cap="none" strike="noStrike">
                <a:solidFill>
                  <a:srgbClr val="0B3B39"/>
                </a:solidFill>
                <a:latin typeface="Cambria"/>
                <a:ea typeface="Cambria"/>
                <a:cs typeface="Cambria"/>
                <a:sym typeface="Cambria"/>
              </a:rPr>
              <a:t>A list file</a:t>
            </a:r>
            <a:endParaRPr b="0" i="0" sz="1450" u="none" cap="none" strike="noStrike">
              <a:solidFill>
                <a:schemeClr val="dk1"/>
              </a:solidFill>
              <a:latin typeface="Calibri"/>
              <a:ea typeface="Calibri"/>
              <a:cs typeface="Calibri"/>
              <a:sym typeface="Calibri"/>
            </a:endParaRPr>
          </a:p>
        </p:txBody>
      </p:sp>
      <p:sp>
        <p:nvSpPr>
          <p:cNvPr id="437" name="Google Shape;437;p14"/>
          <p:cNvSpPr txBox="1"/>
          <p:nvPr/>
        </p:nvSpPr>
        <p:spPr>
          <a:xfrm>
            <a:off x="2423160" y="3456432"/>
            <a:ext cx="1280160" cy="402336"/>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51706B"/>
              </a:buClr>
              <a:buSzPts val="850"/>
              <a:buFont typeface="Calibri"/>
              <a:buNone/>
            </a:pPr>
            <a:r>
              <a:rPr b="1" i="0" lang="en-US" sz="850" u="none" cap="none" strike="noStrike">
                <a:solidFill>
                  <a:srgbClr val="51706B"/>
                </a:solidFill>
                <a:latin typeface="Calibri"/>
                <a:ea typeface="Calibri"/>
                <a:cs typeface="Calibri"/>
                <a:sym typeface="Calibri"/>
              </a:rPr>
              <a:t>AI, TO FIND THINGS</a:t>
            </a:r>
            <a:endParaRPr b="0" i="0" sz="850" u="none" cap="none" strike="noStrike">
              <a:solidFill>
                <a:schemeClr val="dk1"/>
              </a:solidFill>
              <a:latin typeface="Calibri"/>
              <a:ea typeface="Calibri"/>
              <a:cs typeface="Calibri"/>
              <a:sym typeface="Calibri"/>
            </a:endParaRPr>
          </a:p>
        </p:txBody>
      </p:sp>
      <p:sp>
        <p:nvSpPr>
          <p:cNvPr id="438" name="Google Shape;438;p14"/>
          <p:cNvSpPr txBox="1"/>
          <p:nvPr/>
        </p:nvSpPr>
        <p:spPr>
          <a:xfrm>
            <a:off x="2441448" y="3968496"/>
            <a:ext cx="1243584" cy="118872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1706B"/>
              </a:buClr>
              <a:buSzPts val="1150"/>
              <a:buFont typeface="Calibri"/>
              <a:buNone/>
            </a:pPr>
            <a:r>
              <a:rPr b="0" i="0" lang="en-US" sz="1150" u="none" cap="none" strike="noStrike">
                <a:solidFill>
                  <a:srgbClr val="51706B"/>
                </a:solidFill>
                <a:latin typeface="Calibri"/>
                <a:ea typeface="Calibri"/>
                <a:cs typeface="Calibri"/>
                <a:sym typeface="Calibri"/>
              </a:rPr>
              <a:t>Says what is in the book and where.</a:t>
            </a:r>
            <a:endParaRPr b="0" i="0" sz="1150" u="none" cap="none" strike="noStrike">
              <a:solidFill>
                <a:schemeClr val="dk1"/>
              </a:solidFill>
              <a:latin typeface="Calibri"/>
              <a:ea typeface="Calibri"/>
              <a:cs typeface="Calibri"/>
              <a:sym typeface="Calibri"/>
            </a:endParaRPr>
          </a:p>
        </p:txBody>
      </p:sp>
      <p:sp>
        <p:nvSpPr>
          <p:cNvPr id="439" name="Google Shape;439;p14"/>
          <p:cNvSpPr/>
          <p:nvPr/>
        </p:nvSpPr>
        <p:spPr>
          <a:xfrm>
            <a:off x="3977640" y="2084832"/>
            <a:ext cx="1463040" cy="3328416"/>
          </a:xfrm>
          <a:prstGeom prst="roundRect">
            <a:avLst>
              <a:gd fmla="val 625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4"/>
          <p:cNvSpPr/>
          <p:nvPr/>
        </p:nvSpPr>
        <p:spPr>
          <a:xfrm>
            <a:off x="4517136" y="2304288"/>
            <a:ext cx="384048" cy="384048"/>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4"/>
          <p:cNvSpPr txBox="1"/>
          <p:nvPr/>
        </p:nvSpPr>
        <p:spPr>
          <a:xfrm>
            <a:off x="4517136" y="2304288"/>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3</a:t>
            </a:r>
            <a:endParaRPr b="0" i="0" sz="1400" u="none" cap="none" strike="noStrike">
              <a:solidFill>
                <a:schemeClr val="dk1"/>
              </a:solidFill>
              <a:latin typeface="Calibri"/>
              <a:ea typeface="Calibri"/>
              <a:cs typeface="Calibri"/>
              <a:sym typeface="Calibri"/>
            </a:endParaRPr>
          </a:p>
        </p:txBody>
      </p:sp>
      <p:sp>
        <p:nvSpPr>
          <p:cNvPr id="442" name="Google Shape;442;p14"/>
          <p:cNvSpPr txBox="1"/>
          <p:nvPr/>
        </p:nvSpPr>
        <p:spPr>
          <a:xfrm>
            <a:off x="4087368" y="2834640"/>
            <a:ext cx="1243584"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B3B39"/>
              </a:buClr>
              <a:buSzPts val="1450"/>
              <a:buFont typeface="Cambria"/>
              <a:buNone/>
            </a:pPr>
            <a:r>
              <a:rPr b="1" i="0" lang="en-US" sz="1450" u="none" cap="none" strike="noStrike">
                <a:solidFill>
                  <a:srgbClr val="0B3B39"/>
                </a:solidFill>
                <a:latin typeface="Cambria"/>
                <a:ea typeface="Cambria"/>
                <a:cs typeface="Cambria"/>
                <a:sym typeface="Cambria"/>
              </a:rPr>
              <a:t>The helper door</a:t>
            </a:r>
            <a:endParaRPr b="0" i="0" sz="1450" u="none" cap="none" strike="noStrike">
              <a:solidFill>
                <a:schemeClr val="dk1"/>
              </a:solidFill>
              <a:latin typeface="Calibri"/>
              <a:ea typeface="Calibri"/>
              <a:cs typeface="Calibri"/>
              <a:sym typeface="Calibri"/>
            </a:endParaRPr>
          </a:p>
        </p:txBody>
      </p:sp>
      <p:sp>
        <p:nvSpPr>
          <p:cNvPr id="443" name="Google Shape;443;p14"/>
          <p:cNvSpPr txBox="1"/>
          <p:nvPr/>
        </p:nvSpPr>
        <p:spPr>
          <a:xfrm>
            <a:off x="4069080" y="3456432"/>
            <a:ext cx="1280160" cy="402336"/>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F6E56"/>
              </a:buClr>
              <a:buSzPts val="850"/>
              <a:buFont typeface="Calibri"/>
              <a:buNone/>
            </a:pPr>
            <a:r>
              <a:rPr b="1" i="0" lang="en-US" sz="850" u="none" cap="none" strike="noStrike">
                <a:solidFill>
                  <a:srgbClr val="0F6E56"/>
                </a:solidFill>
                <a:latin typeface="Calibri"/>
                <a:ea typeface="Calibri"/>
                <a:cs typeface="Calibri"/>
                <a:sym typeface="Calibri"/>
              </a:rPr>
              <a:t>AI HELPERS AT WORK</a:t>
            </a:r>
            <a:endParaRPr b="0" i="0" sz="850" u="none" cap="none" strike="noStrike">
              <a:solidFill>
                <a:schemeClr val="dk1"/>
              </a:solidFill>
              <a:latin typeface="Calibri"/>
              <a:ea typeface="Calibri"/>
              <a:cs typeface="Calibri"/>
              <a:sym typeface="Calibri"/>
            </a:endParaRPr>
          </a:p>
        </p:txBody>
      </p:sp>
      <p:sp>
        <p:nvSpPr>
          <p:cNvPr id="444" name="Google Shape;444;p14"/>
          <p:cNvSpPr txBox="1"/>
          <p:nvPr/>
        </p:nvSpPr>
        <p:spPr>
          <a:xfrm>
            <a:off x="4087368" y="3968496"/>
            <a:ext cx="1243584" cy="118872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1706B"/>
              </a:buClr>
              <a:buSzPts val="1150"/>
              <a:buFont typeface="Calibri"/>
              <a:buNone/>
            </a:pPr>
            <a:r>
              <a:rPr b="0" i="0" lang="en-US" sz="1150" u="none" cap="none" strike="noStrike">
                <a:solidFill>
                  <a:srgbClr val="51706B"/>
                </a:solidFill>
                <a:latin typeface="Calibri"/>
                <a:ea typeface="Calibri"/>
                <a:cs typeface="Calibri"/>
                <a:sym typeface="Calibri"/>
              </a:rPr>
              <a:t>Search it, read it, show the page.</a:t>
            </a:r>
            <a:endParaRPr b="0" i="0" sz="1150" u="none" cap="none" strike="noStrike">
              <a:solidFill>
                <a:schemeClr val="dk1"/>
              </a:solidFill>
              <a:latin typeface="Calibri"/>
              <a:ea typeface="Calibri"/>
              <a:cs typeface="Calibri"/>
              <a:sym typeface="Calibri"/>
            </a:endParaRPr>
          </a:p>
        </p:txBody>
      </p:sp>
      <p:sp>
        <p:nvSpPr>
          <p:cNvPr id="445" name="Google Shape;445;p14"/>
          <p:cNvSpPr/>
          <p:nvPr/>
        </p:nvSpPr>
        <p:spPr>
          <a:xfrm>
            <a:off x="5623560" y="2084832"/>
            <a:ext cx="1463040" cy="3328416"/>
          </a:xfrm>
          <a:prstGeom prst="roundRect">
            <a:avLst>
              <a:gd fmla="val 6250"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4"/>
          <p:cNvSpPr/>
          <p:nvPr/>
        </p:nvSpPr>
        <p:spPr>
          <a:xfrm>
            <a:off x="6163056" y="2304288"/>
            <a:ext cx="384048" cy="384048"/>
          </a:xfrm>
          <a:prstGeom prst="ellipse">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4"/>
          <p:cNvSpPr txBox="1"/>
          <p:nvPr/>
        </p:nvSpPr>
        <p:spPr>
          <a:xfrm>
            <a:off x="6163056" y="2304288"/>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400"/>
              <a:buFont typeface="Cambria"/>
              <a:buNone/>
            </a:pPr>
            <a:r>
              <a:rPr b="1" i="0" lang="en-US" sz="1400" u="none" cap="none" strike="noStrike">
                <a:solidFill>
                  <a:srgbClr val="094B3C"/>
                </a:solidFill>
                <a:latin typeface="Cambria"/>
                <a:ea typeface="Cambria"/>
                <a:cs typeface="Cambria"/>
                <a:sym typeface="Cambria"/>
              </a:rPr>
              <a:t>4</a:t>
            </a:r>
            <a:endParaRPr b="0" i="0" sz="1400" u="none" cap="none" strike="noStrike">
              <a:solidFill>
                <a:schemeClr val="dk1"/>
              </a:solidFill>
              <a:latin typeface="Calibri"/>
              <a:ea typeface="Calibri"/>
              <a:cs typeface="Calibri"/>
              <a:sym typeface="Calibri"/>
            </a:endParaRPr>
          </a:p>
        </p:txBody>
      </p:sp>
      <p:sp>
        <p:nvSpPr>
          <p:cNvPr id="448" name="Google Shape;448;p14"/>
          <p:cNvSpPr txBox="1"/>
          <p:nvPr/>
        </p:nvSpPr>
        <p:spPr>
          <a:xfrm>
            <a:off x="5733288" y="2834640"/>
            <a:ext cx="1243584"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B3B39"/>
              </a:buClr>
              <a:buSzPts val="1450"/>
              <a:buFont typeface="Cambria"/>
              <a:buNone/>
            </a:pPr>
            <a:r>
              <a:rPr b="1" i="0" lang="en-US" sz="1450" u="none" cap="none" strike="noStrike">
                <a:solidFill>
                  <a:srgbClr val="0B3B39"/>
                </a:solidFill>
                <a:latin typeface="Cambria"/>
                <a:ea typeface="Cambria"/>
                <a:cs typeface="Cambria"/>
                <a:sym typeface="Cambria"/>
              </a:rPr>
              <a:t>A sealed box</a:t>
            </a:r>
            <a:endParaRPr b="0" i="0" sz="1450" u="none" cap="none" strike="noStrike">
              <a:solidFill>
                <a:schemeClr val="dk1"/>
              </a:solidFill>
              <a:latin typeface="Calibri"/>
              <a:ea typeface="Calibri"/>
              <a:cs typeface="Calibri"/>
              <a:sym typeface="Calibri"/>
            </a:endParaRPr>
          </a:p>
        </p:txBody>
      </p:sp>
      <p:sp>
        <p:nvSpPr>
          <p:cNvPr id="449" name="Google Shape;449;p14"/>
          <p:cNvSpPr txBox="1"/>
          <p:nvPr/>
        </p:nvSpPr>
        <p:spPr>
          <a:xfrm>
            <a:off x="5715000" y="3456432"/>
            <a:ext cx="1280160" cy="402336"/>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51706B"/>
              </a:buClr>
              <a:buSzPts val="850"/>
              <a:buFont typeface="Calibri"/>
              <a:buNone/>
            </a:pPr>
            <a:r>
              <a:rPr b="1" i="0" lang="en-US" sz="850" u="none" cap="none" strike="noStrike">
                <a:solidFill>
                  <a:srgbClr val="51706B"/>
                </a:solidFill>
                <a:latin typeface="Calibri"/>
                <a:ea typeface="Calibri"/>
                <a:cs typeface="Calibri"/>
                <a:sym typeface="Calibri"/>
              </a:rPr>
              <a:t>ANOTHER HOSPITAL</a:t>
            </a:r>
            <a:endParaRPr b="0" i="0" sz="850" u="none" cap="none" strike="noStrike">
              <a:solidFill>
                <a:schemeClr val="dk1"/>
              </a:solidFill>
              <a:latin typeface="Calibri"/>
              <a:ea typeface="Calibri"/>
              <a:cs typeface="Calibri"/>
              <a:sym typeface="Calibri"/>
            </a:endParaRPr>
          </a:p>
        </p:txBody>
      </p:sp>
      <p:sp>
        <p:nvSpPr>
          <p:cNvPr id="450" name="Google Shape;450;p14"/>
          <p:cNvSpPr txBox="1"/>
          <p:nvPr/>
        </p:nvSpPr>
        <p:spPr>
          <a:xfrm>
            <a:off x="5733288" y="3968496"/>
            <a:ext cx="1243584" cy="118872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1706B"/>
              </a:buClr>
              <a:buSzPts val="1150"/>
              <a:buFont typeface="Calibri"/>
              <a:buNone/>
            </a:pPr>
            <a:r>
              <a:rPr b="0" i="0" lang="en-US" sz="1150" u="none" cap="none" strike="noStrike">
                <a:solidFill>
                  <a:srgbClr val="51706B"/>
                </a:solidFill>
                <a:latin typeface="Calibri"/>
                <a:ea typeface="Calibri"/>
                <a:cs typeface="Calibri"/>
                <a:sym typeface="Calibri"/>
              </a:rPr>
              <a:t>Borrow a safe copy of the book.</a:t>
            </a:r>
            <a:endParaRPr b="0" i="0" sz="1150" u="none" cap="none" strike="noStrike">
              <a:solidFill>
                <a:schemeClr val="dk1"/>
              </a:solidFill>
              <a:latin typeface="Calibri"/>
              <a:ea typeface="Calibri"/>
              <a:cs typeface="Calibri"/>
              <a:sym typeface="Calibri"/>
            </a:endParaRPr>
          </a:p>
        </p:txBody>
      </p:sp>
      <p:sp>
        <p:nvSpPr>
          <p:cNvPr id="451" name="Google Shape;451;p14"/>
          <p:cNvSpPr/>
          <p:nvPr/>
        </p:nvSpPr>
        <p:spPr>
          <a:xfrm>
            <a:off x="7415784" y="2084832"/>
            <a:ext cx="4059936" cy="3328416"/>
          </a:xfrm>
          <a:prstGeom prst="roundRect">
            <a:avLst>
              <a:gd fmla="val 2747"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4"/>
          <p:cNvSpPr txBox="1"/>
          <p:nvPr/>
        </p:nvSpPr>
        <p:spPr>
          <a:xfrm>
            <a:off x="7690104" y="2286000"/>
            <a:ext cx="3511296" cy="3291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700"/>
              <a:buFont typeface="Cambria"/>
              <a:buNone/>
            </a:pPr>
            <a:r>
              <a:rPr b="1" i="0" lang="en-US" sz="1700" u="none" cap="none" strike="noStrike">
                <a:solidFill>
                  <a:srgbClr val="0B3B39"/>
                </a:solidFill>
                <a:latin typeface="Cambria"/>
                <a:ea typeface="Cambria"/>
                <a:cs typeface="Cambria"/>
                <a:sym typeface="Cambria"/>
              </a:rPr>
              <a:t>Why this matters so much</a:t>
            </a:r>
            <a:endParaRPr b="0" i="0" sz="1700" u="none" cap="none" strike="noStrike">
              <a:solidFill>
                <a:schemeClr val="dk1"/>
              </a:solidFill>
              <a:latin typeface="Calibri"/>
              <a:ea typeface="Calibri"/>
              <a:cs typeface="Calibri"/>
              <a:sym typeface="Calibri"/>
            </a:endParaRPr>
          </a:p>
        </p:txBody>
      </p:sp>
      <p:sp>
        <p:nvSpPr>
          <p:cNvPr id="453" name="Google Shape;453;p14"/>
          <p:cNvSpPr txBox="1"/>
          <p:nvPr/>
        </p:nvSpPr>
        <p:spPr>
          <a:xfrm>
            <a:off x="7690104" y="2670048"/>
            <a:ext cx="3511296" cy="1828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All four doors open into the same folder. Fix one page and every door is fixed at the same second.</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rgbClr val="16302D"/>
              </a:buClr>
              <a:buSzPts val="1300"/>
              <a:buFont typeface="Calibri"/>
              <a:buNone/>
            </a:pPr>
            <a:r>
              <a:rPr b="0" i="0" lang="en-US" sz="1300" u="none" cap="none" strike="noStrike">
                <a:solidFill>
                  <a:srgbClr val="16302D"/>
                </a:solidFill>
                <a:latin typeface="Calibri"/>
                <a:ea typeface="Calibri"/>
                <a:cs typeface="Calibri"/>
                <a:sym typeface="Calibri"/>
              </a:rPr>
              <a:t>Without this you get four copies and copies drift apart. That is how we got three answers on slide two.</a:t>
            </a:r>
            <a:endParaRPr b="0" i="0" sz="1300" u="none" cap="none" strike="noStrike">
              <a:solidFill>
                <a:schemeClr val="dk1"/>
              </a:solidFill>
              <a:latin typeface="Calibri"/>
              <a:ea typeface="Calibri"/>
              <a:cs typeface="Calibri"/>
              <a:sym typeface="Calibri"/>
            </a:endParaRPr>
          </a:p>
        </p:txBody>
      </p:sp>
      <p:sp>
        <p:nvSpPr>
          <p:cNvPr id="454" name="Google Shape;454;p14"/>
          <p:cNvSpPr/>
          <p:nvPr/>
        </p:nvSpPr>
        <p:spPr>
          <a:xfrm>
            <a:off x="7690104" y="4572000"/>
            <a:ext cx="3511296" cy="841248"/>
          </a:xfrm>
          <a:prstGeom prst="roundRect">
            <a:avLst>
              <a:gd fmla="val 10870"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4"/>
          <p:cNvSpPr txBox="1"/>
          <p:nvPr/>
        </p:nvSpPr>
        <p:spPr>
          <a:xfrm>
            <a:off x="7909560" y="4572000"/>
            <a:ext cx="3072384" cy="841248"/>
          </a:xfrm>
          <a:prstGeom prst="rect">
            <a:avLst/>
          </a:prstGeom>
          <a:noFill/>
          <a:ln>
            <a:noFill/>
          </a:ln>
        </p:spPr>
        <p:txBody>
          <a:bodyPr anchorCtr="0" anchor="ctr" bIns="0" lIns="0" spcFirstLastPara="1" rIns="0" wrap="square" tIns="0">
            <a:noAutofit/>
          </a:bodyPr>
          <a:lstStyle/>
          <a:p>
            <a:pPr indent="0" lvl="0" marL="0" marR="0" rtl="0" algn="l">
              <a:lnSpc>
                <a:spcPct val="126000"/>
              </a:lnSpc>
              <a:spcBef>
                <a:spcPts val="0"/>
              </a:spcBef>
              <a:spcAft>
                <a:spcPts val="0"/>
              </a:spcAft>
              <a:buClr>
                <a:srgbClr val="16302D"/>
              </a:buClr>
              <a:buSzPts val="1200"/>
              <a:buFont typeface="Calibri"/>
              <a:buNone/>
            </a:pPr>
            <a:r>
              <a:rPr b="0" i="0" lang="en-US" sz="1200" u="none" cap="none" strike="noStrike">
                <a:solidFill>
                  <a:srgbClr val="16302D"/>
                </a:solidFill>
                <a:latin typeface="Calibri"/>
                <a:ea typeface="Calibri"/>
                <a:cs typeface="Calibri"/>
                <a:sym typeface="Calibri"/>
              </a:rPr>
              <a:t>IN REAL LIFE: their names are the website, llms.txt, MCP, and an OKF bundle. Four doors — never four books.</a:t>
            </a:r>
            <a:endParaRPr b="0" i="0" sz="1200" u="none" cap="none" strike="noStrike">
              <a:solidFill>
                <a:schemeClr val="dk1"/>
              </a:solidFill>
              <a:latin typeface="Calibri"/>
              <a:ea typeface="Calibri"/>
              <a:cs typeface="Calibri"/>
              <a:sym typeface="Calibri"/>
            </a:endParaRPr>
          </a:p>
        </p:txBody>
      </p:sp>
      <p:sp>
        <p:nvSpPr>
          <p:cNvPr id="456" name="Google Shape;456;p14"/>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4"/>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4"/>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459" name="Google Shape;459;p14"/>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Not four books. Four doors into one book.</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15"/>
          <p:cNvSpPr/>
          <p:nvPr/>
        </p:nvSpPr>
        <p:spPr>
          <a:xfrm>
            <a:off x="685800" y="438912"/>
            <a:ext cx="640080" cy="64008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6" name="Google Shape;466;p15"/>
          <p:cNvPicPr preferRelativeResize="0"/>
          <p:nvPr/>
        </p:nvPicPr>
        <p:blipFill rotWithShape="1">
          <a:blip r:embed="rId3">
            <a:alphaModFix/>
          </a:blip>
          <a:srcRect b="0" l="0" r="0" t="0"/>
          <a:stretch/>
        </p:blipFill>
        <p:spPr>
          <a:xfrm>
            <a:off x="865022" y="618134"/>
            <a:ext cx="281635" cy="281635"/>
          </a:xfrm>
          <a:prstGeom prst="rect">
            <a:avLst/>
          </a:prstGeom>
          <a:noFill/>
          <a:ln>
            <a:noFill/>
          </a:ln>
        </p:spPr>
      </p:pic>
      <p:sp>
        <p:nvSpPr>
          <p:cNvPr id="467" name="Google Shape;467;p15"/>
          <p:cNvSpPr txBox="1"/>
          <p:nvPr/>
        </p:nvSpPr>
        <p:spPr>
          <a:xfrm>
            <a:off x="1581912" y="384048"/>
            <a:ext cx="9893808" cy="25603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34A2B"/>
              </a:buClr>
              <a:buSzPts val="1000"/>
              <a:buFont typeface="Calibri"/>
              <a:buNone/>
            </a:pPr>
            <a:r>
              <a:rPr b="1" i="0" lang="en-US" sz="1000" u="none" cap="none" strike="noStrike">
                <a:solidFill>
                  <a:srgbClr val="B34A2B"/>
                </a:solidFill>
                <a:latin typeface="Calibri"/>
                <a:ea typeface="Calibri"/>
                <a:cs typeface="Calibri"/>
                <a:sym typeface="Calibri"/>
              </a:rPr>
              <a:t>MORE ABOUT CONCEPT 8  ·  MANY DOORS</a:t>
            </a:r>
            <a:endParaRPr b="0" i="0" sz="1000" u="none" cap="none" strike="noStrike">
              <a:solidFill>
                <a:schemeClr val="dk1"/>
              </a:solidFill>
              <a:latin typeface="Calibri"/>
              <a:ea typeface="Calibri"/>
              <a:cs typeface="Calibri"/>
              <a:sym typeface="Calibri"/>
            </a:endParaRPr>
          </a:p>
        </p:txBody>
      </p:sp>
      <p:sp>
        <p:nvSpPr>
          <p:cNvPr id="468" name="Google Shape;468;p15"/>
          <p:cNvSpPr txBox="1"/>
          <p:nvPr/>
        </p:nvSpPr>
        <p:spPr>
          <a:xfrm>
            <a:off x="1581912" y="658368"/>
            <a:ext cx="9893808" cy="51206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2800"/>
              <a:buFont typeface="Cambria"/>
              <a:buNone/>
            </a:pPr>
            <a:r>
              <a:rPr b="1" i="0" lang="en-US" sz="2800" u="none" cap="none" strike="noStrike">
                <a:solidFill>
                  <a:srgbClr val="0B3B39"/>
                </a:solidFill>
                <a:latin typeface="Cambria"/>
                <a:ea typeface="Cambria"/>
                <a:cs typeface="Cambria"/>
                <a:sym typeface="Cambria"/>
              </a:rPr>
              <a:t>Some doors give a stronger promise than others</a:t>
            </a:r>
            <a:endParaRPr b="0" i="0" sz="2800" u="none" cap="none" strike="noStrike">
              <a:solidFill>
                <a:schemeClr val="dk1"/>
              </a:solidFill>
              <a:latin typeface="Calibri"/>
              <a:ea typeface="Calibri"/>
              <a:cs typeface="Calibri"/>
              <a:sym typeface="Calibri"/>
            </a:endParaRPr>
          </a:p>
        </p:txBody>
      </p:sp>
      <p:sp>
        <p:nvSpPr>
          <p:cNvPr id="469" name="Google Shape;469;p15"/>
          <p:cNvSpPr/>
          <p:nvPr/>
        </p:nvSpPr>
        <p:spPr>
          <a:xfrm>
            <a:off x="685800" y="1371600"/>
            <a:ext cx="10789920" cy="1133856"/>
          </a:xfrm>
          <a:prstGeom prst="roundRect">
            <a:avLst>
              <a:gd fmla="val 8065" name="adj"/>
            </a:avLst>
          </a:prstGeom>
          <a:solidFill>
            <a:srgbClr val="FFFFFF"/>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5"/>
          <p:cNvSpPr/>
          <p:nvPr/>
        </p:nvSpPr>
        <p:spPr>
          <a:xfrm>
            <a:off x="996696" y="1691640"/>
            <a:ext cx="493776" cy="493776"/>
          </a:xfrm>
          <a:prstGeom prst="ellipse">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5"/>
          <p:cNvSpPr txBox="1"/>
          <p:nvPr/>
        </p:nvSpPr>
        <p:spPr>
          <a:xfrm>
            <a:off x="996696" y="1691640"/>
            <a:ext cx="493776" cy="49377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700"/>
              <a:buFont typeface="Cambria"/>
              <a:buNone/>
            </a:pPr>
            <a:r>
              <a:rPr b="1" i="0" lang="en-US" sz="1700" u="none" cap="none" strike="noStrike">
                <a:solidFill>
                  <a:srgbClr val="094B3C"/>
                </a:solidFill>
                <a:latin typeface="Cambria"/>
                <a:ea typeface="Cambria"/>
                <a:cs typeface="Cambria"/>
                <a:sym typeface="Cambria"/>
              </a:rPr>
              <a:t>1</a:t>
            </a:r>
            <a:endParaRPr b="0" i="0" sz="1700" u="none" cap="none" strike="noStrike">
              <a:solidFill>
                <a:schemeClr val="dk1"/>
              </a:solidFill>
              <a:latin typeface="Calibri"/>
              <a:ea typeface="Calibri"/>
              <a:cs typeface="Calibri"/>
              <a:sym typeface="Calibri"/>
            </a:endParaRPr>
          </a:p>
        </p:txBody>
      </p:sp>
      <p:sp>
        <p:nvSpPr>
          <p:cNvPr id="472" name="Google Shape;472;p15"/>
          <p:cNvSpPr txBox="1"/>
          <p:nvPr/>
        </p:nvSpPr>
        <p:spPr>
          <a:xfrm>
            <a:off x="1691640" y="1591056"/>
            <a:ext cx="4023360" cy="34747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700"/>
              <a:buFont typeface="Cambria"/>
              <a:buNone/>
            </a:pPr>
            <a:r>
              <a:rPr b="1" i="0" lang="en-US" sz="1700" u="none" cap="none" strike="noStrike">
                <a:solidFill>
                  <a:srgbClr val="0B3B39"/>
                </a:solidFill>
                <a:latin typeface="Cambria"/>
                <a:ea typeface="Cambria"/>
                <a:cs typeface="Cambria"/>
                <a:sym typeface="Cambria"/>
              </a:rPr>
              <a:t>A photo you took last month</a:t>
            </a:r>
            <a:endParaRPr b="0" i="0" sz="1700" u="none" cap="none" strike="noStrike">
              <a:solidFill>
                <a:schemeClr val="dk1"/>
              </a:solidFill>
              <a:latin typeface="Calibri"/>
              <a:ea typeface="Calibri"/>
              <a:cs typeface="Calibri"/>
              <a:sym typeface="Calibri"/>
            </a:endParaRPr>
          </a:p>
        </p:txBody>
      </p:sp>
      <p:sp>
        <p:nvSpPr>
          <p:cNvPr id="473" name="Google Shape;473;p15"/>
          <p:cNvSpPr txBox="1"/>
          <p:nvPr/>
        </p:nvSpPr>
        <p:spPr>
          <a:xfrm>
            <a:off x="1691640" y="1975104"/>
            <a:ext cx="4023360" cy="2743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6E56"/>
              </a:buClr>
              <a:buSzPts val="900"/>
              <a:buFont typeface="Calibri"/>
              <a:buNone/>
            </a:pPr>
            <a:r>
              <a:rPr b="1" i="0" lang="en-US" sz="900" u="none" cap="none" strike="noStrike">
                <a:solidFill>
                  <a:srgbClr val="0F6E56"/>
                </a:solidFill>
                <a:latin typeface="Calibri"/>
                <a:ea typeface="Calibri"/>
                <a:cs typeface="Calibri"/>
                <a:sym typeface="Calibri"/>
              </a:rPr>
              <a:t>THE WEBSITE</a:t>
            </a:r>
            <a:endParaRPr b="0" i="0" sz="900" u="none" cap="none" strike="noStrike">
              <a:solidFill>
                <a:schemeClr val="dk1"/>
              </a:solidFill>
              <a:latin typeface="Calibri"/>
              <a:ea typeface="Calibri"/>
              <a:cs typeface="Calibri"/>
              <a:sym typeface="Calibri"/>
            </a:endParaRPr>
          </a:p>
        </p:txBody>
      </p:sp>
      <p:sp>
        <p:nvSpPr>
          <p:cNvPr id="474" name="Google Shape;474;p15"/>
          <p:cNvSpPr txBox="1"/>
          <p:nvPr/>
        </p:nvSpPr>
        <p:spPr>
          <a:xfrm>
            <a:off x="5861304" y="1371600"/>
            <a:ext cx="5248656" cy="113385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6302D"/>
              </a:buClr>
              <a:buSzPts val="1400"/>
              <a:buFont typeface="Calibri"/>
              <a:buNone/>
            </a:pPr>
            <a:r>
              <a:rPr b="0" i="0" lang="en-US" sz="1400" u="none" cap="none" strike="noStrike">
                <a:solidFill>
                  <a:srgbClr val="16302D"/>
                </a:solidFill>
                <a:latin typeface="Calibri"/>
                <a:ea typeface="Calibri"/>
                <a:cs typeface="Calibri"/>
                <a:sym typeface="Calibri"/>
              </a:rPr>
              <a:t>It was right when you took it. Nobody promises it is still right today.</a:t>
            </a:r>
            <a:endParaRPr b="0" i="0" sz="1400" u="none" cap="none" strike="noStrike">
              <a:solidFill>
                <a:schemeClr val="dk1"/>
              </a:solidFill>
              <a:latin typeface="Calibri"/>
              <a:ea typeface="Calibri"/>
              <a:cs typeface="Calibri"/>
              <a:sym typeface="Calibri"/>
            </a:endParaRPr>
          </a:p>
        </p:txBody>
      </p:sp>
      <p:sp>
        <p:nvSpPr>
          <p:cNvPr id="475" name="Google Shape;475;p15"/>
          <p:cNvSpPr/>
          <p:nvPr/>
        </p:nvSpPr>
        <p:spPr>
          <a:xfrm>
            <a:off x="1143000" y="2743200"/>
            <a:ext cx="10332720" cy="1133856"/>
          </a:xfrm>
          <a:prstGeom prst="roundRect">
            <a:avLst>
              <a:gd fmla="val 8065"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5"/>
          <p:cNvSpPr/>
          <p:nvPr/>
        </p:nvSpPr>
        <p:spPr>
          <a:xfrm>
            <a:off x="1453896" y="3063240"/>
            <a:ext cx="493776" cy="493776"/>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5"/>
          <p:cNvSpPr txBox="1"/>
          <p:nvPr/>
        </p:nvSpPr>
        <p:spPr>
          <a:xfrm>
            <a:off x="1453896" y="3063240"/>
            <a:ext cx="493776" cy="49377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2</a:t>
            </a:r>
            <a:endParaRPr b="0" i="0" sz="1700" u="none" cap="none" strike="noStrike">
              <a:solidFill>
                <a:schemeClr val="dk1"/>
              </a:solidFill>
              <a:latin typeface="Calibri"/>
              <a:ea typeface="Calibri"/>
              <a:cs typeface="Calibri"/>
              <a:sym typeface="Calibri"/>
            </a:endParaRPr>
          </a:p>
        </p:txBody>
      </p:sp>
      <p:sp>
        <p:nvSpPr>
          <p:cNvPr id="478" name="Google Shape;478;p15"/>
          <p:cNvSpPr txBox="1"/>
          <p:nvPr/>
        </p:nvSpPr>
        <p:spPr>
          <a:xfrm>
            <a:off x="2148840" y="2962656"/>
            <a:ext cx="4023360" cy="34747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700"/>
              <a:buFont typeface="Cambria"/>
              <a:buNone/>
            </a:pPr>
            <a:r>
              <a:rPr b="1" i="0" lang="en-US" sz="1700" u="none" cap="none" strike="noStrike">
                <a:solidFill>
                  <a:srgbClr val="0B3B39"/>
                </a:solidFill>
                <a:latin typeface="Cambria"/>
                <a:ea typeface="Cambria"/>
                <a:cs typeface="Cambria"/>
                <a:sym typeface="Cambria"/>
              </a:rPr>
              <a:t>Asking at the desk right now</a:t>
            </a:r>
            <a:endParaRPr b="0" i="0" sz="1700" u="none" cap="none" strike="noStrike">
              <a:solidFill>
                <a:schemeClr val="dk1"/>
              </a:solidFill>
              <a:latin typeface="Calibri"/>
              <a:ea typeface="Calibri"/>
              <a:cs typeface="Calibri"/>
              <a:sym typeface="Calibri"/>
            </a:endParaRPr>
          </a:p>
        </p:txBody>
      </p:sp>
      <p:sp>
        <p:nvSpPr>
          <p:cNvPr id="479" name="Google Shape;479;p15"/>
          <p:cNvSpPr txBox="1"/>
          <p:nvPr/>
        </p:nvSpPr>
        <p:spPr>
          <a:xfrm>
            <a:off x="2148840" y="3346704"/>
            <a:ext cx="4023360" cy="2743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6E56"/>
              </a:buClr>
              <a:buSzPts val="900"/>
              <a:buFont typeface="Calibri"/>
              <a:buNone/>
            </a:pPr>
            <a:r>
              <a:rPr b="1" i="0" lang="en-US" sz="900" u="none" cap="none" strike="noStrike">
                <a:solidFill>
                  <a:srgbClr val="0F6E56"/>
                </a:solidFill>
                <a:latin typeface="Calibri"/>
                <a:ea typeface="Calibri"/>
                <a:cs typeface="Calibri"/>
                <a:sym typeface="Calibri"/>
              </a:rPr>
              <a:t>THE HELPER DOOR</a:t>
            </a:r>
            <a:endParaRPr b="0" i="0" sz="900" u="none" cap="none" strike="noStrike">
              <a:solidFill>
                <a:schemeClr val="dk1"/>
              </a:solidFill>
              <a:latin typeface="Calibri"/>
              <a:ea typeface="Calibri"/>
              <a:cs typeface="Calibri"/>
              <a:sym typeface="Calibri"/>
            </a:endParaRPr>
          </a:p>
        </p:txBody>
      </p:sp>
      <p:sp>
        <p:nvSpPr>
          <p:cNvPr id="480" name="Google Shape;480;p15"/>
          <p:cNvSpPr txBox="1"/>
          <p:nvPr/>
        </p:nvSpPr>
        <p:spPr>
          <a:xfrm>
            <a:off x="6318504" y="2743200"/>
            <a:ext cx="4791456" cy="113385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6302D"/>
              </a:buClr>
              <a:buSzPts val="1400"/>
              <a:buFont typeface="Calibri"/>
              <a:buNone/>
            </a:pPr>
            <a:r>
              <a:rPr b="0" i="0" lang="en-US" sz="1400" u="none" cap="none" strike="noStrike">
                <a:solidFill>
                  <a:srgbClr val="16302D"/>
                </a:solidFill>
                <a:latin typeface="Calibri"/>
                <a:ea typeface="Calibri"/>
                <a:cs typeface="Calibri"/>
                <a:sym typeface="Calibri"/>
              </a:rPr>
              <a:t>Fresh. Checked for you. Shows the page. Can say “I don't know”.</a:t>
            </a:r>
            <a:endParaRPr b="0" i="0" sz="1400" u="none" cap="none" strike="noStrike">
              <a:solidFill>
                <a:schemeClr val="dk1"/>
              </a:solidFill>
              <a:latin typeface="Calibri"/>
              <a:ea typeface="Calibri"/>
              <a:cs typeface="Calibri"/>
              <a:sym typeface="Calibri"/>
            </a:endParaRPr>
          </a:p>
        </p:txBody>
      </p:sp>
      <p:sp>
        <p:nvSpPr>
          <p:cNvPr id="481" name="Google Shape;481;p15"/>
          <p:cNvSpPr/>
          <p:nvPr/>
        </p:nvSpPr>
        <p:spPr>
          <a:xfrm>
            <a:off x="1600200" y="4114800"/>
            <a:ext cx="9875520" cy="1133856"/>
          </a:xfrm>
          <a:prstGeom prst="roundRect">
            <a:avLst>
              <a:gd fmla="val 8065"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5"/>
          <p:cNvSpPr/>
          <p:nvPr/>
        </p:nvSpPr>
        <p:spPr>
          <a:xfrm>
            <a:off x="1911096" y="4434840"/>
            <a:ext cx="493776" cy="493776"/>
          </a:xfrm>
          <a:prstGeom prst="ellipse">
            <a:avLst/>
          </a:prstGeom>
          <a:solidFill>
            <a:srgbClr val="B34A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5"/>
          <p:cNvSpPr txBox="1"/>
          <p:nvPr/>
        </p:nvSpPr>
        <p:spPr>
          <a:xfrm>
            <a:off x="1911096" y="4434840"/>
            <a:ext cx="493776" cy="49377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3</a:t>
            </a:r>
            <a:endParaRPr b="0" i="0" sz="1700" u="none" cap="none" strike="noStrike">
              <a:solidFill>
                <a:schemeClr val="dk1"/>
              </a:solidFill>
              <a:latin typeface="Calibri"/>
              <a:ea typeface="Calibri"/>
              <a:cs typeface="Calibri"/>
              <a:sym typeface="Calibri"/>
            </a:endParaRPr>
          </a:p>
        </p:txBody>
      </p:sp>
      <p:sp>
        <p:nvSpPr>
          <p:cNvPr id="484" name="Google Shape;484;p15"/>
          <p:cNvSpPr txBox="1"/>
          <p:nvPr/>
        </p:nvSpPr>
        <p:spPr>
          <a:xfrm>
            <a:off x="2606040" y="4334256"/>
            <a:ext cx="4023360" cy="34747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1700"/>
              <a:buFont typeface="Cambria"/>
              <a:buNone/>
            </a:pPr>
            <a:r>
              <a:rPr b="1" i="0" lang="en-US" sz="1700" u="none" cap="none" strike="noStrike">
                <a:solidFill>
                  <a:srgbClr val="0B3B39"/>
                </a:solidFill>
                <a:latin typeface="Cambria"/>
                <a:ea typeface="Cambria"/>
                <a:cs typeface="Cambria"/>
                <a:sym typeface="Cambria"/>
              </a:rPr>
              <a:t>A number that was checked twice</a:t>
            </a:r>
            <a:endParaRPr b="0" i="0" sz="1700" u="none" cap="none" strike="noStrike">
              <a:solidFill>
                <a:schemeClr val="dk1"/>
              </a:solidFill>
              <a:latin typeface="Calibri"/>
              <a:ea typeface="Calibri"/>
              <a:cs typeface="Calibri"/>
              <a:sym typeface="Calibri"/>
            </a:endParaRPr>
          </a:p>
        </p:txBody>
      </p:sp>
      <p:sp>
        <p:nvSpPr>
          <p:cNvPr id="485" name="Google Shape;485;p15"/>
          <p:cNvSpPr txBox="1"/>
          <p:nvPr/>
        </p:nvSpPr>
        <p:spPr>
          <a:xfrm>
            <a:off x="2606040" y="4718304"/>
            <a:ext cx="4023360" cy="2743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B34A2B"/>
              </a:buClr>
              <a:buSzPts val="900"/>
              <a:buFont typeface="Calibri"/>
              <a:buNone/>
            </a:pPr>
            <a:r>
              <a:rPr b="1" i="0" lang="en-US" sz="900" u="none" cap="none" strike="noStrike">
                <a:solidFill>
                  <a:srgbClr val="B34A2B"/>
                </a:solidFill>
                <a:latin typeface="Calibri"/>
                <a:ea typeface="Calibri"/>
                <a:cs typeface="Calibri"/>
                <a:sym typeface="Calibri"/>
              </a:rPr>
              <a:t>STILL BEING BUILT</a:t>
            </a:r>
            <a:endParaRPr b="0" i="0" sz="900" u="none" cap="none" strike="noStrike">
              <a:solidFill>
                <a:schemeClr val="dk1"/>
              </a:solidFill>
              <a:latin typeface="Calibri"/>
              <a:ea typeface="Calibri"/>
              <a:cs typeface="Calibri"/>
              <a:sym typeface="Calibri"/>
            </a:endParaRPr>
          </a:p>
        </p:txBody>
      </p:sp>
      <p:sp>
        <p:nvSpPr>
          <p:cNvPr id="486" name="Google Shape;486;p15"/>
          <p:cNvSpPr txBox="1"/>
          <p:nvPr/>
        </p:nvSpPr>
        <p:spPr>
          <a:xfrm>
            <a:off x="6775704" y="4114800"/>
            <a:ext cx="4334256" cy="113385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6302D"/>
              </a:buClr>
              <a:buSzPts val="1400"/>
              <a:buFont typeface="Calibri"/>
              <a:buNone/>
            </a:pPr>
            <a:r>
              <a:rPr b="0" i="0" lang="en-US" sz="1400" u="none" cap="none" strike="noStrike">
                <a:solidFill>
                  <a:srgbClr val="16302D"/>
                </a:solidFill>
                <a:latin typeface="Calibri"/>
                <a:ea typeface="Calibri"/>
                <a:cs typeface="Calibri"/>
                <a:sym typeface="Calibri"/>
              </a:rPr>
              <a:t>Slow and careful. Saved for answers that must never be wrong.</a:t>
            </a:r>
            <a:endParaRPr b="0" i="0" sz="1400" u="none" cap="none" strike="noStrike">
              <a:solidFill>
                <a:schemeClr val="dk1"/>
              </a:solidFill>
              <a:latin typeface="Calibri"/>
              <a:ea typeface="Calibri"/>
              <a:cs typeface="Calibri"/>
              <a:sym typeface="Calibri"/>
            </a:endParaRPr>
          </a:p>
        </p:txBody>
      </p:sp>
      <p:sp>
        <p:nvSpPr>
          <p:cNvPr id="487" name="Google Shape;487;p15"/>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5"/>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5"/>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490" name="Google Shape;490;p15"/>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The wider a door opens, the smaller the promise. Always know which door you used.</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6"/>
          <p:cNvSpPr/>
          <p:nvPr/>
        </p:nvSpPr>
        <p:spPr>
          <a:xfrm>
            <a:off x="685800" y="420624"/>
            <a:ext cx="603504" cy="603504"/>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7" name="Google Shape;497;p16"/>
          <p:cNvPicPr preferRelativeResize="0"/>
          <p:nvPr/>
        </p:nvPicPr>
        <p:blipFill rotWithShape="1">
          <a:blip r:embed="rId3">
            <a:alphaModFix/>
          </a:blip>
          <a:srcRect b="0" l="0" r="0" t="0"/>
          <a:stretch/>
        </p:blipFill>
        <p:spPr>
          <a:xfrm>
            <a:off x="854781" y="589605"/>
            <a:ext cx="265542" cy="265542"/>
          </a:xfrm>
          <a:prstGeom prst="rect">
            <a:avLst/>
          </a:prstGeom>
          <a:noFill/>
          <a:ln>
            <a:noFill/>
          </a:ln>
        </p:spPr>
      </p:pic>
      <p:sp>
        <p:nvSpPr>
          <p:cNvPr id="498" name="Google Shape;498;p16"/>
          <p:cNvSpPr txBox="1"/>
          <p:nvPr/>
        </p:nvSpPr>
        <p:spPr>
          <a:xfrm>
            <a:off x="1545336" y="384048"/>
            <a:ext cx="9930384" cy="6583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3100"/>
              <a:buFont typeface="Cambria"/>
              <a:buNone/>
            </a:pPr>
            <a:r>
              <a:rPr b="1" i="0" lang="en-US" sz="3100" u="none" cap="none" strike="noStrike">
                <a:solidFill>
                  <a:srgbClr val="0B3B39"/>
                </a:solidFill>
                <a:latin typeface="Cambria"/>
                <a:ea typeface="Cambria"/>
                <a:cs typeface="Cambria"/>
                <a:sym typeface="Cambria"/>
              </a:rPr>
              <a:t>So is the helper just a robot now?</a:t>
            </a:r>
            <a:endParaRPr b="0" i="0" sz="3100" u="none" cap="none" strike="noStrike">
              <a:solidFill>
                <a:schemeClr val="dk1"/>
              </a:solidFill>
              <a:latin typeface="Calibri"/>
              <a:ea typeface="Calibri"/>
              <a:cs typeface="Calibri"/>
              <a:sym typeface="Calibri"/>
            </a:endParaRPr>
          </a:p>
        </p:txBody>
      </p:sp>
      <p:sp>
        <p:nvSpPr>
          <p:cNvPr id="499" name="Google Shape;499;p16"/>
          <p:cNvSpPr txBox="1"/>
          <p:nvPr/>
        </p:nvSpPr>
        <p:spPr>
          <a:xfrm>
            <a:off x="685800" y="1133856"/>
            <a:ext cx="10789920"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500"/>
              <a:buFont typeface="Calibri"/>
              <a:buNone/>
            </a:pPr>
            <a:r>
              <a:rPr b="0" i="0" lang="en-US" sz="1500" u="none" cap="none" strike="noStrike">
                <a:solidFill>
                  <a:srgbClr val="51706B"/>
                </a:solidFill>
                <a:latin typeface="Calibri"/>
                <a:ea typeface="Calibri"/>
                <a:cs typeface="Calibri"/>
                <a:sym typeface="Calibri"/>
              </a:rPr>
              <a:t>No. Following a book leaves a lot of room. Here is exactly where the line falls.</a:t>
            </a:r>
            <a:endParaRPr b="0" i="0" sz="1500" u="none" cap="none" strike="noStrike">
              <a:solidFill>
                <a:schemeClr val="dk1"/>
              </a:solidFill>
              <a:latin typeface="Calibri"/>
              <a:ea typeface="Calibri"/>
              <a:cs typeface="Calibri"/>
              <a:sym typeface="Calibri"/>
            </a:endParaRPr>
          </a:p>
        </p:txBody>
      </p:sp>
      <p:sp>
        <p:nvSpPr>
          <p:cNvPr id="500" name="Google Shape;500;p16"/>
          <p:cNvSpPr/>
          <p:nvPr/>
        </p:nvSpPr>
        <p:spPr>
          <a:xfrm>
            <a:off x="685800" y="1627632"/>
            <a:ext cx="5230368" cy="3675888"/>
          </a:xfrm>
          <a:prstGeom prst="roundRect">
            <a:avLst>
              <a:gd fmla="val 2488"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6"/>
          <p:cNvSpPr/>
          <p:nvPr/>
        </p:nvSpPr>
        <p:spPr>
          <a:xfrm>
            <a:off x="1051560" y="1883664"/>
            <a:ext cx="1920240"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6"/>
          <p:cNvSpPr txBox="1"/>
          <p:nvPr/>
        </p:nvSpPr>
        <p:spPr>
          <a:xfrm>
            <a:off x="1051560" y="1883664"/>
            <a:ext cx="1920240"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IT MAY CHANGE THIS</a:t>
            </a:r>
            <a:endParaRPr b="0" i="0" sz="950" u="none" cap="none" strike="noStrike">
              <a:solidFill>
                <a:schemeClr val="dk1"/>
              </a:solidFill>
              <a:latin typeface="Calibri"/>
              <a:ea typeface="Calibri"/>
              <a:cs typeface="Calibri"/>
              <a:sym typeface="Calibri"/>
            </a:endParaRPr>
          </a:p>
        </p:txBody>
      </p:sp>
      <p:sp>
        <p:nvSpPr>
          <p:cNvPr id="503" name="Google Shape;503;p16"/>
          <p:cNvSpPr txBox="1"/>
          <p:nvPr/>
        </p:nvSpPr>
        <p:spPr>
          <a:xfrm>
            <a:off x="1051560" y="2395728"/>
            <a:ext cx="4498848"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302D"/>
              </a:buClr>
              <a:buSzPts val="1500"/>
              <a:buFont typeface="Calibri"/>
              <a:buChar char="•"/>
            </a:pPr>
            <a:r>
              <a:rPr b="0" i="0" lang="en-US" sz="1500" u="none" cap="none" strike="noStrike">
                <a:solidFill>
                  <a:srgbClr val="16302D"/>
                </a:solidFill>
                <a:latin typeface="Calibri"/>
                <a:ea typeface="Calibri"/>
                <a:cs typeface="Calibri"/>
                <a:sym typeface="Calibri"/>
              </a:rPr>
              <a:t>How it explains something</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302D"/>
              </a:buClr>
              <a:buSzPts val="1500"/>
              <a:buFont typeface="Calibri"/>
              <a:buChar char="•"/>
            </a:pPr>
            <a:r>
              <a:rPr b="0" i="0" lang="en-US" sz="1500" u="none" cap="none" strike="noStrike">
                <a:solidFill>
                  <a:srgbClr val="16302D"/>
                </a:solidFill>
                <a:latin typeface="Calibri"/>
                <a:ea typeface="Calibri"/>
                <a:cs typeface="Calibri"/>
                <a:sym typeface="Calibri"/>
              </a:rPr>
              <a:t>Which examples it uses</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302D"/>
              </a:buClr>
              <a:buSzPts val="1500"/>
              <a:buFont typeface="Calibri"/>
              <a:buChar char="•"/>
            </a:pPr>
            <a:r>
              <a:rPr b="0" i="0" lang="en-US" sz="1500" u="none" cap="none" strike="noStrike">
                <a:solidFill>
                  <a:srgbClr val="16302D"/>
                </a:solidFill>
                <a:latin typeface="Calibri"/>
                <a:ea typeface="Calibri"/>
                <a:cs typeface="Calibri"/>
                <a:sym typeface="Calibri"/>
              </a:rPr>
              <a:t>Going slower or faster for you</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302D"/>
              </a:buClr>
              <a:buSzPts val="1500"/>
              <a:buFont typeface="Calibri"/>
              <a:buChar char="•"/>
            </a:pPr>
            <a:r>
              <a:rPr b="0" i="0" lang="en-US" sz="1500" u="none" cap="none" strike="noStrike">
                <a:solidFill>
                  <a:srgbClr val="16302D"/>
                </a:solidFill>
                <a:latin typeface="Calibri"/>
                <a:ea typeface="Calibri"/>
                <a:cs typeface="Calibri"/>
                <a:sym typeface="Calibri"/>
              </a:rPr>
              <a:t>Which language it speaks</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302D"/>
              </a:buClr>
              <a:buSzPts val="1500"/>
              <a:buFont typeface="Calibri"/>
              <a:buChar char="•"/>
            </a:pPr>
            <a:r>
              <a:rPr b="0" i="0" lang="en-US" sz="1500" u="none" cap="none" strike="noStrike">
                <a:solidFill>
                  <a:srgbClr val="16302D"/>
                </a:solidFill>
                <a:latin typeface="Calibri"/>
                <a:ea typeface="Calibri"/>
                <a:cs typeface="Calibri"/>
                <a:sym typeface="Calibri"/>
              </a:rPr>
              <a:t>Easy words, or harder words</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302D"/>
              </a:buClr>
              <a:buSzPts val="1500"/>
              <a:buFont typeface="Calibri"/>
              <a:buChar char="•"/>
            </a:pPr>
            <a:r>
              <a:rPr b="0" i="0" lang="en-US" sz="1500" u="none" cap="none" strike="noStrike">
                <a:solidFill>
                  <a:srgbClr val="16302D"/>
                </a:solidFill>
                <a:latin typeface="Calibri"/>
                <a:ea typeface="Calibri"/>
                <a:cs typeface="Calibri"/>
                <a:sym typeface="Calibri"/>
              </a:rPr>
              <a:t>Giving you extra practice</a:t>
            </a:r>
            <a:endParaRPr b="0" i="0" sz="1500" u="none" cap="none" strike="noStrike">
              <a:solidFill>
                <a:schemeClr val="dk1"/>
              </a:solidFill>
              <a:latin typeface="Calibri"/>
              <a:ea typeface="Calibri"/>
              <a:cs typeface="Calibri"/>
              <a:sym typeface="Calibri"/>
            </a:endParaRPr>
          </a:p>
        </p:txBody>
      </p:sp>
      <p:sp>
        <p:nvSpPr>
          <p:cNvPr id="504" name="Google Shape;504;p16"/>
          <p:cNvSpPr/>
          <p:nvPr/>
        </p:nvSpPr>
        <p:spPr>
          <a:xfrm>
            <a:off x="6245352" y="1627632"/>
            <a:ext cx="5230368" cy="3675888"/>
          </a:xfrm>
          <a:prstGeom prst="roundRect">
            <a:avLst>
              <a:gd fmla="val 2488" name="adj"/>
            </a:avLst>
          </a:prstGeom>
          <a:solidFill>
            <a:srgbClr val="FBEB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6"/>
          <p:cNvSpPr/>
          <p:nvPr/>
        </p:nvSpPr>
        <p:spPr>
          <a:xfrm>
            <a:off x="6611112" y="1883664"/>
            <a:ext cx="2194560" cy="274320"/>
          </a:xfrm>
          <a:prstGeom prst="roundRect">
            <a:avLst>
              <a:gd fmla="val 50000" name="adj"/>
            </a:avLst>
          </a:prstGeom>
          <a:solidFill>
            <a:srgbClr val="B34A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6"/>
          <p:cNvSpPr txBox="1"/>
          <p:nvPr/>
        </p:nvSpPr>
        <p:spPr>
          <a:xfrm>
            <a:off x="6611112" y="1883664"/>
            <a:ext cx="2194560"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IT MAY NOT CHANGE THIS</a:t>
            </a:r>
            <a:endParaRPr b="0" i="0" sz="950" u="none" cap="none" strike="noStrike">
              <a:solidFill>
                <a:schemeClr val="dk1"/>
              </a:solidFill>
              <a:latin typeface="Calibri"/>
              <a:ea typeface="Calibri"/>
              <a:cs typeface="Calibri"/>
              <a:sym typeface="Calibri"/>
            </a:endParaRPr>
          </a:p>
        </p:txBody>
      </p:sp>
      <p:sp>
        <p:nvSpPr>
          <p:cNvPr id="507" name="Google Shape;507;p16"/>
          <p:cNvSpPr txBox="1"/>
          <p:nvPr/>
        </p:nvSpPr>
        <p:spPr>
          <a:xfrm>
            <a:off x="6611112" y="2395728"/>
            <a:ext cx="4498848"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302D"/>
              </a:buClr>
              <a:buSzPts val="1500"/>
              <a:buFont typeface="Calibri"/>
              <a:buChar char="•"/>
            </a:pPr>
            <a:r>
              <a:rPr b="0" i="0" lang="en-US" sz="1500" u="none" cap="none" strike="noStrike">
                <a:solidFill>
                  <a:srgbClr val="16302D"/>
                </a:solidFill>
                <a:latin typeface="Calibri"/>
                <a:ea typeface="Calibri"/>
                <a:cs typeface="Calibri"/>
                <a:sym typeface="Calibri"/>
              </a:rPr>
              <a:t>What you are meant to learn</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302D"/>
              </a:buClr>
              <a:buSzPts val="1500"/>
              <a:buFont typeface="Calibri"/>
              <a:buChar char="•"/>
            </a:pPr>
            <a:r>
              <a:rPr b="0" i="0" lang="en-US" sz="1500" u="none" cap="none" strike="noStrike">
                <a:solidFill>
                  <a:srgbClr val="16302D"/>
                </a:solidFill>
                <a:latin typeface="Calibri"/>
                <a:ea typeface="Calibri"/>
                <a:cs typeface="Calibri"/>
                <a:sym typeface="Calibri"/>
              </a:rPr>
              <a:t>What the words mean</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302D"/>
              </a:buClr>
              <a:buSzPts val="1500"/>
              <a:buFont typeface="Calibri"/>
              <a:buChar char="•"/>
            </a:pPr>
            <a:r>
              <a:rPr b="0" i="0" lang="en-US" sz="1500" u="none" cap="none" strike="noStrike">
                <a:solidFill>
                  <a:srgbClr val="16302D"/>
                </a:solidFill>
                <a:latin typeface="Calibri"/>
                <a:ea typeface="Calibri"/>
                <a:cs typeface="Calibri"/>
                <a:sym typeface="Calibri"/>
              </a:rPr>
              <a:t>The order the topics come in</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302D"/>
              </a:buClr>
              <a:buSzPts val="1500"/>
              <a:buFont typeface="Calibri"/>
              <a:buChar char="•"/>
            </a:pPr>
            <a:r>
              <a:rPr b="0" i="0" lang="en-US" sz="1500" u="none" cap="none" strike="noStrike">
                <a:solidFill>
                  <a:srgbClr val="16302D"/>
                </a:solidFill>
                <a:latin typeface="Calibri"/>
                <a:ea typeface="Calibri"/>
                <a:cs typeface="Calibri"/>
                <a:sym typeface="Calibri"/>
              </a:rPr>
              <a:t>The rules of the test</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302D"/>
              </a:buClr>
              <a:buSzPts val="1500"/>
              <a:buFont typeface="Calibri"/>
              <a:buChar char="•"/>
            </a:pPr>
            <a:r>
              <a:rPr b="0" i="0" lang="en-US" sz="1500" u="none" cap="none" strike="noStrike">
                <a:solidFill>
                  <a:srgbClr val="16302D"/>
                </a:solidFill>
                <a:latin typeface="Calibri"/>
                <a:ea typeface="Calibri"/>
                <a:cs typeface="Calibri"/>
                <a:sym typeface="Calibri"/>
              </a:rPr>
              <a:t>How marks are given</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6302D"/>
              </a:buClr>
              <a:buSzPts val="1500"/>
              <a:buFont typeface="Calibri"/>
              <a:buChar char="•"/>
            </a:pPr>
            <a:r>
              <a:rPr b="0" i="0" lang="en-US" sz="1500" u="none" cap="none" strike="noStrike">
                <a:solidFill>
                  <a:srgbClr val="16302D"/>
                </a:solidFill>
                <a:latin typeface="Calibri"/>
                <a:ea typeface="Calibri"/>
                <a:cs typeface="Calibri"/>
                <a:sym typeface="Calibri"/>
              </a:rPr>
              <a:t>Which book is the real one</a:t>
            </a:r>
            <a:endParaRPr b="0" i="0" sz="1500" u="none" cap="none" strike="noStrike">
              <a:solidFill>
                <a:schemeClr val="dk1"/>
              </a:solidFill>
              <a:latin typeface="Calibri"/>
              <a:ea typeface="Calibri"/>
              <a:cs typeface="Calibri"/>
              <a:sym typeface="Calibri"/>
            </a:endParaRPr>
          </a:p>
        </p:txBody>
      </p:sp>
      <p:sp>
        <p:nvSpPr>
          <p:cNvPr id="508" name="Google Shape;508;p16"/>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6"/>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6"/>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511" name="Google Shape;511;p16"/>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It can teach you your way. It cannot change what is true.</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7"/>
          <p:cNvSpPr/>
          <p:nvPr/>
        </p:nvSpPr>
        <p:spPr>
          <a:xfrm>
            <a:off x="685800" y="420624"/>
            <a:ext cx="603504" cy="603504"/>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8" name="Google Shape;518;p17"/>
          <p:cNvPicPr preferRelativeResize="0"/>
          <p:nvPr/>
        </p:nvPicPr>
        <p:blipFill rotWithShape="1">
          <a:blip r:embed="rId3">
            <a:alphaModFix/>
          </a:blip>
          <a:srcRect b="0" l="0" r="0" t="0"/>
          <a:stretch/>
        </p:blipFill>
        <p:spPr>
          <a:xfrm>
            <a:off x="854781" y="589605"/>
            <a:ext cx="265542" cy="265542"/>
          </a:xfrm>
          <a:prstGeom prst="rect">
            <a:avLst/>
          </a:prstGeom>
          <a:noFill/>
          <a:ln>
            <a:noFill/>
          </a:ln>
        </p:spPr>
      </p:pic>
      <p:sp>
        <p:nvSpPr>
          <p:cNvPr id="519" name="Google Shape;519;p17"/>
          <p:cNvSpPr txBox="1"/>
          <p:nvPr/>
        </p:nvSpPr>
        <p:spPr>
          <a:xfrm>
            <a:off x="1545336" y="384048"/>
            <a:ext cx="9930384" cy="6583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B3B39"/>
              </a:buClr>
              <a:buSzPts val="3100"/>
              <a:buFont typeface="Cambria"/>
              <a:buNone/>
            </a:pPr>
            <a:r>
              <a:rPr b="1" i="0" lang="en-US" sz="3100" u="none" cap="none" strike="noStrike">
                <a:solidFill>
                  <a:srgbClr val="0B3B39"/>
                </a:solidFill>
                <a:latin typeface="Cambria"/>
                <a:ea typeface="Cambria"/>
                <a:cs typeface="Cambria"/>
                <a:sym typeface="Cambria"/>
              </a:rPr>
              <a:t>The same question, asked again</a:t>
            </a:r>
            <a:endParaRPr b="0" i="0" sz="3100" u="none" cap="none" strike="noStrike">
              <a:solidFill>
                <a:schemeClr val="dk1"/>
              </a:solidFill>
              <a:latin typeface="Calibri"/>
              <a:ea typeface="Calibri"/>
              <a:cs typeface="Calibri"/>
              <a:sym typeface="Calibri"/>
            </a:endParaRPr>
          </a:p>
        </p:txBody>
      </p:sp>
      <p:sp>
        <p:nvSpPr>
          <p:cNvPr id="520" name="Google Shape;520;p17"/>
          <p:cNvSpPr txBox="1"/>
          <p:nvPr/>
        </p:nvSpPr>
        <p:spPr>
          <a:xfrm>
            <a:off x="685800" y="1133856"/>
            <a:ext cx="10789920" cy="31089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1706B"/>
              </a:buClr>
              <a:buSzPts val="1500"/>
              <a:buFont typeface="Calibri"/>
              <a:buNone/>
            </a:pPr>
            <a:r>
              <a:rPr b="0" i="0" lang="en-US" sz="1500" u="none" cap="none" strike="noStrike">
                <a:solidFill>
                  <a:srgbClr val="51706B"/>
                </a:solidFill>
                <a:latin typeface="Calibri"/>
                <a:ea typeface="Calibri"/>
                <a:cs typeface="Calibri"/>
                <a:sym typeface="Calibri"/>
              </a:rPr>
              <a:t>All eight ideas are now in place. The nurse asks exactly what she asked on slide two:</a:t>
            </a:r>
            <a:endParaRPr b="0" i="0" sz="1500" u="none" cap="none" strike="noStrike">
              <a:solidFill>
                <a:schemeClr val="dk1"/>
              </a:solidFill>
              <a:latin typeface="Calibri"/>
              <a:ea typeface="Calibri"/>
              <a:cs typeface="Calibri"/>
              <a:sym typeface="Calibri"/>
            </a:endParaRPr>
          </a:p>
        </p:txBody>
      </p:sp>
      <p:sp>
        <p:nvSpPr>
          <p:cNvPr id="521" name="Google Shape;521;p17"/>
          <p:cNvSpPr/>
          <p:nvPr/>
        </p:nvSpPr>
        <p:spPr>
          <a:xfrm>
            <a:off x="685800" y="1554480"/>
            <a:ext cx="10789920" cy="640080"/>
          </a:xfrm>
          <a:prstGeom prst="roundRect">
            <a:avLst>
              <a:gd fmla="val 14286"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7"/>
          <p:cNvSpPr txBox="1"/>
          <p:nvPr/>
        </p:nvSpPr>
        <p:spPr>
          <a:xfrm>
            <a:off x="1005840" y="1554480"/>
            <a:ext cx="10149840" cy="640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94B3C"/>
              </a:buClr>
              <a:buSzPts val="1900"/>
              <a:buFont typeface="Cambria"/>
              <a:buNone/>
            </a:pPr>
            <a:r>
              <a:rPr b="1" i="0" lang="en-US" sz="1900" u="none" cap="none" strike="noStrike">
                <a:solidFill>
                  <a:srgbClr val="094B3C"/>
                </a:solidFill>
                <a:latin typeface="Cambria"/>
                <a:ea typeface="Cambria"/>
                <a:cs typeface="Cambria"/>
                <a:sym typeface="Cambria"/>
              </a:rPr>
              <a:t>“How much medicine is safe for a six-year-old?”</a:t>
            </a:r>
            <a:endParaRPr b="0" i="0" sz="1900" u="none" cap="none" strike="noStrike">
              <a:solidFill>
                <a:schemeClr val="dk1"/>
              </a:solidFill>
              <a:latin typeface="Calibri"/>
              <a:ea typeface="Calibri"/>
              <a:cs typeface="Calibri"/>
              <a:sym typeface="Calibri"/>
            </a:endParaRPr>
          </a:p>
        </p:txBody>
      </p:sp>
      <p:sp>
        <p:nvSpPr>
          <p:cNvPr id="523" name="Google Shape;523;p17"/>
          <p:cNvSpPr/>
          <p:nvPr/>
        </p:nvSpPr>
        <p:spPr>
          <a:xfrm>
            <a:off x="685800" y="2377440"/>
            <a:ext cx="3401568" cy="1755648"/>
          </a:xfrm>
          <a:prstGeom prst="roundRect">
            <a:avLst>
              <a:gd fmla="val 5208"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7"/>
          <p:cNvSpPr/>
          <p:nvPr/>
        </p:nvSpPr>
        <p:spPr>
          <a:xfrm>
            <a:off x="996696" y="2615184"/>
            <a:ext cx="402336" cy="402336"/>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7"/>
          <p:cNvSpPr txBox="1"/>
          <p:nvPr/>
        </p:nvSpPr>
        <p:spPr>
          <a:xfrm>
            <a:off x="996696" y="26151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400"/>
              <a:buFont typeface="Cambria"/>
              <a:buNone/>
            </a:pPr>
            <a:r>
              <a:rPr b="1" i="0" lang="en-US" sz="1400" u="none" cap="none" strike="noStrike">
                <a:solidFill>
                  <a:srgbClr val="094B3C"/>
                </a:solidFill>
                <a:latin typeface="Cambria"/>
                <a:ea typeface="Cambria"/>
                <a:cs typeface="Cambria"/>
                <a:sym typeface="Cambria"/>
              </a:rPr>
              <a:t>A</a:t>
            </a:r>
            <a:endParaRPr b="0" i="0" sz="1400" u="none" cap="none" strike="noStrike">
              <a:solidFill>
                <a:schemeClr val="dk1"/>
              </a:solidFill>
              <a:latin typeface="Calibri"/>
              <a:ea typeface="Calibri"/>
              <a:cs typeface="Calibri"/>
              <a:sym typeface="Calibri"/>
            </a:endParaRPr>
          </a:p>
        </p:txBody>
      </p:sp>
      <p:sp>
        <p:nvSpPr>
          <p:cNvPr id="526" name="Google Shape;526;p17"/>
          <p:cNvSpPr txBox="1"/>
          <p:nvPr/>
        </p:nvSpPr>
        <p:spPr>
          <a:xfrm>
            <a:off x="996696" y="3163824"/>
            <a:ext cx="2779776" cy="274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Helper A</a:t>
            </a:r>
            <a:endParaRPr b="0" i="0" sz="1600" u="none" cap="none" strike="noStrike">
              <a:solidFill>
                <a:schemeClr val="dk1"/>
              </a:solidFill>
              <a:latin typeface="Calibri"/>
              <a:ea typeface="Calibri"/>
              <a:cs typeface="Calibri"/>
              <a:sym typeface="Calibri"/>
            </a:endParaRPr>
          </a:p>
        </p:txBody>
      </p:sp>
      <p:sp>
        <p:nvSpPr>
          <p:cNvPr id="527" name="Google Shape;527;p17"/>
          <p:cNvSpPr txBox="1"/>
          <p:nvPr/>
        </p:nvSpPr>
        <p:spPr>
          <a:xfrm>
            <a:off x="996696" y="3474720"/>
            <a:ext cx="2779776" cy="5669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4B3C"/>
              </a:buClr>
              <a:buSzPts val="1300"/>
              <a:buFont typeface="Calibri"/>
              <a:buNone/>
            </a:pPr>
            <a:r>
              <a:rPr b="1" i="0" lang="en-US" sz="1300" u="none" cap="none" strike="noStrike">
                <a:solidFill>
                  <a:srgbClr val="094B3C"/>
                </a:solidFill>
                <a:latin typeface="Calibri"/>
                <a:ea typeface="Calibri"/>
                <a:cs typeface="Calibri"/>
                <a:sym typeface="Calibri"/>
              </a:rPr>
              <a:t>“Medicine rules, page 7, version 4 says this amount.”</a:t>
            </a:r>
            <a:endParaRPr b="0" i="0" sz="1300" u="none" cap="none" strike="noStrike">
              <a:solidFill>
                <a:schemeClr val="dk1"/>
              </a:solidFill>
              <a:latin typeface="Calibri"/>
              <a:ea typeface="Calibri"/>
              <a:cs typeface="Calibri"/>
              <a:sym typeface="Calibri"/>
            </a:endParaRPr>
          </a:p>
        </p:txBody>
      </p:sp>
      <p:sp>
        <p:nvSpPr>
          <p:cNvPr id="528" name="Google Shape;528;p17"/>
          <p:cNvSpPr/>
          <p:nvPr/>
        </p:nvSpPr>
        <p:spPr>
          <a:xfrm>
            <a:off x="4379976" y="2377440"/>
            <a:ext cx="3401568" cy="1755648"/>
          </a:xfrm>
          <a:prstGeom prst="roundRect">
            <a:avLst>
              <a:gd fmla="val 5208"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7"/>
          <p:cNvSpPr/>
          <p:nvPr/>
        </p:nvSpPr>
        <p:spPr>
          <a:xfrm>
            <a:off x="4690872" y="2615184"/>
            <a:ext cx="402336" cy="402336"/>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7"/>
          <p:cNvSpPr txBox="1"/>
          <p:nvPr/>
        </p:nvSpPr>
        <p:spPr>
          <a:xfrm>
            <a:off x="4690872" y="26151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400"/>
              <a:buFont typeface="Cambria"/>
              <a:buNone/>
            </a:pPr>
            <a:r>
              <a:rPr b="1" i="0" lang="en-US" sz="1400" u="none" cap="none" strike="noStrike">
                <a:solidFill>
                  <a:srgbClr val="094B3C"/>
                </a:solidFill>
                <a:latin typeface="Cambria"/>
                <a:ea typeface="Cambria"/>
                <a:cs typeface="Cambria"/>
                <a:sym typeface="Cambria"/>
              </a:rPr>
              <a:t>B</a:t>
            </a:r>
            <a:endParaRPr b="0" i="0" sz="1400" u="none" cap="none" strike="noStrike">
              <a:solidFill>
                <a:schemeClr val="dk1"/>
              </a:solidFill>
              <a:latin typeface="Calibri"/>
              <a:ea typeface="Calibri"/>
              <a:cs typeface="Calibri"/>
              <a:sym typeface="Calibri"/>
            </a:endParaRPr>
          </a:p>
        </p:txBody>
      </p:sp>
      <p:sp>
        <p:nvSpPr>
          <p:cNvPr id="531" name="Google Shape;531;p17"/>
          <p:cNvSpPr txBox="1"/>
          <p:nvPr/>
        </p:nvSpPr>
        <p:spPr>
          <a:xfrm>
            <a:off x="4690872" y="3163824"/>
            <a:ext cx="2779776" cy="274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Helper B</a:t>
            </a:r>
            <a:endParaRPr b="0" i="0" sz="1600" u="none" cap="none" strike="noStrike">
              <a:solidFill>
                <a:schemeClr val="dk1"/>
              </a:solidFill>
              <a:latin typeface="Calibri"/>
              <a:ea typeface="Calibri"/>
              <a:cs typeface="Calibri"/>
              <a:sym typeface="Calibri"/>
            </a:endParaRPr>
          </a:p>
        </p:txBody>
      </p:sp>
      <p:sp>
        <p:nvSpPr>
          <p:cNvPr id="532" name="Google Shape;532;p17"/>
          <p:cNvSpPr txBox="1"/>
          <p:nvPr/>
        </p:nvSpPr>
        <p:spPr>
          <a:xfrm>
            <a:off x="4690872" y="3474720"/>
            <a:ext cx="2779776" cy="5669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4B3C"/>
              </a:buClr>
              <a:buSzPts val="1300"/>
              <a:buFont typeface="Calibri"/>
              <a:buNone/>
            </a:pPr>
            <a:r>
              <a:rPr b="1" i="0" lang="en-US" sz="1300" u="none" cap="none" strike="noStrike">
                <a:solidFill>
                  <a:srgbClr val="094B3C"/>
                </a:solidFill>
                <a:latin typeface="Calibri"/>
                <a:ea typeface="Calibri"/>
                <a:cs typeface="Calibri"/>
                <a:sym typeface="Calibri"/>
              </a:rPr>
              <a:t>“Medicine rules, page 7, version 4 says this amount.”</a:t>
            </a:r>
            <a:endParaRPr b="0" i="0" sz="1300" u="none" cap="none" strike="noStrike">
              <a:solidFill>
                <a:schemeClr val="dk1"/>
              </a:solidFill>
              <a:latin typeface="Calibri"/>
              <a:ea typeface="Calibri"/>
              <a:cs typeface="Calibri"/>
              <a:sym typeface="Calibri"/>
            </a:endParaRPr>
          </a:p>
        </p:txBody>
      </p:sp>
      <p:sp>
        <p:nvSpPr>
          <p:cNvPr id="533" name="Google Shape;533;p17"/>
          <p:cNvSpPr/>
          <p:nvPr/>
        </p:nvSpPr>
        <p:spPr>
          <a:xfrm>
            <a:off x="8074152" y="2377440"/>
            <a:ext cx="3401568" cy="1755648"/>
          </a:xfrm>
          <a:prstGeom prst="roundRect">
            <a:avLst>
              <a:gd fmla="val 5208"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7"/>
          <p:cNvSpPr/>
          <p:nvPr/>
        </p:nvSpPr>
        <p:spPr>
          <a:xfrm>
            <a:off x="8385048" y="2615184"/>
            <a:ext cx="402336" cy="402336"/>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7"/>
          <p:cNvSpPr txBox="1"/>
          <p:nvPr/>
        </p:nvSpPr>
        <p:spPr>
          <a:xfrm>
            <a:off x="8385048" y="26151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94B3C"/>
              </a:buClr>
              <a:buSzPts val="1400"/>
              <a:buFont typeface="Cambria"/>
              <a:buNone/>
            </a:pPr>
            <a:r>
              <a:rPr b="1" i="0" lang="en-US" sz="1400" u="none" cap="none" strike="noStrike">
                <a:solidFill>
                  <a:srgbClr val="094B3C"/>
                </a:solidFill>
                <a:latin typeface="Cambria"/>
                <a:ea typeface="Cambria"/>
                <a:cs typeface="Cambria"/>
                <a:sym typeface="Cambria"/>
              </a:rPr>
              <a:t>C</a:t>
            </a:r>
            <a:endParaRPr b="0" i="0" sz="1400" u="none" cap="none" strike="noStrike">
              <a:solidFill>
                <a:schemeClr val="dk1"/>
              </a:solidFill>
              <a:latin typeface="Calibri"/>
              <a:ea typeface="Calibri"/>
              <a:cs typeface="Calibri"/>
              <a:sym typeface="Calibri"/>
            </a:endParaRPr>
          </a:p>
        </p:txBody>
      </p:sp>
      <p:sp>
        <p:nvSpPr>
          <p:cNvPr id="536" name="Google Shape;536;p17"/>
          <p:cNvSpPr txBox="1"/>
          <p:nvPr/>
        </p:nvSpPr>
        <p:spPr>
          <a:xfrm>
            <a:off x="8385048" y="3163824"/>
            <a:ext cx="2779776" cy="274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3B39"/>
              </a:buClr>
              <a:buSzPts val="1600"/>
              <a:buFont typeface="Cambria"/>
              <a:buNone/>
            </a:pPr>
            <a:r>
              <a:rPr b="1" i="0" lang="en-US" sz="1600" u="none" cap="none" strike="noStrike">
                <a:solidFill>
                  <a:srgbClr val="0B3B39"/>
                </a:solidFill>
                <a:latin typeface="Cambria"/>
                <a:ea typeface="Cambria"/>
                <a:cs typeface="Cambria"/>
                <a:sym typeface="Cambria"/>
              </a:rPr>
              <a:t>Helper C</a:t>
            </a:r>
            <a:endParaRPr b="0" i="0" sz="1600" u="none" cap="none" strike="noStrike">
              <a:solidFill>
                <a:schemeClr val="dk1"/>
              </a:solidFill>
              <a:latin typeface="Calibri"/>
              <a:ea typeface="Calibri"/>
              <a:cs typeface="Calibri"/>
              <a:sym typeface="Calibri"/>
            </a:endParaRPr>
          </a:p>
        </p:txBody>
      </p:sp>
      <p:sp>
        <p:nvSpPr>
          <p:cNvPr id="537" name="Google Shape;537;p17"/>
          <p:cNvSpPr txBox="1"/>
          <p:nvPr/>
        </p:nvSpPr>
        <p:spPr>
          <a:xfrm>
            <a:off x="8385048" y="3474720"/>
            <a:ext cx="2779776" cy="5669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4B3C"/>
              </a:buClr>
              <a:buSzPts val="1300"/>
              <a:buFont typeface="Calibri"/>
              <a:buNone/>
            </a:pPr>
            <a:r>
              <a:rPr b="1" i="0" lang="en-US" sz="1300" u="none" cap="none" strike="noStrike">
                <a:solidFill>
                  <a:srgbClr val="094B3C"/>
                </a:solidFill>
                <a:latin typeface="Calibri"/>
                <a:ea typeface="Calibri"/>
                <a:cs typeface="Calibri"/>
                <a:sym typeface="Calibri"/>
              </a:rPr>
              <a:t>“Medicine rules, page 7, version 4 says this amount.”</a:t>
            </a:r>
            <a:endParaRPr b="0" i="0" sz="1300" u="none" cap="none" strike="noStrike">
              <a:solidFill>
                <a:schemeClr val="dk1"/>
              </a:solidFill>
              <a:latin typeface="Calibri"/>
              <a:ea typeface="Calibri"/>
              <a:cs typeface="Calibri"/>
              <a:sym typeface="Calibri"/>
            </a:endParaRPr>
          </a:p>
        </p:txBody>
      </p:sp>
      <p:sp>
        <p:nvSpPr>
          <p:cNvPr id="538" name="Google Shape;538;p17"/>
          <p:cNvSpPr/>
          <p:nvPr/>
        </p:nvSpPr>
        <p:spPr>
          <a:xfrm>
            <a:off x="685800" y="4315968"/>
            <a:ext cx="10789920" cy="1097280"/>
          </a:xfrm>
          <a:prstGeom prst="roundRect">
            <a:avLst>
              <a:gd fmla="val 8333" name="adj"/>
            </a:avLst>
          </a:prstGeom>
          <a:solidFill>
            <a:srgbClr val="F3F9F7"/>
          </a:solidFill>
          <a:ln cap="flat" cmpd="sng" w="12700">
            <a:solidFill>
              <a:srgbClr val="C9D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7"/>
          <p:cNvSpPr/>
          <p:nvPr/>
        </p:nvSpPr>
        <p:spPr>
          <a:xfrm>
            <a:off x="996696" y="4553712"/>
            <a:ext cx="1554480"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7"/>
          <p:cNvSpPr txBox="1"/>
          <p:nvPr/>
        </p:nvSpPr>
        <p:spPr>
          <a:xfrm>
            <a:off x="996696" y="4553712"/>
            <a:ext cx="1554480"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WHAT CHANGED</a:t>
            </a:r>
            <a:endParaRPr b="0" i="0" sz="950" u="none" cap="none" strike="noStrike">
              <a:solidFill>
                <a:schemeClr val="dk1"/>
              </a:solidFill>
              <a:latin typeface="Calibri"/>
              <a:ea typeface="Calibri"/>
              <a:cs typeface="Calibri"/>
              <a:sym typeface="Calibri"/>
            </a:endParaRPr>
          </a:p>
        </p:txBody>
      </p:sp>
      <p:sp>
        <p:nvSpPr>
          <p:cNvPr id="541" name="Google Shape;541;p17"/>
          <p:cNvSpPr txBox="1"/>
          <p:nvPr/>
        </p:nvSpPr>
        <p:spPr>
          <a:xfrm>
            <a:off x="2715768" y="4480560"/>
            <a:ext cx="8449056" cy="3657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94B3C"/>
              </a:buClr>
              <a:buSzPts val="1800"/>
              <a:buFont typeface="Cambria"/>
              <a:buNone/>
            </a:pPr>
            <a:r>
              <a:rPr b="1" i="0" lang="en-US" sz="1800" u="none" cap="none" strike="noStrike">
                <a:solidFill>
                  <a:srgbClr val="094B3C"/>
                </a:solidFill>
                <a:latin typeface="Cambria"/>
                <a:ea typeface="Cambria"/>
                <a:cs typeface="Cambria"/>
                <a:sym typeface="Cambria"/>
              </a:rPr>
              <a:t>Same question. Same answer. And you can go and check it.</a:t>
            </a:r>
            <a:endParaRPr b="0" i="0" sz="1800" u="none" cap="none" strike="noStrike">
              <a:solidFill>
                <a:schemeClr val="dk1"/>
              </a:solidFill>
              <a:latin typeface="Calibri"/>
              <a:ea typeface="Calibri"/>
              <a:cs typeface="Calibri"/>
              <a:sym typeface="Calibri"/>
            </a:endParaRPr>
          </a:p>
        </p:txBody>
      </p:sp>
      <p:sp>
        <p:nvSpPr>
          <p:cNvPr id="542" name="Google Shape;542;p17"/>
          <p:cNvSpPr txBox="1"/>
          <p:nvPr/>
        </p:nvSpPr>
        <p:spPr>
          <a:xfrm>
            <a:off x="2715768" y="4882896"/>
            <a:ext cx="8449056" cy="3657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302D"/>
              </a:buClr>
              <a:buSzPts val="1450"/>
              <a:buFont typeface="Calibri"/>
              <a:buNone/>
            </a:pPr>
            <a:r>
              <a:rPr b="0" i="0" lang="en-US" sz="1450" u="none" cap="none" strike="noStrike">
                <a:solidFill>
                  <a:srgbClr val="16302D"/>
                </a:solidFill>
                <a:latin typeface="Calibri"/>
                <a:ea typeface="Calibri"/>
                <a:cs typeface="Calibri"/>
                <a:sym typeface="Calibri"/>
              </a:rPr>
              <a:t>If it had not been in the book, all three would have said so instead of guessing three times.</a:t>
            </a:r>
            <a:endParaRPr b="0" i="0" sz="1450" u="none" cap="none" strike="noStrike">
              <a:solidFill>
                <a:schemeClr val="dk1"/>
              </a:solidFill>
              <a:latin typeface="Calibri"/>
              <a:ea typeface="Calibri"/>
              <a:cs typeface="Calibri"/>
              <a:sym typeface="Calibri"/>
            </a:endParaRPr>
          </a:p>
        </p:txBody>
      </p:sp>
      <p:sp>
        <p:nvSpPr>
          <p:cNvPr id="543" name="Google Shape;543;p17"/>
          <p:cNvSpPr/>
          <p:nvPr/>
        </p:nvSpPr>
        <p:spPr>
          <a:xfrm>
            <a:off x="685800" y="5532120"/>
            <a:ext cx="10789920" cy="841248"/>
          </a:xfrm>
          <a:prstGeom prst="roundRect">
            <a:avLst>
              <a:gd fmla="val 10870" name="adj"/>
            </a:avLst>
          </a:prstGeom>
          <a:solidFill>
            <a:srgbClr val="E4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7"/>
          <p:cNvSpPr/>
          <p:nvPr/>
        </p:nvSpPr>
        <p:spPr>
          <a:xfrm>
            <a:off x="996696" y="5815584"/>
            <a:ext cx="1207008" cy="274320"/>
          </a:xfrm>
          <a:prstGeom prst="roundRect">
            <a:avLst>
              <a:gd fmla="val 50000" name="adj"/>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7"/>
          <p:cNvSpPr txBox="1"/>
          <p:nvPr/>
        </p:nvSpPr>
        <p:spPr>
          <a:xfrm>
            <a:off x="996696" y="5815584"/>
            <a:ext cx="120700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 SHORT</a:t>
            </a:r>
            <a:endParaRPr b="0" i="0" sz="950" u="none" cap="none" strike="noStrike">
              <a:solidFill>
                <a:schemeClr val="dk1"/>
              </a:solidFill>
              <a:latin typeface="Calibri"/>
              <a:ea typeface="Calibri"/>
              <a:cs typeface="Calibri"/>
              <a:sym typeface="Calibri"/>
            </a:endParaRPr>
          </a:p>
        </p:txBody>
      </p:sp>
      <p:sp>
        <p:nvSpPr>
          <p:cNvPr id="546" name="Google Shape;546;p17"/>
          <p:cNvSpPr txBox="1"/>
          <p:nvPr/>
        </p:nvSpPr>
        <p:spPr>
          <a:xfrm>
            <a:off x="2532888" y="5532120"/>
            <a:ext cx="8613648" cy="8412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3B39"/>
              </a:buClr>
              <a:buSzPts val="1550"/>
              <a:buFont typeface="Calibri"/>
              <a:buNone/>
            </a:pPr>
            <a:r>
              <a:rPr b="1" i="0" lang="en-US" sz="1550" u="none" cap="none" strike="noStrike">
                <a:solidFill>
                  <a:srgbClr val="0B3B39"/>
                </a:solidFill>
                <a:latin typeface="Calibri"/>
                <a:ea typeface="Calibri"/>
                <a:cs typeface="Calibri"/>
                <a:sym typeface="Calibri"/>
              </a:rPr>
              <a:t>Nothing got smarter. Somebody just decided which page was real.</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B39"/>
        </a:solidFill>
      </p:bgPr>
    </p:bg>
    <p:spTree>
      <p:nvGrpSpPr>
        <p:cNvPr id="551" name="Shape 551"/>
        <p:cNvGrpSpPr/>
        <p:nvPr/>
      </p:nvGrpSpPr>
      <p:grpSpPr>
        <a:xfrm>
          <a:off x="0" y="0"/>
          <a:ext cx="0" cy="0"/>
          <a:chOff x="0" y="0"/>
          <a:chExt cx="0" cy="0"/>
        </a:xfrm>
      </p:grpSpPr>
      <p:sp>
        <p:nvSpPr>
          <p:cNvPr id="552" name="Google Shape;552;p18"/>
          <p:cNvSpPr/>
          <p:nvPr/>
        </p:nvSpPr>
        <p:spPr>
          <a:xfrm>
            <a:off x="-914400" y="4023360"/>
            <a:ext cx="3840480" cy="3840480"/>
          </a:xfrm>
          <a:prstGeom prst="ellipse">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8"/>
          <p:cNvSpPr/>
          <p:nvPr/>
        </p:nvSpPr>
        <p:spPr>
          <a:xfrm>
            <a:off x="9966960" y="-1005840"/>
            <a:ext cx="3108960" cy="3108960"/>
          </a:xfrm>
          <a:prstGeom prst="ellipse">
            <a:avLst/>
          </a:prstGeom>
          <a:solidFill>
            <a:srgbClr val="0F6E56">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8"/>
          <p:cNvSpPr txBox="1"/>
          <p:nvPr/>
        </p:nvSpPr>
        <p:spPr>
          <a:xfrm>
            <a:off x="685800" y="1097280"/>
            <a:ext cx="7315200" cy="274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CFC5"/>
              </a:buClr>
              <a:buSzPts val="1100"/>
              <a:buFont typeface="Calibri"/>
              <a:buNone/>
            </a:pPr>
            <a:r>
              <a:rPr b="1" i="0" lang="en-US" sz="1100" u="none" cap="none" strike="noStrike">
                <a:solidFill>
                  <a:srgbClr val="A9CFC5"/>
                </a:solidFill>
                <a:latin typeface="Calibri"/>
                <a:ea typeface="Calibri"/>
                <a:cs typeface="Calibri"/>
                <a:sym typeface="Calibri"/>
              </a:rPr>
              <a:t>FOUR THINGS TO REMEMBER</a:t>
            </a:r>
            <a:endParaRPr b="0" i="0" sz="1100" u="none" cap="none" strike="noStrike">
              <a:solidFill>
                <a:schemeClr val="dk1"/>
              </a:solidFill>
              <a:latin typeface="Calibri"/>
              <a:ea typeface="Calibri"/>
              <a:cs typeface="Calibri"/>
              <a:sym typeface="Calibri"/>
            </a:endParaRPr>
          </a:p>
        </p:txBody>
      </p:sp>
      <p:sp>
        <p:nvSpPr>
          <p:cNvPr id="555" name="Google Shape;555;p18"/>
          <p:cNvSpPr txBox="1"/>
          <p:nvPr/>
        </p:nvSpPr>
        <p:spPr>
          <a:xfrm>
            <a:off x="685800" y="1627632"/>
            <a:ext cx="9875520" cy="283464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Decide which pages are the real ones.</a:t>
            </a:r>
            <a:endParaRPr b="0" i="0" sz="2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Make every helper answer only from those.</a:t>
            </a:r>
            <a:endParaRPr b="0" i="0" sz="2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Make it show you the page.</a:t>
            </a:r>
            <a:endParaRPr b="0" i="0" sz="2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Let it say “I don't know” without feeling bad.</a:t>
            </a:r>
            <a:endParaRPr b="0" i="0" sz="2800" u="none" cap="none" strike="noStrike">
              <a:solidFill>
                <a:schemeClr val="dk1"/>
              </a:solidFill>
              <a:latin typeface="Calibri"/>
              <a:ea typeface="Calibri"/>
              <a:cs typeface="Calibri"/>
              <a:sym typeface="Calibri"/>
            </a:endParaRPr>
          </a:p>
        </p:txBody>
      </p:sp>
      <p:sp>
        <p:nvSpPr>
          <p:cNvPr id="556" name="Google Shape;556;p18"/>
          <p:cNvSpPr/>
          <p:nvPr/>
        </p:nvSpPr>
        <p:spPr>
          <a:xfrm>
            <a:off x="685800" y="4846320"/>
            <a:ext cx="9875520" cy="859536"/>
          </a:xfrm>
          <a:prstGeom prst="roundRect">
            <a:avLst>
              <a:gd fmla="val 10638" name="adj"/>
            </a:avLst>
          </a:prstGeom>
          <a:solidFill>
            <a:srgbClr val="1150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8"/>
          <p:cNvSpPr txBox="1"/>
          <p:nvPr/>
        </p:nvSpPr>
        <p:spPr>
          <a:xfrm>
            <a:off x="1069848" y="4846320"/>
            <a:ext cx="9144000" cy="85953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If you never say what is true, the computer will guess — and it will sound very sure.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2" name="Shape 562"/>
        <p:cNvGrpSpPr/>
        <p:nvPr/>
      </p:nvGrpSpPr>
      <p:grpSpPr>
        <a:xfrm>
          <a:off x="0" y="0"/>
          <a:ext cx="0" cy="0"/>
          <a:chOff x="0" y="0"/>
          <a:chExt cx="0" cy="0"/>
        </a:xfrm>
      </p:grpSpPr>
      <p:sp>
        <p:nvSpPr>
          <p:cNvPr id="563" name="Google Shape;563;p19"/>
          <p:cNvSpPr/>
          <p:nvPr/>
        </p:nvSpPr>
        <p:spPr>
          <a:xfrm>
            <a:off x="1525276" y="1024237"/>
            <a:ext cx="11405400" cy="345300"/>
          </a:xfrm>
          <a:prstGeom prst="rect">
            <a:avLst/>
          </a:prstGeom>
          <a:noFill/>
          <a:ln>
            <a:noFill/>
          </a:ln>
        </p:spPr>
        <p:txBody>
          <a:bodyPr anchorCtr="0" anchor="t" bIns="16925" lIns="16925" spcFirstLastPara="1" rIns="16925" wrap="square" tIns="16925">
            <a:noAutofit/>
          </a:bodyPr>
          <a:lstStyle/>
          <a:p>
            <a:pPr indent="0" lvl="0" marL="0" marR="0" rtl="0" algn="l">
              <a:lnSpc>
                <a:spcPct val="88043"/>
              </a:lnSpc>
              <a:spcBef>
                <a:spcPts val="0"/>
              </a:spcBef>
              <a:spcAft>
                <a:spcPts val="0"/>
              </a:spcAft>
              <a:buClr>
                <a:srgbClr val="0A1F44"/>
              </a:buClr>
              <a:buSzPts val="3600"/>
              <a:buFont typeface="Space Grotesk"/>
              <a:buNone/>
            </a:pPr>
            <a:r>
              <a:rPr b="1" i="0" lang="en-US" sz="3100" u="none" cap="none" strike="noStrike">
                <a:solidFill>
                  <a:srgbClr val="0A1F44"/>
                </a:solidFill>
                <a:latin typeface="Space Grotesk"/>
                <a:ea typeface="Space Grotesk"/>
                <a:cs typeface="Space Grotesk"/>
                <a:sym typeface="Space Grotesk"/>
              </a:rPr>
              <a:t>Start in ninety seconds</a:t>
            </a:r>
            <a:endParaRPr b="0" i="0" sz="3100" u="none" cap="none" strike="noStrike">
              <a:solidFill>
                <a:schemeClr val="dk1"/>
              </a:solidFill>
              <a:latin typeface="Calibri"/>
              <a:ea typeface="Calibri"/>
              <a:cs typeface="Calibri"/>
              <a:sym typeface="Calibri"/>
            </a:endParaRPr>
          </a:p>
        </p:txBody>
      </p:sp>
      <p:sp>
        <p:nvSpPr>
          <p:cNvPr id="564" name="Google Shape;564;p19"/>
          <p:cNvSpPr/>
          <p:nvPr/>
        </p:nvSpPr>
        <p:spPr>
          <a:xfrm>
            <a:off x="914400" y="2400300"/>
            <a:ext cx="10363200" cy="1638300"/>
          </a:xfrm>
          <a:prstGeom prst="roundRect">
            <a:avLst>
              <a:gd fmla="val 5426" name="adj"/>
            </a:avLst>
          </a:prstGeom>
          <a:solidFill>
            <a:srgbClr val="0F6E56"/>
          </a:solidFill>
          <a:ln>
            <a:noFill/>
          </a:ln>
          <a:effectLst>
            <a:outerShdw blurRad="25400" rotWithShape="0" algn="bl" dir="5400000" dist="12700">
              <a:srgbClr val="0A1F44">
                <a:alpha val="7060"/>
              </a:srgbClr>
            </a:outerShdw>
          </a:effectLst>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565" name="Google Shape;565;p19"/>
          <p:cNvSpPr/>
          <p:nvPr/>
        </p:nvSpPr>
        <p:spPr>
          <a:xfrm>
            <a:off x="1257300" y="2705100"/>
            <a:ext cx="9967800" cy="368400"/>
          </a:xfrm>
          <a:prstGeom prst="rect">
            <a:avLst/>
          </a:prstGeom>
          <a:noFill/>
          <a:ln>
            <a:noFill/>
          </a:ln>
        </p:spPr>
        <p:txBody>
          <a:bodyPr anchorCtr="0" anchor="t" bIns="16925" lIns="16925" spcFirstLastPara="1" rIns="16925" wrap="square" tIns="16925">
            <a:noAutofit/>
          </a:bodyPr>
          <a:lstStyle/>
          <a:p>
            <a:pPr indent="0" lvl="0" marL="0" marR="0" rtl="0" algn="l">
              <a:lnSpc>
                <a:spcPct val="142105"/>
              </a:lnSpc>
              <a:spcBef>
                <a:spcPts val="0"/>
              </a:spcBef>
              <a:spcAft>
                <a:spcPts val="0"/>
              </a:spcAft>
              <a:buClr>
                <a:srgbClr val="FFFFFF"/>
              </a:buClr>
              <a:buSzPts val="1700"/>
              <a:buFont typeface="Courier New"/>
              <a:buNone/>
            </a:pPr>
            <a:r>
              <a:rPr b="1" lang="en-US" sz="1700">
                <a:solidFill>
                  <a:srgbClr val="FFFFFF"/>
                </a:solidFill>
                <a:latin typeface="Courier New"/>
                <a:ea typeface="Courier New"/>
                <a:cs typeface="Courier New"/>
                <a:sym typeface="Courier New"/>
              </a:rPr>
              <a:t>pnpm dlx @panaversity/ksor@latest init my-knowledge-sor</a:t>
            </a:r>
            <a:endParaRPr b="1" i="0" sz="1700" u="none" cap="none" strike="noStrike">
              <a:solidFill>
                <a:schemeClr val="dk1"/>
              </a:solidFill>
              <a:latin typeface="Calibri"/>
              <a:ea typeface="Calibri"/>
              <a:cs typeface="Calibri"/>
              <a:sym typeface="Calibri"/>
            </a:endParaRPr>
          </a:p>
        </p:txBody>
      </p:sp>
      <p:sp>
        <p:nvSpPr>
          <p:cNvPr id="566" name="Google Shape;566;p19"/>
          <p:cNvSpPr/>
          <p:nvPr/>
        </p:nvSpPr>
        <p:spPr>
          <a:xfrm>
            <a:off x="1257300" y="3048000"/>
            <a:ext cx="9967800" cy="368400"/>
          </a:xfrm>
          <a:prstGeom prst="rect">
            <a:avLst/>
          </a:prstGeom>
          <a:noFill/>
          <a:ln>
            <a:noFill/>
          </a:ln>
        </p:spPr>
        <p:txBody>
          <a:bodyPr anchorCtr="0" anchor="t" bIns="16925" lIns="16925" spcFirstLastPara="1" rIns="16925" wrap="square" tIns="16925">
            <a:noAutofit/>
          </a:bodyPr>
          <a:lstStyle/>
          <a:p>
            <a:pPr indent="0" lvl="0" marL="0" marR="0" rtl="0" algn="l">
              <a:lnSpc>
                <a:spcPct val="142105"/>
              </a:lnSpc>
              <a:spcBef>
                <a:spcPts val="0"/>
              </a:spcBef>
              <a:spcAft>
                <a:spcPts val="0"/>
              </a:spcAft>
              <a:buClr>
                <a:srgbClr val="FFFFFF"/>
              </a:buClr>
              <a:buSzPts val="1700"/>
              <a:buFont typeface="Courier New"/>
              <a:buNone/>
            </a:pPr>
            <a:r>
              <a:rPr b="1" lang="en-US" sz="1700">
                <a:solidFill>
                  <a:srgbClr val="FFFFFF"/>
                </a:solidFill>
                <a:latin typeface="Courier New"/>
                <a:ea typeface="Courier New"/>
                <a:cs typeface="Courier New"/>
                <a:sym typeface="Courier New"/>
              </a:rPr>
              <a:t>cd my-knowledge-sor &amp;&amp; pnpm install &amp;&amp; pnpm dev</a:t>
            </a:r>
            <a:endParaRPr b="1" sz="1700">
              <a:solidFill>
                <a:srgbClr val="FFFFFF"/>
              </a:solidFill>
              <a:latin typeface="Courier New"/>
              <a:ea typeface="Courier New"/>
              <a:cs typeface="Courier New"/>
              <a:sym typeface="Courier New"/>
            </a:endParaRPr>
          </a:p>
          <a:p>
            <a:pPr indent="0" lvl="0" marL="0" marR="0" rtl="0" algn="l">
              <a:lnSpc>
                <a:spcPct val="142105"/>
              </a:lnSpc>
              <a:spcBef>
                <a:spcPts val="0"/>
              </a:spcBef>
              <a:spcAft>
                <a:spcPts val="0"/>
              </a:spcAft>
              <a:buClr>
                <a:srgbClr val="FFFFFF"/>
              </a:buClr>
              <a:buSzPts val="1700"/>
              <a:buFont typeface="Courier New"/>
              <a:buNone/>
            </a:pPr>
            <a:r>
              <a:t/>
            </a:r>
            <a:endParaRPr b="1" sz="1700">
              <a:solidFill>
                <a:srgbClr val="FFFFFF"/>
              </a:solidFill>
              <a:latin typeface="Courier New"/>
              <a:ea typeface="Courier New"/>
              <a:cs typeface="Courier New"/>
              <a:sym typeface="Courier New"/>
            </a:endParaRPr>
          </a:p>
        </p:txBody>
      </p:sp>
      <p:sp>
        <p:nvSpPr>
          <p:cNvPr id="567" name="Google Shape;567;p19"/>
          <p:cNvSpPr/>
          <p:nvPr/>
        </p:nvSpPr>
        <p:spPr>
          <a:xfrm>
            <a:off x="1257300" y="3390900"/>
            <a:ext cx="9967800" cy="368400"/>
          </a:xfrm>
          <a:prstGeom prst="rect">
            <a:avLst/>
          </a:prstGeom>
          <a:noFill/>
          <a:ln>
            <a:noFill/>
          </a:ln>
        </p:spPr>
        <p:txBody>
          <a:bodyPr anchorCtr="0" anchor="t" bIns="16925" lIns="16925" spcFirstLastPara="1" rIns="16925" wrap="square" tIns="16925">
            <a:noAutofit/>
          </a:bodyPr>
          <a:lstStyle/>
          <a:p>
            <a:pPr indent="0" lvl="0" marL="0" marR="0" rtl="0" algn="l">
              <a:lnSpc>
                <a:spcPct val="142105"/>
              </a:lnSpc>
              <a:spcBef>
                <a:spcPts val="0"/>
              </a:spcBef>
              <a:spcAft>
                <a:spcPts val="0"/>
              </a:spcAft>
              <a:buClr>
                <a:srgbClr val="FFFFFF"/>
              </a:buClr>
              <a:buSzPts val="1700"/>
              <a:buFont typeface="Courier New"/>
              <a:buNone/>
            </a:pPr>
            <a:r>
              <a:rPr b="1" i="0" lang="en-US" sz="1700" u="none" cap="none" strike="noStrike">
                <a:solidFill>
                  <a:srgbClr val="FFFFFF"/>
                </a:solidFill>
                <a:latin typeface="Courier New"/>
                <a:ea typeface="Courier New"/>
                <a:cs typeface="Courier New"/>
                <a:sym typeface="Courier New"/>
              </a:rPr>
              <a:t># open http://localhost:3000 — edit knowledge/*.md, the site reloads</a:t>
            </a:r>
            <a:endParaRPr b="1" i="0" sz="1700" u="none" cap="none" strike="noStrike">
              <a:solidFill>
                <a:schemeClr val="dk1"/>
              </a:solidFill>
              <a:latin typeface="Calibri"/>
              <a:ea typeface="Calibri"/>
              <a:cs typeface="Calibri"/>
              <a:sym typeface="Calibri"/>
            </a:endParaRPr>
          </a:p>
        </p:txBody>
      </p:sp>
      <p:sp>
        <p:nvSpPr>
          <p:cNvPr id="568" name="Google Shape;568;p19"/>
          <p:cNvSpPr/>
          <p:nvPr/>
        </p:nvSpPr>
        <p:spPr>
          <a:xfrm>
            <a:off x="914400" y="4591381"/>
            <a:ext cx="8712000" cy="711300"/>
          </a:xfrm>
          <a:prstGeom prst="rect">
            <a:avLst/>
          </a:prstGeom>
          <a:noFill/>
          <a:ln>
            <a:noFill/>
          </a:ln>
        </p:spPr>
        <p:txBody>
          <a:bodyPr anchorCtr="0" anchor="t" bIns="16925" lIns="16925" spcFirstLastPara="1" rIns="16925" wrap="square" tIns="16925">
            <a:noAutofit/>
          </a:bodyPr>
          <a:lstStyle/>
          <a:p>
            <a:pPr indent="0" lvl="0" marL="0" marR="0" rtl="0" algn="l">
              <a:lnSpc>
                <a:spcPct val="139655"/>
              </a:lnSpc>
              <a:spcBef>
                <a:spcPts val="0"/>
              </a:spcBef>
              <a:spcAft>
                <a:spcPts val="0"/>
              </a:spcAft>
              <a:buClr>
                <a:srgbClr val="0A1F44"/>
              </a:buClr>
              <a:buSzPts val="1500"/>
              <a:buFont typeface="IBM Plex Sans"/>
              <a:buNone/>
            </a:pPr>
            <a:r>
              <a:rPr b="0" i="0" lang="en-US" sz="1500" u="none" cap="none" strike="noStrike">
                <a:solidFill>
                  <a:srgbClr val="0A1F44"/>
                </a:solidFill>
                <a:latin typeface="IBM Plex Sans"/>
                <a:ea typeface="IBM Plex Sans"/>
                <a:cs typeface="IBM Plex Sans"/>
                <a:sym typeface="IBM Plex Sans"/>
              </a:rPr>
              <a:t>Then open the project in the coding agent you already use and tell it what this knowledge base is for. Later, when agents need to query it: provision once, refresh to publish, serve.</a:t>
            </a:r>
            <a:endParaRPr b="0" i="0" sz="1500" u="none" cap="none" strike="noStrike">
              <a:solidFill>
                <a:schemeClr val="dk1"/>
              </a:solidFill>
              <a:latin typeface="Calibri"/>
              <a:ea typeface="Calibri"/>
              <a:cs typeface="Calibri"/>
              <a:sym typeface="Calibri"/>
            </a:endParaRPr>
          </a:p>
        </p:txBody>
      </p:sp>
      <p:sp>
        <p:nvSpPr>
          <p:cNvPr id="569" name="Google Shape;569;p19"/>
          <p:cNvSpPr/>
          <p:nvPr/>
        </p:nvSpPr>
        <p:spPr>
          <a:xfrm>
            <a:off x="695725" y="895074"/>
            <a:ext cx="603600" cy="60360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0" name="Google Shape;570;p19"/>
          <p:cNvPicPr preferRelativeResize="0"/>
          <p:nvPr/>
        </p:nvPicPr>
        <p:blipFill rotWithShape="1">
          <a:blip r:embed="rId3">
            <a:alphaModFix/>
          </a:blip>
          <a:srcRect b="0" l="0" r="0" t="0"/>
          <a:stretch/>
        </p:blipFill>
        <p:spPr>
          <a:xfrm>
            <a:off x="864756" y="1064105"/>
            <a:ext cx="265542" cy="2655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