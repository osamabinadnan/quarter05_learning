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10287000" cx="18288000"/>
  <p:notesSz cx="10287000" cy="18288000"/>
  <p:embeddedFontLst>
    <p:embeddedFont>
      <p:font typeface="Carli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Carlito-bold.fntdata"/><Relationship Id="rId30" Type="http://schemas.openxmlformats.org/officeDocument/2006/relationships/font" Target="fonts/Carlito-regular.fntdata"/><Relationship Id="rId11" Type="http://schemas.openxmlformats.org/officeDocument/2006/relationships/slide" Target="slides/slide7.xml"/><Relationship Id="rId33" Type="http://schemas.openxmlformats.org/officeDocument/2006/relationships/font" Target="fonts/Carlito-boldItalic.fntdata"/><Relationship Id="rId10" Type="http://schemas.openxmlformats.org/officeDocument/2006/relationships/slide" Target="slides/slide6.xml"/><Relationship Id="rId32" Type="http://schemas.openxmlformats.org/officeDocument/2006/relationships/font" Target="fonts/Carlito-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Sixty minutes. Four skills you already half-have, named so you can practice them. Ask: who has thrown away a polished AI answer this week?</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Tell the story slowly. She was capable; the brief was thin. Then the one difference: AI carries nothing between chats.</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models, same plan, same morning; different results. Four qualities, and every D serves at least one of them. Note what is not in the definition.</a:t>
            </a:r>
            <a:endParaRPr/>
          </a:p>
        </p:txBody>
      </p:sp>
      <p:sp>
        <p:nvSpPr>
          <p:cNvPr id="45" name="Google Shape;4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Framework by Rick Dakan and Joseph Feller, taught with Anthropic. Official names matter; the plain-English verbs are the memory aid. Same four skills in a chat, in a coding agent, in a Digital FTE.</a:t>
            </a:r>
            <a:endParaRPr/>
          </a:p>
        </p:txBody>
      </p:sp>
      <p:sp>
        <p:nvSpPr>
          <p:cNvPr id="74" name="Google Shape;7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 reminder from What AI Actually Is. A model continues text from learned patterns; it does not look answers up. Three properties follow.</a:t>
            </a:r>
            <a:endParaRPr/>
          </a:p>
        </p:txBody>
      </p:sp>
      <p:sp>
        <p:nvSpPr>
          <p:cNvPr id="103" name="Google Shape;10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axis is how much freedom the AI has to decide the next step. Ask the room for one example of each from their own week.</a:t>
            </a:r>
            <a:endParaRPr/>
          </a:p>
        </p:txBody>
      </p:sp>
      <p:sp>
        <p:nvSpPr>
          <p:cNvPr id="135" name="Google Shape;13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Contrast the two emails: 'summarize these five' versus 'keep my inbox manageable'. The failure mode changes from a bad step to a misunderstood goal.</a:t>
            </a:r>
            <a:endParaRPr/>
          </a:p>
        </p:txBody>
      </p:sp>
      <p:sp>
        <p:nvSpPr>
          <p:cNvPr id="173" name="Google Shape;17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framework definition aloud, slowly. Two words carry the weight. Everything hard about Mode 2 follows from getting out of the chair.</a:t>
            </a:r>
            <a:endParaRPr/>
          </a:p>
        </p:txBody>
      </p:sp>
      <p:sp>
        <p:nvSpPr>
          <p:cNvPr id="213" name="Google Shape;21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most common beginner mistake happens before the first prompt. Invoice-chasing example: which customers, how many days late, what tone, who approves. Business questions, not prompting questions. Domain expert first.</a:t>
            </a:r>
            <a:endParaRPr/>
          </a:p>
        </p:txBody>
      </p:sp>
      <p:sp>
        <p:nvSpPr>
          <p:cNvPr id="233" name="Google Shape;23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Creating a course like this one. Point out the pattern: purpose, verification, and approval stay human; breadth and mechanical work go to AI. In Agent Factory terms this table becomes the spec and the Digital FTE boundary.</a:t>
            </a:r>
            <a:endParaRPr/>
          </a:p>
        </p:txBody>
      </p:sp>
      <p:sp>
        <p:nvSpPr>
          <p:cNvPr id="267" name="Google Shape;26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Back to the colleague: her outline was wrong because you left things out. Description is bigger than a good prompt. Performance grows the most from Mode 1 to Mode 2: in a chat a bad one annoys you; in a deployed agent it is the product.</a:t>
            </a:r>
            <a:endParaRPr/>
          </a:p>
        </p:txBody>
      </p:sp>
      <p:sp>
        <p:nvSpPr>
          <p:cNvPr id="321" name="Google Shape;32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model, same task. Nothing clever happened; something was said that had not been said before. Completeness beats cleverness.</a:t>
            </a:r>
            <a:endParaRPr/>
          </a:p>
        </p:txBody>
      </p:sp>
      <p:sp>
        <p:nvSpPr>
          <p:cNvPr id="349" name="Google Shape;34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Where Description scales into architecture: system prompt makes performance persistent, SKILL.md makes process reusable, System of Record holds domain knowledge and rules.</a:t>
            </a:r>
            <a:endParaRPr/>
          </a:p>
        </p:txBody>
      </p:sp>
      <p:sp>
        <p:nvSpPr>
          <p:cNvPr id="368" name="Google Shape;36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4" name="Google Shape;40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two minutes, show of hands per option. Answer: A, Delegation. Which patients, how late, what tone, what needs approval are clinic policy questions nobody settled. Better wording cannot answer a question nobody has settled; the diligence concern is real but separate from why the output was unusable.</a:t>
            </a:r>
            <a:endParaRPr/>
          </a:p>
        </p:txBody>
      </p:sp>
      <p:sp>
        <p:nvSpPr>
          <p:cNvPr id="405" name="Google Shape;40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Automation bias: trusting an automated answer too easily because it looks professional. Discernment mirrors Description, pointed at the same three things. Process discernment is the one nobody asks: twenty minutes of steering that saves fifteen is a loss counted as a win.</a:t>
            </a:r>
            <a:endParaRPr/>
          </a:p>
        </p:txBody>
      </p:sp>
      <p:sp>
        <p:nvSpPr>
          <p:cNvPr id="429" name="Google Shape;42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Fluent writing is not proof, a citation-looking link is not proof, a confident tone is not proof. The right answer for the wrong reason (Vendor A's imaginary feature) will not stay right for long: ask for assumptions, evidence, criteria before the recommendation.</a:t>
            </a:r>
            <a:endParaRPr/>
          </a:p>
        </p:txBody>
      </p:sp>
      <p:sp>
        <p:nvSpPr>
          <p:cNvPr id="454" name="Google Shape;45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6" name="Google Shape;47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Iteration is normal; the first response is a draft. Feedback pattern: problem, why it matters, direction. Every review ends one of three ways: ready to use, needs revision, needs human override. Name the ending before you type the next message.</a:t>
            </a:r>
            <a:endParaRPr/>
          </a:p>
        </p:txBody>
      </p:sp>
      <p:sp>
        <p:nvSpPr>
          <p:cNvPr id="477" name="Google Shape;47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lecturer story comes on the next slide. Here: before, during, after. Creation governs what goes in and where; transparency is honesty about the role; deployment is verify and vouch. Would I confidently put my name on this?</a:t>
            </a:r>
            <a:endParaRPr/>
          </a:p>
        </p:txBody>
      </p:sp>
      <p:sp>
        <p:nvSpPr>
          <p:cNvPr id="509" name="Google Shape;50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Size of the check scales with reach and reversibility. Numbers rule: a model predicts a likely-looking total; get it from a spreadsheet or code it ran and showed you. The lecturer: good output, irresponsible use; redaction in an approved tool was the fix. Unclear case: four questions, then decide or escalate.</a:t>
            </a:r>
            <a:endParaRPr/>
          </a:p>
        </p:txBody>
      </p:sp>
      <p:sp>
        <p:nvSpPr>
          <p:cNvPr id="543" name="Google Shape;54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C, performance discernment. Correct answers plus worse outcomes is a behaviour problem, not an accuracy problem; it shows up in what students do next, not in any single output. Product discernment already passed; process is about your own collaboration; there is no 'creation discernment' (creation belongs to Diligence).</a:t>
            </a:r>
            <a:endParaRPr/>
          </a:p>
        </p:txBody>
      </p:sp>
      <p:sp>
        <p:nvSpPr>
          <p:cNvPr id="562" name="Google Shape;56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Human judgment sits at the boundaries. Delegation and Description set direction; AI does the production work; Discernment and Diligence verify. Diligence runs across all 100 percent. As AI gets stronger at the middle 80, human value moves to the beginning and the end of the workflow.</a:t>
            </a:r>
            <a:endParaRPr/>
          </a:p>
        </p:txBody>
      </p:sp>
      <p:sp>
        <p:nvSpPr>
          <p:cNvPr id="586" name="Google Shape;58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Ayesha’s bookkeeping Digital FTE in one breath: partners set the boundary, chart of accounts and rules, tested against trusted past reconciliations including apparent successes, logged and disclosed, signed by a partner. The personal skill becomes a system property.</a:t>
            </a:r>
            <a:endParaRPr/>
          </a:p>
        </p:txBody>
      </p:sp>
      <p:sp>
        <p:nvSpPr>
          <p:cNvPr id="628" name="Google Shape;62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frustrating AI experiences trace to one of these. Ask which one each person recognises in their own week.</a:t>
            </a:r>
            <a:endParaRPr/>
          </a:p>
        </p:txBody>
      </p:sp>
      <p:sp>
        <p:nvSpPr>
          <p:cNvPr id="675" name="Google Shape;67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 paperwork for every small task. The point is to make the four questions automatic. Homework: the six practice prompts in the course, especially exercise 1 on a real task this week.</a:t>
            </a:r>
            <a:endParaRPr/>
          </a:p>
        </p:txBody>
      </p:sp>
      <p:sp>
        <p:nvSpPr>
          <p:cNvPr id="702" name="Google Shape;70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6" name="Google Shape;72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sentence to remember. Credit the framework's authors and point to the free original course on Claude Academy. Next in Foundations: AI Prompting in 2026.</a:t>
            </a:r>
            <a:endParaRPr/>
          </a:p>
        </p:txBody>
      </p:sp>
      <p:sp>
        <p:nvSpPr>
          <p:cNvPr id="727" name="Google Shape;72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34E"/>
        </a:solidFill>
      </p:bgPr>
    </p:bg>
    <p:spTree>
      <p:nvGrpSpPr>
        <p:cNvPr id="15" name="Shape 15"/>
        <p:cNvGrpSpPr/>
        <p:nvPr/>
      </p:nvGrpSpPr>
      <p:grpSpPr>
        <a:xfrm>
          <a:off x="0" y="0"/>
          <a:ext cx="0" cy="0"/>
          <a:chOff x="0" y="0"/>
          <a:chExt cx="0" cy="0"/>
        </a:xfrm>
      </p:grpSpPr>
      <p:sp>
        <p:nvSpPr>
          <p:cNvPr id="16" name="Google Shape;16;p3"/>
          <p:cNvSpPr/>
          <p:nvPr/>
        </p:nvSpPr>
        <p:spPr>
          <a:xfrm>
            <a:off x="914400" y="771525"/>
            <a:ext cx="4752975" cy="1079599"/>
          </a:xfrm>
          <a:prstGeom prst="roundRect">
            <a:avLst>
              <a:gd fmla="val 14116"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p:cNvPicPr preferRelativeResize="0"/>
          <p:nvPr/>
        </p:nvPicPr>
        <p:blipFill rotWithShape="1">
          <a:blip r:embed="rId3">
            <a:alphaModFix/>
          </a:blip>
          <a:srcRect b="0" l="0" r="0" t="0"/>
          <a:stretch/>
        </p:blipFill>
        <p:spPr>
          <a:xfrm>
            <a:off x="1209675" y="990600"/>
            <a:ext cx="4162425" cy="641449"/>
          </a:xfrm>
          <a:prstGeom prst="rect">
            <a:avLst/>
          </a:prstGeom>
          <a:noFill/>
          <a:ln>
            <a:noFill/>
          </a:ln>
        </p:spPr>
      </p:pic>
      <p:sp>
        <p:nvSpPr>
          <p:cNvPr id="18" name="Google Shape;18;p3"/>
          <p:cNvSpPr/>
          <p:nvPr/>
        </p:nvSpPr>
        <p:spPr>
          <a:xfrm>
            <a:off x="914400" y="2924175"/>
            <a:ext cx="17706975" cy="1210121"/>
          </a:xfrm>
          <a:prstGeom prst="rect">
            <a:avLst/>
          </a:prstGeom>
          <a:noFill/>
          <a:ln>
            <a:noFill/>
          </a:ln>
        </p:spPr>
        <p:txBody>
          <a:bodyPr anchorCtr="0" anchor="t" bIns="25400" lIns="25400" spcFirstLastPara="1" rIns="25400" wrap="square" tIns="25400">
            <a:noAutofit/>
          </a:bodyPr>
          <a:lstStyle/>
          <a:p>
            <a:pPr indent="0" lvl="0" marL="0" marR="0" rtl="0" algn="l">
              <a:lnSpc>
                <a:spcPct val="94291"/>
              </a:lnSpc>
              <a:spcBef>
                <a:spcPts val="0"/>
              </a:spcBef>
              <a:spcAft>
                <a:spcPts val="0"/>
              </a:spcAft>
              <a:buClr>
                <a:srgbClr val="F5EEE1"/>
              </a:buClr>
              <a:buSzPts val="8025"/>
              <a:buFont typeface="Carlito"/>
              <a:buNone/>
            </a:pPr>
            <a:r>
              <a:rPr b="1" lang="en-US" sz="8025">
                <a:solidFill>
                  <a:srgbClr val="F5EEE1"/>
                </a:solidFill>
                <a:latin typeface="Carlito"/>
                <a:ea typeface="Carlito"/>
                <a:cs typeface="Carlito"/>
                <a:sym typeface="Carlito"/>
              </a:rPr>
              <a:t>AI Fluency: the 4Ds</a:t>
            </a:r>
            <a:endParaRPr b="1" sz="8025">
              <a:solidFill>
                <a:srgbClr val="F5EEE1"/>
              </a:solidFill>
              <a:latin typeface="Carlito"/>
              <a:ea typeface="Carlito"/>
              <a:cs typeface="Carlito"/>
              <a:sym typeface="Carlito"/>
            </a:endParaRPr>
          </a:p>
        </p:txBody>
      </p:sp>
      <p:sp>
        <p:nvSpPr>
          <p:cNvPr id="19" name="Google Shape;19;p3"/>
          <p:cNvSpPr/>
          <p:nvPr/>
        </p:nvSpPr>
        <p:spPr>
          <a:xfrm>
            <a:off x="914400" y="4476750"/>
            <a:ext cx="17706975" cy="859631"/>
          </a:xfrm>
          <a:prstGeom prst="rect">
            <a:avLst/>
          </a:prstGeom>
          <a:noFill/>
          <a:ln>
            <a:noFill/>
          </a:ln>
        </p:spPr>
        <p:txBody>
          <a:bodyPr anchorCtr="0" anchor="t" bIns="25400" lIns="25400" spcFirstLastPara="1" rIns="25400" wrap="square" tIns="25400">
            <a:noAutofit/>
          </a:bodyPr>
          <a:lstStyle/>
          <a:p>
            <a:pPr indent="0" lvl="0" marL="0" marR="0" rtl="0" algn="l">
              <a:lnSpc>
                <a:spcPct val="94262"/>
              </a:lnSpc>
              <a:spcBef>
                <a:spcPts val="0"/>
              </a:spcBef>
              <a:spcAft>
                <a:spcPts val="0"/>
              </a:spcAft>
              <a:buClr>
                <a:srgbClr val="D3A03F"/>
              </a:buClr>
              <a:buSzPts val="5625"/>
              <a:buFont typeface="Carlito"/>
              <a:buNone/>
            </a:pPr>
            <a:r>
              <a:rPr b="1" i="0" lang="en-US" sz="5625" u="none" cap="none" strike="noStrike">
                <a:solidFill>
                  <a:srgbClr val="D3A03F"/>
                </a:solidFill>
                <a:latin typeface="Carlito"/>
                <a:ea typeface="Carlito"/>
                <a:cs typeface="Carlito"/>
                <a:sym typeface="Carlito"/>
              </a:rPr>
              <a:t>Decide. Describe. Check. Own.</a:t>
            </a:r>
            <a:endParaRPr b="0" i="0" sz="5625" u="none" cap="none" strike="noStrike">
              <a:solidFill>
                <a:schemeClr val="dk1"/>
              </a:solidFill>
              <a:latin typeface="Calibri"/>
              <a:ea typeface="Calibri"/>
              <a:cs typeface="Calibri"/>
              <a:sym typeface="Calibri"/>
            </a:endParaRPr>
          </a:p>
        </p:txBody>
      </p:sp>
      <p:sp>
        <p:nvSpPr>
          <p:cNvPr id="20" name="Google Shape;20;p3"/>
          <p:cNvSpPr/>
          <p:nvPr/>
        </p:nvSpPr>
        <p:spPr>
          <a:xfrm>
            <a:off x="914400" y="6219825"/>
            <a:ext cx="15069312" cy="989558"/>
          </a:xfrm>
          <a:prstGeom prst="rect">
            <a:avLst/>
          </a:prstGeom>
          <a:noFill/>
          <a:ln>
            <a:noFill/>
          </a:ln>
        </p:spPr>
        <p:txBody>
          <a:bodyPr anchorCtr="0" anchor="t" bIns="25400" lIns="25400" spcFirstLastPara="1" rIns="25400" wrap="square" tIns="25400">
            <a:noAutofit/>
          </a:bodyPr>
          <a:lstStyle/>
          <a:p>
            <a:pPr indent="0" lvl="0" marL="0" marR="0" rtl="0" algn="l">
              <a:lnSpc>
                <a:spcPct val="111000"/>
              </a:lnSpc>
              <a:spcBef>
                <a:spcPts val="0"/>
              </a:spcBef>
              <a:spcAft>
                <a:spcPts val="0"/>
              </a:spcAft>
              <a:buClr>
                <a:srgbClr val="F5EEE1"/>
              </a:buClr>
              <a:buSzPts val="2775"/>
              <a:buFont typeface="Carlito"/>
              <a:buNone/>
            </a:pPr>
            <a:r>
              <a:rPr b="0" i="0" lang="en-US" sz="2775" u="none" cap="none" strike="noStrike">
                <a:solidFill>
                  <a:srgbClr val="F5EEE1"/>
                </a:solidFill>
                <a:latin typeface="Carlito"/>
                <a:ea typeface="Carlito"/>
                <a:cs typeface="Carlito"/>
                <a:sym typeface="Carlito"/>
              </a:rPr>
              <a:t>Four competencies. Three ways to work with AI. One practical habit. Foundations, The AI Agent Factory by Panaversity</a:t>
            </a:r>
            <a:endParaRPr b="0" i="0" sz="2775" u="none" cap="none" strike="noStrike">
              <a:solidFill>
                <a:schemeClr val="dk1"/>
              </a:solidFill>
              <a:latin typeface="Calibri"/>
              <a:ea typeface="Calibri"/>
              <a:cs typeface="Calibri"/>
              <a:sym typeface="Calibri"/>
            </a:endParaRPr>
          </a:p>
        </p:txBody>
      </p:sp>
      <p:sp>
        <p:nvSpPr>
          <p:cNvPr id="21" name="Google Shape;21;p3"/>
          <p:cNvSpPr/>
          <p:nvPr/>
        </p:nvSpPr>
        <p:spPr>
          <a:xfrm>
            <a:off x="914400" y="9544050"/>
            <a:ext cx="307380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B9C2C9"/>
              </a:buClr>
              <a:buSzPts val="1800"/>
              <a:buFont typeface="Carlito"/>
              <a:buNone/>
            </a:pPr>
            <a:r>
              <a:rPr lang="en-US" sz="1800">
                <a:solidFill>
                  <a:srgbClr val="B9C2C9"/>
                </a:solidFill>
                <a:latin typeface="Carlito"/>
                <a:ea typeface="Carlito"/>
                <a:cs typeface="Carlito"/>
                <a:sym typeface="Carlito"/>
              </a:rPr>
              <a:t>agentfactory.panaversity.org</a:t>
            </a:r>
            <a:endParaRPr sz="1800">
              <a:solidFill>
                <a:srgbClr val="B9C2C9"/>
              </a:solidFill>
              <a:latin typeface="Carlito"/>
              <a:ea typeface="Carlito"/>
              <a:cs typeface="Carlito"/>
              <a:sym typeface="Carl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26" name="Shape 26"/>
        <p:cNvGrpSpPr/>
        <p:nvPr/>
      </p:nvGrpSpPr>
      <p:grpSpPr>
        <a:xfrm>
          <a:off x="0" y="0"/>
          <a:ext cx="0" cy="0"/>
          <a:chOff x="0" y="0"/>
          <a:chExt cx="0" cy="0"/>
        </a:xfrm>
      </p:grpSpPr>
      <p:pic>
        <p:nvPicPr>
          <p:cNvPr descr="preencoded.png" id="27" name="Google Shape;27;p4"/>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28" name="Google Shape;28;p4"/>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A new colleague's first morning</a:t>
            </a:r>
            <a:endParaRPr b="0" i="0" sz="5175" u="none" cap="none" strike="noStrike">
              <a:solidFill>
                <a:schemeClr val="dk1"/>
              </a:solidFill>
              <a:latin typeface="Calibri"/>
              <a:ea typeface="Calibri"/>
              <a:cs typeface="Calibri"/>
              <a:sym typeface="Calibri"/>
            </a:endParaRPr>
          </a:p>
        </p:txBody>
      </p:sp>
      <p:sp>
        <p:nvSpPr>
          <p:cNvPr id="29" name="Google Shape;29;p4"/>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A talented colleague joins your team. You hand her one sentence of instruction.</a:t>
            </a:r>
            <a:endParaRPr b="0" i="0" sz="2625" u="none" cap="none" strike="noStrike">
              <a:solidFill>
                <a:schemeClr val="dk1"/>
              </a:solidFill>
              <a:latin typeface="Calibri"/>
              <a:ea typeface="Calibri"/>
              <a:cs typeface="Calibri"/>
              <a:sym typeface="Calibri"/>
            </a:endParaRPr>
          </a:p>
        </p:txBody>
      </p:sp>
      <p:sp>
        <p:nvSpPr>
          <p:cNvPr id="30" name="Google Shape;30;p4"/>
          <p:cNvSpPr/>
          <p:nvPr/>
        </p:nvSpPr>
        <p:spPr>
          <a:xfrm>
            <a:off x="914400" y="3019425"/>
            <a:ext cx="16459200" cy="1984995"/>
          </a:xfrm>
          <a:prstGeom prst="roundRect">
            <a:avLst>
              <a:gd fmla="val 7678"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a:off x="1428750" y="3457575"/>
            <a:ext cx="16973550" cy="632445"/>
          </a:xfrm>
          <a:prstGeom prst="rect">
            <a:avLst/>
          </a:prstGeom>
          <a:noFill/>
          <a:ln>
            <a:noFill/>
          </a:ln>
        </p:spPr>
        <p:txBody>
          <a:bodyPr anchorCtr="0" anchor="t" bIns="25400" lIns="25400" spcFirstLastPara="1" rIns="25400" wrap="square" tIns="25400">
            <a:noAutofit/>
          </a:bodyPr>
          <a:lstStyle/>
          <a:p>
            <a:pPr indent="0" lvl="0" marL="0" marR="0" rtl="0" algn="l">
              <a:lnSpc>
                <a:spcPct val="106667"/>
              </a:lnSpc>
              <a:spcBef>
                <a:spcPts val="0"/>
              </a:spcBef>
              <a:spcAft>
                <a:spcPts val="0"/>
              </a:spcAft>
              <a:buClr>
                <a:srgbClr val="F5EEE1"/>
              </a:buClr>
              <a:buSzPts val="3600"/>
              <a:buFont typeface="Carlito"/>
              <a:buNone/>
            </a:pPr>
            <a:r>
              <a:rPr b="1" i="0" lang="en-US" sz="3600" u="none" cap="none" strike="noStrike">
                <a:solidFill>
                  <a:srgbClr val="F5EEE1"/>
                </a:solidFill>
                <a:latin typeface="Carlito"/>
                <a:ea typeface="Carlito"/>
                <a:cs typeface="Carlito"/>
                <a:sym typeface="Carlito"/>
              </a:rPr>
              <a:t>“Prepare a course outline on AI agents.”</a:t>
            </a:r>
            <a:endParaRPr b="0" i="0" sz="3600" u="none" cap="none" strike="noStrike">
              <a:solidFill>
                <a:schemeClr val="dk1"/>
              </a:solidFill>
              <a:latin typeface="Calibri"/>
              <a:ea typeface="Calibri"/>
              <a:cs typeface="Calibri"/>
              <a:sym typeface="Calibri"/>
            </a:endParaRPr>
          </a:p>
        </p:txBody>
      </p:sp>
      <p:sp>
        <p:nvSpPr>
          <p:cNvPr id="32" name="Google Shape;32;p4"/>
          <p:cNvSpPr/>
          <p:nvPr/>
        </p:nvSpPr>
        <p:spPr>
          <a:xfrm>
            <a:off x="1428750" y="4232895"/>
            <a:ext cx="16973550" cy="371475"/>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B9C2C9"/>
              </a:buClr>
              <a:buSzPts val="1875"/>
              <a:buFont typeface="Carlito"/>
              <a:buNone/>
            </a:pPr>
            <a:r>
              <a:rPr b="0" i="0" lang="en-US" sz="1875" u="none" cap="none" strike="noStrike">
                <a:solidFill>
                  <a:srgbClr val="B9C2C9"/>
                </a:solidFill>
                <a:latin typeface="Carlito"/>
                <a:ea typeface="Carlito"/>
                <a:cs typeface="Carlito"/>
                <a:sym typeface="Carlito"/>
              </a:rPr>
              <a:t>Hours later: a polished outline written for PhD researchers, assuming a full semester, with almost no hands-on practice.</a:t>
            </a:r>
            <a:endParaRPr b="0" i="0" sz="1875" u="none" cap="none" strike="noStrike">
              <a:solidFill>
                <a:schemeClr val="dk1"/>
              </a:solidFill>
              <a:latin typeface="Calibri"/>
              <a:ea typeface="Calibri"/>
              <a:cs typeface="Calibri"/>
              <a:sym typeface="Calibri"/>
            </a:endParaRPr>
          </a:p>
        </p:txBody>
      </p:sp>
      <p:sp>
        <p:nvSpPr>
          <p:cNvPr id="33" name="Google Shape;33;p4"/>
          <p:cNvSpPr/>
          <p:nvPr/>
        </p:nvSpPr>
        <p:spPr>
          <a:xfrm>
            <a:off x="914400" y="5366370"/>
            <a:ext cx="8048625" cy="2360116"/>
          </a:xfrm>
          <a:prstGeom prst="roundRect">
            <a:avLst>
              <a:gd fmla="val 6457"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1276350" y="5728320"/>
            <a:ext cx="8057197"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D3A03F"/>
              </a:buClr>
              <a:buSzPts val="2100"/>
              <a:buFont typeface="Carlito"/>
              <a:buNone/>
            </a:pPr>
            <a:r>
              <a:rPr b="1" i="0" lang="en-US" sz="2100" u="none" cap="none" strike="noStrike">
                <a:solidFill>
                  <a:srgbClr val="D3A03F"/>
                </a:solidFill>
                <a:latin typeface="Carlito"/>
                <a:ea typeface="Carlito"/>
                <a:cs typeface="Carlito"/>
                <a:sym typeface="Carlito"/>
              </a:rPr>
              <a:t>Was she incapable? No.</a:t>
            </a:r>
            <a:endParaRPr b="0" i="0" sz="2100" u="none" cap="none" strike="noStrike">
              <a:solidFill>
                <a:schemeClr val="dk1"/>
              </a:solidFill>
              <a:latin typeface="Calibri"/>
              <a:ea typeface="Calibri"/>
              <a:cs typeface="Calibri"/>
              <a:sym typeface="Calibri"/>
            </a:endParaRPr>
          </a:p>
        </p:txBody>
      </p:sp>
      <p:sp>
        <p:nvSpPr>
          <p:cNvPr id="35" name="Google Shape;35;p4"/>
          <p:cNvSpPr/>
          <p:nvPr/>
        </p:nvSpPr>
        <p:spPr>
          <a:xfrm>
            <a:off x="1276350" y="6244530"/>
            <a:ext cx="7544467"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You never explained the audience, the time available, the teaching style, or what students should be able to do at the end.</a:t>
            </a:r>
            <a:endParaRPr b="0" i="0" sz="2100" u="none" cap="none" strike="noStrike">
              <a:solidFill>
                <a:schemeClr val="dk1"/>
              </a:solidFill>
              <a:latin typeface="Calibri"/>
              <a:ea typeface="Calibri"/>
              <a:cs typeface="Calibri"/>
              <a:sym typeface="Calibri"/>
            </a:endParaRPr>
          </a:p>
        </p:txBody>
      </p:sp>
      <p:sp>
        <p:nvSpPr>
          <p:cNvPr id="36" name="Google Shape;36;p4"/>
          <p:cNvSpPr/>
          <p:nvPr/>
        </p:nvSpPr>
        <p:spPr>
          <a:xfrm>
            <a:off x="9324975" y="5366370"/>
            <a:ext cx="8048625" cy="2360116"/>
          </a:xfrm>
          <a:prstGeom prst="roundRect">
            <a:avLst>
              <a:gd fmla="val 6457"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9686925" y="5728320"/>
            <a:ext cx="8057197"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3D89A"/>
              </a:buClr>
              <a:buSzPts val="2100"/>
              <a:buFont typeface="Carlito"/>
              <a:buNone/>
            </a:pPr>
            <a:r>
              <a:rPr b="1" i="0" lang="en-US" sz="2100" u="none" cap="none" strike="noStrike">
                <a:solidFill>
                  <a:srgbClr val="F3D89A"/>
                </a:solidFill>
                <a:latin typeface="Carlito"/>
                <a:ea typeface="Carlito"/>
                <a:cs typeface="Carlito"/>
                <a:sym typeface="Carlito"/>
              </a:rPr>
              <a:t>The one difference with AI</a:t>
            </a:r>
            <a:endParaRPr b="0" i="0" sz="2100" u="none" cap="none" strike="noStrike">
              <a:solidFill>
                <a:schemeClr val="dk1"/>
              </a:solidFill>
              <a:latin typeface="Calibri"/>
              <a:ea typeface="Calibri"/>
              <a:cs typeface="Calibri"/>
              <a:sym typeface="Calibri"/>
            </a:endParaRPr>
          </a:p>
        </p:txBody>
      </p:sp>
      <p:sp>
        <p:nvSpPr>
          <p:cNvPr id="38" name="Google Shape;38;p4"/>
          <p:cNvSpPr/>
          <p:nvPr/>
        </p:nvSpPr>
        <p:spPr>
          <a:xfrm>
            <a:off x="9686925" y="6244530"/>
            <a:ext cx="7544467" cy="1158106"/>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A colleague learns once. AI carries nothing between conversations. Whatever you would tell a person once, you say every time or put where the AI reads it automatically.</a:t>
            </a:r>
            <a:endParaRPr b="0" i="0" sz="2100" u="none" cap="none" strike="noStrike">
              <a:solidFill>
                <a:schemeClr val="dk1"/>
              </a:solidFill>
              <a:latin typeface="Calibri"/>
              <a:ea typeface="Calibri"/>
              <a:cs typeface="Calibri"/>
              <a:sym typeface="Calibri"/>
            </a:endParaRPr>
          </a:p>
        </p:txBody>
      </p:sp>
      <p:sp>
        <p:nvSpPr>
          <p:cNvPr id="39" name="Google Shape;39;p4"/>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A powerful AI still gives the wrong result when the collaboration is poor.</a:t>
            </a:r>
            <a:endParaRPr b="0" i="0" sz="2775" u="none" cap="none" strike="noStrike">
              <a:solidFill>
                <a:schemeClr val="dk1"/>
              </a:solidFill>
              <a:latin typeface="Calibri"/>
              <a:ea typeface="Calibri"/>
              <a:cs typeface="Calibri"/>
              <a:sym typeface="Calibri"/>
            </a:endParaRPr>
          </a:p>
        </p:txBody>
      </p:sp>
      <p:sp>
        <p:nvSpPr>
          <p:cNvPr id="40" name="Google Shape;40;p4"/>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41" name="Google Shape;41;p4"/>
          <p:cNvSpPr/>
          <p:nvPr/>
        </p:nvSpPr>
        <p:spPr>
          <a:xfrm>
            <a:off x="17257737" y="9544050"/>
            <a:ext cx="192063"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46" name="Shape 46"/>
        <p:cNvGrpSpPr/>
        <p:nvPr/>
      </p:nvGrpSpPr>
      <p:grpSpPr>
        <a:xfrm>
          <a:off x="0" y="0"/>
          <a:ext cx="0" cy="0"/>
          <a:chOff x="0" y="0"/>
          <a:chExt cx="0" cy="0"/>
        </a:xfrm>
      </p:grpSpPr>
      <p:pic>
        <p:nvPicPr>
          <p:cNvPr descr="preencoded.png" id="47" name="Google Shape;47;p5"/>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48" name="Google Shape;48;p5"/>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What AI fluency means</a:t>
            </a:r>
            <a:endParaRPr b="0" i="0" sz="5175" u="none" cap="none" strike="noStrike">
              <a:solidFill>
                <a:schemeClr val="dk1"/>
              </a:solidFill>
              <a:latin typeface="Calibri"/>
              <a:ea typeface="Calibri"/>
              <a:cs typeface="Calibri"/>
              <a:sym typeface="Calibri"/>
            </a:endParaRPr>
          </a:p>
        </p:txBody>
      </p:sp>
      <p:sp>
        <p:nvSpPr>
          <p:cNvPr id="49" name="Google Shape;49;p5"/>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Working with AI systems in ways that are</a:t>
            </a:r>
            <a:endParaRPr b="0" i="0" sz="2625" u="none" cap="none" strike="noStrike">
              <a:solidFill>
                <a:schemeClr val="dk1"/>
              </a:solidFill>
              <a:latin typeface="Calibri"/>
              <a:ea typeface="Calibri"/>
              <a:cs typeface="Calibri"/>
              <a:sym typeface="Calibri"/>
            </a:endParaRPr>
          </a:p>
        </p:txBody>
      </p:sp>
      <p:sp>
        <p:nvSpPr>
          <p:cNvPr id="50" name="Google Shape;50;p5"/>
          <p:cNvSpPr/>
          <p:nvPr/>
        </p:nvSpPr>
        <p:spPr>
          <a:xfrm>
            <a:off x="914400" y="3019425"/>
            <a:ext cx="3843338" cy="2042071"/>
          </a:xfrm>
          <a:prstGeom prst="roundRect">
            <a:avLst>
              <a:gd fmla="val 7463"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914400" y="3019425"/>
            <a:ext cx="3843338" cy="13335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1276350" y="3448050"/>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Effective</a:t>
            </a:r>
            <a:endParaRPr b="0" i="0" sz="3000" u="none" cap="none" strike="noStrike">
              <a:solidFill>
                <a:schemeClr val="dk1"/>
              </a:solidFill>
              <a:latin typeface="Calibri"/>
              <a:ea typeface="Calibri"/>
              <a:cs typeface="Calibri"/>
              <a:sym typeface="Calibri"/>
            </a:endParaRPr>
          </a:p>
        </p:txBody>
      </p:sp>
      <p:sp>
        <p:nvSpPr>
          <p:cNvPr id="53" name="Google Shape;53;p5"/>
          <p:cNvSpPr/>
          <p:nvPr/>
        </p:nvSpPr>
        <p:spPr>
          <a:xfrm>
            <a:off x="1276350" y="4019550"/>
            <a:ext cx="3431381"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You actually reach your goal.</a:t>
            </a:r>
            <a:endParaRPr b="0" i="0" sz="2100" u="none" cap="none" strike="noStrike">
              <a:solidFill>
                <a:schemeClr val="dk1"/>
              </a:solidFill>
              <a:latin typeface="Calibri"/>
              <a:ea typeface="Calibri"/>
              <a:cs typeface="Calibri"/>
              <a:sym typeface="Calibri"/>
            </a:endParaRPr>
          </a:p>
        </p:txBody>
      </p:sp>
      <p:sp>
        <p:nvSpPr>
          <p:cNvPr id="54" name="Google Shape;54;p5"/>
          <p:cNvSpPr/>
          <p:nvPr/>
        </p:nvSpPr>
        <p:spPr>
          <a:xfrm>
            <a:off x="5119688" y="3019425"/>
            <a:ext cx="3843338" cy="2042071"/>
          </a:xfrm>
          <a:prstGeom prst="roundRect">
            <a:avLst>
              <a:gd fmla="val 7463"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5119688" y="3019425"/>
            <a:ext cx="3843338" cy="133350"/>
          </a:xfrm>
          <a:prstGeom prst="rect">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5481638" y="3448050"/>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Efficient</a:t>
            </a:r>
            <a:endParaRPr b="0" i="0" sz="3000" u="none" cap="none" strike="noStrike">
              <a:solidFill>
                <a:schemeClr val="dk1"/>
              </a:solidFill>
              <a:latin typeface="Calibri"/>
              <a:ea typeface="Calibri"/>
              <a:cs typeface="Calibri"/>
              <a:sym typeface="Calibri"/>
            </a:endParaRPr>
          </a:p>
        </p:txBody>
      </p:sp>
      <p:sp>
        <p:nvSpPr>
          <p:cNvPr id="57" name="Google Shape;57;p5"/>
          <p:cNvSpPr/>
          <p:nvPr/>
        </p:nvSpPr>
        <p:spPr>
          <a:xfrm>
            <a:off x="5481638" y="4019550"/>
            <a:ext cx="3213021"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No wasted time, tokens, or energy.</a:t>
            </a:r>
            <a:endParaRPr b="0" i="0" sz="2100" u="none" cap="none" strike="noStrike">
              <a:solidFill>
                <a:schemeClr val="dk1"/>
              </a:solidFill>
              <a:latin typeface="Calibri"/>
              <a:ea typeface="Calibri"/>
              <a:cs typeface="Calibri"/>
              <a:sym typeface="Calibri"/>
            </a:endParaRPr>
          </a:p>
        </p:txBody>
      </p:sp>
      <p:sp>
        <p:nvSpPr>
          <p:cNvPr id="58" name="Google Shape;58;p5"/>
          <p:cNvSpPr/>
          <p:nvPr/>
        </p:nvSpPr>
        <p:spPr>
          <a:xfrm>
            <a:off x="9324975" y="3019425"/>
            <a:ext cx="3843338" cy="2042071"/>
          </a:xfrm>
          <a:prstGeom prst="roundRect">
            <a:avLst>
              <a:gd fmla="val 7463"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9324975" y="3019425"/>
            <a:ext cx="3843338" cy="133350"/>
          </a:xfrm>
          <a:prstGeom prst="rect">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9686925" y="3448050"/>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Ethical</a:t>
            </a:r>
            <a:endParaRPr b="0" i="0" sz="3000" u="none" cap="none" strike="noStrike">
              <a:solidFill>
                <a:schemeClr val="dk1"/>
              </a:solidFill>
              <a:latin typeface="Calibri"/>
              <a:ea typeface="Calibri"/>
              <a:cs typeface="Calibri"/>
              <a:sym typeface="Calibri"/>
            </a:endParaRPr>
          </a:p>
        </p:txBody>
      </p:sp>
      <p:sp>
        <p:nvSpPr>
          <p:cNvPr id="61" name="Google Shape;61;p5"/>
          <p:cNvSpPr/>
          <p:nvPr/>
        </p:nvSpPr>
        <p:spPr>
          <a:xfrm>
            <a:off x="9686925" y="4019550"/>
            <a:ext cx="3213021"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Honest about AI's role, fair in how you use it.</a:t>
            </a:r>
            <a:endParaRPr b="0" i="0" sz="2100" u="none" cap="none" strike="noStrike">
              <a:solidFill>
                <a:schemeClr val="dk1"/>
              </a:solidFill>
              <a:latin typeface="Calibri"/>
              <a:ea typeface="Calibri"/>
              <a:cs typeface="Calibri"/>
              <a:sym typeface="Calibri"/>
            </a:endParaRPr>
          </a:p>
        </p:txBody>
      </p:sp>
      <p:sp>
        <p:nvSpPr>
          <p:cNvPr id="62" name="Google Shape;62;p5"/>
          <p:cNvSpPr/>
          <p:nvPr/>
        </p:nvSpPr>
        <p:spPr>
          <a:xfrm>
            <a:off x="13530263" y="3019425"/>
            <a:ext cx="3843338" cy="2042071"/>
          </a:xfrm>
          <a:prstGeom prst="roundRect">
            <a:avLst>
              <a:gd fmla="val 7463"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13530263" y="3019425"/>
            <a:ext cx="3843338" cy="13335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13892213" y="3448050"/>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Safe</a:t>
            </a:r>
            <a:endParaRPr b="0" i="0" sz="3000" u="none" cap="none" strike="noStrike">
              <a:solidFill>
                <a:schemeClr val="dk1"/>
              </a:solidFill>
              <a:latin typeface="Calibri"/>
              <a:ea typeface="Calibri"/>
              <a:cs typeface="Calibri"/>
              <a:sym typeface="Calibri"/>
            </a:endParaRPr>
          </a:p>
        </p:txBody>
      </p:sp>
      <p:sp>
        <p:nvSpPr>
          <p:cNvPr id="65" name="Google Shape;65;p5"/>
          <p:cNvSpPr/>
          <p:nvPr/>
        </p:nvSpPr>
        <p:spPr>
          <a:xfrm>
            <a:off x="13892213" y="4019550"/>
            <a:ext cx="3213021"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Privacy and security protected, for everyone.</a:t>
            </a:r>
            <a:endParaRPr b="0" i="0" sz="2100" u="none" cap="none" strike="noStrike">
              <a:solidFill>
                <a:schemeClr val="dk1"/>
              </a:solidFill>
              <a:latin typeface="Calibri"/>
              <a:ea typeface="Calibri"/>
              <a:cs typeface="Calibri"/>
              <a:sym typeface="Calibri"/>
            </a:endParaRPr>
          </a:p>
        </p:txBody>
      </p:sp>
      <p:sp>
        <p:nvSpPr>
          <p:cNvPr id="66" name="Google Shape;66;p5"/>
          <p:cNvSpPr/>
          <p:nvPr/>
        </p:nvSpPr>
        <p:spPr>
          <a:xfrm>
            <a:off x="914400" y="5423446"/>
            <a:ext cx="16459200" cy="1261021"/>
          </a:xfrm>
          <a:prstGeom prst="roundRect">
            <a:avLst>
              <a:gd fmla="val 12085"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1276350" y="5680621"/>
            <a:ext cx="16207359"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D3A03F"/>
              </a:buClr>
              <a:buSzPts val="2100"/>
              <a:buFont typeface="Carlito"/>
              <a:buNone/>
            </a:pPr>
            <a:r>
              <a:rPr b="1" i="0" lang="en-US" sz="2100" u="none" cap="none" strike="noStrike">
                <a:solidFill>
                  <a:srgbClr val="D3A03F"/>
                </a:solidFill>
                <a:latin typeface="Carlito"/>
                <a:ea typeface="Carlito"/>
                <a:cs typeface="Carlito"/>
                <a:sym typeface="Carlito"/>
              </a:rPr>
              <a:t>Four qualities. Every one of the 4Ds serves at least one of them. </a:t>
            </a:r>
            <a:r>
              <a:rPr b="0" i="0" lang="en-US" sz="2100" u="none" cap="none" strike="noStrike">
                <a:solidFill>
                  <a:srgbClr val="F5EEE1"/>
                </a:solidFill>
                <a:latin typeface="Carlito"/>
                <a:ea typeface="Carlito"/>
                <a:cs typeface="Carlito"/>
                <a:sym typeface="Carlito"/>
              </a:rPr>
              <a:t>Not in the definition: training a language model, the internals of transformers, or a collection of magic prompts.</a:t>
            </a:r>
            <a:endParaRPr b="0" i="0" sz="2100" u="none" cap="none" strike="noStrike">
              <a:solidFill>
                <a:schemeClr val="dk1"/>
              </a:solidFill>
              <a:latin typeface="Calibri"/>
              <a:ea typeface="Calibri"/>
              <a:cs typeface="Calibri"/>
              <a:sym typeface="Calibri"/>
            </a:endParaRPr>
          </a:p>
        </p:txBody>
      </p:sp>
      <p:sp>
        <p:nvSpPr>
          <p:cNvPr id="68" name="Google Shape;68;p5"/>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A durable skill set, not a collection of prompt tricks.</a:t>
            </a:r>
            <a:endParaRPr b="0" i="0" sz="2775" u="none" cap="none" strike="noStrike">
              <a:solidFill>
                <a:schemeClr val="dk1"/>
              </a:solidFill>
              <a:latin typeface="Calibri"/>
              <a:ea typeface="Calibri"/>
              <a:cs typeface="Calibri"/>
              <a:sym typeface="Calibri"/>
            </a:endParaRPr>
          </a:p>
        </p:txBody>
      </p:sp>
      <p:sp>
        <p:nvSpPr>
          <p:cNvPr id="69" name="Google Shape;69;p5"/>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70" name="Google Shape;70;p5"/>
          <p:cNvSpPr/>
          <p:nvPr/>
        </p:nvSpPr>
        <p:spPr>
          <a:xfrm>
            <a:off x="17257737" y="9544050"/>
            <a:ext cx="192063"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75" name="Shape 75"/>
        <p:cNvGrpSpPr/>
        <p:nvPr/>
      </p:nvGrpSpPr>
      <p:grpSpPr>
        <a:xfrm>
          <a:off x="0" y="0"/>
          <a:ext cx="0" cy="0"/>
          <a:chOff x="0" y="0"/>
          <a:chExt cx="0" cy="0"/>
        </a:xfrm>
      </p:grpSpPr>
      <p:pic>
        <p:nvPicPr>
          <p:cNvPr descr="preencoded.png" id="76" name="Google Shape;76;p6"/>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77" name="Google Shape;77;p6"/>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The four competencies</a:t>
            </a:r>
            <a:endParaRPr b="0" i="0" sz="5175" u="none" cap="none" strike="noStrike">
              <a:solidFill>
                <a:schemeClr val="dk1"/>
              </a:solidFill>
              <a:latin typeface="Calibri"/>
              <a:ea typeface="Calibri"/>
              <a:cs typeface="Calibri"/>
              <a:sym typeface="Calibri"/>
            </a:endParaRPr>
          </a:p>
        </p:txBody>
      </p:sp>
      <p:sp>
        <p:nvSpPr>
          <p:cNvPr id="78" name="Google Shape;78;p6"/>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The AI Fluency Framework, by Rick Dakan and Joseph Feller. The whole course in four questions.</a:t>
            </a:r>
            <a:endParaRPr b="0" i="0" sz="2625" u="none" cap="none" strike="noStrike">
              <a:solidFill>
                <a:schemeClr val="dk1"/>
              </a:solidFill>
              <a:latin typeface="Calibri"/>
              <a:ea typeface="Calibri"/>
              <a:cs typeface="Calibri"/>
              <a:sym typeface="Calibri"/>
            </a:endParaRPr>
          </a:p>
        </p:txBody>
      </p:sp>
      <p:sp>
        <p:nvSpPr>
          <p:cNvPr id="79" name="Google Shape;79;p6"/>
          <p:cNvSpPr/>
          <p:nvPr/>
        </p:nvSpPr>
        <p:spPr>
          <a:xfrm>
            <a:off x="914400" y="3019425"/>
            <a:ext cx="3843338" cy="2937346"/>
          </a:xfrm>
          <a:prstGeom prst="roundRect">
            <a:avLst>
              <a:gd fmla="val 5188"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1276350" y="3381375"/>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Delegation</a:t>
            </a:r>
            <a:endParaRPr b="0" i="0" sz="3000" u="none" cap="none" strike="noStrike">
              <a:solidFill>
                <a:schemeClr val="dk1"/>
              </a:solidFill>
              <a:latin typeface="Calibri"/>
              <a:ea typeface="Calibri"/>
              <a:cs typeface="Calibri"/>
              <a:sym typeface="Calibri"/>
            </a:endParaRPr>
          </a:p>
        </p:txBody>
      </p:sp>
      <p:sp>
        <p:nvSpPr>
          <p:cNvPr id="81" name="Google Shape;81;p6"/>
          <p:cNvSpPr/>
          <p:nvPr/>
        </p:nvSpPr>
        <p:spPr>
          <a:xfrm>
            <a:off x="1276350" y="3895725"/>
            <a:ext cx="3431381"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B9C2C9"/>
              </a:buClr>
              <a:buSzPts val="2025"/>
              <a:buFont typeface="Carlito"/>
              <a:buNone/>
            </a:pPr>
            <a:r>
              <a:rPr b="0" i="0" lang="en-US" sz="2025" u="none" cap="none" strike="noStrike">
                <a:solidFill>
                  <a:srgbClr val="B9C2C9"/>
                </a:solidFill>
                <a:latin typeface="Carlito"/>
                <a:ea typeface="Carlito"/>
                <a:cs typeface="Carlito"/>
                <a:sym typeface="Carlito"/>
              </a:rPr>
              <a:t>Decide</a:t>
            </a:r>
            <a:endParaRPr b="0" i="0" sz="2025" u="none" cap="none" strike="noStrike">
              <a:solidFill>
                <a:schemeClr val="dk1"/>
              </a:solidFill>
              <a:latin typeface="Calibri"/>
              <a:ea typeface="Calibri"/>
              <a:cs typeface="Calibri"/>
              <a:sym typeface="Calibri"/>
            </a:endParaRPr>
          </a:p>
        </p:txBody>
      </p:sp>
      <p:sp>
        <p:nvSpPr>
          <p:cNvPr id="82" name="Google Shape;82;p6"/>
          <p:cNvSpPr/>
          <p:nvPr/>
        </p:nvSpPr>
        <p:spPr>
          <a:xfrm>
            <a:off x="1276350" y="4474815"/>
            <a:ext cx="3213021"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What should AI do, and what should stay with me?</a:t>
            </a:r>
            <a:endParaRPr b="0" i="0" sz="2100" u="none" cap="none" strike="noStrike">
              <a:solidFill>
                <a:schemeClr val="dk1"/>
              </a:solidFill>
              <a:latin typeface="Calibri"/>
              <a:ea typeface="Calibri"/>
              <a:cs typeface="Calibri"/>
              <a:sym typeface="Calibri"/>
            </a:endParaRPr>
          </a:p>
        </p:txBody>
      </p:sp>
      <p:sp>
        <p:nvSpPr>
          <p:cNvPr id="83" name="Google Shape;83;p6"/>
          <p:cNvSpPr/>
          <p:nvPr/>
        </p:nvSpPr>
        <p:spPr>
          <a:xfrm>
            <a:off x="5119688" y="3019425"/>
            <a:ext cx="3843338" cy="2937346"/>
          </a:xfrm>
          <a:prstGeom prst="roundRect">
            <a:avLst>
              <a:gd fmla="val 5188"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6"/>
          <p:cNvSpPr/>
          <p:nvPr/>
        </p:nvSpPr>
        <p:spPr>
          <a:xfrm>
            <a:off x="5481638" y="3381375"/>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Description</a:t>
            </a:r>
            <a:endParaRPr b="0" i="0" sz="3000" u="none" cap="none" strike="noStrike">
              <a:solidFill>
                <a:schemeClr val="dk1"/>
              </a:solidFill>
              <a:latin typeface="Calibri"/>
              <a:ea typeface="Calibri"/>
              <a:cs typeface="Calibri"/>
              <a:sym typeface="Calibri"/>
            </a:endParaRPr>
          </a:p>
        </p:txBody>
      </p:sp>
      <p:sp>
        <p:nvSpPr>
          <p:cNvPr id="85" name="Google Shape;85;p6"/>
          <p:cNvSpPr/>
          <p:nvPr/>
        </p:nvSpPr>
        <p:spPr>
          <a:xfrm>
            <a:off x="5481638" y="3895725"/>
            <a:ext cx="3431381"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F3D89A"/>
              </a:buClr>
              <a:buSzPts val="2025"/>
              <a:buFont typeface="Carlito"/>
              <a:buNone/>
            </a:pPr>
            <a:r>
              <a:rPr b="0" i="0" lang="en-US" sz="2025" u="none" cap="none" strike="noStrike">
                <a:solidFill>
                  <a:srgbClr val="F3D89A"/>
                </a:solidFill>
                <a:latin typeface="Carlito"/>
                <a:ea typeface="Carlito"/>
                <a:cs typeface="Carlito"/>
                <a:sym typeface="Carlito"/>
              </a:rPr>
              <a:t>Explain</a:t>
            </a:r>
            <a:endParaRPr b="0" i="0" sz="2025" u="none" cap="none" strike="noStrike">
              <a:solidFill>
                <a:schemeClr val="dk1"/>
              </a:solidFill>
              <a:latin typeface="Calibri"/>
              <a:ea typeface="Calibri"/>
              <a:cs typeface="Calibri"/>
              <a:sym typeface="Calibri"/>
            </a:endParaRPr>
          </a:p>
        </p:txBody>
      </p:sp>
      <p:sp>
        <p:nvSpPr>
          <p:cNvPr id="86" name="Google Shape;86;p6"/>
          <p:cNvSpPr/>
          <p:nvPr/>
        </p:nvSpPr>
        <p:spPr>
          <a:xfrm>
            <a:off x="5481638" y="4474815"/>
            <a:ext cx="3213021"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What does AI need to know to do the work well?</a:t>
            </a:r>
            <a:endParaRPr b="0" i="0" sz="2100" u="none" cap="none" strike="noStrike">
              <a:solidFill>
                <a:schemeClr val="dk1"/>
              </a:solidFill>
              <a:latin typeface="Calibri"/>
              <a:ea typeface="Calibri"/>
              <a:cs typeface="Calibri"/>
              <a:sym typeface="Calibri"/>
            </a:endParaRPr>
          </a:p>
        </p:txBody>
      </p:sp>
      <p:sp>
        <p:nvSpPr>
          <p:cNvPr id="87" name="Google Shape;87;p6"/>
          <p:cNvSpPr/>
          <p:nvPr/>
        </p:nvSpPr>
        <p:spPr>
          <a:xfrm>
            <a:off x="9324975" y="3019425"/>
            <a:ext cx="3843338" cy="2937346"/>
          </a:xfrm>
          <a:prstGeom prst="roundRect">
            <a:avLst>
              <a:gd fmla="val 5188" name="adj"/>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9686925" y="3381375"/>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Discernment</a:t>
            </a:r>
            <a:endParaRPr b="0" i="0" sz="3000" u="none" cap="none" strike="noStrike">
              <a:solidFill>
                <a:schemeClr val="dk1"/>
              </a:solidFill>
              <a:latin typeface="Calibri"/>
              <a:ea typeface="Calibri"/>
              <a:cs typeface="Calibri"/>
              <a:sym typeface="Calibri"/>
            </a:endParaRPr>
          </a:p>
        </p:txBody>
      </p:sp>
      <p:sp>
        <p:nvSpPr>
          <p:cNvPr id="89" name="Google Shape;89;p6"/>
          <p:cNvSpPr/>
          <p:nvPr/>
        </p:nvSpPr>
        <p:spPr>
          <a:xfrm>
            <a:off x="9686925" y="3895725"/>
            <a:ext cx="3431381"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Check</a:t>
            </a:r>
            <a:endParaRPr b="0" i="0" sz="2025" u="none" cap="none" strike="noStrike">
              <a:solidFill>
                <a:schemeClr val="dk1"/>
              </a:solidFill>
              <a:latin typeface="Calibri"/>
              <a:ea typeface="Calibri"/>
              <a:cs typeface="Calibri"/>
              <a:sym typeface="Calibri"/>
            </a:endParaRPr>
          </a:p>
        </p:txBody>
      </p:sp>
      <p:sp>
        <p:nvSpPr>
          <p:cNvPr id="90" name="Google Shape;90;p6"/>
          <p:cNvSpPr/>
          <p:nvPr/>
        </p:nvSpPr>
        <p:spPr>
          <a:xfrm>
            <a:off x="9686925" y="4474815"/>
            <a:ext cx="3213021"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Is the result actually good and trustworthy?</a:t>
            </a:r>
            <a:endParaRPr b="0" i="0" sz="2100" u="none" cap="none" strike="noStrike">
              <a:solidFill>
                <a:schemeClr val="dk1"/>
              </a:solidFill>
              <a:latin typeface="Calibri"/>
              <a:ea typeface="Calibri"/>
              <a:cs typeface="Calibri"/>
              <a:sym typeface="Calibri"/>
            </a:endParaRPr>
          </a:p>
        </p:txBody>
      </p:sp>
      <p:sp>
        <p:nvSpPr>
          <p:cNvPr id="91" name="Google Shape;91;p6"/>
          <p:cNvSpPr/>
          <p:nvPr/>
        </p:nvSpPr>
        <p:spPr>
          <a:xfrm>
            <a:off x="13530263" y="3019425"/>
            <a:ext cx="3843338" cy="2937346"/>
          </a:xfrm>
          <a:prstGeom prst="roundRect">
            <a:avLst>
              <a:gd fmla="val 5188"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13892213" y="3381375"/>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Diligence</a:t>
            </a:r>
            <a:endParaRPr b="0" i="0" sz="3000" u="none" cap="none" strike="noStrike">
              <a:solidFill>
                <a:schemeClr val="dk1"/>
              </a:solidFill>
              <a:latin typeface="Calibri"/>
              <a:ea typeface="Calibri"/>
              <a:cs typeface="Calibri"/>
              <a:sym typeface="Calibri"/>
            </a:endParaRPr>
          </a:p>
        </p:txBody>
      </p:sp>
      <p:sp>
        <p:nvSpPr>
          <p:cNvPr id="93" name="Google Shape;93;p6"/>
          <p:cNvSpPr/>
          <p:nvPr/>
        </p:nvSpPr>
        <p:spPr>
          <a:xfrm>
            <a:off x="13892213" y="3895725"/>
            <a:ext cx="3431381"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6B7780"/>
              </a:buClr>
              <a:buSzPts val="2025"/>
              <a:buFont typeface="Carlito"/>
              <a:buNone/>
            </a:pPr>
            <a:r>
              <a:rPr b="0" i="0" lang="en-US" sz="2025" u="none" cap="none" strike="noStrike">
                <a:solidFill>
                  <a:srgbClr val="6B7780"/>
                </a:solidFill>
                <a:latin typeface="Carlito"/>
                <a:ea typeface="Carlito"/>
                <a:cs typeface="Carlito"/>
                <a:sym typeface="Carlito"/>
              </a:rPr>
              <a:t>Own</a:t>
            </a:r>
            <a:endParaRPr b="0" i="0" sz="2025" u="none" cap="none" strike="noStrike">
              <a:solidFill>
                <a:schemeClr val="dk1"/>
              </a:solidFill>
              <a:latin typeface="Calibri"/>
              <a:ea typeface="Calibri"/>
              <a:cs typeface="Calibri"/>
              <a:sym typeface="Calibri"/>
            </a:endParaRPr>
          </a:p>
        </p:txBody>
      </p:sp>
      <p:sp>
        <p:nvSpPr>
          <p:cNvPr id="94" name="Google Shape;94;p6"/>
          <p:cNvSpPr/>
          <p:nvPr/>
        </p:nvSpPr>
        <p:spPr>
          <a:xfrm>
            <a:off x="13892213" y="4474815"/>
            <a:ext cx="3213021" cy="1158106"/>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Is this a responsible way to use AI, and am I ready to own the result?</a:t>
            </a:r>
            <a:endParaRPr b="0" i="0" sz="2100" u="none" cap="none" strike="noStrike">
              <a:solidFill>
                <a:schemeClr val="dk1"/>
              </a:solidFill>
              <a:latin typeface="Calibri"/>
              <a:ea typeface="Calibri"/>
              <a:cs typeface="Calibri"/>
              <a:sym typeface="Calibri"/>
            </a:endParaRPr>
          </a:p>
        </p:txBody>
      </p:sp>
      <p:sp>
        <p:nvSpPr>
          <p:cNvPr id="95" name="Google Shape;95;p6"/>
          <p:cNvSpPr/>
          <p:nvPr/>
        </p:nvSpPr>
        <p:spPr>
          <a:xfrm>
            <a:off x="914400" y="6318721"/>
            <a:ext cx="16459200" cy="887685"/>
          </a:xfrm>
          <a:prstGeom prst="roundRect">
            <a:avLst>
              <a:gd fmla="val 17168"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1276350" y="6575896"/>
            <a:ext cx="17308830"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D3A03F"/>
              </a:buClr>
              <a:buSzPts val="2100"/>
              <a:buFont typeface="Carlito"/>
              <a:buNone/>
            </a:pPr>
            <a:r>
              <a:rPr b="1" i="0" lang="en-US" sz="2100" u="none" cap="none" strike="noStrike">
                <a:solidFill>
                  <a:srgbClr val="D3A03F"/>
                </a:solidFill>
                <a:latin typeface="Carlito"/>
                <a:ea typeface="Carlito"/>
                <a:cs typeface="Carlito"/>
                <a:sym typeface="Carlito"/>
              </a:rPr>
              <a:t>Mode 1 </a:t>
            </a:r>
            <a:r>
              <a:rPr b="0" i="0" lang="en-US" sz="2100" u="none" cap="none" strike="noStrike">
                <a:solidFill>
                  <a:srgbClr val="F5EEE1"/>
                </a:solidFill>
                <a:latin typeface="Carlito"/>
                <a:ea typeface="Carlito"/>
                <a:cs typeface="Carlito"/>
                <a:sym typeface="Carlito"/>
              </a:rPr>
              <a:t>uses general agents to solve problems. </a:t>
            </a:r>
            <a:r>
              <a:rPr b="1" i="0" lang="en-US" sz="2100" u="none" cap="none" strike="noStrike">
                <a:solidFill>
                  <a:srgbClr val="D3A03F"/>
                </a:solidFill>
                <a:latin typeface="Carlito"/>
                <a:ea typeface="Carlito"/>
                <a:cs typeface="Carlito"/>
                <a:sym typeface="Carlito"/>
              </a:rPr>
              <a:t>Mode 2 </a:t>
            </a:r>
            <a:r>
              <a:rPr b="0" i="0" lang="en-US" sz="2100" u="none" cap="none" strike="noStrike">
                <a:solidFill>
                  <a:srgbClr val="F5EEE1"/>
                </a:solidFill>
                <a:latin typeface="Carlito"/>
                <a:ea typeface="Carlito"/>
                <a:cs typeface="Carlito"/>
                <a:sym typeface="Carlito"/>
              </a:rPr>
              <a:t>builds Digital FTEs for other people. Both require AI fluency.</a:t>
            </a:r>
            <a:endParaRPr b="0" i="0" sz="2100" u="none" cap="none" strike="noStrike">
              <a:solidFill>
                <a:schemeClr val="dk1"/>
              </a:solidFill>
              <a:latin typeface="Calibri"/>
              <a:ea typeface="Calibri"/>
              <a:cs typeface="Calibri"/>
              <a:sym typeface="Calibri"/>
            </a:endParaRPr>
          </a:p>
        </p:txBody>
      </p:sp>
      <p:sp>
        <p:nvSpPr>
          <p:cNvPr id="97" name="Google Shape;97;p6"/>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If you cannot work well with one AI assistant, you are not ready to design one that acts for thousands of users.</a:t>
            </a:r>
            <a:endParaRPr b="0" i="0" sz="2775" u="none" cap="none" strike="noStrike">
              <a:solidFill>
                <a:schemeClr val="dk1"/>
              </a:solidFill>
              <a:latin typeface="Calibri"/>
              <a:ea typeface="Calibri"/>
              <a:cs typeface="Calibri"/>
              <a:sym typeface="Calibri"/>
            </a:endParaRPr>
          </a:p>
        </p:txBody>
      </p:sp>
      <p:sp>
        <p:nvSpPr>
          <p:cNvPr id="98" name="Google Shape;98;p6"/>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99" name="Google Shape;99;p6"/>
          <p:cNvSpPr/>
          <p:nvPr/>
        </p:nvSpPr>
        <p:spPr>
          <a:xfrm>
            <a:off x="17257737" y="9544050"/>
            <a:ext cx="192063"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104" name="Shape 104"/>
        <p:cNvGrpSpPr/>
        <p:nvPr/>
      </p:nvGrpSpPr>
      <p:grpSpPr>
        <a:xfrm>
          <a:off x="0" y="0"/>
          <a:ext cx="0" cy="0"/>
          <a:chOff x="0" y="0"/>
          <a:chExt cx="0" cy="0"/>
        </a:xfrm>
      </p:grpSpPr>
      <p:pic>
        <p:nvPicPr>
          <p:cNvPr descr="preencoded.png" id="105" name="Google Shape;105;p7"/>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106" name="Google Shape;106;p7"/>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What you are actually working with</a:t>
            </a:r>
            <a:endParaRPr b="0" i="0" sz="5175" u="none" cap="none" strike="noStrike">
              <a:solidFill>
                <a:schemeClr val="dk1"/>
              </a:solidFill>
              <a:latin typeface="Calibri"/>
              <a:ea typeface="Calibri"/>
              <a:cs typeface="Calibri"/>
              <a:sym typeface="Calibri"/>
            </a:endParaRPr>
          </a:p>
        </p:txBody>
      </p:sp>
      <p:sp>
        <p:nvSpPr>
          <p:cNvPr id="107" name="Google Shape;107;p7"/>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A model continues text from learned patterns. It does not look answers up.</a:t>
            </a:r>
            <a:endParaRPr b="0" i="0" sz="2625" u="none" cap="none" strike="noStrike">
              <a:solidFill>
                <a:schemeClr val="dk1"/>
              </a:solidFill>
              <a:latin typeface="Calibri"/>
              <a:ea typeface="Calibri"/>
              <a:cs typeface="Calibri"/>
              <a:sym typeface="Calibri"/>
            </a:endParaRPr>
          </a:p>
        </p:txBody>
      </p:sp>
      <p:sp>
        <p:nvSpPr>
          <p:cNvPr id="108" name="Google Shape;108;p7"/>
          <p:cNvSpPr/>
          <p:nvPr/>
        </p:nvSpPr>
        <p:spPr>
          <a:xfrm>
            <a:off x="914400" y="3019425"/>
            <a:ext cx="5029200" cy="1790626"/>
          </a:xfrm>
          <a:prstGeom prst="roundRect">
            <a:avLst>
              <a:gd fmla="val 8511"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p:nvPr/>
        </p:nvSpPr>
        <p:spPr>
          <a:xfrm>
            <a:off x="1276350" y="3314700"/>
            <a:ext cx="4735830"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Your prompt</a:t>
            </a:r>
            <a:endParaRPr b="0" i="0" sz="2700" u="none" cap="none" strike="noStrike">
              <a:solidFill>
                <a:schemeClr val="dk1"/>
              </a:solidFill>
              <a:latin typeface="Calibri"/>
              <a:ea typeface="Calibri"/>
              <a:cs typeface="Calibri"/>
              <a:sym typeface="Calibri"/>
            </a:endParaRPr>
          </a:p>
        </p:txBody>
      </p:sp>
      <p:sp>
        <p:nvSpPr>
          <p:cNvPr id="110" name="Google Shape;110;p7"/>
          <p:cNvSpPr/>
          <p:nvPr/>
        </p:nvSpPr>
        <p:spPr>
          <a:xfrm>
            <a:off x="1276350" y="3821385"/>
            <a:ext cx="4434459" cy="731490"/>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33434E"/>
              </a:buClr>
              <a:buSzPts val="1950"/>
              <a:buFont typeface="Carlito"/>
              <a:buNone/>
            </a:pPr>
            <a:r>
              <a:rPr b="0" i="0" lang="en-US" sz="1950" u="none" cap="none" strike="noStrike">
                <a:solidFill>
                  <a:srgbClr val="33434E"/>
                </a:solidFill>
                <a:latin typeface="Carlito"/>
                <a:ea typeface="Carlito"/>
                <a:cs typeface="Carlito"/>
                <a:sym typeface="Carlito"/>
              </a:rPr>
              <a:t>Everything you state, inside the context window.</a:t>
            </a:r>
            <a:endParaRPr b="0" i="0" sz="1950" u="none" cap="none" strike="noStrike">
              <a:solidFill>
                <a:schemeClr val="dk1"/>
              </a:solidFill>
              <a:latin typeface="Calibri"/>
              <a:ea typeface="Calibri"/>
              <a:cs typeface="Calibri"/>
              <a:sym typeface="Calibri"/>
            </a:endParaRPr>
          </a:p>
        </p:txBody>
      </p:sp>
      <p:sp>
        <p:nvSpPr>
          <p:cNvPr id="111" name="Google Shape;111;p7"/>
          <p:cNvSpPr/>
          <p:nvPr/>
        </p:nvSpPr>
        <p:spPr>
          <a:xfrm>
            <a:off x="6162675" y="3724201"/>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
          <p:cNvSpPr/>
          <p:nvPr/>
        </p:nvSpPr>
        <p:spPr>
          <a:xfrm>
            <a:off x="6629400" y="3019425"/>
            <a:ext cx="5029200" cy="1790626"/>
          </a:xfrm>
          <a:prstGeom prst="roundRect">
            <a:avLst>
              <a:gd fmla="val 8511"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7"/>
          <p:cNvSpPr/>
          <p:nvPr/>
        </p:nvSpPr>
        <p:spPr>
          <a:xfrm>
            <a:off x="6991350" y="3314700"/>
            <a:ext cx="4735830"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Patterns from training</a:t>
            </a:r>
            <a:endParaRPr b="0" i="0" sz="2700" u="none" cap="none" strike="noStrike">
              <a:solidFill>
                <a:schemeClr val="dk1"/>
              </a:solidFill>
              <a:latin typeface="Calibri"/>
              <a:ea typeface="Calibri"/>
              <a:cs typeface="Calibri"/>
              <a:sym typeface="Calibri"/>
            </a:endParaRPr>
          </a:p>
        </p:txBody>
      </p:sp>
      <p:sp>
        <p:nvSpPr>
          <p:cNvPr id="114" name="Google Shape;114;p7"/>
          <p:cNvSpPr/>
          <p:nvPr/>
        </p:nvSpPr>
        <p:spPr>
          <a:xfrm>
            <a:off x="6991350" y="3821385"/>
            <a:ext cx="4434459" cy="731490"/>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33434E"/>
              </a:buClr>
              <a:buSzPts val="1950"/>
              <a:buFont typeface="Carlito"/>
              <a:buNone/>
            </a:pPr>
            <a:r>
              <a:rPr b="0" i="0" lang="en-US" sz="1950" u="none" cap="none" strike="noStrike">
                <a:solidFill>
                  <a:srgbClr val="33434E"/>
                </a:solidFill>
                <a:latin typeface="Carlito"/>
                <a:ea typeface="Carlito"/>
                <a:cs typeface="Carlito"/>
                <a:sym typeface="Carlito"/>
              </a:rPr>
              <a:t>Statistical relationships learned from vast text.</a:t>
            </a:r>
            <a:endParaRPr b="0" i="0" sz="1950" u="none" cap="none" strike="noStrike">
              <a:solidFill>
                <a:schemeClr val="dk1"/>
              </a:solidFill>
              <a:latin typeface="Calibri"/>
              <a:ea typeface="Calibri"/>
              <a:cs typeface="Calibri"/>
              <a:sym typeface="Calibri"/>
            </a:endParaRPr>
          </a:p>
        </p:txBody>
      </p:sp>
      <p:sp>
        <p:nvSpPr>
          <p:cNvPr id="115" name="Google Shape;115;p7"/>
          <p:cNvSpPr/>
          <p:nvPr/>
        </p:nvSpPr>
        <p:spPr>
          <a:xfrm>
            <a:off x="11877675" y="3724201"/>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12344400" y="3192735"/>
            <a:ext cx="5029200" cy="1443930"/>
          </a:xfrm>
          <a:prstGeom prst="roundRect">
            <a:avLst>
              <a:gd fmla="val 10555"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12706350" y="3488010"/>
            <a:ext cx="4735830"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Plausible continuation</a:t>
            </a:r>
            <a:endParaRPr b="0" i="0" sz="2700" u="none" cap="none" strike="noStrike">
              <a:solidFill>
                <a:schemeClr val="dk1"/>
              </a:solidFill>
              <a:latin typeface="Calibri"/>
              <a:ea typeface="Calibri"/>
              <a:cs typeface="Calibri"/>
              <a:sym typeface="Calibri"/>
            </a:endParaRPr>
          </a:p>
        </p:txBody>
      </p:sp>
      <p:sp>
        <p:nvSpPr>
          <p:cNvPr id="118" name="Google Shape;118;p7"/>
          <p:cNvSpPr/>
          <p:nvPr/>
        </p:nvSpPr>
        <p:spPr>
          <a:xfrm>
            <a:off x="12706350" y="3994696"/>
            <a:ext cx="4735830" cy="384795"/>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33434E"/>
              </a:buClr>
              <a:buSzPts val="1950"/>
              <a:buFont typeface="Carlito"/>
              <a:buNone/>
            </a:pPr>
            <a:r>
              <a:rPr b="0" i="0" lang="en-US" sz="1950" u="none" cap="none" strike="noStrike">
                <a:solidFill>
                  <a:srgbClr val="33434E"/>
                </a:solidFill>
                <a:latin typeface="Carlito"/>
                <a:ea typeface="Carlito"/>
                <a:cs typeface="Carlito"/>
                <a:sym typeface="Carlito"/>
              </a:rPr>
              <a:t>New text that fits, not a database lookup.</a:t>
            </a:r>
            <a:endParaRPr b="0" i="0" sz="1950" u="none" cap="none" strike="noStrike">
              <a:solidFill>
                <a:schemeClr val="dk1"/>
              </a:solidFill>
              <a:latin typeface="Calibri"/>
              <a:ea typeface="Calibri"/>
              <a:cs typeface="Calibri"/>
              <a:sym typeface="Calibri"/>
            </a:endParaRPr>
          </a:p>
        </p:txBody>
      </p:sp>
      <p:sp>
        <p:nvSpPr>
          <p:cNvPr id="119" name="Google Shape;119;p7"/>
          <p:cNvSpPr/>
          <p:nvPr/>
        </p:nvSpPr>
        <p:spPr>
          <a:xfrm>
            <a:off x="914400" y="5076751"/>
            <a:ext cx="18105120"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6B7780"/>
              </a:buClr>
              <a:buSzPts val="2025"/>
              <a:buFont typeface="Carlito"/>
              <a:buNone/>
            </a:pPr>
            <a:r>
              <a:rPr b="1" i="0" lang="en-US" sz="2025" u="none" cap="none" strike="noStrike">
                <a:solidFill>
                  <a:srgbClr val="6B7780"/>
                </a:solidFill>
                <a:latin typeface="Carlito"/>
                <a:ea typeface="Carlito"/>
                <a:cs typeface="Carlito"/>
                <a:sym typeface="Carlito"/>
              </a:rPr>
              <a:t>Three properties follow, and each shapes how you must work</a:t>
            </a:r>
            <a:endParaRPr b="0" i="0" sz="2025" u="none" cap="none" strike="noStrike">
              <a:solidFill>
                <a:schemeClr val="dk1"/>
              </a:solidFill>
              <a:latin typeface="Calibri"/>
              <a:ea typeface="Calibri"/>
              <a:cs typeface="Calibri"/>
              <a:sym typeface="Calibri"/>
            </a:endParaRPr>
          </a:p>
        </p:txBody>
      </p:sp>
      <p:sp>
        <p:nvSpPr>
          <p:cNvPr id="120" name="Google Shape;120;p7"/>
          <p:cNvSpPr/>
          <p:nvPr/>
        </p:nvSpPr>
        <p:spPr>
          <a:xfrm>
            <a:off x="914400" y="5703466"/>
            <a:ext cx="5245075" cy="1771576"/>
          </a:xfrm>
          <a:prstGeom prst="roundRect">
            <a:avLst>
              <a:gd fmla="val 8603"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1276350" y="5998741"/>
            <a:ext cx="4973293"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F5EEE1"/>
              </a:buClr>
              <a:buSzPts val="2700"/>
              <a:buFont typeface="Carlito"/>
              <a:buNone/>
            </a:pPr>
            <a:r>
              <a:rPr b="1" i="0" lang="en-US" sz="2700" u="none" cap="none" strike="noStrike">
                <a:solidFill>
                  <a:srgbClr val="F5EEE1"/>
                </a:solidFill>
                <a:latin typeface="Carlito"/>
                <a:ea typeface="Carlito"/>
                <a:cs typeface="Carlito"/>
                <a:sym typeface="Carlito"/>
              </a:rPr>
              <a:t>Plausible is not correct</a:t>
            </a:r>
            <a:endParaRPr b="0" i="0" sz="2700" u="none" cap="none" strike="noStrike">
              <a:solidFill>
                <a:schemeClr val="dk1"/>
              </a:solidFill>
              <a:latin typeface="Calibri"/>
              <a:ea typeface="Calibri"/>
              <a:cs typeface="Calibri"/>
              <a:sym typeface="Calibri"/>
            </a:endParaRPr>
          </a:p>
        </p:txBody>
      </p:sp>
      <p:sp>
        <p:nvSpPr>
          <p:cNvPr id="122" name="Google Shape;122;p7"/>
          <p:cNvSpPr/>
          <p:nvPr/>
        </p:nvSpPr>
        <p:spPr>
          <a:xfrm>
            <a:off x="1276350" y="6486376"/>
            <a:ext cx="4656810" cy="731490"/>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F5EEE1"/>
              </a:buClr>
              <a:buSzPts val="1950"/>
              <a:buFont typeface="Carlito"/>
              <a:buNone/>
            </a:pPr>
            <a:r>
              <a:rPr b="0" i="0" lang="en-US" sz="1950" u="none" cap="none" strike="noStrike">
                <a:solidFill>
                  <a:srgbClr val="F5EEE1"/>
                </a:solidFill>
                <a:latin typeface="Carlito"/>
                <a:ea typeface="Carlito"/>
                <a:cs typeface="Carlito"/>
                <a:sym typeface="Carlito"/>
              </a:rPr>
              <a:t>Confident and wrong is possible. That is a hallucination.</a:t>
            </a:r>
            <a:endParaRPr b="0" i="0" sz="1950" u="none" cap="none" strike="noStrike">
              <a:solidFill>
                <a:schemeClr val="dk1"/>
              </a:solidFill>
              <a:latin typeface="Calibri"/>
              <a:ea typeface="Calibri"/>
              <a:cs typeface="Calibri"/>
              <a:sym typeface="Calibri"/>
            </a:endParaRPr>
          </a:p>
        </p:txBody>
      </p:sp>
      <p:sp>
        <p:nvSpPr>
          <p:cNvPr id="123" name="Google Shape;123;p7"/>
          <p:cNvSpPr/>
          <p:nvPr/>
        </p:nvSpPr>
        <p:spPr>
          <a:xfrm>
            <a:off x="6521425" y="5703466"/>
            <a:ext cx="5245075" cy="1771576"/>
          </a:xfrm>
          <a:prstGeom prst="roundRect">
            <a:avLst>
              <a:gd fmla="val 8603"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6883375" y="5998741"/>
            <a:ext cx="4973293"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F5EEE1"/>
              </a:buClr>
              <a:buSzPts val="2700"/>
              <a:buFont typeface="Carlito"/>
              <a:buNone/>
            </a:pPr>
            <a:r>
              <a:rPr b="1" i="0" lang="en-US" sz="2700" u="none" cap="none" strike="noStrike">
                <a:solidFill>
                  <a:srgbClr val="F5EEE1"/>
                </a:solidFill>
                <a:latin typeface="Carlito"/>
                <a:ea typeface="Carlito"/>
                <a:cs typeface="Carlito"/>
                <a:sym typeface="Carlito"/>
              </a:rPr>
              <a:t>Output varies</a:t>
            </a:r>
            <a:endParaRPr b="0" i="0" sz="2700" u="none" cap="none" strike="noStrike">
              <a:solidFill>
                <a:schemeClr val="dk1"/>
              </a:solidFill>
              <a:latin typeface="Calibri"/>
              <a:ea typeface="Calibri"/>
              <a:cs typeface="Calibri"/>
              <a:sym typeface="Calibri"/>
            </a:endParaRPr>
          </a:p>
        </p:txBody>
      </p:sp>
      <p:sp>
        <p:nvSpPr>
          <p:cNvPr id="125" name="Google Shape;125;p7"/>
          <p:cNvSpPr/>
          <p:nvPr/>
        </p:nvSpPr>
        <p:spPr>
          <a:xfrm>
            <a:off x="6883375" y="6486376"/>
            <a:ext cx="4656810" cy="731490"/>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F5EEE1"/>
              </a:buClr>
              <a:buSzPts val="1950"/>
              <a:buFont typeface="Carlito"/>
              <a:buNone/>
            </a:pPr>
            <a:r>
              <a:rPr b="0" i="0" lang="en-US" sz="1950" u="none" cap="none" strike="noStrike">
                <a:solidFill>
                  <a:srgbClr val="F5EEE1"/>
                </a:solidFill>
                <a:latin typeface="Carlito"/>
                <a:ea typeface="Carlito"/>
                <a:cs typeface="Carlito"/>
                <a:sym typeface="Carlito"/>
              </a:rPr>
              <a:t>Same question, different answers. Useful for ideas, risky for facts.</a:t>
            </a:r>
            <a:endParaRPr b="0" i="0" sz="1950" u="none" cap="none" strike="noStrike">
              <a:solidFill>
                <a:schemeClr val="dk1"/>
              </a:solidFill>
              <a:latin typeface="Calibri"/>
              <a:ea typeface="Calibri"/>
              <a:cs typeface="Calibri"/>
              <a:sym typeface="Calibri"/>
            </a:endParaRPr>
          </a:p>
        </p:txBody>
      </p:sp>
      <p:sp>
        <p:nvSpPr>
          <p:cNvPr id="126" name="Google Shape;126;p7"/>
          <p:cNvSpPr/>
          <p:nvPr/>
        </p:nvSpPr>
        <p:spPr>
          <a:xfrm>
            <a:off x="12128450" y="5703466"/>
            <a:ext cx="5245150" cy="1771576"/>
          </a:xfrm>
          <a:prstGeom prst="roundRect">
            <a:avLst>
              <a:gd fmla="val 8603" name="adj"/>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12490400" y="5998741"/>
            <a:ext cx="4973375"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Knowledge has a cutoff</a:t>
            </a:r>
            <a:endParaRPr b="0" i="0" sz="2700" u="none" cap="none" strike="noStrike">
              <a:solidFill>
                <a:schemeClr val="dk1"/>
              </a:solidFill>
              <a:latin typeface="Calibri"/>
              <a:ea typeface="Calibri"/>
              <a:cs typeface="Calibri"/>
              <a:sym typeface="Calibri"/>
            </a:endParaRPr>
          </a:p>
        </p:txBody>
      </p:sp>
      <p:sp>
        <p:nvSpPr>
          <p:cNvPr id="128" name="Google Shape;128;p7"/>
          <p:cNvSpPr/>
          <p:nvPr/>
        </p:nvSpPr>
        <p:spPr>
          <a:xfrm>
            <a:off x="12490400" y="6486376"/>
            <a:ext cx="4656887" cy="731490"/>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33434E"/>
              </a:buClr>
              <a:buSzPts val="1950"/>
              <a:buFont typeface="Carlito"/>
              <a:buNone/>
            </a:pPr>
            <a:r>
              <a:rPr b="0" i="0" lang="en-US" sz="1950" u="none" cap="none" strike="noStrike">
                <a:solidFill>
                  <a:srgbClr val="33434E"/>
                </a:solidFill>
                <a:latin typeface="Carlito"/>
                <a:ea typeface="Carlito"/>
                <a:cs typeface="Carlito"/>
                <a:sym typeface="Carlito"/>
              </a:rPr>
              <a:t>Nothing after training exists for the model without tools.</a:t>
            </a:r>
            <a:endParaRPr b="0" i="0" sz="1950" u="none" cap="none" strike="noStrike">
              <a:solidFill>
                <a:schemeClr val="dk1"/>
              </a:solidFill>
              <a:latin typeface="Calibri"/>
              <a:ea typeface="Calibri"/>
              <a:cs typeface="Calibri"/>
              <a:sym typeface="Calibri"/>
            </a:endParaRPr>
          </a:p>
        </p:txBody>
      </p:sp>
      <p:sp>
        <p:nvSpPr>
          <p:cNvPr id="129" name="Google Shape;129;p7"/>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Treat every output as an informed draft from a capable colleague, never as ground truth.</a:t>
            </a:r>
            <a:endParaRPr b="0" i="0" sz="2775" u="none" cap="none" strike="noStrike">
              <a:solidFill>
                <a:schemeClr val="dk1"/>
              </a:solidFill>
              <a:latin typeface="Calibri"/>
              <a:ea typeface="Calibri"/>
              <a:cs typeface="Calibri"/>
              <a:sym typeface="Calibri"/>
            </a:endParaRPr>
          </a:p>
        </p:txBody>
      </p:sp>
      <p:sp>
        <p:nvSpPr>
          <p:cNvPr id="130" name="Google Shape;130;p7"/>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131" name="Google Shape;131;p7"/>
          <p:cNvSpPr/>
          <p:nvPr/>
        </p:nvSpPr>
        <p:spPr>
          <a:xfrm>
            <a:off x="17257737" y="9544050"/>
            <a:ext cx="192063"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136" name="Shape 136"/>
        <p:cNvGrpSpPr/>
        <p:nvPr/>
      </p:nvGrpSpPr>
      <p:grpSpPr>
        <a:xfrm>
          <a:off x="0" y="0"/>
          <a:ext cx="0" cy="0"/>
          <a:chOff x="0" y="0"/>
          <a:chExt cx="0" cy="0"/>
        </a:xfrm>
      </p:grpSpPr>
      <p:pic>
        <p:nvPicPr>
          <p:cNvPr descr="preencoded.png" id="137" name="Google Shape;137;p8"/>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138" name="Google Shape;138;p8"/>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Three modes of human and AI interaction</a:t>
            </a:r>
            <a:endParaRPr b="0" i="0" sz="5175" u="none" cap="none" strike="noStrike">
              <a:solidFill>
                <a:schemeClr val="dk1"/>
              </a:solidFill>
              <a:latin typeface="Calibri"/>
              <a:ea typeface="Calibri"/>
              <a:cs typeface="Calibri"/>
              <a:sym typeface="Calibri"/>
            </a:endParaRPr>
          </a:p>
        </p:txBody>
      </p:sp>
      <p:sp>
        <p:nvSpPr>
          <p:cNvPr id="139" name="Google Shape;139;p8"/>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The difference is how much freedom the AI has to decide what to do next.</a:t>
            </a:r>
            <a:endParaRPr b="0" i="0" sz="2625" u="none" cap="none" strike="noStrike">
              <a:solidFill>
                <a:schemeClr val="dk1"/>
              </a:solidFill>
              <a:latin typeface="Calibri"/>
              <a:ea typeface="Calibri"/>
              <a:cs typeface="Calibri"/>
              <a:sym typeface="Calibri"/>
            </a:endParaRPr>
          </a:p>
        </p:txBody>
      </p:sp>
      <p:sp>
        <p:nvSpPr>
          <p:cNvPr id="140" name="Google Shape;140;p8"/>
          <p:cNvSpPr/>
          <p:nvPr/>
        </p:nvSpPr>
        <p:spPr>
          <a:xfrm>
            <a:off x="914400" y="3019425"/>
            <a:ext cx="5029200" cy="3455566"/>
          </a:xfrm>
          <a:prstGeom prst="roundRect">
            <a:avLst>
              <a:gd fmla="val 4410"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914400" y="3019425"/>
            <a:ext cx="5029200" cy="89535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1209675" y="3238500"/>
            <a:ext cx="4589526"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Automation</a:t>
            </a:r>
            <a:endParaRPr b="0" i="0" sz="3000" u="none" cap="none" strike="noStrike">
              <a:solidFill>
                <a:schemeClr val="dk1"/>
              </a:solidFill>
              <a:latin typeface="Calibri"/>
              <a:ea typeface="Calibri"/>
              <a:cs typeface="Calibri"/>
              <a:sym typeface="Calibri"/>
            </a:endParaRPr>
          </a:p>
        </p:txBody>
      </p:sp>
      <p:sp>
        <p:nvSpPr>
          <p:cNvPr id="143" name="Google Shape;143;p8"/>
          <p:cNvSpPr/>
          <p:nvPr/>
        </p:nvSpPr>
        <p:spPr>
          <a:xfrm>
            <a:off x="1209675" y="4210050"/>
            <a:ext cx="4882515" cy="451470"/>
          </a:xfrm>
          <a:prstGeom prst="rect">
            <a:avLst/>
          </a:prstGeom>
          <a:noFill/>
          <a:ln>
            <a:noFill/>
          </a:ln>
        </p:spPr>
        <p:txBody>
          <a:bodyPr anchorCtr="0" anchor="t" bIns="25400" lIns="25400" spcFirstLastPara="1" rIns="25400" wrap="square" tIns="25400">
            <a:noAutofit/>
          </a:bodyPr>
          <a:lstStyle/>
          <a:p>
            <a:pPr indent="0" lvl="0" marL="0" marR="0" rtl="0" algn="l">
              <a:lnSpc>
                <a:spcPct val="114211"/>
              </a:lnSpc>
              <a:spcBef>
                <a:spcPts val="0"/>
              </a:spcBef>
              <a:spcAft>
                <a:spcPts val="0"/>
              </a:spcAft>
              <a:buClr>
                <a:srgbClr val="C05F44"/>
              </a:buClr>
              <a:buSzPts val="2325"/>
              <a:buFont typeface="Carlito"/>
              <a:buNone/>
            </a:pPr>
            <a:r>
              <a:rPr b="1" i="0" lang="en-US" sz="2325" u="none" cap="none" strike="noStrike">
                <a:solidFill>
                  <a:srgbClr val="C05F44"/>
                </a:solidFill>
                <a:latin typeface="Carlito"/>
                <a:ea typeface="Carlito"/>
                <a:cs typeface="Carlito"/>
                <a:sym typeface="Carlito"/>
              </a:rPr>
              <a:t>“Execute this process”</a:t>
            </a:r>
            <a:endParaRPr b="0" i="0" sz="2325" u="none" cap="none" strike="noStrike">
              <a:solidFill>
                <a:schemeClr val="dk1"/>
              </a:solidFill>
              <a:latin typeface="Calibri"/>
              <a:ea typeface="Calibri"/>
              <a:cs typeface="Calibri"/>
              <a:sym typeface="Calibri"/>
            </a:endParaRPr>
          </a:p>
        </p:txBody>
      </p:sp>
      <p:sp>
        <p:nvSpPr>
          <p:cNvPr id="144" name="Google Shape;144;p8"/>
          <p:cNvSpPr/>
          <p:nvPr/>
        </p:nvSpPr>
        <p:spPr>
          <a:xfrm>
            <a:off x="1209675" y="4766295"/>
            <a:ext cx="4571810"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AI performs a specific task from your specific instructions.</a:t>
            </a:r>
            <a:endParaRPr b="0" i="0" sz="2025" u="none" cap="none" strike="noStrike">
              <a:solidFill>
                <a:schemeClr val="dk1"/>
              </a:solidFill>
              <a:latin typeface="Calibri"/>
              <a:ea typeface="Calibri"/>
              <a:cs typeface="Calibri"/>
              <a:sym typeface="Calibri"/>
            </a:endParaRPr>
          </a:p>
        </p:txBody>
      </p:sp>
      <p:sp>
        <p:nvSpPr>
          <p:cNvPr id="145" name="Google Shape;145;p8"/>
          <p:cNvSpPr/>
          <p:nvPr/>
        </p:nvSpPr>
        <p:spPr>
          <a:xfrm>
            <a:off x="1209675" y="5629201"/>
            <a:ext cx="3005510" cy="550515"/>
          </a:xfrm>
          <a:prstGeom prst="roundRect">
            <a:avLst>
              <a:gd fmla="val 20762" name="adj"/>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1428750" y="5724451"/>
            <a:ext cx="2657525"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1" i="0" lang="en-US" sz="2025" u="none" cap="none" strike="noStrike">
                <a:solidFill>
                  <a:srgbClr val="33434E"/>
                </a:solidFill>
                <a:latin typeface="Carlito"/>
                <a:ea typeface="Carlito"/>
                <a:cs typeface="Carlito"/>
                <a:sym typeface="Carlito"/>
              </a:rPr>
              <a:t>You are the script writer</a:t>
            </a:r>
            <a:endParaRPr b="0" i="0" sz="2025" u="none" cap="none" strike="noStrike">
              <a:solidFill>
                <a:schemeClr val="dk1"/>
              </a:solidFill>
              <a:latin typeface="Calibri"/>
              <a:ea typeface="Calibri"/>
              <a:cs typeface="Calibri"/>
              <a:sym typeface="Calibri"/>
            </a:endParaRPr>
          </a:p>
        </p:txBody>
      </p:sp>
      <p:sp>
        <p:nvSpPr>
          <p:cNvPr id="147" name="Google Shape;147;p8"/>
          <p:cNvSpPr/>
          <p:nvPr/>
        </p:nvSpPr>
        <p:spPr>
          <a:xfrm>
            <a:off x="6162675" y="4556671"/>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6629400" y="3019425"/>
            <a:ext cx="5029200" cy="3455566"/>
          </a:xfrm>
          <a:prstGeom prst="roundRect">
            <a:avLst>
              <a:gd fmla="val 4410"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6629400" y="3019425"/>
            <a:ext cx="5029200" cy="895350"/>
          </a:xfrm>
          <a:prstGeom prst="rect">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6924675" y="3238500"/>
            <a:ext cx="4589526"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Augmentation</a:t>
            </a:r>
            <a:endParaRPr b="0" i="0" sz="3000" u="none" cap="none" strike="noStrike">
              <a:solidFill>
                <a:schemeClr val="dk1"/>
              </a:solidFill>
              <a:latin typeface="Calibri"/>
              <a:ea typeface="Calibri"/>
              <a:cs typeface="Calibri"/>
              <a:sym typeface="Calibri"/>
            </a:endParaRPr>
          </a:p>
        </p:txBody>
      </p:sp>
      <p:sp>
        <p:nvSpPr>
          <p:cNvPr id="151" name="Google Shape;151;p8"/>
          <p:cNvSpPr/>
          <p:nvPr/>
        </p:nvSpPr>
        <p:spPr>
          <a:xfrm>
            <a:off x="6924675" y="4210050"/>
            <a:ext cx="4882515" cy="451470"/>
          </a:xfrm>
          <a:prstGeom prst="rect">
            <a:avLst/>
          </a:prstGeom>
          <a:noFill/>
          <a:ln>
            <a:noFill/>
          </a:ln>
        </p:spPr>
        <p:txBody>
          <a:bodyPr anchorCtr="0" anchor="t" bIns="25400" lIns="25400" spcFirstLastPara="1" rIns="25400" wrap="square" tIns="25400">
            <a:noAutofit/>
          </a:bodyPr>
          <a:lstStyle/>
          <a:p>
            <a:pPr indent="0" lvl="0" marL="0" marR="0" rtl="0" algn="l">
              <a:lnSpc>
                <a:spcPct val="114211"/>
              </a:lnSpc>
              <a:spcBef>
                <a:spcPts val="0"/>
              </a:spcBef>
              <a:spcAft>
                <a:spcPts val="0"/>
              </a:spcAft>
              <a:buClr>
                <a:srgbClr val="C05F44"/>
              </a:buClr>
              <a:buSzPts val="2325"/>
              <a:buFont typeface="Carlito"/>
              <a:buNone/>
            </a:pPr>
            <a:r>
              <a:rPr b="1" i="0" lang="en-US" sz="2325" u="none" cap="none" strike="noStrike">
                <a:solidFill>
                  <a:srgbClr val="C05F44"/>
                </a:solidFill>
                <a:latin typeface="Carlito"/>
                <a:ea typeface="Carlito"/>
                <a:cs typeface="Carlito"/>
                <a:sym typeface="Carlito"/>
              </a:rPr>
              <a:t>“Let us solve this together”</a:t>
            </a:r>
            <a:endParaRPr b="0" i="0" sz="2325" u="none" cap="none" strike="noStrike">
              <a:solidFill>
                <a:schemeClr val="dk1"/>
              </a:solidFill>
              <a:latin typeface="Calibri"/>
              <a:ea typeface="Calibri"/>
              <a:cs typeface="Calibri"/>
              <a:sym typeface="Calibri"/>
            </a:endParaRPr>
          </a:p>
        </p:txBody>
      </p:sp>
      <p:sp>
        <p:nvSpPr>
          <p:cNvPr id="152" name="Google Shape;152;p8"/>
          <p:cNvSpPr/>
          <p:nvPr/>
        </p:nvSpPr>
        <p:spPr>
          <a:xfrm>
            <a:off x="6924675" y="4766295"/>
            <a:ext cx="4571810"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You and AI collaborate as thinking partners.</a:t>
            </a:r>
            <a:endParaRPr b="0" i="0" sz="2025" u="none" cap="none" strike="noStrike">
              <a:solidFill>
                <a:schemeClr val="dk1"/>
              </a:solidFill>
              <a:latin typeface="Calibri"/>
              <a:ea typeface="Calibri"/>
              <a:cs typeface="Calibri"/>
              <a:sym typeface="Calibri"/>
            </a:endParaRPr>
          </a:p>
        </p:txBody>
      </p:sp>
      <p:sp>
        <p:nvSpPr>
          <p:cNvPr id="153" name="Google Shape;153;p8"/>
          <p:cNvSpPr/>
          <p:nvPr/>
        </p:nvSpPr>
        <p:spPr>
          <a:xfrm>
            <a:off x="6924675" y="5629201"/>
            <a:ext cx="2793206" cy="550515"/>
          </a:xfrm>
          <a:prstGeom prst="roundRect">
            <a:avLst>
              <a:gd fmla="val 20762" name="adj"/>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7143750" y="5724451"/>
            <a:ext cx="2438852"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1" i="0" lang="en-US" sz="2025" u="none" cap="none" strike="noStrike">
                <a:solidFill>
                  <a:srgbClr val="33434E"/>
                </a:solidFill>
                <a:latin typeface="Carlito"/>
                <a:ea typeface="Carlito"/>
                <a:cs typeface="Carlito"/>
                <a:sym typeface="Carlito"/>
              </a:rPr>
              <a:t>You are the co-creator</a:t>
            </a:r>
            <a:endParaRPr b="0" i="0" sz="2025" u="none" cap="none" strike="noStrike">
              <a:solidFill>
                <a:schemeClr val="dk1"/>
              </a:solidFill>
              <a:latin typeface="Calibri"/>
              <a:ea typeface="Calibri"/>
              <a:cs typeface="Calibri"/>
              <a:sym typeface="Calibri"/>
            </a:endParaRPr>
          </a:p>
        </p:txBody>
      </p:sp>
      <p:sp>
        <p:nvSpPr>
          <p:cNvPr id="155" name="Google Shape;155;p8"/>
          <p:cNvSpPr/>
          <p:nvPr/>
        </p:nvSpPr>
        <p:spPr>
          <a:xfrm>
            <a:off x="11877675" y="4556671"/>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12344400" y="3019425"/>
            <a:ext cx="5029200" cy="3455566"/>
          </a:xfrm>
          <a:prstGeom prst="roundRect">
            <a:avLst>
              <a:gd fmla="val 4410"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12344400" y="3019425"/>
            <a:ext cx="5029200" cy="895350"/>
          </a:xfrm>
          <a:prstGeom prst="rect">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12639675" y="3238500"/>
            <a:ext cx="4589526"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Agency</a:t>
            </a:r>
            <a:endParaRPr b="0" i="0" sz="3000" u="none" cap="none" strike="noStrike">
              <a:solidFill>
                <a:schemeClr val="dk1"/>
              </a:solidFill>
              <a:latin typeface="Calibri"/>
              <a:ea typeface="Calibri"/>
              <a:cs typeface="Calibri"/>
              <a:sym typeface="Calibri"/>
            </a:endParaRPr>
          </a:p>
        </p:txBody>
      </p:sp>
      <p:sp>
        <p:nvSpPr>
          <p:cNvPr id="159" name="Google Shape;159;p8"/>
          <p:cNvSpPr/>
          <p:nvPr/>
        </p:nvSpPr>
        <p:spPr>
          <a:xfrm>
            <a:off x="12639675" y="4210050"/>
            <a:ext cx="4882515" cy="451470"/>
          </a:xfrm>
          <a:prstGeom prst="rect">
            <a:avLst/>
          </a:prstGeom>
          <a:noFill/>
          <a:ln>
            <a:noFill/>
          </a:ln>
        </p:spPr>
        <p:txBody>
          <a:bodyPr anchorCtr="0" anchor="t" bIns="25400" lIns="25400" spcFirstLastPara="1" rIns="25400" wrap="square" tIns="25400">
            <a:noAutofit/>
          </a:bodyPr>
          <a:lstStyle/>
          <a:p>
            <a:pPr indent="0" lvl="0" marL="0" marR="0" rtl="0" algn="l">
              <a:lnSpc>
                <a:spcPct val="114211"/>
              </a:lnSpc>
              <a:spcBef>
                <a:spcPts val="0"/>
              </a:spcBef>
              <a:spcAft>
                <a:spcPts val="0"/>
              </a:spcAft>
              <a:buClr>
                <a:srgbClr val="C05F44"/>
              </a:buClr>
              <a:buSzPts val="2325"/>
              <a:buFont typeface="Carlito"/>
              <a:buNone/>
            </a:pPr>
            <a:r>
              <a:rPr b="1" i="0" lang="en-US" sz="2325" u="none" cap="none" strike="noStrike">
                <a:solidFill>
                  <a:srgbClr val="C05F44"/>
                </a:solidFill>
                <a:latin typeface="Carlito"/>
                <a:ea typeface="Carlito"/>
                <a:cs typeface="Carlito"/>
                <a:sym typeface="Carlito"/>
              </a:rPr>
              <a:t>“Pursue this goal on my behalf”</a:t>
            </a:r>
            <a:endParaRPr b="0" i="0" sz="2325" u="none" cap="none" strike="noStrike">
              <a:solidFill>
                <a:schemeClr val="dk1"/>
              </a:solidFill>
              <a:latin typeface="Calibri"/>
              <a:ea typeface="Calibri"/>
              <a:cs typeface="Calibri"/>
              <a:sym typeface="Calibri"/>
            </a:endParaRPr>
          </a:p>
        </p:txBody>
      </p:sp>
      <p:sp>
        <p:nvSpPr>
          <p:cNvPr id="160" name="Google Shape;160;p8"/>
          <p:cNvSpPr/>
          <p:nvPr/>
        </p:nvSpPr>
        <p:spPr>
          <a:xfrm>
            <a:off x="12639675" y="4766295"/>
            <a:ext cx="4571810"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AI works independently within a vision you set.</a:t>
            </a:r>
            <a:endParaRPr b="0" i="0" sz="2025" u="none" cap="none" strike="noStrike">
              <a:solidFill>
                <a:schemeClr val="dk1"/>
              </a:solidFill>
              <a:latin typeface="Calibri"/>
              <a:ea typeface="Calibri"/>
              <a:cs typeface="Calibri"/>
              <a:sym typeface="Calibri"/>
            </a:endParaRPr>
          </a:p>
        </p:txBody>
      </p:sp>
      <p:sp>
        <p:nvSpPr>
          <p:cNvPr id="161" name="Google Shape;161;p8"/>
          <p:cNvSpPr/>
          <p:nvPr/>
        </p:nvSpPr>
        <p:spPr>
          <a:xfrm>
            <a:off x="12639675" y="5629201"/>
            <a:ext cx="2546449" cy="550515"/>
          </a:xfrm>
          <a:prstGeom prst="roundRect">
            <a:avLst>
              <a:gd fmla="val 20762" name="adj"/>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12858750" y="5724451"/>
            <a:ext cx="2184693"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1" i="0" lang="en-US" sz="2025" u="none" cap="none" strike="noStrike">
                <a:solidFill>
                  <a:srgbClr val="33434E"/>
                </a:solidFill>
                <a:latin typeface="Carlito"/>
                <a:ea typeface="Carlito"/>
                <a:cs typeface="Carlito"/>
                <a:sym typeface="Carlito"/>
              </a:rPr>
              <a:t>You are the director</a:t>
            </a:r>
            <a:endParaRPr b="0" i="0" sz="2025" u="none" cap="none" strike="noStrike">
              <a:solidFill>
                <a:schemeClr val="dk1"/>
              </a:solidFill>
              <a:latin typeface="Calibri"/>
              <a:ea typeface="Calibri"/>
              <a:cs typeface="Calibri"/>
              <a:sym typeface="Calibri"/>
            </a:endParaRPr>
          </a:p>
        </p:txBody>
      </p:sp>
      <p:sp>
        <p:nvSpPr>
          <p:cNvPr id="163" name="Google Shape;163;p8"/>
          <p:cNvSpPr/>
          <p:nvPr/>
        </p:nvSpPr>
        <p:spPr>
          <a:xfrm>
            <a:off x="914400" y="6941716"/>
            <a:ext cx="16211550" cy="381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17125950" y="6770266"/>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914400" y="7227466"/>
            <a:ext cx="2054081"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6B7780"/>
              </a:buClr>
              <a:buSzPts val="2025"/>
              <a:buFont typeface="Carlito"/>
              <a:buNone/>
            </a:pPr>
            <a:r>
              <a:rPr b="1" i="0" lang="en-US" sz="2025" u="none" cap="none" strike="noStrike">
                <a:solidFill>
                  <a:srgbClr val="6B7780"/>
                </a:solidFill>
                <a:latin typeface="Carlito"/>
                <a:ea typeface="Carlito"/>
                <a:cs typeface="Carlito"/>
                <a:sym typeface="Carlito"/>
              </a:rPr>
              <a:t>Low AI autonomy</a:t>
            </a:r>
            <a:endParaRPr b="0" i="0" sz="2025" u="none" cap="none" strike="noStrike">
              <a:solidFill>
                <a:schemeClr val="dk1"/>
              </a:solidFill>
              <a:latin typeface="Calibri"/>
              <a:ea typeface="Calibri"/>
              <a:cs typeface="Calibri"/>
              <a:sym typeface="Calibri"/>
            </a:endParaRPr>
          </a:p>
        </p:txBody>
      </p:sp>
      <p:sp>
        <p:nvSpPr>
          <p:cNvPr id="166" name="Google Shape;166;p8"/>
          <p:cNvSpPr/>
          <p:nvPr/>
        </p:nvSpPr>
        <p:spPr>
          <a:xfrm>
            <a:off x="15455057" y="7227466"/>
            <a:ext cx="2110398"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6B7780"/>
              </a:buClr>
              <a:buSzPts val="2025"/>
              <a:buFont typeface="Carlito"/>
              <a:buNone/>
            </a:pPr>
            <a:r>
              <a:rPr b="1" i="0" lang="en-US" sz="2025" u="none" cap="none" strike="noStrike">
                <a:solidFill>
                  <a:srgbClr val="6B7780"/>
                </a:solidFill>
                <a:latin typeface="Carlito"/>
                <a:ea typeface="Carlito"/>
                <a:cs typeface="Carlito"/>
                <a:sym typeface="Carlito"/>
              </a:rPr>
              <a:t>High AI autonomy</a:t>
            </a:r>
            <a:endParaRPr b="0" i="0" sz="2025" u="none" cap="none" strike="noStrike">
              <a:solidFill>
                <a:schemeClr val="dk1"/>
              </a:solidFill>
              <a:latin typeface="Calibri"/>
              <a:ea typeface="Calibri"/>
              <a:cs typeface="Calibri"/>
              <a:sym typeface="Calibri"/>
            </a:endParaRPr>
          </a:p>
        </p:txBody>
      </p:sp>
      <p:sp>
        <p:nvSpPr>
          <p:cNvPr id="167" name="Google Shape;167;p8"/>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No mode is better. Fluency is choosing the mode the task needs, and moving between them.</a:t>
            </a:r>
            <a:endParaRPr b="0" i="0" sz="2775" u="none" cap="none" strike="noStrike">
              <a:solidFill>
                <a:schemeClr val="dk1"/>
              </a:solidFill>
              <a:latin typeface="Calibri"/>
              <a:ea typeface="Calibri"/>
              <a:cs typeface="Calibri"/>
              <a:sym typeface="Calibri"/>
            </a:endParaRPr>
          </a:p>
        </p:txBody>
      </p:sp>
      <p:sp>
        <p:nvSpPr>
          <p:cNvPr id="168" name="Google Shape;168;p8"/>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169" name="Google Shape;169;p8"/>
          <p:cNvSpPr/>
          <p:nvPr/>
        </p:nvSpPr>
        <p:spPr>
          <a:xfrm>
            <a:off x="17257737" y="9544050"/>
            <a:ext cx="192063"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174" name="Shape 174"/>
        <p:cNvGrpSpPr/>
        <p:nvPr/>
      </p:nvGrpSpPr>
      <p:grpSpPr>
        <a:xfrm>
          <a:off x="0" y="0"/>
          <a:ext cx="0" cy="0"/>
          <a:chOff x="0" y="0"/>
          <a:chExt cx="0" cy="0"/>
        </a:xfrm>
      </p:grpSpPr>
      <p:pic>
        <p:nvPicPr>
          <p:cNvPr descr="preencoded.png" id="175" name="Google Shape;175;p9"/>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176" name="Google Shape;176;p9"/>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Automation versus agency</a:t>
            </a:r>
            <a:endParaRPr b="0" i="0" sz="5175" u="none" cap="none" strike="noStrike">
              <a:solidFill>
                <a:schemeClr val="dk1"/>
              </a:solidFill>
              <a:latin typeface="Calibri"/>
              <a:ea typeface="Calibri"/>
              <a:cs typeface="Calibri"/>
              <a:sym typeface="Calibri"/>
            </a:endParaRPr>
          </a:p>
        </p:txBody>
      </p:sp>
      <p:sp>
        <p:nvSpPr>
          <p:cNvPr id="177" name="Google Shape;177;p9"/>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“Summarize these five emails” against “Keep my inbox manageable.”</a:t>
            </a:r>
            <a:endParaRPr b="0" i="0" sz="2625" u="none" cap="none" strike="noStrike">
              <a:solidFill>
                <a:schemeClr val="dk1"/>
              </a:solidFill>
              <a:latin typeface="Calibri"/>
              <a:ea typeface="Calibri"/>
              <a:cs typeface="Calibri"/>
              <a:sym typeface="Calibri"/>
            </a:endParaRPr>
          </a:p>
        </p:txBody>
      </p:sp>
      <p:sp>
        <p:nvSpPr>
          <p:cNvPr id="178" name="Google Shape;178;p9"/>
          <p:cNvSpPr/>
          <p:nvPr/>
        </p:nvSpPr>
        <p:spPr>
          <a:xfrm>
            <a:off x="914400" y="3019425"/>
            <a:ext cx="16459200" cy="3867001"/>
          </a:xfrm>
          <a:prstGeom prst="roundRect">
            <a:avLst>
              <a:gd fmla="val 3941"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9"/>
          <p:cNvSpPr/>
          <p:nvPr/>
        </p:nvSpPr>
        <p:spPr>
          <a:xfrm>
            <a:off x="914400" y="3019425"/>
            <a:ext cx="3950196" cy="798165"/>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9"/>
          <p:cNvSpPr/>
          <p:nvPr/>
        </p:nvSpPr>
        <p:spPr>
          <a:xfrm>
            <a:off x="4864596" y="3019425"/>
            <a:ext cx="4495056" cy="798165"/>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5159871" y="3238500"/>
            <a:ext cx="4039358"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F5EEE1"/>
              </a:buClr>
              <a:buSzPts val="2100"/>
              <a:buFont typeface="Carlito"/>
              <a:buNone/>
            </a:pPr>
            <a:r>
              <a:rPr b="1" i="0" lang="en-US" sz="2100" u="none" cap="none" strike="noStrike">
                <a:solidFill>
                  <a:srgbClr val="F5EEE1"/>
                </a:solidFill>
                <a:latin typeface="Carlito"/>
                <a:ea typeface="Carlito"/>
                <a:cs typeface="Carlito"/>
                <a:sym typeface="Carlito"/>
              </a:rPr>
              <a:t>Automation</a:t>
            </a:r>
            <a:endParaRPr b="0" i="0" sz="2100" u="none" cap="none" strike="noStrike">
              <a:solidFill>
                <a:schemeClr val="dk1"/>
              </a:solidFill>
              <a:latin typeface="Calibri"/>
              <a:ea typeface="Calibri"/>
              <a:cs typeface="Calibri"/>
              <a:sym typeface="Calibri"/>
            </a:endParaRPr>
          </a:p>
        </p:txBody>
      </p:sp>
      <p:sp>
        <p:nvSpPr>
          <p:cNvPr id="182" name="Google Shape;182;p9"/>
          <p:cNvSpPr/>
          <p:nvPr/>
        </p:nvSpPr>
        <p:spPr>
          <a:xfrm>
            <a:off x="9359652" y="3019425"/>
            <a:ext cx="8013948" cy="798165"/>
          </a:xfrm>
          <a:prstGeom prst="rect">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9654927" y="3238500"/>
            <a:ext cx="766381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F5EEE1"/>
              </a:buClr>
              <a:buSzPts val="2100"/>
              <a:buFont typeface="Carlito"/>
              <a:buNone/>
            </a:pPr>
            <a:r>
              <a:rPr b="1" i="0" lang="en-US" sz="2100" u="none" cap="none" strike="noStrike">
                <a:solidFill>
                  <a:srgbClr val="F5EEE1"/>
                </a:solidFill>
                <a:latin typeface="Carlito"/>
                <a:ea typeface="Carlito"/>
                <a:cs typeface="Carlito"/>
                <a:sym typeface="Carlito"/>
              </a:rPr>
              <a:t>Agency</a:t>
            </a:r>
            <a:endParaRPr b="0" i="0" sz="2100" u="none" cap="none" strike="noStrike">
              <a:solidFill>
                <a:schemeClr val="dk1"/>
              </a:solidFill>
              <a:latin typeface="Calibri"/>
              <a:ea typeface="Calibri"/>
              <a:cs typeface="Calibri"/>
              <a:sym typeface="Calibri"/>
            </a:endParaRPr>
          </a:p>
        </p:txBody>
      </p:sp>
      <p:sp>
        <p:nvSpPr>
          <p:cNvPr id="184" name="Google Shape;184;p9"/>
          <p:cNvSpPr/>
          <p:nvPr/>
        </p:nvSpPr>
        <p:spPr>
          <a:xfrm>
            <a:off x="1209675" y="4017615"/>
            <a:ext cx="3478152"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You provide</a:t>
            </a:r>
            <a:endParaRPr b="0" i="0" sz="2100" u="none" cap="none" strike="noStrike">
              <a:solidFill>
                <a:schemeClr val="dk1"/>
              </a:solidFill>
              <a:latin typeface="Calibri"/>
              <a:ea typeface="Calibri"/>
              <a:cs typeface="Calibri"/>
              <a:sym typeface="Calibri"/>
            </a:endParaRPr>
          </a:p>
        </p:txBody>
      </p:sp>
      <p:sp>
        <p:nvSpPr>
          <p:cNvPr id="185" name="Google Shape;185;p9"/>
          <p:cNvSpPr/>
          <p:nvPr/>
        </p:nvSpPr>
        <p:spPr>
          <a:xfrm>
            <a:off x="5159871" y="4017615"/>
            <a:ext cx="4039358"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The task or steps</a:t>
            </a:r>
            <a:endParaRPr b="0" i="0" sz="2100" u="none" cap="none" strike="noStrike">
              <a:solidFill>
                <a:schemeClr val="dk1"/>
              </a:solidFill>
              <a:latin typeface="Calibri"/>
              <a:ea typeface="Calibri"/>
              <a:cs typeface="Calibri"/>
              <a:sym typeface="Calibri"/>
            </a:endParaRPr>
          </a:p>
        </p:txBody>
      </p:sp>
      <p:sp>
        <p:nvSpPr>
          <p:cNvPr id="186" name="Google Shape;186;p9"/>
          <p:cNvSpPr/>
          <p:nvPr/>
        </p:nvSpPr>
        <p:spPr>
          <a:xfrm>
            <a:off x="9654927" y="4017615"/>
            <a:ext cx="766381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The goal and boundaries</a:t>
            </a:r>
            <a:endParaRPr b="0" i="0" sz="2100" u="none" cap="none" strike="noStrike">
              <a:solidFill>
                <a:schemeClr val="dk1"/>
              </a:solidFill>
              <a:latin typeface="Calibri"/>
              <a:ea typeface="Calibri"/>
              <a:cs typeface="Calibri"/>
              <a:sym typeface="Calibri"/>
            </a:endParaRPr>
          </a:p>
        </p:txBody>
      </p:sp>
      <p:sp>
        <p:nvSpPr>
          <p:cNvPr id="187" name="Google Shape;187;p9"/>
          <p:cNvSpPr/>
          <p:nvPr/>
        </p:nvSpPr>
        <p:spPr>
          <a:xfrm>
            <a:off x="914400" y="4577655"/>
            <a:ext cx="16459200" cy="769590"/>
          </a:xfrm>
          <a:prstGeom prst="rect">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914400" y="4577655"/>
            <a:ext cx="3950196"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1209675" y="4787205"/>
            <a:ext cx="3478152"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AI decides</a:t>
            </a:r>
            <a:endParaRPr b="0" i="0" sz="2100" u="none" cap="none" strike="noStrike">
              <a:solidFill>
                <a:schemeClr val="dk1"/>
              </a:solidFill>
              <a:latin typeface="Calibri"/>
              <a:ea typeface="Calibri"/>
              <a:cs typeface="Calibri"/>
              <a:sym typeface="Calibri"/>
            </a:endParaRPr>
          </a:p>
        </p:txBody>
      </p:sp>
      <p:sp>
        <p:nvSpPr>
          <p:cNvPr id="190" name="Google Shape;190;p9"/>
          <p:cNvSpPr/>
          <p:nvPr/>
        </p:nvSpPr>
        <p:spPr>
          <a:xfrm>
            <a:off x="4864596" y="4577655"/>
            <a:ext cx="4495056"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5159871" y="4787205"/>
            <a:ext cx="4039358"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Very little</a:t>
            </a:r>
            <a:endParaRPr b="0" i="0" sz="2100" u="none" cap="none" strike="noStrike">
              <a:solidFill>
                <a:schemeClr val="dk1"/>
              </a:solidFill>
              <a:latin typeface="Calibri"/>
              <a:ea typeface="Calibri"/>
              <a:cs typeface="Calibri"/>
              <a:sym typeface="Calibri"/>
            </a:endParaRPr>
          </a:p>
        </p:txBody>
      </p:sp>
      <p:sp>
        <p:nvSpPr>
          <p:cNvPr id="192" name="Google Shape;192;p9"/>
          <p:cNvSpPr/>
          <p:nvPr/>
        </p:nvSpPr>
        <p:spPr>
          <a:xfrm>
            <a:off x="9359652" y="4577655"/>
            <a:ext cx="8013948"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9654927" y="4787205"/>
            <a:ext cx="766381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Many next steps</a:t>
            </a:r>
            <a:endParaRPr b="0" i="0" sz="2100" u="none" cap="none" strike="noStrike">
              <a:solidFill>
                <a:schemeClr val="dk1"/>
              </a:solidFill>
              <a:latin typeface="Calibri"/>
              <a:ea typeface="Calibri"/>
              <a:cs typeface="Calibri"/>
              <a:sym typeface="Calibri"/>
            </a:endParaRPr>
          </a:p>
        </p:txBody>
      </p:sp>
      <p:sp>
        <p:nvSpPr>
          <p:cNvPr id="194" name="Google Shape;194;p9"/>
          <p:cNvSpPr/>
          <p:nvPr/>
        </p:nvSpPr>
        <p:spPr>
          <a:xfrm>
            <a:off x="914400" y="5347246"/>
            <a:ext cx="3950196"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1209675" y="5556796"/>
            <a:ext cx="3478152"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Your role</a:t>
            </a:r>
            <a:endParaRPr b="0" i="0" sz="2100" u="none" cap="none" strike="noStrike">
              <a:solidFill>
                <a:schemeClr val="dk1"/>
              </a:solidFill>
              <a:latin typeface="Calibri"/>
              <a:ea typeface="Calibri"/>
              <a:cs typeface="Calibri"/>
              <a:sym typeface="Calibri"/>
            </a:endParaRPr>
          </a:p>
        </p:txBody>
      </p:sp>
      <p:sp>
        <p:nvSpPr>
          <p:cNvPr id="196" name="Google Shape;196;p9"/>
          <p:cNvSpPr/>
          <p:nvPr/>
        </p:nvSpPr>
        <p:spPr>
          <a:xfrm>
            <a:off x="4864596" y="5347246"/>
            <a:ext cx="4495056"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5159871" y="5556796"/>
            <a:ext cx="4039358"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Script writer</a:t>
            </a:r>
            <a:endParaRPr b="0" i="0" sz="2100" u="none" cap="none" strike="noStrike">
              <a:solidFill>
                <a:schemeClr val="dk1"/>
              </a:solidFill>
              <a:latin typeface="Calibri"/>
              <a:ea typeface="Calibri"/>
              <a:cs typeface="Calibri"/>
              <a:sym typeface="Calibri"/>
            </a:endParaRPr>
          </a:p>
        </p:txBody>
      </p:sp>
      <p:sp>
        <p:nvSpPr>
          <p:cNvPr id="198" name="Google Shape;198;p9"/>
          <p:cNvSpPr/>
          <p:nvPr/>
        </p:nvSpPr>
        <p:spPr>
          <a:xfrm>
            <a:off x="9359652" y="5347246"/>
            <a:ext cx="8013948"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9654927" y="5556796"/>
            <a:ext cx="766381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Director</a:t>
            </a:r>
            <a:endParaRPr b="0" i="0" sz="2100" u="none" cap="none" strike="noStrike">
              <a:solidFill>
                <a:schemeClr val="dk1"/>
              </a:solidFill>
              <a:latin typeface="Calibri"/>
              <a:ea typeface="Calibri"/>
              <a:cs typeface="Calibri"/>
              <a:sym typeface="Calibri"/>
            </a:endParaRPr>
          </a:p>
        </p:txBody>
      </p:sp>
      <p:sp>
        <p:nvSpPr>
          <p:cNvPr id="200" name="Google Shape;200;p9"/>
          <p:cNvSpPr/>
          <p:nvPr/>
        </p:nvSpPr>
        <p:spPr>
          <a:xfrm>
            <a:off x="914400" y="6116836"/>
            <a:ext cx="16459200" cy="769590"/>
          </a:xfrm>
          <a:prstGeom prst="rect">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914400" y="6116836"/>
            <a:ext cx="3950196"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1209675" y="6326386"/>
            <a:ext cx="3478152"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Common failure</a:t>
            </a:r>
            <a:endParaRPr b="0" i="0" sz="2100" u="none" cap="none" strike="noStrike">
              <a:solidFill>
                <a:schemeClr val="dk1"/>
              </a:solidFill>
              <a:latin typeface="Calibri"/>
              <a:ea typeface="Calibri"/>
              <a:cs typeface="Calibri"/>
              <a:sym typeface="Calibri"/>
            </a:endParaRPr>
          </a:p>
        </p:txBody>
      </p:sp>
      <p:sp>
        <p:nvSpPr>
          <p:cNvPr id="203" name="Google Shape;203;p9"/>
          <p:cNvSpPr/>
          <p:nvPr/>
        </p:nvSpPr>
        <p:spPr>
          <a:xfrm>
            <a:off x="4864596" y="6116836"/>
            <a:ext cx="4495056"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5159871" y="6326386"/>
            <a:ext cx="4039358"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A step is done badly</a:t>
            </a:r>
            <a:endParaRPr b="0" i="0" sz="2100" u="none" cap="none" strike="noStrike">
              <a:solidFill>
                <a:schemeClr val="dk1"/>
              </a:solidFill>
              <a:latin typeface="Calibri"/>
              <a:ea typeface="Calibri"/>
              <a:cs typeface="Calibri"/>
              <a:sym typeface="Calibri"/>
            </a:endParaRPr>
          </a:p>
        </p:txBody>
      </p:sp>
      <p:sp>
        <p:nvSpPr>
          <p:cNvPr id="205" name="Google Shape;205;p9"/>
          <p:cNvSpPr/>
          <p:nvPr/>
        </p:nvSpPr>
        <p:spPr>
          <a:xfrm>
            <a:off x="9359652" y="6116836"/>
            <a:ext cx="8013948"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9654927" y="6326386"/>
            <a:ext cx="766381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The goal or boundary is misunderstood</a:t>
            </a:r>
            <a:endParaRPr b="0" i="0" sz="2100" u="none" cap="none" strike="noStrike">
              <a:solidFill>
                <a:schemeClr val="dk1"/>
              </a:solidFill>
              <a:latin typeface="Calibri"/>
              <a:ea typeface="Calibri"/>
              <a:cs typeface="Calibri"/>
              <a:sym typeface="Calibri"/>
            </a:endParaRPr>
          </a:p>
        </p:txBody>
      </p:sp>
      <p:sp>
        <p:nvSpPr>
          <p:cNvPr id="207" name="Google Shape;207;p9"/>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A single project may use all three modes. Mode 2 makes agency systematic.</a:t>
            </a:r>
            <a:endParaRPr b="0" i="0" sz="2775" u="none" cap="none" strike="noStrike">
              <a:solidFill>
                <a:schemeClr val="dk1"/>
              </a:solidFill>
              <a:latin typeface="Calibri"/>
              <a:ea typeface="Calibri"/>
              <a:cs typeface="Calibri"/>
              <a:sym typeface="Calibri"/>
            </a:endParaRPr>
          </a:p>
        </p:txBody>
      </p:sp>
      <p:sp>
        <p:nvSpPr>
          <p:cNvPr id="208" name="Google Shape;208;p9"/>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209" name="Google Shape;209;p9"/>
          <p:cNvSpPr/>
          <p:nvPr/>
        </p:nvSpPr>
        <p:spPr>
          <a:xfrm>
            <a:off x="17257737" y="9544050"/>
            <a:ext cx="192063"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214" name="Shape 214"/>
        <p:cNvGrpSpPr/>
        <p:nvPr/>
      </p:nvGrpSpPr>
      <p:grpSpPr>
        <a:xfrm>
          <a:off x="0" y="0"/>
          <a:ext cx="0" cy="0"/>
          <a:chOff x="0" y="0"/>
          <a:chExt cx="0" cy="0"/>
        </a:xfrm>
      </p:grpSpPr>
      <p:pic>
        <p:nvPicPr>
          <p:cNvPr descr="preencoded.png" id="215" name="Google Shape;215;p10"/>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216" name="Google Shape;216;p10"/>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The second half of agency</a:t>
            </a:r>
            <a:endParaRPr b="0" i="0" sz="5175" u="none" cap="none" strike="noStrike">
              <a:solidFill>
                <a:schemeClr val="dk1"/>
              </a:solidFill>
              <a:latin typeface="Calibri"/>
              <a:ea typeface="Calibri"/>
              <a:cs typeface="Calibri"/>
              <a:sym typeface="Calibri"/>
            </a:endParaRPr>
          </a:p>
        </p:txBody>
      </p:sp>
      <p:sp>
        <p:nvSpPr>
          <p:cNvPr id="217" name="Google Shape;217;p10"/>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The part beginners miss, and the part this book is built on.</a:t>
            </a:r>
            <a:endParaRPr b="0" i="0" sz="2625" u="none" cap="none" strike="noStrike">
              <a:solidFill>
                <a:schemeClr val="dk1"/>
              </a:solidFill>
              <a:latin typeface="Calibri"/>
              <a:ea typeface="Calibri"/>
              <a:cs typeface="Calibri"/>
              <a:sym typeface="Calibri"/>
            </a:endParaRPr>
          </a:p>
        </p:txBody>
      </p:sp>
      <p:sp>
        <p:nvSpPr>
          <p:cNvPr id="218" name="Google Shape;218;p10"/>
          <p:cNvSpPr/>
          <p:nvPr/>
        </p:nvSpPr>
        <p:spPr>
          <a:xfrm>
            <a:off x="914400" y="3019425"/>
            <a:ext cx="16459200" cy="2480221"/>
          </a:xfrm>
          <a:prstGeom prst="roundRect">
            <a:avLst>
              <a:gd fmla="val 6145"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1428750" y="3457575"/>
            <a:ext cx="15893415" cy="1127671"/>
          </a:xfrm>
          <a:prstGeom prst="rect">
            <a:avLst/>
          </a:prstGeom>
          <a:noFill/>
          <a:ln>
            <a:noFill/>
          </a:ln>
        </p:spPr>
        <p:txBody>
          <a:bodyPr anchorCtr="0" anchor="t" bIns="25400" lIns="25400" spcFirstLastPara="1" rIns="25400" wrap="square" tIns="25400">
            <a:noAutofit/>
          </a:bodyPr>
          <a:lstStyle/>
          <a:p>
            <a:pPr indent="0" lvl="0" marL="0" marR="0" rtl="0" algn="l">
              <a:lnSpc>
                <a:spcPct val="105926"/>
              </a:lnSpc>
              <a:spcBef>
                <a:spcPts val="0"/>
              </a:spcBef>
              <a:spcAft>
                <a:spcPts val="0"/>
              </a:spcAft>
              <a:buClr>
                <a:srgbClr val="F5EEE1"/>
              </a:buClr>
              <a:buSzPts val="3300"/>
              <a:buFont typeface="Carlito"/>
              <a:buNone/>
            </a:pPr>
            <a:r>
              <a:rPr b="1" i="0" lang="en-US" sz="3300" u="none" cap="none" strike="noStrike">
                <a:solidFill>
                  <a:srgbClr val="F5EEE1"/>
                </a:solidFill>
                <a:latin typeface="Carlito"/>
                <a:ea typeface="Carlito"/>
                <a:cs typeface="Carlito"/>
                <a:sym typeface="Carlito"/>
              </a:rPr>
              <a:t>“A human configures AI to independently perform </a:t>
            </a:r>
            <a:r>
              <a:rPr b="1" i="0" lang="en-US" sz="3300" u="none" cap="none" strike="noStrike">
                <a:solidFill>
                  <a:srgbClr val="D3A03F"/>
                </a:solidFill>
                <a:latin typeface="Carlito"/>
                <a:ea typeface="Carlito"/>
                <a:cs typeface="Carlito"/>
                <a:sym typeface="Carlito"/>
              </a:rPr>
              <a:t>future </a:t>
            </a:r>
            <a:r>
              <a:rPr b="1" i="0" lang="en-US" sz="3300" u="none" cap="none" strike="noStrike">
                <a:solidFill>
                  <a:srgbClr val="F5EEE1"/>
                </a:solidFill>
                <a:latin typeface="Carlito"/>
                <a:ea typeface="Carlito"/>
                <a:cs typeface="Carlito"/>
                <a:sym typeface="Carlito"/>
              </a:rPr>
              <a:t>tasks, including </a:t>
            </a:r>
            <a:r>
              <a:rPr b="1" i="0" lang="en-US" sz="3300" u="none" cap="none" strike="noStrike">
                <a:solidFill>
                  <a:srgbClr val="D3A03F"/>
                </a:solidFill>
                <a:latin typeface="Carlito"/>
                <a:ea typeface="Carlito"/>
                <a:cs typeface="Carlito"/>
                <a:sym typeface="Carlito"/>
              </a:rPr>
              <a:t>for others </a:t>
            </a:r>
            <a:r>
              <a:rPr b="1" i="0" lang="en-US" sz="3300" u="none" cap="none" strike="noStrike">
                <a:solidFill>
                  <a:srgbClr val="F5EEE1"/>
                </a:solidFill>
                <a:latin typeface="Carlito"/>
                <a:ea typeface="Carlito"/>
                <a:cs typeface="Carlito"/>
                <a:sym typeface="Carlito"/>
              </a:rPr>
              <a:t>, on their behalf.”</a:t>
            </a:r>
            <a:endParaRPr b="0" i="0" sz="3300" u="none" cap="none" strike="noStrike">
              <a:solidFill>
                <a:schemeClr val="dk1"/>
              </a:solidFill>
              <a:latin typeface="Calibri"/>
              <a:ea typeface="Calibri"/>
              <a:cs typeface="Calibri"/>
              <a:sym typeface="Calibri"/>
            </a:endParaRPr>
          </a:p>
        </p:txBody>
      </p:sp>
      <p:sp>
        <p:nvSpPr>
          <p:cNvPr id="220" name="Google Shape;220;p10"/>
          <p:cNvSpPr/>
          <p:nvPr/>
        </p:nvSpPr>
        <p:spPr>
          <a:xfrm>
            <a:off x="1428750" y="4728121"/>
            <a:ext cx="16973550" cy="371475"/>
          </a:xfrm>
          <a:prstGeom prst="rect">
            <a:avLst/>
          </a:prstGeom>
          <a:noFill/>
          <a:ln>
            <a:noFill/>
          </a:ln>
        </p:spPr>
        <p:txBody>
          <a:bodyPr anchorCtr="0" anchor="t" bIns="25400" lIns="25400" spcFirstLastPara="1" rIns="25400" wrap="square" tIns="25400">
            <a:noAutofit/>
          </a:bodyPr>
          <a:lstStyle/>
          <a:p>
            <a:pPr indent="0" lvl="0" marL="0" marR="0" rtl="0" algn="l">
              <a:lnSpc>
                <a:spcPct val="114754"/>
              </a:lnSpc>
              <a:spcBef>
                <a:spcPts val="0"/>
              </a:spcBef>
              <a:spcAft>
                <a:spcPts val="0"/>
              </a:spcAft>
              <a:buClr>
                <a:srgbClr val="B9C2C9"/>
              </a:buClr>
              <a:buSzPts val="1875"/>
              <a:buFont typeface="Carlito"/>
              <a:buNone/>
            </a:pPr>
            <a:r>
              <a:rPr b="0" i="0" lang="en-US" sz="1875" u="none" cap="none" strike="noStrike">
                <a:solidFill>
                  <a:srgbClr val="B9C2C9"/>
                </a:solidFill>
                <a:latin typeface="Carlito"/>
                <a:ea typeface="Carlito"/>
                <a:cs typeface="Carlito"/>
                <a:sym typeface="Carlito"/>
              </a:rPr>
              <a:t>The AI Fluency Framework's definition of agency</a:t>
            </a:r>
            <a:endParaRPr b="0" i="0" sz="1875" u="none" cap="none" strike="noStrike">
              <a:solidFill>
                <a:schemeClr val="dk1"/>
              </a:solidFill>
              <a:latin typeface="Calibri"/>
              <a:ea typeface="Calibri"/>
              <a:cs typeface="Calibri"/>
              <a:sym typeface="Calibri"/>
            </a:endParaRPr>
          </a:p>
        </p:txBody>
      </p:sp>
      <p:sp>
        <p:nvSpPr>
          <p:cNvPr id="221" name="Google Shape;221;p10"/>
          <p:cNvSpPr/>
          <p:nvPr/>
        </p:nvSpPr>
        <p:spPr>
          <a:xfrm>
            <a:off x="914400" y="5861596"/>
            <a:ext cx="8048625" cy="2042071"/>
          </a:xfrm>
          <a:prstGeom prst="roundRect">
            <a:avLst>
              <a:gd fmla="val 7463"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1276350" y="6223546"/>
            <a:ext cx="8057197"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Future</a:t>
            </a:r>
            <a:endParaRPr b="0" i="0" sz="3000" u="none" cap="none" strike="noStrike">
              <a:solidFill>
                <a:schemeClr val="dk1"/>
              </a:solidFill>
              <a:latin typeface="Calibri"/>
              <a:ea typeface="Calibri"/>
              <a:cs typeface="Calibri"/>
              <a:sym typeface="Calibri"/>
            </a:endParaRPr>
          </a:p>
        </p:txBody>
      </p:sp>
      <p:sp>
        <p:nvSpPr>
          <p:cNvPr id="223" name="Google Shape;223;p10"/>
          <p:cNvSpPr/>
          <p:nvPr/>
        </p:nvSpPr>
        <p:spPr>
          <a:xfrm>
            <a:off x="1276350" y="6795046"/>
            <a:ext cx="7544467"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You are not in the room. You set the AI up on Monday and it handles Thursday's work while you are asleep.</a:t>
            </a:r>
            <a:endParaRPr b="0" i="0" sz="2100" u="none" cap="none" strike="noStrike">
              <a:solidFill>
                <a:schemeClr val="dk1"/>
              </a:solidFill>
              <a:latin typeface="Calibri"/>
              <a:ea typeface="Calibri"/>
              <a:cs typeface="Calibri"/>
              <a:sym typeface="Calibri"/>
            </a:endParaRPr>
          </a:p>
        </p:txBody>
      </p:sp>
      <p:sp>
        <p:nvSpPr>
          <p:cNvPr id="224" name="Google Shape;224;p10"/>
          <p:cNvSpPr/>
          <p:nvPr/>
        </p:nvSpPr>
        <p:spPr>
          <a:xfrm>
            <a:off x="9324975" y="5861596"/>
            <a:ext cx="8048625" cy="2042071"/>
          </a:xfrm>
          <a:prstGeom prst="roundRect">
            <a:avLst>
              <a:gd fmla="val 7463"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
          <p:cNvSpPr/>
          <p:nvPr/>
        </p:nvSpPr>
        <p:spPr>
          <a:xfrm>
            <a:off x="9686925" y="6223546"/>
            <a:ext cx="8057197"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For others</a:t>
            </a:r>
            <a:endParaRPr b="0" i="0" sz="3000" u="none" cap="none" strike="noStrike">
              <a:solidFill>
                <a:schemeClr val="dk1"/>
              </a:solidFill>
              <a:latin typeface="Calibri"/>
              <a:ea typeface="Calibri"/>
              <a:cs typeface="Calibri"/>
              <a:sym typeface="Calibri"/>
            </a:endParaRPr>
          </a:p>
        </p:txBody>
      </p:sp>
      <p:sp>
        <p:nvSpPr>
          <p:cNvPr id="226" name="Google Shape;226;p10"/>
          <p:cNvSpPr/>
          <p:nvPr/>
        </p:nvSpPr>
        <p:spPr>
          <a:xfrm>
            <a:off x="9686925" y="6795046"/>
            <a:ext cx="7544467"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The person served may not be you. You configure it; your customer, student, or colleague is the one who talks to it.</a:t>
            </a:r>
            <a:endParaRPr b="0" i="0" sz="2100" u="none" cap="none" strike="noStrike">
              <a:solidFill>
                <a:schemeClr val="dk1"/>
              </a:solidFill>
              <a:latin typeface="Calibri"/>
              <a:ea typeface="Calibri"/>
              <a:cs typeface="Calibri"/>
              <a:sym typeface="Calibri"/>
            </a:endParaRPr>
          </a:p>
        </p:txBody>
      </p:sp>
      <p:sp>
        <p:nvSpPr>
          <p:cNvPr id="227" name="Google Shape;227;p10"/>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Agency is the mode where you get out of the chair, so the judgment has to be built in beforehand.</a:t>
            </a:r>
            <a:endParaRPr b="0" i="0" sz="2775" u="none" cap="none" strike="noStrike">
              <a:solidFill>
                <a:schemeClr val="dk1"/>
              </a:solidFill>
              <a:latin typeface="Calibri"/>
              <a:ea typeface="Calibri"/>
              <a:cs typeface="Calibri"/>
              <a:sym typeface="Calibri"/>
            </a:endParaRPr>
          </a:p>
        </p:txBody>
      </p:sp>
      <p:sp>
        <p:nvSpPr>
          <p:cNvPr id="228" name="Google Shape;228;p10"/>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229" name="Google Shape;229;p10"/>
          <p:cNvSpPr/>
          <p:nvPr/>
        </p:nvSpPr>
        <p:spPr>
          <a:xfrm>
            <a:off x="17257737" y="9544050"/>
            <a:ext cx="192063"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234" name="Shape 234"/>
        <p:cNvGrpSpPr/>
        <p:nvPr/>
      </p:nvGrpSpPr>
      <p:grpSpPr>
        <a:xfrm>
          <a:off x="0" y="0"/>
          <a:ext cx="0" cy="0"/>
          <a:chOff x="0" y="0"/>
          <a:chExt cx="0" cy="0"/>
        </a:xfrm>
      </p:grpSpPr>
      <p:pic>
        <p:nvPicPr>
          <p:cNvPr descr="preencoded.png" id="235" name="Google Shape;235;p11"/>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236" name="Google Shape;236;p11"/>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Delegation: three parts</a:t>
            </a:r>
            <a:endParaRPr b="0" i="0" sz="5175" u="none" cap="none" strike="noStrike">
              <a:solidFill>
                <a:schemeClr val="dk1"/>
              </a:solidFill>
              <a:latin typeface="Calibri"/>
              <a:ea typeface="Calibri"/>
              <a:cs typeface="Calibri"/>
              <a:sym typeface="Calibri"/>
            </a:endParaRPr>
          </a:p>
        </p:txBody>
      </p:sp>
      <p:sp>
        <p:nvSpPr>
          <p:cNvPr id="237" name="Google Shape;237;p11"/>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A simple framework for getting more done with AI.</a:t>
            </a:r>
            <a:endParaRPr b="0" i="0" sz="2625" u="none" cap="none" strike="noStrike">
              <a:solidFill>
                <a:schemeClr val="dk1"/>
              </a:solidFill>
              <a:latin typeface="Calibri"/>
              <a:ea typeface="Calibri"/>
              <a:cs typeface="Calibri"/>
              <a:sym typeface="Calibri"/>
            </a:endParaRPr>
          </a:p>
        </p:txBody>
      </p:sp>
      <p:sp>
        <p:nvSpPr>
          <p:cNvPr id="238" name="Google Shape;238;p11"/>
          <p:cNvSpPr/>
          <p:nvPr/>
        </p:nvSpPr>
        <p:spPr>
          <a:xfrm>
            <a:off x="914400" y="3019425"/>
            <a:ext cx="5029200" cy="2384971"/>
          </a:xfrm>
          <a:prstGeom prst="roundRect">
            <a:avLst>
              <a:gd fmla="val 6390"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914400" y="3019425"/>
            <a:ext cx="5029200" cy="13335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1276350" y="3448050"/>
            <a:ext cx="438150" cy="438150"/>
          </a:xfrm>
          <a:prstGeom prst="ellipse">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1238250" y="3448050"/>
            <a:ext cx="514350" cy="476250"/>
          </a:xfrm>
          <a:prstGeom prst="rect">
            <a:avLst/>
          </a:prstGeom>
          <a:noFill/>
          <a:ln>
            <a:noFill/>
          </a:ln>
        </p:spPr>
        <p:txBody>
          <a:bodyPr anchorCtr="0" anchor="ctr" bIns="25400" lIns="25400" spcFirstLastPara="1" rIns="25400" wrap="square" tIns="25400">
            <a:noAutofit/>
          </a:bodyPr>
          <a:lstStyle/>
          <a:p>
            <a:pPr indent="0" lvl="0" marL="0" marR="0" rtl="0" algn="ctr">
              <a:lnSpc>
                <a:spcPct val="113750"/>
              </a:lnSpc>
              <a:spcBef>
                <a:spcPts val="0"/>
              </a:spcBef>
              <a:spcAft>
                <a:spcPts val="0"/>
              </a:spcAft>
              <a:buClr>
                <a:srgbClr val="F5EEE1"/>
              </a:buClr>
              <a:buSzPts val="1950"/>
              <a:buFont typeface="Carlito"/>
              <a:buNone/>
            </a:pPr>
            <a:r>
              <a:rPr b="1" i="0" lang="en-US" sz="1950" u="none" cap="none" strike="noStrike">
                <a:solidFill>
                  <a:srgbClr val="F5EEE1"/>
                </a:solidFill>
                <a:latin typeface="Carlito"/>
                <a:ea typeface="Carlito"/>
                <a:cs typeface="Carlito"/>
                <a:sym typeface="Carlito"/>
              </a:rPr>
              <a:t>1</a:t>
            </a:r>
            <a:endParaRPr b="0" i="0" sz="1950" u="none" cap="none" strike="noStrike">
              <a:solidFill>
                <a:schemeClr val="dk1"/>
              </a:solidFill>
              <a:latin typeface="Calibri"/>
              <a:ea typeface="Calibri"/>
              <a:cs typeface="Calibri"/>
              <a:sym typeface="Calibri"/>
            </a:endParaRPr>
          </a:p>
        </p:txBody>
      </p:sp>
      <p:sp>
        <p:nvSpPr>
          <p:cNvPr id="242" name="Google Shape;242;p11"/>
          <p:cNvSpPr/>
          <p:nvPr/>
        </p:nvSpPr>
        <p:spPr>
          <a:xfrm>
            <a:off x="1895475" y="3461370"/>
            <a:ext cx="3069498"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Problem awareness</a:t>
            </a:r>
            <a:endParaRPr b="0" i="0" sz="2700" u="none" cap="none" strike="noStrike">
              <a:solidFill>
                <a:schemeClr val="dk1"/>
              </a:solidFill>
              <a:latin typeface="Calibri"/>
              <a:ea typeface="Calibri"/>
              <a:cs typeface="Calibri"/>
              <a:sym typeface="Calibri"/>
            </a:endParaRPr>
          </a:p>
        </p:txBody>
      </p:sp>
      <p:sp>
        <p:nvSpPr>
          <p:cNvPr id="243" name="Google Shape;243;p11"/>
          <p:cNvSpPr/>
          <p:nvPr/>
        </p:nvSpPr>
        <p:spPr>
          <a:xfrm>
            <a:off x="1276350" y="4029075"/>
            <a:ext cx="4434459"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Know your goal and the work required. Define what success looks like.</a:t>
            </a:r>
            <a:endParaRPr b="0" i="0" sz="2025" u="none" cap="none" strike="noStrike">
              <a:solidFill>
                <a:schemeClr val="dk1"/>
              </a:solidFill>
              <a:latin typeface="Calibri"/>
              <a:ea typeface="Calibri"/>
              <a:cs typeface="Calibri"/>
              <a:sym typeface="Calibri"/>
            </a:endParaRPr>
          </a:p>
        </p:txBody>
      </p:sp>
      <p:sp>
        <p:nvSpPr>
          <p:cNvPr id="244" name="Google Shape;244;p11"/>
          <p:cNvSpPr/>
          <p:nvPr/>
        </p:nvSpPr>
        <p:spPr>
          <a:xfrm>
            <a:off x="6162675" y="4021410"/>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6629400" y="3019425"/>
            <a:ext cx="5029200" cy="2384971"/>
          </a:xfrm>
          <a:prstGeom prst="roundRect">
            <a:avLst>
              <a:gd fmla="val 6390"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6629400" y="3019425"/>
            <a:ext cx="5029200" cy="133350"/>
          </a:xfrm>
          <a:prstGeom prst="rect">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6991350" y="3448050"/>
            <a:ext cx="438150" cy="438150"/>
          </a:xfrm>
          <a:prstGeom prst="ellipse">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a:off x="6953250" y="3448050"/>
            <a:ext cx="514350" cy="476250"/>
          </a:xfrm>
          <a:prstGeom prst="rect">
            <a:avLst/>
          </a:prstGeom>
          <a:noFill/>
          <a:ln>
            <a:noFill/>
          </a:ln>
        </p:spPr>
        <p:txBody>
          <a:bodyPr anchorCtr="0" anchor="ctr" bIns="25400" lIns="25400" spcFirstLastPara="1" rIns="25400" wrap="square" tIns="25400">
            <a:noAutofit/>
          </a:bodyPr>
          <a:lstStyle/>
          <a:p>
            <a:pPr indent="0" lvl="0" marL="0" marR="0" rtl="0" algn="ctr">
              <a:lnSpc>
                <a:spcPct val="113750"/>
              </a:lnSpc>
              <a:spcBef>
                <a:spcPts val="0"/>
              </a:spcBef>
              <a:spcAft>
                <a:spcPts val="0"/>
              </a:spcAft>
              <a:buClr>
                <a:srgbClr val="F5EEE1"/>
              </a:buClr>
              <a:buSzPts val="1950"/>
              <a:buFont typeface="Carlito"/>
              <a:buNone/>
            </a:pPr>
            <a:r>
              <a:rPr b="1" i="0" lang="en-US" sz="1950" u="none" cap="none" strike="noStrike">
                <a:solidFill>
                  <a:srgbClr val="F5EEE1"/>
                </a:solidFill>
                <a:latin typeface="Carlito"/>
                <a:ea typeface="Carlito"/>
                <a:cs typeface="Carlito"/>
                <a:sym typeface="Carlito"/>
              </a:rPr>
              <a:t>2</a:t>
            </a:r>
            <a:endParaRPr b="0" i="0" sz="1950" u="none" cap="none" strike="noStrike">
              <a:solidFill>
                <a:schemeClr val="dk1"/>
              </a:solidFill>
              <a:latin typeface="Calibri"/>
              <a:ea typeface="Calibri"/>
              <a:cs typeface="Calibri"/>
              <a:sym typeface="Calibri"/>
            </a:endParaRPr>
          </a:p>
        </p:txBody>
      </p:sp>
      <p:sp>
        <p:nvSpPr>
          <p:cNvPr id="249" name="Google Shape;249;p11"/>
          <p:cNvSpPr/>
          <p:nvPr/>
        </p:nvSpPr>
        <p:spPr>
          <a:xfrm>
            <a:off x="7610475" y="3461370"/>
            <a:ext cx="3097493"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Platform awareness</a:t>
            </a:r>
            <a:endParaRPr b="0" i="0" sz="2700" u="none" cap="none" strike="noStrike">
              <a:solidFill>
                <a:schemeClr val="dk1"/>
              </a:solidFill>
              <a:latin typeface="Calibri"/>
              <a:ea typeface="Calibri"/>
              <a:cs typeface="Calibri"/>
              <a:sym typeface="Calibri"/>
            </a:endParaRPr>
          </a:p>
        </p:txBody>
      </p:sp>
      <p:sp>
        <p:nvSpPr>
          <p:cNvPr id="250" name="Google Shape;250;p11"/>
          <p:cNvSpPr/>
          <p:nvPr/>
        </p:nvSpPr>
        <p:spPr>
          <a:xfrm>
            <a:off x="6991350" y="4029075"/>
            <a:ext cx="4434459" cy="1118146"/>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Know what AI systems can do and cannot do. Choose the tool that fits this task.</a:t>
            </a:r>
            <a:endParaRPr b="0" i="0" sz="2025" u="none" cap="none" strike="noStrike">
              <a:solidFill>
                <a:schemeClr val="dk1"/>
              </a:solidFill>
              <a:latin typeface="Calibri"/>
              <a:ea typeface="Calibri"/>
              <a:cs typeface="Calibri"/>
              <a:sym typeface="Calibri"/>
            </a:endParaRPr>
          </a:p>
        </p:txBody>
      </p:sp>
      <p:sp>
        <p:nvSpPr>
          <p:cNvPr id="251" name="Google Shape;251;p11"/>
          <p:cNvSpPr/>
          <p:nvPr/>
        </p:nvSpPr>
        <p:spPr>
          <a:xfrm>
            <a:off x="11877675" y="4021410"/>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12344400" y="3019425"/>
            <a:ext cx="5029200" cy="2384971"/>
          </a:xfrm>
          <a:prstGeom prst="roundRect">
            <a:avLst>
              <a:gd fmla="val 6390"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12344400" y="3019425"/>
            <a:ext cx="5029200" cy="133350"/>
          </a:xfrm>
          <a:prstGeom prst="rect">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p:nvPr/>
        </p:nvSpPr>
        <p:spPr>
          <a:xfrm>
            <a:off x="12706350" y="3448050"/>
            <a:ext cx="438150" cy="438150"/>
          </a:xfrm>
          <a:prstGeom prst="ellipse">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1"/>
          <p:cNvSpPr/>
          <p:nvPr/>
        </p:nvSpPr>
        <p:spPr>
          <a:xfrm>
            <a:off x="12668250" y="3448050"/>
            <a:ext cx="514350" cy="476250"/>
          </a:xfrm>
          <a:prstGeom prst="rect">
            <a:avLst/>
          </a:prstGeom>
          <a:noFill/>
          <a:ln>
            <a:noFill/>
          </a:ln>
        </p:spPr>
        <p:txBody>
          <a:bodyPr anchorCtr="0" anchor="ctr" bIns="25400" lIns="25400" spcFirstLastPara="1" rIns="25400" wrap="square" tIns="25400">
            <a:noAutofit/>
          </a:bodyPr>
          <a:lstStyle/>
          <a:p>
            <a:pPr indent="0" lvl="0" marL="0" marR="0" rtl="0" algn="ctr">
              <a:lnSpc>
                <a:spcPct val="113750"/>
              </a:lnSpc>
              <a:spcBef>
                <a:spcPts val="0"/>
              </a:spcBef>
              <a:spcAft>
                <a:spcPts val="0"/>
              </a:spcAft>
              <a:buClr>
                <a:srgbClr val="33434E"/>
              </a:buClr>
              <a:buSzPts val="1950"/>
              <a:buFont typeface="Carlito"/>
              <a:buNone/>
            </a:pPr>
            <a:r>
              <a:rPr b="1" i="0" lang="en-US" sz="1950" u="none" cap="none" strike="noStrike">
                <a:solidFill>
                  <a:srgbClr val="33434E"/>
                </a:solidFill>
                <a:latin typeface="Carlito"/>
                <a:ea typeface="Carlito"/>
                <a:cs typeface="Carlito"/>
                <a:sym typeface="Carlito"/>
              </a:rPr>
              <a:t>3</a:t>
            </a:r>
            <a:endParaRPr b="0" i="0" sz="1950" u="none" cap="none" strike="noStrike">
              <a:solidFill>
                <a:schemeClr val="dk1"/>
              </a:solidFill>
              <a:latin typeface="Calibri"/>
              <a:ea typeface="Calibri"/>
              <a:cs typeface="Calibri"/>
              <a:sym typeface="Calibri"/>
            </a:endParaRPr>
          </a:p>
        </p:txBody>
      </p:sp>
      <p:sp>
        <p:nvSpPr>
          <p:cNvPr id="256" name="Google Shape;256;p11"/>
          <p:cNvSpPr/>
          <p:nvPr/>
        </p:nvSpPr>
        <p:spPr>
          <a:xfrm>
            <a:off x="13325475" y="3461370"/>
            <a:ext cx="2417110"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Task delegation</a:t>
            </a:r>
            <a:endParaRPr b="0" i="0" sz="2700" u="none" cap="none" strike="noStrike">
              <a:solidFill>
                <a:schemeClr val="dk1"/>
              </a:solidFill>
              <a:latin typeface="Calibri"/>
              <a:ea typeface="Calibri"/>
              <a:cs typeface="Calibri"/>
              <a:sym typeface="Calibri"/>
            </a:endParaRPr>
          </a:p>
        </p:txBody>
      </p:sp>
      <p:sp>
        <p:nvSpPr>
          <p:cNvPr id="257" name="Google Shape;257;p11"/>
          <p:cNvSpPr/>
          <p:nvPr/>
        </p:nvSpPr>
        <p:spPr>
          <a:xfrm>
            <a:off x="12706350" y="4029075"/>
            <a:ext cx="4434459"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Divide the work deliberately. Assign ownership for each part and why.</a:t>
            </a:r>
            <a:endParaRPr b="0" i="0" sz="2025" u="none" cap="none" strike="noStrike">
              <a:solidFill>
                <a:schemeClr val="dk1"/>
              </a:solidFill>
              <a:latin typeface="Calibri"/>
              <a:ea typeface="Calibri"/>
              <a:cs typeface="Calibri"/>
              <a:sym typeface="Calibri"/>
            </a:endParaRPr>
          </a:p>
        </p:txBody>
      </p:sp>
      <p:sp>
        <p:nvSpPr>
          <p:cNvPr id="258" name="Google Shape;258;p11"/>
          <p:cNvSpPr/>
          <p:nvPr/>
        </p:nvSpPr>
        <p:spPr>
          <a:xfrm>
            <a:off x="914400" y="5766346"/>
            <a:ext cx="16459200" cy="1483965"/>
          </a:xfrm>
          <a:prstGeom prst="roundRect">
            <a:avLst>
              <a:gd fmla="val 10270"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a:off x="1276350" y="6061621"/>
            <a:ext cx="17308830"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Domain expert first. AI delegator second.</a:t>
            </a:r>
            <a:endParaRPr b="0" i="0" sz="3000" u="none" cap="none" strike="noStrike">
              <a:solidFill>
                <a:schemeClr val="dk1"/>
              </a:solidFill>
              <a:latin typeface="Calibri"/>
              <a:ea typeface="Calibri"/>
              <a:cs typeface="Calibri"/>
              <a:sym typeface="Calibri"/>
            </a:endParaRPr>
          </a:p>
        </p:txBody>
      </p:sp>
      <p:sp>
        <p:nvSpPr>
          <p:cNvPr id="260" name="Google Shape;260;p11"/>
          <p:cNvSpPr/>
          <p:nvPr/>
        </p:nvSpPr>
        <p:spPr>
          <a:xfrm>
            <a:off x="1276350" y="6595021"/>
            <a:ext cx="17308830"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B9C2C9"/>
              </a:buClr>
              <a:buSzPts val="2025"/>
              <a:buFont typeface="Carlito"/>
              <a:buNone/>
            </a:pPr>
            <a:r>
              <a:rPr b="0" i="0" lang="en-US" sz="2025" u="none" cap="none" strike="noStrike">
                <a:solidFill>
                  <a:srgbClr val="B9C2C9"/>
                </a:solidFill>
                <a:latin typeface="Carlito"/>
                <a:ea typeface="Carlito"/>
                <a:cs typeface="Carlito"/>
                <a:sym typeface="Carlito"/>
              </a:rPr>
              <a:t>AI accelerates expertise. It rarely replaces it.</a:t>
            </a:r>
            <a:endParaRPr b="0" i="0" sz="2025" u="none" cap="none" strike="noStrike">
              <a:solidFill>
                <a:schemeClr val="dk1"/>
              </a:solidFill>
              <a:latin typeface="Calibri"/>
              <a:ea typeface="Calibri"/>
              <a:cs typeface="Calibri"/>
              <a:sym typeface="Calibri"/>
            </a:endParaRPr>
          </a:p>
        </p:txBody>
      </p:sp>
      <p:sp>
        <p:nvSpPr>
          <p:cNvPr id="261" name="Google Shape;261;p11"/>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Delegation is workflow design, not task offloading.</a:t>
            </a:r>
            <a:endParaRPr b="0" i="0" sz="2775" u="none" cap="none" strike="noStrike">
              <a:solidFill>
                <a:schemeClr val="dk1"/>
              </a:solidFill>
              <a:latin typeface="Calibri"/>
              <a:ea typeface="Calibri"/>
              <a:cs typeface="Calibri"/>
              <a:sym typeface="Calibri"/>
            </a:endParaRPr>
          </a:p>
        </p:txBody>
      </p:sp>
      <p:sp>
        <p:nvSpPr>
          <p:cNvPr id="262" name="Google Shape;262;p11"/>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263" name="Google Shape;263;p11"/>
          <p:cNvSpPr/>
          <p:nvPr/>
        </p:nvSpPr>
        <p:spPr>
          <a:xfrm>
            <a:off x="17257737" y="9544050"/>
            <a:ext cx="192063"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268" name="Shape 268"/>
        <p:cNvGrpSpPr/>
        <p:nvPr/>
      </p:nvGrpSpPr>
      <p:grpSpPr>
        <a:xfrm>
          <a:off x="0" y="0"/>
          <a:ext cx="0" cy="0"/>
          <a:chOff x="0" y="0"/>
          <a:chExt cx="0" cy="0"/>
        </a:xfrm>
      </p:grpSpPr>
      <p:pic>
        <p:nvPicPr>
          <p:cNvPr descr="preencoded.png" id="269" name="Google Shape;269;p12"/>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270" name="Google Shape;270;p12"/>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Delegation in practice</a:t>
            </a:r>
            <a:endParaRPr b="0" i="0" sz="5175" u="none" cap="none" strike="noStrike">
              <a:solidFill>
                <a:schemeClr val="dk1"/>
              </a:solidFill>
              <a:latin typeface="Calibri"/>
              <a:ea typeface="Calibri"/>
              <a:cs typeface="Calibri"/>
              <a:sym typeface="Calibri"/>
            </a:endParaRPr>
          </a:p>
        </p:txBody>
      </p:sp>
      <p:sp>
        <p:nvSpPr>
          <p:cNvPr id="271" name="Google Shape;271;p12"/>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Splitting one job, creating a course, into parts with a deliberate owner.</a:t>
            </a:r>
            <a:endParaRPr b="0" i="0" sz="2625" u="none" cap="none" strike="noStrike">
              <a:solidFill>
                <a:schemeClr val="dk1"/>
              </a:solidFill>
              <a:latin typeface="Calibri"/>
              <a:ea typeface="Calibri"/>
              <a:cs typeface="Calibri"/>
              <a:sym typeface="Calibri"/>
            </a:endParaRPr>
          </a:p>
        </p:txBody>
      </p:sp>
      <p:sp>
        <p:nvSpPr>
          <p:cNvPr id="272" name="Google Shape;272;p12"/>
          <p:cNvSpPr/>
          <p:nvPr/>
        </p:nvSpPr>
        <p:spPr>
          <a:xfrm>
            <a:off x="914400" y="3019425"/>
            <a:ext cx="16459200" cy="4872782"/>
          </a:xfrm>
          <a:prstGeom prst="roundRect">
            <a:avLst>
              <a:gd fmla="val 3128"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p:nvPr/>
        </p:nvSpPr>
        <p:spPr>
          <a:xfrm>
            <a:off x="914400" y="3019425"/>
            <a:ext cx="6746453" cy="721965"/>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p:nvPr/>
        </p:nvSpPr>
        <p:spPr>
          <a:xfrm>
            <a:off x="1209675" y="3200400"/>
            <a:ext cx="6358297"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F5EEE1"/>
              </a:buClr>
              <a:buSzPts val="2100"/>
              <a:buFont typeface="Carlito"/>
              <a:buNone/>
            </a:pPr>
            <a:r>
              <a:rPr b="1" i="0" lang="en-US" sz="2100" u="none" cap="none" strike="noStrike">
                <a:solidFill>
                  <a:srgbClr val="F5EEE1"/>
                </a:solidFill>
                <a:latin typeface="Carlito"/>
                <a:ea typeface="Carlito"/>
                <a:cs typeface="Carlito"/>
                <a:sym typeface="Carlito"/>
              </a:rPr>
              <a:t>Task</a:t>
            </a:r>
            <a:endParaRPr b="0" i="0" sz="2100" u="none" cap="none" strike="noStrike">
              <a:solidFill>
                <a:schemeClr val="dk1"/>
              </a:solidFill>
              <a:latin typeface="Calibri"/>
              <a:ea typeface="Calibri"/>
              <a:cs typeface="Calibri"/>
              <a:sym typeface="Calibri"/>
            </a:endParaRPr>
          </a:p>
        </p:txBody>
      </p:sp>
      <p:sp>
        <p:nvSpPr>
          <p:cNvPr id="275" name="Google Shape;275;p12"/>
          <p:cNvSpPr/>
          <p:nvPr/>
        </p:nvSpPr>
        <p:spPr>
          <a:xfrm>
            <a:off x="7660853" y="3019425"/>
            <a:ext cx="2962647" cy="721965"/>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2"/>
          <p:cNvSpPr/>
          <p:nvPr/>
        </p:nvSpPr>
        <p:spPr>
          <a:xfrm>
            <a:off x="7956128" y="3200400"/>
            <a:ext cx="246097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F5EEE1"/>
              </a:buClr>
              <a:buSzPts val="2100"/>
              <a:buFont typeface="Carlito"/>
              <a:buNone/>
            </a:pPr>
            <a:r>
              <a:rPr b="1" i="0" lang="en-US" sz="2100" u="none" cap="none" strike="noStrike">
                <a:solidFill>
                  <a:srgbClr val="F5EEE1"/>
                </a:solidFill>
                <a:latin typeface="Carlito"/>
                <a:ea typeface="Carlito"/>
                <a:cs typeface="Carlito"/>
                <a:sym typeface="Carlito"/>
              </a:rPr>
              <a:t>Best owner</a:t>
            </a:r>
            <a:endParaRPr b="0" i="0" sz="2100" u="none" cap="none" strike="noStrike">
              <a:solidFill>
                <a:schemeClr val="dk1"/>
              </a:solidFill>
              <a:latin typeface="Calibri"/>
              <a:ea typeface="Calibri"/>
              <a:cs typeface="Calibri"/>
              <a:sym typeface="Calibri"/>
            </a:endParaRPr>
          </a:p>
        </p:txBody>
      </p:sp>
      <p:sp>
        <p:nvSpPr>
          <p:cNvPr id="277" name="Google Shape;277;p12"/>
          <p:cNvSpPr/>
          <p:nvPr/>
        </p:nvSpPr>
        <p:spPr>
          <a:xfrm>
            <a:off x="10623500" y="3019425"/>
            <a:ext cx="6750100" cy="721965"/>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2"/>
          <p:cNvSpPr/>
          <p:nvPr/>
        </p:nvSpPr>
        <p:spPr>
          <a:xfrm>
            <a:off x="10918775" y="3200400"/>
            <a:ext cx="6362053"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F5EEE1"/>
              </a:buClr>
              <a:buSzPts val="2100"/>
              <a:buFont typeface="Carlito"/>
              <a:buNone/>
            </a:pPr>
            <a:r>
              <a:rPr b="1" i="0" lang="en-US" sz="2100" u="none" cap="none" strike="noStrike">
                <a:solidFill>
                  <a:srgbClr val="F5EEE1"/>
                </a:solidFill>
                <a:latin typeface="Carlito"/>
                <a:ea typeface="Carlito"/>
                <a:cs typeface="Carlito"/>
                <a:sym typeface="Carlito"/>
              </a:rPr>
              <a:t>Why</a:t>
            </a:r>
            <a:endParaRPr b="0" i="0" sz="2100" u="none" cap="none" strike="noStrike">
              <a:solidFill>
                <a:schemeClr val="dk1"/>
              </a:solidFill>
              <a:latin typeface="Calibri"/>
              <a:ea typeface="Calibri"/>
              <a:cs typeface="Calibri"/>
              <a:sym typeface="Calibri"/>
            </a:endParaRPr>
          </a:p>
        </p:txBody>
      </p:sp>
      <p:sp>
        <p:nvSpPr>
          <p:cNvPr id="279" name="Google Shape;279;p12"/>
          <p:cNvSpPr/>
          <p:nvPr/>
        </p:nvSpPr>
        <p:spPr>
          <a:xfrm>
            <a:off x="1209675" y="3903315"/>
            <a:ext cx="6358297"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Decide the audience and learning goals</a:t>
            </a:r>
            <a:endParaRPr b="0" i="0" sz="2100" u="none" cap="none" strike="noStrike">
              <a:solidFill>
                <a:schemeClr val="dk1"/>
              </a:solidFill>
              <a:latin typeface="Calibri"/>
              <a:ea typeface="Calibri"/>
              <a:cs typeface="Calibri"/>
              <a:sym typeface="Calibri"/>
            </a:endParaRPr>
          </a:p>
        </p:txBody>
      </p:sp>
      <p:sp>
        <p:nvSpPr>
          <p:cNvPr id="280" name="Google Shape;280;p12"/>
          <p:cNvSpPr/>
          <p:nvPr/>
        </p:nvSpPr>
        <p:spPr>
          <a:xfrm>
            <a:off x="7956128" y="3903315"/>
            <a:ext cx="246097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Human</a:t>
            </a:r>
            <a:endParaRPr b="0" i="0" sz="2100" u="none" cap="none" strike="noStrike">
              <a:solidFill>
                <a:schemeClr val="dk1"/>
              </a:solidFill>
              <a:latin typeface="Calibri"/>
              <a:ea typeface="Calibri"/>
              <a:cs typeface="Calibri"/>
              <a:sym typeface="Calibri"/>
            </a:endParaRPr>
          </a:p>
        </p:txBody>
      </p:sp>
      <p:sp>
        <p:nvSpPr>
          <p:cNvPr id="281" name="Google Shape;281;p12"/>
          <p:cNvSpPr/>
          <p:nvPr/>
        </p:nvSpPr>
        <p:spPr>
          <a:xfrm>
            <a:off x="10918775" y="3903315"/>
            <a:ext cx="6362053"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6B7780"/>
              </a:buClr>
              <a:buSzPts val="2100"/>
              <a:buFont typeface="Carlito"/>
              <a:buNone/>
            </a:pPr>
            <a:r>
              <a:rPr b="0" i="0" lang="en-US" sz="2100" u="none" cap="none" strike="noStrike">
                <a:solidFill>
                  <a:srgbClr val="6B7780"/>
                </a:solidFill>
                <a:latin typeface="Carlito"/>
                <a:ea typeface="Carlito"/>
                <a:cs typeface="Carlito"/>
                <a:sym typeface="Carlito"/>
              </a:rPr>
              <a:t>Requires purpose and judgment</a:t>
            </a:r>
            <a:endParaRPr b="0" i="0" sz="2100" u="none" cap="none" strike="noStrike">
              <a:solidFill>
                <a:schemeClr val="dk1"/>
              </a:solidFill>
              <a:latin typeface="Calibri"/>
              <a:ea typeface="Calibri"/>
              <a:cs typeface="Calibri"/>
              <a:sym typeface="Calibri"/>
            </a:endParaRPr>
          </a:p>
        </p:txBody>
      </p:sp>
      <p:sp>
        <p:nvSpPr>
          <p:cNvPr id="282" name="Google Shape;282;p12"/>
          <p:cNvSpPr/>
          <p:nvPr/>
        </p:nvSpPr>
        <p:spPr>
          <a:xfrm>
            <a:off x="914400" y="4425255"/>
            <a:ext cx="16459200" cy="693390"/>
          </a:xfrm>
          <a:prstGeom prst="rect">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2"/>
          <p:cNvSpPr/>
          <p:nvPr/>
        </p:nvSpPr>
        <p:spPr>
          <a:xfrm>
            <a:off x="914400" y="4425255"/>
            <a:ext cx="6746453"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2"/>
          <p:cNvSpPr/>
          <p:nvPr/>
        </p:nvSpPr>
        <p:spPr>
          <a:xfrm>
            <a:off x="1209675" y="4596705"/>
            <a:ext cx="6358297"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Suggest possible course structures</a:t>
            </a:r>
            <a:endParaRPr b="0" i="0" sz="2100" u="none" cap="none" strike="noStrike">
              <a:solidFill>
                <a:schemeClr val="dk1"/>
              </a:solidFill>
              <a:latin typeface="Calibri"/>
              <a:ea typeface="Calibri"/>
              <a:cs typeface="Calibri"/>
              <a:sym typeface="Calibri"/>
            </a:endParaRPr>
          </a:p>
        </p:txBody>
      </p:sp>
      <p:sp>
        <p:nvSpPr>
          <p:cNvPr id="285" name="Google Shape;285;p12"/>
          <p:cNvSpPr/>
          <p:nvPr/>
        </p:nvSpPr>
        <p:spPr>
          <a:xfrm>
            <a:off x="7660853" y="4425255"/>
            <a:ext cx="2962647"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7956128" y="4596705"/>
            <a:ext cx="246097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AI + human</a:t>
            </a:r>
            <a:endParaRPr b="0" i="0" sz="2100" u="none" cap="none" strike="noStrike">
              <a:solidFill>
                <a:schemeClr val="dk1"/>
              </a:solidFill>
              <a:latin typeface="Calibri"/>
              <a:ea typeface="Calibri"/>
              <a:cs typeface="Calibri"/>
              <a:sym typeface="Calibri"/>
            </a:endParaRPr>
          </a:p>
        </p:txBody>
      </p:sp>
      <p:sp>
        <p:nvSpPr>
          <p:cNvPr id="287" name="Google Shape;287;p12"/>
          <p:cNvSpPr/>
          <p:nvPr/>
        </p:nvSpPr>
        <p:spPr>
          <a:xfrm>
            <a:off x="10623500" y="4425255"/>
            <a:ext cx="6750100"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2"/>
          <p:cNvSpPr/>
          <p:nvPr/>
        </p:nvSpPr>
        <p:spPr>
          <a:xfrm>
            <a:off x="10918775" y="4596705"/>
            <a:ext cx="6362053"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6B7780"/>
              </a:buClr>
              <a:buSzPts val="2100"/>
              <a:buFont typeface="Carlito"/>
              <a:buNone/>
            </a:pPr>
            <a:r>
              <a:rPr b="0" i="0" lang="en-US" sz="2100" u="none" cap="none" strike="noStrike">
                <a:solidFill>
                  <a:srgbClr val="6B7780"/>
                </a:solidFill>
                <a:latin typeface="Carlito"/>
                <a:ea typeface="Carlito"/>
                <a:cs typeface="Carlito"/>
                <a:sym typeface="Carlito"/>
              </a:rPr>
              <a:t>AI gives breadth; human chooses</a:t>
            </a:r>
            <a:endParaRPr b="0" i="0" sz="2100" u="none" cap="none" strike="noStrike">
              <a:solidFill>
                <a:schemeClr val="dk1"/>
              </a:solidFill>
              <a:latin typeface="Calibri"/>
              <a:ea typeface="Calibri"/>
              <a:cs typeface="Calibri"/>
              <a:sym typeface="Calibri"/>
            </a:endParaRPr>
          </a:p>
        </p:txBody>
      </p:sp>
      <p:sp>
        <p:nvSpPr>
          <p:cNvPr id="289" name="Google Shape;289;p12"/>
          <p:cNvSpPr/>
          <p:nvPr/>
        </p:nvSpPr>
        <p:spPr>
          <a:xfrm>
            <a:off x="914400" y="5118646"/>
            <a:ext cx="6746453"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2"/>
          <p:cNvSpPr/>
          <p:nvPr/>
        </p:nvSpPr>
        <p:spPr>
          <a:xfrm>
            <a:off x="1209675" y="5290096"/>
            <a:ext cx="6358297"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Draft sections from an agreed outline</a:t>
            </a:r>
            <a:endParaRPr b="0" i="0" sz="2100" u="none" cap="none" strike="noStrike">
              <a:solidFill>
                <a:schemeClr val="dk1"/>
              </a:solidFill>
              <a:latin typeface="Calibri"/>
              <a:ea typeface="Calibri"/>
              <a:cs typeface="Calibri"/>
              <a:sym typeface="Calibri"/>
            </a:endParaRPr>
          </a:p>
        </p:txBody>
      </p:sp>
      <p:sp>
        <p:nvSpPr>
          <p:cNvPr id="291" name="Google Shape;291;p12"/>
          <p:cNvSpPr/>
          <p:nvPr/>
        </p:nvSpPr>
        <p:spPr>
          <a:xfrm>
            <a:off x="7660853" y="5118646"/>
            <a:ext cx="2962647"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2"/>
          <p:cNvSpPr/>
          <p:nvPr/>
        </p:nvSpPr>
        <p:spPr>
          <a:xfrm>
            <a:off x="7956128" y="5290096"/>
            <a:ext cx="246097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AI</a:t>
            </a:r>
            <a:endParaRPr b="0" i="0" sz="2100" u="none" cap="none" strike="noStrike">
              <a:solidFill>
                <a:schemeClr val="dk1"/>
              </a:solidFill>
              <a:latin typeface="Calibri"/>
              <a:ea typeface="Calibri"/>
              <a:cs typeface="Calibri"/>
              <a:sym typeface="Calibri"/>
            </a:endParaRPr>
          </a:p>
        </p:txBody>
      </p:sp>
      <p:sp>
        <p:nvSpPr>
          <p:cNvPr id="293" name="Google Shape;293;p12"/>
          <p:cNvSpPr/>
          <p:nvPr/>
        </p:nvSpPr>
        <p:spPr>
          <a:xfrm>
            <a:off x="10623500" y="5118646"/>
            <a:ext cx="6750100"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2"/>
          <p:cNvSpPr/>
          <p:nvPr/>
        </p:nvSpPr>
        <p:spPr>
          <a:xfrm>
            <a:off x="10918775" y="5290096"/>
            <a:ext cx="6362053"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6B7780"/>
              </a:buClr>
              <a:buSzPts val="2100"/>
              <a:buFont typeface="Carlito"/>
              <a:buNone/>
            </a:pPr>
            <a:r>
              <a:rPr b="0" i="0" lang="en-US" sz="2100" u="none" cap="none" strike="noStrike">
                <a:solidFill>
                  <a:srgbClr val="6B7780"/>
                </a:solidFill>
                <a:latin typeface="Carlito"/>
                <a:ea typeface="Carlito"/>
                <a:cs typeface="Carlito"/>
                <a:sym typeface="Carlito"/>
              </a:rPr>
              <a:t>Fast at first drafts</a:t>
            </a:r>
            <a:endParaRPr b="0" i="0" sz="2100" u="none" cap="none" strike="noStrike">
              <a:solidFill>
                <a:schemeClr val="dk1"/>
              </a:solidFill>
              <a:latin typeface="Calibri"/>
              <a:ea typeface="Calibri"/>
              <a:cs typeface="Calibri"/>
              <a:sym typeface="Calibri"/>
            </a:endParaRPr>
          </a:p>
        </p:txBody>
      </p:sp>
      <p:sp>
        <p:nvSpPr>
          <p:cNvPr id="295" name="Google Shape;295;p12"/>
          <p:cNvSpPr/>
          <p:nvPr/>
        </p:nvSpPr>
        <p:spPr>
          <a:xfrm>
            <a:off x="914400" y="5812036"/>
            <a:ext cx="16459200" cy="693390"/>
          </a:xfrm>
          <a:prstGeom prst="rect">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2"/>
          <p:cNvSpPr/>
          <p:nvPr/>
        </p:nvSpPr>
        <p:spPr>
          <a:xfrm>
            <a:off x="914400" y="5812036"/>
            <a:ext cx="6746453"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1209675" y="5983486"/>
            <a:ext cx="6358297"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Verify factual claims</a:t>
            </a:r>
            <a:endParaRPr b="0" i="0" sz="2100" u="none" cap="none" strike="noStrike">
              <a:solidFill>
                <a:schemeClr val="dk1"/>
              </a:solidFill>
              <a:latin typeface="Calibri"/>
              <a:ea typeface="Calibri"/>
              <a:cs typeface="Calibri"/>
              <a:sym typeface="Calibri"/>
            </a:endParaRPr>
          </a:p>
        </p:txBody>
      </p:sp>
      <p:sp>
        <p:nvSpPr>
          <p:cNvPr id="298" name="Google Shape;298;p12"/>
          <p:cNvSpPr/>
          <p:nvPr/>
        </p:nvSpPr>
        <p:spPr>
          <a:xfrm>
            <a:off x="7660853" y="5812036"/>
            <a:ext cx="2962647"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2"/>
          <p:cNvSpPr/>
          <p:nvPr/>
        </p:nvSpPr>
        <p:spPr>
          <a:xfrm>
            <a:off x="7956128" y="5983486"/>
            <a:ext cx="246097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Human</a:t>
            </a:r>
            <a:endParaRPr b="0" i="0" sz="2100" u="none" cap="none" strike="noStrike">
              <a:solidFill>
                <a:schemeClr val="dk1"/>
              </a:solidFill>
              <a:latin typeface="Calibri"/>
              <a:ea typeface="Calibri"/>
              <a:cs typeface="Calibri"/>
              <a:sym typeface="Calibri"/>
            </a:endParaRPr>
          </a:p>
        </p:txBody>
      </p:sp>
      <p:sp>
        <p:nvSpPr>
          <p:cNvPr id="300" name="Google Shape;300;p12"/>
          <p:cNvSpPr/>
          <p:nvPr/>
        </p:nvSpPr>
        <p:spPr>
          <a:xfrm>
            <a:off x="10623500" y="5812036"/>
            <a:ext cx="6750100"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2"/>
          <p:cNvSpPr/>
          <p:nvPr/>
        </p:nvSpPr>
        <p:spPr>
          <a:xfrm>
            <a:off x="10918775" y="5983486"/>
            <a:ext cx="6362053"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6B7780"/>
              </a:buClr>
              <a:buSzPts val="2100"/>
              <a:buFont typeface="Carlito"/>
              <a:buNone/>
            </a:pPr>
            <a:r>
              <a:rPr b="0" i="0" lang="en-US" sz="2100" u="none" cap="none" strike="noStrike">
                <a:solidFill>
                  <a:srgbClr val="6B7780"/>
                </a:solidFill>
                <a:latin typeface="Carlito"/>
                <a:ea typeface="Carlito"/>
                <a:cs typeface="Carlito"/>
                <a:sym typeface="Carlito"/>
              </a:rPr>
              <a:t>Accountability stays with the author</a:t>
            </a:r>
            <a:endParaRPr b="0" i="0" sz="2100" u="none" cap="none" strike="noStrike">
              <a:solidFill>
                <a:schemeClr val="dk1"/>
              </a:solidFill>
              <a:latin typeface="Calibri"/>
              <a:ea typeface="Calibri"/>
              <a:cs typeface="Calibri"/>
              <a:sym typeface="Calibri"/>
            </a:endParaRPr>
          </a:p>
        </p:txBody>
      </p:sp>
      <p:sp>
        <p:nvSpPr>
          <p:cNvPr id="302" name="Google Shape;302;p12"/>
          <p:cNvSpPr/>
          <p:nvPr/>
        </p:nvSpPr>
        <p:spPr>
          <a:xfrm>
            <a:off x="914400" y="6505426"/>
            <a:ext cx="6746453"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2"/>
          <p:cNvSpPr/>
          <p:nvPr/>
        </p:nvSpPr>
        <p:spPr>
          <a:xfrm>
            <a:off x="1209675" y="6676876"/>
            <a:ext cx="6358297"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Improve grammar and consistency</a:t>
            </a:r>
            <a:endParaRPr b="0" i="0" sz="2100" u="none" cap="none" strike="noStrike">
              <a:solidFill>
                <a:schemeClr val="dk1"/>
              </a:solidFill>
              <a:latin typeface="Calibri"/>
              <a:ea typeface="Calibri"/>
              <a:cs typeface="Calibri"/>
              <a:sym typeface="Calibri"/>
            </a:endParaRPr>
          </a:p>
        </p:txBody>
      </p:sp>
      <p:sp>
        <p:nvSpPr>
          <p:cNvPr id="304" name="Google Shape;304;p12"/>
          <p:cNvSpPr/>
          <p:nvPr/>
        </p:nvSpPr>
        <p:spPr>
          <a:xfrm>
            <a:off x="7660853" y="6505426"/>
            <a:ext cx="2962647"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2"/>
          <p:cNvSpPr/>
          <p:nvPr/>
        </p:nvSpPr>
        <p:spPr>
          <a:xfrm>
            <a:off x="7956128" y="6676876"/>
            <a:ext cx="246097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AI</a:t>
            </a:r>
            <a:endParaRPr b="0" i="0" sz="2100" u="none" cap="none" strike="noStrike">
              <a:solidFill>
                <a:schemeClr val="dk1"/>
              </a:solidFill>
              <a:latin typeface="Calibri"/>
              <a:ea typeface="Calibri"/>
              <a:cs typeface="Calibri"/>
              <a:sym typeface="Calibri"/>
            </a:endParaRPr>
          </a:p>
        </p:txBody>
      </p:sp>
      <p:sp>
        <p:nvSpPr>
          <p:cNvPr id="306" name="Google Shape;306;p12"/>
          <p:cNvSpPr/>
          <p:nvPr/>
        </p:nvSpPr>
        <p:spPr>
          <a:xfrm>
            <a:off x="10623500" y="6505426"/>
            <a:ext cx="6750100"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2"/>
          <p:cNvSpPr/>
          <p:nvPr/>
        </p:nvSpPr>
        <p:spPr>
          <a:xfrm>
            <a:off x="10918775" y="6676876"/>
            <a:ext cx="6362053"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6B7780"/>
              </a:buClr>
              <a:buSzPts val="2100"/>
              <a:buFont typeface="Carlito"/>
              <a:buNone/>
            </a:pPr>
            <a:r>
              <a:rPr b="0" i="0" lang="en-US" sz="2100" u="none" cap="none" strike="noStrike">
                <a:solidFill>
                  <a:srgbClr val="6B7780"/>
                </a:solidFill>
                <a:latin typeface="Carlito"/>
                <a:ea typeface="Carlito"/>
                <a:cs typeface="Carlito"/>
                <a:sym typeface="Carlito"/>
              </a:rPr>
              <a:t>Good fit for mechanical review</a:t>
            </a:r>
            <a:endParaRPr b="0" i="0" sz="2100" u="none" cap="none" strike="noStrike">
              <a:solidFill>
                <a:schemeClr val="dk1"/>
              </a:solidFill>
              <a:latin typeface="Calibri"/>
              <a:ea typeface="Calibri"/>
              <a:cs typeface="Calibri"/>
              <a:sym typeface="Calibri"/>
            </a:endParaRPr>
          </a:p>
        </p:txBody>
      </p:sp>
      <p:sp>
        <p:nvSpPr>
          <p:cNvPr id="308" name="Google Shape;308;p12"/>
          <p:cNvSpPr/>
          <p:nvPr/>
        </p:nvSpPr>
        <p:spPr>
          <a:xfrm>
            <a:off x="914400" y="7198816"/>
            <a:ext cx="16459200" cy="693390"/>
          </a:xfrm>
          <a:prstGeom prst="rect">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2"/>
          <p:cNvSpPr/>
          <p:nvPr/>
        </p:nvSpPr>
        <p:spPr>
          <a:xfrm>
            <a:off x="914400" y="7198816"/>
            <a:ext cx="6746453"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2"/>
          <p:cNvSpPr/>
          <p:nvPr/>
        </p:nvSpPr>
        <p:spPr>
          <a:xfrm>
            <a:off x="1209675" y="7370266"/>
            <a:ext cx="6358297"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Approve the final course</a:t>
            </a:r>
            <a:endParaRPr b="0" i="0" sz="2100" u="none" cap="none" strike="noStrike">
              <a:solidFill>
                <a:schemeClr val="dk1"/>
              </a:solidFill>
              <a:latin typeface="Calibri"/>
              <a:ea typeface="Calibri"/>
              <a:cs typeface="Calibri"/>
              <a:sym typeface="Calibri"/>
            </a:endParaRPr>
          </a:p>
        </p:txBody>
      </p:sp>
      <p:sp>
        <p:nvSpPr>
          <p:cNvPr id="311" name="Google Shape;311;p12"/>
          <p:cNvSpPr/>
          <p:nvPr/>
        </p:nvSpPr>
        <p:spPr>
          <a:xfrm>
            <a:off x="7660853" y="7198816"/>
            <a:ext cx="2962647"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2"/>
          <p:cNvSpPr/>
          <p:nvPr/>
        </p:nvSpPr>
        <p:spPr>
          <a:xfrm>
            <a:off x="7956128" y="7370266"/>
            <a:ext cx="2460976"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Human</a:t>
            </a:r>
            <a:endParaRPr b="0" i="0" sz="2100" u="none" cap="none" strike="noStrike">
              <a:solidFill>
                <a:schemeClr val="dk1"/>
              </a:solidFill>
              <a:latin typeface="Calibri"/>
              <a:ea typeface="Calibri"/>
              <a:cs typeface="Calibri"/>
              <a:sym typeface="Calibri"/>
            </a:endParaRPr>
          </a:p>
        </p:txBody>
      </p:sp>
      <p:sp>
        <p:nvSpPr>
          <p:cNvPr id="313" name="Google Shape;313;p12"/>
          <p:cNvSpPr/>
          <p:nvPr/>
        </p:nvSpPr>
        <p:spPr>
          <a:xfrm>
            <a:off x="10623500" y="7198816"/>
            <a:ext cx="6750100" cy="9525"/>
          </a:xfrm>
          <a:prstGeom prst="rect">
            <a:avLst/>
          </a:prstGeom>
          <a:solidFill>
            <a:srgbClr val="D5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10918775" y="7370266"/>
            <a:ext cx="6362053" cy="398115"/>
          </a:xfrm>
          <a:prstGeom prst="rect">
            <a:avLst/>
          </a:prstGeom>
          <a:noFill/>
          <a:ln>
            <a:noFill/>
          </a:ln>
        </p:spPr>
        <p:txBody>
          <a:bodyPr anchorCtr="0" anchor="ctr" bIns="25400" lIns="25400" spcFirstLastPara="1" rIns="25400" wrap="square" tIns="25400">
            <a:noAutofit/>
          </a:bodyPr>
          <a:lstStyle/>
          <a:p>
            <a:pPr indent="0" lvl="0" marL="0" marR="0" rtl="0" algn="l">
              <a:lnSpc>
                <a:spcPct val="111176"/>
              </a:lnSpc>
              <a:spcBef>
                <a:spcPts val="0"/>
              </a:spcBef>
              <a:spcAft>
                <a:spcPts val="0"/>
              </a:spcAft>
              <a:buClr>
                <a:srgbClr val="6B7780"/>
              </a:buClr>
              <a:buSzPts val="2100"/>
              <a:buFont typeface="Carlito"/>
              <a:buNone/>
            </a:pPr>
            <a:r>
              <a:rPr b="0" i="0" lang="en-US" sz="2100" u="none" cap="none" strike="noStrike">
                <a:solidFill>
                  <a:srgbClr val="6B7780"/>
                </a:solidFill>
                <a:latin typeface="Carlito"/>
                <a:ea typeface="Carlito"/>
                <a:cs typeface="Carlito"/>
                <a:sym typeface="Carlito"/>
              </a:rPr>
              <a:t>Your name and reputation are attached</a:t>
            </a:r>
            <a:endParaRPr b="0" i="0" sz="2100" u="none" cap="none" strike="noStrike">
              <a:solidFill>
                <a:schemeClr val="dk1"/>
              </a:solidFill>
              <a:latin typeface="Calibri"/>
              <a:ea typeface="Calibri"/>
              <a:cs typeface="Calibri"/>
              <a:sym typeface="Calibri"/>
            </a:endParaRPr>
          </a:p>
        </p:txBody>
      </p:sp>
      <p:sp>
        <p:nvSpPr>
          <p:cNvPr id="315" name="Google Shape;315;p12"/>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The better question is not “Can AI do this?” but “Which parts should AI do, which should I do, and why?”</a:t>
            </a:r>
            <a:endParaRPr b="0" i="0" sz="2775" u="none" cap="none" strike="noStrike">
              <a:solidFill>
                <a:schemeClr val="dk1"/>
              </a:solidFill>
              <a:latin typeface="Calibri"/>
              <a:ea typeface="Calibri"/>
              <a:cs typeface="Calibri"/>
              <a:sym typeface="Calibri"/>
            </a:endParaRPr>
          </a:p>
        </p:txBody>
      </p:sp>
      <p:sp>
        <p:nvSpPr>
          <p:cNvPr id="316" name="Google Shape;316;p12"/>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317" name="Google Shape;317;p12"/>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10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322" name="Shape 322"/>
        <p:cNvGrpSpPr/>
        <p:nvPr/>
      </p:nvGrpSpPr>
      <p:grpSpPr>
        <a:xfrm>
          <a:off x="0" y="0"/>
          <a:ext cx="0" cy="0"/>
          <a:chOff x="0" y="0"/>
          <a:chExt cx="0" cy="0"/>
        </a:xfrm>
      </p:grpSpPr>
      <p:pic>
        <p:nvPicPr>
          <p:cNvPr descr="preencoded.png" id="323" name="Google Shape;323;p13"/>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324" name="Google Shape;324;p13"/>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Description: three parts</a:t>
            </a:r>
            <a:endParaRPr b="0" i="0" sz="5175" u="none" cap="none" strike="noStrike">
              <a:solidFill>
                <a:schemeClr val="dk1"/>
              </a:solidFill>
              <a:latin typeface="Calibri"/>
              <a:ea typeface="Calibri"/>
              <a:cs typeface="Calibri"/>
              <a:sym typeface="Calibri"/>
            </a:endParaRPr>
          </a:p>
        </p:txBody>
      </p:sp>
      <p:sp>
        <p:nvSpPr>
          <p:cNvPr id="325" name="Google Shape;325;p13"/>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AI cannot read your mind. State everything relevant.</a:t>
            </a:r>
            <a:endParaRPr b="0" i="0" sz="2625" u="none" cap="none" strike="noStrike">
              <a:solidFill>
                <a:schemeClr val="dk1"/>
              </a:solidFill>
              <a:latin typeface="Calibri"/>
              <a:ea typeface="Calibri"/>
              <a:cs typeface="Calibri"/>
              <a:sym typeface="Calibri"/>
            </a:endParaRPr>
          </a:p>
        </p:txBody>
      </p:sp>
      <p:sp>
        <p:nvSpPr>
          <p:cNvPr id="326" name="Google Shape;326;p13"/>
          <p:cNvSpPr/>
          <p:nvPr/>
        </p:nvSpPr>
        <p:spPr>
          <a:xfrm>
            <a:off x="914400" y="3019425"/>
            <a:ext cx="5245075" cy="3076426"/>
          </a:xfrm>
          <a:prstGeom prst="roundRect">
            <a:avLst>
              <a:gd fmla="val 4954"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3"/>
          <p:cNvSpPr/>
          <p:nvPr/>
        </p:nvSpPr>
        <p:spPr>
          <a:xfrm>
            <a:off x="914400" y="3019425"/>
            <a:ext cx="5245075" cy="849585"/>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3"/>
          <p:cNvSpPr/>
          <p:nvPr/>
        </p:nvSpPr>
        <p:spPr>
          <a:xfrm>
            <a:off x="1209675" y="3238500"/>
            <a:ext cx="4811877"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F5EEE1"/>
              </a:buClr>
              <a:buSzPts val="2700"/>
              <a:buFont typeface="Carlito"/>
              <a:buNone/>
            </a:pPr>
            <a:r>
              <a:rPr b="1" i="0" lang="en-US" sz="2700" u="none" cap="none" strike="noStrike">
                <a:solidFill>
                  <a:srgbClr val="F5EEE1"/>
                </a:solidFill>
                <a:latin typeface="Carlito"/>
                <a:ea typeface="Carlito"/>
                <a:cs typeface="Carlito"/>
                <a:sym typeface="Carlito"/>
              </a:rPr>
              <a:t>Product description</a:t>
            </a:r>
            <a:endParaRPr b="0" i="0" sz="2700" u="none" cap="none" strike="noStrike">
              <a:solidFill>
                <a:schemeClr val="dk1"/>
              </a:solidFill>
              <a:latin typeface="Calibri"/>
              <a:ea typeface="Calibri"/>
              <a:cs typeface="Calibri"/>
              <a:sym typeface="Calibri"/>
            </a:endParaRPr>
          </a:p>
        </p:txBody>
      </p:sp>
      <p:sp>
        <p:nvSpPr>
          <p:cNvPr id="329" name="Google Shape;329;p13"/>
          <p:cNvSpPr/>
          <p:nvPr/>
        </p:nvSpPr>
        <p:spPr>
          <a:xfrm>
            <a:off x="1209675" y="4164285"/>
            <a:ext cx="5119978" cy="451470"/>
          </a:xfrm>
          <a:prstGeom prst="rect">
            <a:avLst/>
          </a:prstGeom>
          <a:noFill/>
          <a:ln>
            <a:noFill/>
          </a:ln>
        </p:spPr>
        <p:txBody>
          <a:bodyPr anchorCtr="0" anchor="t" bIns="25400" lIns="25400" spcFirstLastPara="1" rIns="25400" wrap="square" tIns="25400">
            <a:noAutofit/>
          </a:bodyPr>
          <a:lstStyle/>
          <a:p>
            <a:pPr indent="0" lvl="0" marL="0" marR="0" rtl="0" algn="l">
              <a:lnSpc>
                <a:spcPct val="114211"/>
              </a:lnSpc>
              <a:spcBef>
                <a:spcPts val="0"/>
              </a:spcBef>
              <a:spcAft>
                <a:spcPts val="0"/>
              </a:spcAft>
              <a:buClr>
                <a:srgbClr val="C05F44"/>
              </a:buClr>
              <a:buSzPts val="2325"/>
              <a:buFont typeface="Carlito"/>
              <a:buNone/>
            </a:pPr>
            <a:r>
              <a:rPr b="1" i="0" lang="en-US" sz="2325" u="none" cap="none" strike="noStrike">
                <a:solidFill>
                  <a:srgbClr val="C05F44"/>
                </a:solidFill>
                <a:latin typeface="Carlito"/>
                <a:ea typeface="Carlito"/>
                <a:cs typeface="Carlito"/>
                <a:sym typeface="Carlito"/>
              </a:rPr>
              <a:t>What you want</a:t>
            </a:r>
            <a:endParaRPr b="0" i="0" sz="2325" u="none" cap="none" strike="noStrike">
              <a:solidFill>
                <a:schemeClr val="dk1"/>
              </a:solidFill>
              <a:latin typeface="Calibri"/>
              <a:ea typeface="Calibri"/>
              <a:cs typeface="Calibri"/>
              <a:sym typeface="Calibri"/>
            </a:endParaRPr>
          </a:p>
        </p:txBody>
      </p:sp>
      <p:sp>
        <p:nvSpPr>
          <p:cNvPr id="330" name="Google Shape;330;p13"/>
          <p:cNvSpPr/>
          <p:nvPr/>
        </p:nvSpPr>
        <p:spPr>
          <a:xfrm>
            <a:off x="1209675" y="4720530"/>
            <a:ext cx="4794161"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Output, format, audience, length, style, exclusions.</a:t>
            </a:r>
            <a:endParaRPr b="0" i="0" sz="2025" u="none" cap="none" strike="noStrike">
              <a:solidFill>
                <a:schemeClr val="dk1"/>
              </a:solidFill>
              <a:latin typeface="Calibri"/>
              <a:ea typeface="Calibri"/>
              <a:cs typeface="Calibri"/>
              <a:sym typeface="Calibri"/>
            </a:endParaRPr>
          </a:p>
        </p:txBody>
      </p:sp>
      <p:sp>
        <p:nvSpPr>
          <p:cNvPr id="331" name="Google Shape;331;p13"/>
          <p:cNvSpPr/>
          <p:nvPr/>
        </p:nvSpPr>
        <p:spPr>
          <a:xfrm>
            <a:off x="6521425" y="3019425"/>
            <a:ext cx="5245075" cy="3076426"/>
          </a:xfrm>
          <a:prstGeom prst="roundRect">
            <a:avLst>
              <a:gd fmla="val 4954"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
          <p:cNvSpPr/>
          <p:nvPr/>
        </p:nvSpPr>
        <p:spPr>
          <a:xfrm>
            <a:off x="6521425" y="3019425"/>
            <a:ext cx="5245075" cy="849585"/>
          </a:xfrm>
          <a:prstGeom prst="rect">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3"/>
          <p:cNvSpPr/>
          <p:nvPr/>
        </p:nvSpPr>
        <p:spPr>
          <a:xfrm>
            <a:off x="6816700" y="3238500"/>
            <a:ext cx="4811877"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F5EEE1"/>
              </a:buClr>
              <a:buSzPts val="2700"/>
              <a:buFont typeface="Carlito"/>
              <a:buNone/>
            </a:pPr>
            <a:r>
              <a:rPr b="1" i="0" lang="en-US" sz="2700" u="none" cap="none" strike="noStrike">
                <a:solidFill>
                  <a:srgbClr val="F5EEE1"/>
                </a:solidFill>
                <a:latin typeface="Carlito"/>
                <a:ea typeface="Carlito"/>
                <a:cs typeface="Carlito"/>
                <a:sym typeface="Carlito"/>
              </a:rPr>
              <a:t>Process description</a:t>
            </a:r>
            <a:endParaRPr b="0" i="0" sz="2700" u="none" cap="none" strike="noStrike">
              <a:solidFill>
                <a:schemeClr val="dk1"/>
              </a:solidFill>
              <a:latin typeface="Calibri"/>
              <a:ea typeface="Calibri"/>
              <a:cs typeface="Calibri"/>
              <a:sym typeface="Calibri"/>
            </a:endParaRPr>
          </a:p>
        </p:txBody>
      </p:sp>
      <p:sp>
        <p:nvSpPr>
          <p:cNvPr id="334" name="Google Shape;334;p13"/>
          <p:cNvSpPr/>
          <p:nvPr/>
        </p:nvSpPr>
        <p:spPr>
          <a:xfrm>
            <a:off x="6816700" y="4164285"/>
            <a:ext cx="5119978" cy="451470"/>
          </a:xfrm>
          <a:prstGeom prst="rect">
            <a:avLst/>
          </a:prstGeom>
          <a:noFill/>
          <a:ln>
            <a:noFill/>
          </a:ln>
        </p:spPr>
        <p:txBody>
          <a:bodyPr anchorCtr="0" anchor="t" bIns="25400" lIns="25400" spcFirstLastPara="1" rIns="25400" wrap="square" tIns="25400">
            <a:noAutofit/>
          </a:bodyPr>
          <a:lstStyle/>
          <a:p>
            <a:pPr indent="0" lvl="0" marL="0" marR="0" rtl="0" algn="l">
              <a:lnSpc>
                <a:spcPct val="114211"/>
              </a:lnSpc>
              <a:spcBef>
                <a:spcPts val="0"/>
              </a:spcBef>
              <a:spcAft>
                <a:spcPts val="0"/>
              </a:spcAft>
              <a:buClr>
                <a:srgbClr val="C05F44"/>
              </a:buClr>
              <a:buSzPts val="2325"/>
              <a:buFont typeface="Carlito"/>
              <a:buNone/>
            </a:pPr>
            <a:r>
              <a:rPr b="1" i="0" lang="en-US" sz="2325" u="none" cap="none" strike="noStrike">
                <a:solidFill>
                  <a:srgbClr val="C05F44"/>
                </a:solidFill>
                <a:latin typeface="Carlito"/>
                <a:ea typeface="Carlito"/>
                <a:cs typeface="Carlito"/>
                <a:sym typeface="Carlito"/>
              </a:rPr>
              <a:t>How to approach it</a:t>
            </a:r>
            <a:endParaRPr b="0" i="0" sz="2325" u="none" cap="none" strike="noStrike">
              <a:solidFill>
                <a:schemeClr val="dk1"/>
              </a:solidFill>
              <a:latin typeface="Calibri"/>
              <a:ea typeface="Calibri"/>
              <a:cs typeface="Calibri"/>
              <a:sym typeface="Calibri"/>
            </a:endParaRPr>
          </a:p>
        </p:txBody>
      </p:sp>
      <p:sp>
        <p:nvSpPr>
          <p:cNvPr id="335" name="Google Shape;335;p13"/>
          <p:cNvSpPr/>
          <p:nvPr/>
        </p:nvSpPr>
        <p:spPr>
          <a:xfrm>
            <a:off x="6816700" y="4720530"/>
            <a:ext cx="5119978"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Steps, methods, order, examples to follow.</a:t>
            </a:r>
            <a:endParaRPr b="0" i="0" sz="2025" u="none" cap="none" strike="noStrike">
              <a:solidFill>
                <a:schemeClr val="dk1"/>
              </a:solidFill>
              <a:latin typeface="Calibri"/>
              <a:ea typeface="Calibri"/>
              <a:cs typeface="Calibri"/>
              <a:sym typeface="Calibri"/>
            </a:endParaRPr>
          </a:p>
        </p:txBody>
      </p:sp>
      <p:sp>
        <p:nvSpPr>
          <p:cNvPr id="336" name="Google Shape;336;p13"/>
          <p:cNvSpPr/>
          <p:nvPr/>
        </p:nvSpPr>
        <p:spPr>
          <a:xfrm>
            <a:off x="12128450" y="3019425"/>
            <a:ext cx="5245150" cy="3076426"/>
          </a:xfrm>
          <a:prstGeom prst="roundRect">
            <a:avLst>
              <a:gd fmla="val 4954"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3"/>
          <p:cNvSpPr/>
          <p:nvPr/>
        </p:nvSpPr>
        <p:spPr>
          <a:xfrm>
            <a:off x="12128450" y="3019425"/>
            <a:ext cx="5245150" cy="849585"/>
          </a:xfrm>
          <a:prstGeom prst="rect">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3"/>
          <p:cNvSpPr/>
          <p:nvPr/>
        </p:nvSpPr>
        <p:spPr>
          <a:xfrm>
            <a:off x="12423725" y="3238500"/>
            <a:ext cx="4811954"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Performance description</a:t>
            </a:r>
            <a:endParaRPr b="0" i="0" sz="2700" u="none" cap="none" strike="noStrike">
              <a:solidFill>
                <a:schemeClr val="dk1"/>
              </a:solidFill>
              <a:latin typeface="Calibri"/>
              <a:ea typeface="Calibri"/>
              <a:cs typeface="Calibri"/>
              <a:sym typeface="Calibri"/>
            </a:endParaRPr>
          </a:p>
        </p:txBody>
      </p:sp>
      <p:sp>
        <p:nvSpPr>
          <p:cNvPr id="339" name="Google Shape;339;p13"/>
          <p:cNvSpPr/>
          <p:nvPr/>
        </p:nvSpPr>
        <p:spPr>
          <a:xfrm>
            <a:off x="12423725" y="4164285"/>
            <a:ext cx="5120060" cy="451470"/>
          </a:xfrm>
          <a:prstGeom prst="rect">
            <a:avLst/>
          </a:prstGeom>
          <a:noFill/>
          <a:ln>
            <a:noFill/>
          </a:ln>
        </p:spPr>
        <p:txBody>
          <a:bodyPr anchorCtr="0" anchor="t" bIns="25400" lIns="25400" spcFirstLastPara="1" rIns="25400" wrap="square" tIns="25400">
            <a:noAutofit/>
          </a:bodyPr>
          <a:lstStyle/>
          <a:p>
            <a:pPr indent="0" lvl="0" marL="0" marR="0" rtl="0" algn="l">
              <a:lnSpc>
                <a:spcPct val="114211"/>
              </a:lnSpc>
              <a:spcBef>
                <a:spcPts val="0"/>
              </a:spcBef>
              <a:spcAft>
                <a:spcPts val="0"/>
              </a:spcAft>
              <a:buClr>
                <a:srgbClr val="C05F44"/>
              </a:buClr>
              <a:buSzPts val="2325"/>
              <a:buFont typeface="Carlito"/>
              <a:buNone/>
            </a:pPr>
            <a:r>
              <a:rPr b="1" i="0" lang="en-US" sz="2325" u="none" cap="none" strike="noStrike">
                <a:solidFill>
                  <a:srgbClr val="C05F44"/>
                </a:solidFill>
                <a:latin typeface="Carlito"/>
                <a:ea typeface="Carlito"/>
                <a:cs typeface="Carlito"/>
                <a:sym typeface="Carlito"/>
              </a:rPr>
              <a:t>How to behave with you</a:t>
            </a:r>
            <a:endParaRPr b="0" i="0" sz="2325" u="none" cap="none" strike="noStrike">
              <a:solidFill>
                <a:schemeClr val="dk1"/>
              </a:solidFill>
              <a:latin typeface="Calibri"/>
              <a:ea typeface="Calibri"/>
              <a:cs typeface="Calibri"/>
              <a:sym typeface="Calibri"/>
            </a:endParaRPr>
          </a:p>
        </p:txBody>
      </p:sp>
      <p:sp>
        <p:nvSpPr>
          <p:cNvPr id="340" name="Google Shape;340;p13"/>
          <p:cNvSpPr/>
          <p:nvPr/>
        </p:nvSpPr>
        <p:spPr>
          <a:xfrm>
            <a:off x="12423725" y="4720530"/>
            <a:ext cx="4794238" cy="1118146"/>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Concise or detailed, challenging or supportive. At system scale, a deployed agent's standing rules.</a:t>
            </a:r>
            <a:endParaRPr b="0" i="0" sz="2025" u="none" cap="none" strike="noStrike">
              <a:solidFill>
                <a:schemeClr val="dk1"/>
              </a:solidFill>
              <a:latin typeface="Calibri"/>
              <a:ea typeface="Calibri"/>
              <a:cs typeface="Calibri"/>
              <a:sym typeface="Calibri"/>
            </a:endParaRPr>
          </a:p>
        </p:txBody>
      </p:sp>
      <p:sp>
        <p:nvSpPr>
          <p:cNvPr id="341" name="Google Shape;341;p13"/>
          <p:cNvSpPr/>
          <p:nvPr/>
        </p:nvSpPr>
        <p:spPr>
          <a:xfrm>
            <a:off x="914400" y="6457801"/>
            <a:ext cx="16459200" cy="887685"/>
          </a:xfrm>
          <a:prstGeom prst="roundRect">
            <a:avLst>
              <a:gd fmla="val 17168"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3"/>
          <p:cNvSpPr/>
          <p:nvPr/>
        </p:nvSpPr>
        <p:spPr>
          <a:xfrm>
            <a:off x="1276350" y="6714976"/>
            <a:ext cx="17308830"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D3A03F"/>
              </a:buClr>
              <a:buSzPts val="2100"/>
              <a:buFont typeface="Carlito"/>
              <a:buNone/>
            </a:pPr>
            <a:r>
              <a:rPr b="1" i="0" lang="en-US" sz="2100" u="none" cap="none" strike="noStrike">
                <a:solidFill>
                  <a:srgbClr val="D3A03F"/>
                </a:solidFill>
                <a:latin typeface="Carlito"/>
                <a:ea typeface="Carlito"/>
                <a:cs typeface="Carlito"/>
                <a:sym typeface="Carlito"/>
              </a:rPr>
              <a:t>At scale, description becomes context engineering: </a:t>
            </a:r>
            <a:r>
              <a:rPr b="0" i="0" lang="en-US" sz="2100" u="none" cap="none" strike="noStrike">
                <a:solidFill>
                  <a:srgbClr val="F5EEE1"/>
                </a:solidFill>
                <a:latin typeface="Carlito"/>
                <a:ea typeface="Carlito"/>
                <a:cs typeface="Carlito"/>
                <a:sym typeface="Carlito"/>
              </a:rPr>
              <a:t>designing everything the AI needs to succeed, not the wording of one message.</a:t>
            </a:r>
            <a:endParaRPr b="0" i="0" sz="2100" u="none" cap="none" strike="noStrike">
              <a:solidFill>
                <a:schemeClr val="dk1"/>
              </a:solidFill>
              <a:latin typeface="Calibri"/>
              <a:ea typeface="Calibri"/>
              <a:cs typeface="Calibri"/>
              <a:sym typeface="Calibri"/>
            </a:endParaRPr>
          </a:p>
        </p:txBody>
      </p:sp>
      <p:sp>
        <p:nvSpPr>
          <p:cNvPr id="343" name="Google Shape;343;p13"/>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Completeness beats cleverness. The best prompt is not clever. It is complete.</a:t>
            </a:r>
            <a:endParaRPr b="0" i="0" sz="2775" u="none" cap="none" strike="noStrike">
              <a:solidFill>
                <a:schemeClr val="dk1"/>
              </a:solidFill>
              <a:latin typeface="Calibri"/>
              <a:ea typeface="Calibri"/>
              <a:cs typeface="Calibri"/>
              <a:sym typeface="Calibri"/>
            </a:endParaRPr>
          </a:p>
        </p:txBody>
      </p:sp>
      <p:sp>
        <p:nvSpPr>
          <p:cNvPr id="344" name="Google Shape;344;p13"/>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345" name="Google Shape;345;p13"/>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11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350" name="Shape 350"/>
        <p:cNvGrpSpPr/>
        <p:nvPr/>
      </p:nvGrpSpPr>
      <p:grpSpPr>
        <a:xfrm>
          <a:off x="0" y="0"/>
          <a:ext cx="0" cy="0"/>
          <a:chOff x="0" y="0"/>
          <a:chExt cx="0" cy="0"/>
        </a:xfrm>
      </p:grpSpPr>
      <p:pic>
        <p:nvPicPr>
          <p:cNvPr descr="preencoded.png" id="351" name="Google Shape;351;p14"/>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352" name="Google Shape;352;p14"/>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Vague versus complete</a:t>
            </a:r>
            <a:endParaRPr b="0" i="0" sz="5175" u="none" cap="none" strike="noStrike">
              <a:solidFill>
                <a:schemeClr val="dk1"/>
              </a:solidFill>
              <a:latin typeface="Calibri"/>
              <a:ea typeface="Calibri"/>
              <a:cs typeface="Calibri"/>
              <a:sym typeface="Calibri"/>
            </a:endParaRPr>
          </a:p>
        </p:txBody>
      </p:sp>
      <p:sp>
        <p:nvSpPr>
          <p:cNvPr id="353" name="Google Shape;353;p14"/>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Two requests for the same summary. Same model, same three seconds of work for the machine.</a:t>
            </a:r>
            <a:endParaRPr b="0" i="0" sz="2625" u="none" cap="none" strike="noStrike">
              <a:solidFill>
                <a:schemeClr val="dk1"/>
              </a:solidFill>
              <a:latin typeface="Calibri"/>
              <a:ea typeface="Calibri"/>
              <a:cs typeface="Calibri"/>
              <a:sym typeface="Calibri"/>
            </a:endParaRPr>
          </a:p>
        </p:txBody>
      </p:sp>
      <p:sp>
        <p:nvSpPr>
          <p:cNvPr id="354" name="Google Shape;354;p14"/>
          <p:cNvSpPr/>
          <p:nvPr/>
        </p:nvSpPr>
        <p:spPr>
          <a:xfrm>
            <a:off x="914400" y="3019425"/>
            <a:ext cx="6191250" cy="5305425"/>
          </a:xfrm>
          <a:prstGeom prst="roundRect">
            <a:avLst>
              <a:gd fmla="val 2873"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4"/>
          <p:cNvSpPr/>
          <p:nvPr/>
        </p:nvSpPr>
        <p:spPr>
          <a:xfrm>
            <a:off x="1276350" y="3381375"/>
            <a:ext cx="6014085"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D3A03F"/>
              </a:buClr>
              <a:buSzPts val="2100"/>
              <a:buFont typeface="Carlito"/>
              <a:buNone/>
            </a:pPr>
            <a:r>
              <a:rPr b="1" i="0" lang="en-US" sz="2100" u="none" cap="none" strike="noStrike">
                <a:solidFill>
                  <a:srgbClr val="D3A03F"/>
                </a:solidFill>
                <a:latin typeface="Carlito"/>
                <a:ea typeface="Carlito"/>
                <a:cs typeface="Carlito"/>
                <a:sym typeface="Carlito"/>
              </a:rPr>
              <a:t>Vague</a:t>
            </a:r>
            <a:endParaRPr b="0" i="0" sz="2100" u="none" cap="none" strike="noStrike">
              <a:solidFill>
                <a:schemeClr val="dk1"/>
              </a:solidFill>
              <a:latin typeface="Calibri"/>
              <a:ea typeface="Calibri"/>
              <a:cs typeface="Calibri"/>
              <a:sym typeface="Calibri"/>
            </a:endParaRPr>
          </a:p>
        </p:txBody>
      </p:sp>
      <p:sp>
        <p:nvSpPr>
          <p:cNvPr id="356" name="Google Shape;356;p14"/>
          <p:cNvSpPr/>
          <p:nvPr/>
        </p:nvSpPr>
        <p:spPr>
          <a:xfrm>
            <a:off x="1276350" y="3897585"/>
            <a:ext cx="6014085" cy="533400"/>
          </a:xfrm>
          <a:prstGeom prst="rect">
            <a:avLst/>
          </a:prstGeom>
          <a:noFill/>
          <a:ln>
            <a:noFill/>
          </a:ln>
        </p:spPr>
        <p:txBody>
          <a:bodyPr anchorCtr="0" anchor="t" bIns="25400" lIns="25400" spcFirstLastPara="1" rIns="25400" wrap="square" tIns="25400">
            <a:noAutofit/>
          </a:bodyPr>
          <a:lstStyle/>
          <a:p>
            <a:pPr indent="0" lvl="0" marL="0" marR="0" rtl="0" algn="l">
              <a:lnSpc>
                <a:spcPct val="107216"/>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“Summarize this report.”</a:t>
            </a:r>
            <a:endParaRPr b="0" i="0" sz="3000" u="none" cap="none" strike="noStrike">
              <a:solidFill>
                <a:schemeClr val="dk1"/>
              </a:solidFill>
              <a:latin typeface="Calibri"/>
              <a:ea typeface="Calibri"/>
              <a:cs typeface="Calibri"/>
              <a:sym typeface="Calibri"/>
            </a:endParaRPr>
          </a:p>
        </p:txBody>
      </p:sp>
      <p:sp>
        <p:nvSpPr>
          <p:cNvPr id="357" name="Google Shape;357;p14"/>
          <p:cNvSpPr/>
          <p:nvPr/>
        </p:nvSpPr>
        <p:spPr>
          <a:xfrm>
            <a:off x="1276350" y="4611960"/>
            <a:ext cx="5631371"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B9C2C9"/>
              </a:buClr>
              <a:buSzPts val="2100"/>
              <a:buFont typeface="Carlito"/>
              <a:buNone/>
            </a:pPr>
            <a:r>
              <a:rPr b="0" i="0" lang="en-US" sz="2100" u="none" cap="none" strike="noStrike">
                <a:solidFill>
                  <a:srgbClr val="B9C2C9"/>
                </a:solidFill>
                <a:latin typeface="Carlito"/>
                <a:ea typeface="Carlito"/>
                <a:cs typeface="Carlito"/>
                <a:sym typeface="Carlito"/>
              </a:rPr>
              <a:t>Competent, grammatical, and completely generic. The AI had nothing to work with.</a:t>
            </a:r>
            <a:endParaRPr b="0" i="0" sz="2100" u="none" cap="none" strike="noStrike">
              <a:solidFill>
                <a:schemeClr val="dk1"/>
              </a:solidFill>
              <a:latin typeface="Calibri"/>
              <a:ea typeface="Calibri"/>
              <a:cs typeface="Calibri"/>
              <a:sym typeface="Calibri"/>
            </a:endParaRPr>
          </a:p>
        </p:txBody>
      </p:sp>
      <p:sp>
        <p:nvSpPr>
          <p:cNvPr id="358" name="Google Shape;358;p14"/>
          <p:cNvSpPr/>
          <p:nvPr/>
        </p:nvSpPr>
        <p:spPr>
          <a:xfrm>
            <a:off x="7467600" y="3019425"/>
            <a:ext cx="9906000" cy="5305425"/>
          </a:xfrm>
          <a:prstGeom prst="roundRect">
            <a:avLst>
              <a:gd fmla="val 2873"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4"/>
          <p:cNvSpPr/>
          <p:nvPr/>
        </p:nvSpPr>
        <p:spPr>
          <a:xfrm>
            <a:off x="7829550" y="3381375"/>
            <a:ext cx="10100310"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3D89A"/>
              </a:buClr>
              <a:buSzPts val="2100"/>
              <a:buFont typeface="Carlito"/>
              <a:buNone/>
            </a:pPr>
            <a:r>
              <a:rPr b="1" i="0" lang="en-US" sz="2100" u="none" cap="none" strike="noStrike">
                <a:solidFill>
                  <a:srgbClr val="F3D89A"/>
                </a:solidFill>
                <a:latin typeface="Carlito"/>
                <a:ea typeface="Carlito"/>
                <a:cs typeface="Carlito"/>
                <a:sym typeface="Carlito"/>
              </a:rPr>
              <a:t>Complete</a:t>
            </a:r>
            <a:endParaRPr b="0" i="0" sz="2100" u="none" cap="none" strike="noStrike">
              <a:solidFill>
                <a:schemeClr val="dk1"/>
              </a:solidFill>
              <a:latin typeface="Calibri"/>
              <a:ea typeface="Calibri"/>
              <a:cs typeface="Calibri"/>
              <a:sym typeface="Calibri"/>
            </a:endParaRPr>
          </a:p>
        </p:txBody>
      </p:sp>
      <p:sp>
        <p:nvSpPr>
          <p:cNvPr id="360" name="Google Shape;360;p14"/>
          <p:cNvSpPr/>
          <p:nvPr/>
        </p:nvSpPr>
        <p:spPr>
          <a:xfrm>
            <a:off x="7829550" y="3897585"/>
            <a:ext cx="9457563" cy="2030909"/>
          </a:xfrm>
          <a:prstGeom prst="rect">
            <a:avLst/>
          </a:prstGeom>
          <a:noFill/>
          <a:ln>
            <a:noFill/>
          </a:ln>
        </p:spPr>
        <p:txBody>
          <a:bodyPr anchorCtr="0" anchor="t" bIns="25400" lIns="25400" spcFirstLastPara="1" rIns="25400" wrap="square" tIns="25400">
            <a:noAutofit/>
          </a:bodyPr>
          <a:lstStyle/>
          <a:p>
            <a:pPr indent="0" lvl="0" marL="0" marR="0" rtl="0" algn="l">
              <a:lnSpc>
                <a:spcPct val="110132"/>
              </a:lnSpc>
              <a:spcBef>
                <a:spcPts val="0"/>
              </a:spcBef>
              <a:spcAft>
                <a:spcPts val="0"/>
              </a:spcAft>
              <a:buClr>
                <a:srgbClr val="F5EEE1"/>
              </a:buClr>
              <a:buSzPts val="2325"/>
              <a:buFont typeface="Carlito"/>
              <a:buNone/>
            </a:pPr>
            <a:r>
              <a:rPr b="1" i="0" lang="en-US" sz="2325" u="none" cap="none" strike="noStrike">
                <a:solidFill>
                  <a:srgbClr val="F5EEE1"/>
                </a:solidFill>
                <a:latin typeface="Carlito"/>
                <a:ea typeface="Carlito"/>
                <a:cs typeface="Carlito"/>
                <a:sym typeface="Carlito"/>
              </a:rPr>
              <a:t>“Summarize this quarterly financial report for senior executives who have ten minutes to read. Focus on revenue trends, major risks, and recommended actions. Use short bullet points and keep it to one page. Highlight any figure that changed significantly from last quarter. Avoid unnecessary accounting jargon.”</a:t>
            </a:r>
            <a:endParaRPr b="0" i="0" sz="2325" u="none" cap="none" strike="noStrike">
              <a:solidFill>
                <a:schemeClr val="dk1"/>
              </a:solidFill>
              <a:latin typeface="Calibri"/>
              <a:ea typeface="Calibri"/>
              <a:cs typeface="Calibri"/>
              <a:sym typeface="Calibri"/>
            </a:endParaRPr>
          </a:p>
        </p:txBody>
      </p:sp>
      <p:sp>
        <p:nvSpPr>
          <p:cNvPr id="361" name="Google Shape;361;p14"/>
          <p:cNvSpPr/>
          <p:nvPr/>
        </p:nvSpPr>
        <p:spPr>
          <a:xfrm>
            <a:off x="7829550" y="6109469"/>
            <a:ext cx="10100310"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3D89A"/>
              </a:buClr>
              <a:buSzPts val="2100"/>
              <a:buFont typeface="Carlito"/>
              <a:buNone/>
            </a:pPr>
            <a:r>
              <a:rPr b="0" i="0" lang="en-US" sz="2100" u="none" cap="none" strike="noStrike">
                <a:solidFill>
                  <a:srgbClr val="F3D89A"/>
                </a:solidFill>
                <a:latin typeface="Carlito"/>
                <a:ea typeface="Carlito"/>
                <a:cs typeface="Carlito"/>
                <a:sym typeface="Carlito"/>
              </a:rPr>
              <a:t>Audience, time, topics, format, length, exclusions.</a:t>
            </a:r>
            <a:endParaRPr b="0" i="0" sz="2100" u="none" cap="none" strike="noStrike">
              <a:solidFill>
                <a:schemeClr val="dk1"/>
              </a:solidFill>
              <a:latin typeface="Calibri"/>
              <a:ea typeface="Calibri"/>
              <a:cs typeface="Calibri"/>
              <a:sym typeface="Calibri"/>
            </a:endParaRPr>
          </a:p>
        </p:txBody>
      </p:sp>
      <p:sp>
        <p:nvSpPr>
          <p:cNvPr id="362" name="Google Shape;362;p14"/>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The second request is not more intelligent. It is more complete.</a:t>
            </a:r>
            <a:endParaRPr b="0" i="0" sz="2775" u="none" cap="none" strike="noStrike">
              <a:solidFill>
                <a:schemeClr val="dk1"/>
              </a:solidFill>
              <a:latin typeface="Calibri"/>
              <a:ea typeface="Calibri"/>
              <a:cs typeface="Calibri"/>
              <a:sym typeface="Calibri"/>
            </a:endParaRPr>
          </a:p>
        </p:txBody>
      </p:sp>
      <p:sp>
        <p:nvSpPr>
          <p:cNvPr id="363" name="Google Shape;363;p14"/>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364" name="Google Shape;364;p14"/>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12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369" name="Shape 369"/>
        <p:cNvGrpSpPr/>
        <p:nvPr/>
      </p:nvGrpSpPr>
      <p:grpSpPr>
        <a:xfrm>
          <a:off x="0" y="0"/>
          <a:ext cx="0" cy="0"/>
          <a:chOff x="0" y="0"/>
          <a:chExt cx="0" cy="0"/>
        </a:xfrm>
      </p:grpSpPr>
      <p:pic>
        <p:nvPicPr>
          <p:cNvPr descr="preencoded.png" id="370" name="Google Shape;370;p15"/>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371" name="Google Shape;371;p15"/>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From prompt engineering to context engineering</a:t>
            </a:r>
            <a:endParaRPr b="0" i="0" sz="5175" u="none" cap="none" strike="noStrike">
              <a:solidFill>
                <a:schemeClr val="dk1"/>
              </a:solidFill>
              <a:latin typeface="Calibri"/>
              <a:ea typeface="Calibri"/>
              <a:cs typeface="Calibri"/>
              <a:sym typeface="Calibri"/>
            </a:endParaRPr>
          </a:p>
        </p:txBody>
      </p:sp>
      <p:sp>
        <p:nvSpPr>
          <p:cNvPr id="372" name="Google Shape;372;p15"/>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Where Description scales into architecture.</a:t>
            </a:r>
            <a:endParaRPr b="0" i="0" sz="2625" u="none" cap="none" strike="noStrike">
              <a:solidFill>
                <a:schemeClr val="dk1"/>
              </a:solidFill>
              <a:latin typeface="Calibri"/>
              <a:ea typeface="Calibri"/>
              <a:cs typeface="Calibri"/>
              <a:sym typeface="Calibri"/>
            </a:endParaRPr>
          </a:p>
        </p:txBody>
      </p:sp>
      <p:sp>
        <p:nvSpPr>
          <p:cNvPr id="373" name="Google Shape;373;p15"/>
          <p:cNvSpPr/>
          <p:nvPr/>
        </p:nvSpPr>
        <p:spPr>
          <a:xfrm>
            <a:off x="914400" y="3019425"/>
            <a:ext cx="8048625" cy="2034406"/>
          </a:xfrm>
          <a:prstGeom prst="roundRect">
            <a:avLst>
              <a:gd fmla="val 7491"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5"/>
          <p:cNvSpPr/>
          <p:nvPr/>
        </p:nvSpPr>
        <p:spPr>
          <a:xfrm>
            <a:off x="1276350" y="3381375"/>
            <a:ext cx="8057197"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B9C2C9"/>
              </a:buClr>
              <a:buSzPts val="2100"/>
              <a:buFont typeface="Carlito"/>
              <a:buNone/>
            </a:pPr>
            <a:r>
              <a:rPr b="1" i="0" lang="en-US" sz="2100" u="none" cap="none" strike="noStrike">
                <a:solidFill>
                  <a:srgbClr val="B9C2C9"/>
                </a:solidFill>
                <a:latin typeface="Carlito"/>
                <a:ea typeface="Carlito"/>
                <a:cs typeface="Carlito"/>
                <a:sym typeface="Carlito"/>
              </a:rPr>
              <a:t>Prompt engineering asks</a:t>
            </a:r>
            <a:endParaRPr b="0" i="0" sz="2100" u="none" cap="none" strike="noStrike">
              <a:solidFill>
                <a:schemeClr val="dk1"/>
              </a:solidFill>
              <a:latin typeface="Calibri"/>
              <a:ea typeface="Calibri"/>
              <a:cs typeface="Calibri"/>
              <a:sym typeface="Calibri"/>
            </a:endParaRPr>
          </a:p>
        </p:txBody>
      </p:sp>
      <p:sp>
        <p:nvSpPr>
          <p:cNvPr id="375" name="Google Shape;375;p15"/>
          <p:cNvSpPr/>
          <p:nvPr/>
        </p:nvSpPr>
        <p:spPr>
          <a:xfrm>
            <a:off x="1276350" y="3869010"/>
            <a:ext cx="8057197"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F5EEE1"/>
              </a:buClr>
              <a:buSzPts val="2700"/>
              <a:buFont typeface="Carlito"/>
              <a:buNone/>
            </a:pPr>
            <a:r>
              <a:rPr b="1" i="0" lang="en-US" sz="2700" u="none" cap="none" strike="noStrike">
                <a:solidFill>
                  <a:srgbClr val="F5EEE1"/>
                </a:solidFill>
                <a:latin typeface="Carlito"/>
                <a:ea typeface="Carlito"/>
                <a:cs typeface="Carlito"/>
                <a:sym typeface="Carlito"/>
              </a:rPr>
              <a:t>“How should I phrase this message?”</a:t>
            </a:r>
            <a:endParaRPr b="0" i="0" sz="2700" u="none" cap="none" strike="noStrike">
              <a:solidFill>
                <a:schemeClr val="dk1"/>
              </a:solidFill>
              <a:latin typeface="Calibri"/>
              <a:ea typeface="Calibri"/>
              <a:cs typeface="Calibri"/>
              <a:sym typeface="Calibri"/>
            </a:endParaRPr>
          </a:p>
        </p:txBody>
      </p:sp>
      <p:sp>
        <p:nvSpPr>
          <p:cNvPr id="376" name="Google Shape;376;p15"/>
          <p:cNvSpPr/>
          <p:nvPr/>
        </p:nvSpPr>
        <p:spPr>
          <a:xfrm>
            <a:off x="9324975" y="3019425"/>
            <a:ext cx="8048625" cy="2034406"/>
          </a:xfrm>
          <a:prstGeom prst="roundRect">
            <a:avLst>
              <a:gd fmla="val 7491"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5"/>
          <p:cNvSpPr/>
          <p:nvPr/>
        </p:nvSpPr>
        <p:spPr>
          <a:xfrm>
            <a:off x="9686925" y="3381375"/>
            <a:ext cx="8057197"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3D89A"/>
              </a:buClr>
              <a:buSzPts val="2100"/>
              <a:buFont typeface="Carlito"/>
              <a:buNone/>
            </a:pPr>
            <a:r>
              <a:rPr b="1" i="0" lang="en-US" sz="2100" u="none" cap="none" strike="noStrike">
                <a:solidFill>
                  <a:srgbClr val="F3D89A"/>
                </a:solidFill>
                <a:latin typeface="Carlito"/>
                <a:ea typeface="Carlito"/>
                <a:cs typeface="Carlito"/>
                <a:sym typeface="Carlito"/>
              </a:rPr>
              <a:t>Context engineering asks</a:t>
            </a:r>
            <a:endParaRPr b="0" i="0" sz="2100" u="none" cap="none" strike="noStrike">
              <a:solidFill>
                <a:schemeClr val="dk1"/>
              </a:solidFill>
              <a:latin typeface="Calibri"/>
              <a:ea typeface="Calibri"/>
              <a:cs typeface="Calibri"/>
              <a:sym typeface="Calibri"/>
            </a:endParaRPr>
          </a:p>
        </p:txBody>
      </p:sp>
      <p:sp>
        <p:nvSpPr>
          <p:cNvPr id="378" name="Google Shape;378;p15"/>
          <p:cNvSpPr/>
          <p:nvPr/>
        </p:nvSpPr>
        <p:spPr>
          <a:xfrm>
            <a:off x="9686925" y="3869010"/>
            <a:ext cx="7544467" cy="860971"/>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F5EEE1"/>
              </a:buClr>
              <a:buSzPts val="2700"/>
              <a:buFont typeface="Carlito"/>
              <a:buNone/>
            </a:pPr>
            <a:r>
              <a:rPr b="1" i="0" lang="en-US" sz="2700" u="none" cap="none" strike="noStrike">
                <a:solidFill>
                  <a:srgbClr val="F5EEE1"/>
                </a:solidFill>
                <a:latin typeface="Carlito"/>
                <a:ea typeface="Carlito"/>
                <a:cs typeface="Carlito"/>
                <a:sym typeface="Carlito"/>
              </a:rPr>
              <a:t>“What information must be available for the AI to succeed?”</a:t>
            </a:r>
            <a:endParaRPr b="0" i="0" sz="2700" u="none" cap="none" strike="noStrike">
              <a:solidFill>
                <a:schemeClr val="dk1"/>
              </a:solidFill>
              <a:latin typeface="Calibri"/>
              <a:ea typeface="Calibri"/>
              <a:cs typeface="Calibri"/>
              <a:sym typeface="Calibri"/>
            </a:endParaRPr>
          </a:p>
        </p:txBody>
      </p:sp>
      <p:sp>
        <p:nvSpPr>
          <p:cNvPr id="379" name="Google Shape;379;p15"/>
          <p:cNvSpPr/>
          <p:nvPr/>
        </p:nvSpPr>
        <p:spPr>
          <a:xfrm>
            <a:off x="914400" y="5415781"/>
            <a:ext cx="1771278" cy="601935"/>
          </a:xfrm>
          <a:prstGeom prst="roundRect">
            <a:avLst>
              <a:gd fmla="val 1898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5"/>
          <p:cNvSpPr/>
          <p:nvPr/>
        </p:nvSpPr>
        <p:spPr>
          <a:xfrm>
            <a:off x="1171575" y="5530081"/>
            <a:ext cx="1333128"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Documents</a:t>
            </a:r>
            <a:endParaRPr b="0" i="0" sz="2100" u="none" cap="none" strike="noStrike">
              <a:solidFill>
                <a:schemeClr val="dk1"/>
              </a:solidFill>
              <a:latin typeface="Calibri"/>
              <a:ea typeface="Calibri"/>
              <a:cs typeface="Calibri"/>
              <a:sym typeface="Calibri"/>
            </a:endParaRPr>
          </a:p>
        </p:txBody>
      </p:sp>
      <p:sp>
        <p:nvSpPr>
          <p:cNvPr id="381" name="Google Shape;381;p15"/>
          <p:cNvSpPr/>
          <p:nvPr/>
        </p:nvSpPr>
        <p:spPr>
          <a:xfrm>
            <a:off x="2828553" y="5415781"/>
            <a:ext cx="1560761" cy="601935"/>
          </a:xfrm>
          <a:prstGeom prst="roundRect">
            <a:avLst>
              <a:gd fmla="val 1898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5"/>
          <p:cNvSpPr/>
          <p:nvPr/>
        </p:nvSpPr>
        <p:spPr>
          <a:xfrm>
            <a:off x="3085728" y="5530081"/>
            <a:ext cx="1122611"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Examples</a:t>
            </a:r>
            <a:endParaRPr b="0" i="0" sz="2100" u="none" cap="none" strike="noStrike">
              <a:solidFill>
                <a:schemeClr val="dk1"/>
              </a:solidFill>
              <a:latin typeface="Calibri"/>
              <a:ea typeface="Calibri"/>
              <a:cs typeface="Calibri"/>
              <a:sym typeface="Calibri"/>
            </a:endParaRPr>
          </a:p>
        </p:txBody>
      </p:sp>
      <p:sp>
        <p:nvSpPr>
          <p:cNvPr id="383" name="Google Shape;383;p15"/>
          <p:cNvSpPr/>
          <p:nvPr/>
        </p:nvSpPr>
        <p:spPr>
          <a:xfrm>
            <a:off x="4532188" y="5415781"/>
            <a:ext cx="1464394" cy="601935"/>
          </a:xfrm>
          <a:prstGeom prst="roundRect">
            <a:avLst>
              <a:gd fmla="val 1898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5"/>
          <p:cNvSpPr/>
          <p:nvPr/>
        </p:nvSpPr>
        <p:spPr>
          <a:xfrm>
            <a:off x="4789363" y="5530081"/>
            <a:ext cx="1026244"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Memory</a:t>
            </a:r>
            <a:endParaRPr b="0" i="0" sz="2100" u="none" cap="none" strike="noStrike">
              <a:solidFill>
                <a:schemeClr val="dk1"/>
              </a:solidFill>
              <a:latin typeface="Calibri"/>
              <a:ea typeface="Calibri"/>
              <a:cs typeface="Calibri"/>
              <a:sym typeface="Calibri"/>
            </a:endParaRPr>
          </a:p>
        </p:txBody>
      </p:sp>
      <p:sp>
        <p:nvSpPr>
          <p:cNvPr id="385" name="Google Shape;385;p15"/>
          <p:cNvSpPr/>
          <p:nvPr/>
        </p:nvSpPr>
        <p:spPr>
          <a:xfrm>
            <a:off x="6139458" y="5415781"/>
            <a:ext cx="2793802" cy="601935"/>
          </a:xfrm>
          <a:prstGeom prst="roundRect">
            <a:avLst>
              <a:gd fmla="val 1898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5"/>
          <p:cNvSpPr/>
          <p:nvPr/>
        </p:nvSpPr>
        <p:spPr>
          <a:xfrm>
            <a:off x="6396633" y="5530081"/>
            <a:ext cx="2363266"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Conversation history</a:t>
            </a:r>
            <a:endParaRPr b="0" i="0" sz="2100" u="none" cap="none" strike="noStrike">
              <a:solidFill>
                <a:schemeClr val="dk1"/>
              </a:solidFill>
              <a:latin typeface="Calibri"/>
              <a:ea typeface="Calibri"/>
              <a:cs typeface="Calibri"/>
              <a:sym typeface="Calibri"/>
            </a:endParaRPr>
          </a:p>
        </p:txBody>
      </p:sp>
      <p:sp>
        <p:nvSpPr>
          <p:cNvPr id="387" name="Google Shape;387;p15"/>
          <p:cNvSpPr/>
          <p:nvPr/>
        </p:nvSpPr>
        <p:spPr>
          <a:xfrm>
            <a:off x="9076134" y="5415781"/>
            <a:ext cx="1344141" cy="601935"/>
          </a:xfrm>
          <a:prstGeom prst="roundRect">
            <a:avLst>
              <a:gd fmla="val 1898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
          <p:cNvSpPr/>
          <p:nvPr/>
        </p:nvSpPr>
        <p:spPr>
          <a:xfrm>
            <a:off x="9333309" y="5530081"/>
            <a:ext cx="905991"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Policies</a:t>
            </a:r>
            <a:endParaRPr b="0" i="0" sz="2100" u="none" cap="none" strike="noStrike">
              <a:solidFill>
                <a:schemeClr val="dk1"/>
              </a:solidFill>
              <a:latin typeface="Calibri"/>
              <a:ea typeface="Calibri"/>
              <a:cs typeface="Calibri"/>
              <a:sym typeface="Calibri"/>
            </a:endParaRPr>
          </a:p>
        </p:txBody>
      </p:sp>
      <p:sp>
        <p:nvSpPr>
          <p:cNvPr id="389" name="Google Shape;389;p15"/>
          <p:cNvSpPr/>
          <p:nvPr/>
        </p:nvSpPr>
        <p:spPr>
          <a:xfrm>
            <a:off x="10563151" y="5415781"/>
            <a:ext cx="1082055" cy="601935"/>
          </a:xfrm>
          <a:prstGeom prst="roundRect">
            <a:avLst>
              <a:gd fmla="val 1898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5"/>
          <p:cNvSpPr/>
          <p:nvPr/>
        </p:nvSpPr>
        <p:spPr>
          <a:xfrm>
            <a:off x="10820326" y="5530081"/>
            <a:ext cx="643905"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Tools</a:t>
            </a:r>
            <a:endParaRPr b="0" i="0" sz="2100" u="none" cap="none" strike="noStrike">
              <a:solidFill>
                <a:schemeClr val="dk1"/>
              </a:solidFill>
              <a:latin typeface="Calibri"/>
              <a:ea typeface="Calibri"/>
              <a:cs typeface="Calibri"/>
              <a:sym typeface="Calibri"/>
            </a:endParaRPr>
          </a:p>
        </p:txBody>
      </p:sp>
      <p:sp>
        <p:nvSpPr>
          <p:cNvPr id="391" name="Google Shape;391;p15"/>
          <p:cNvSpPr/>
          <p:nvPr/>
        </p:nvSpPr>
        <p:spPr>
          <a:xfrm>
            <a:off x="11788080" y="5415781"/>
            <a:ext cx="2429694" cy="601935"/>
          </a:xfrm>
          <a:prstGeom prst="roundRect">
            <a:avLst>
              <a:gd fmla="val 1898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5"/>
          <p:cNvSpPr/>
          <p:nvPr/>
        </p:nvSpPr>
        <p:spPr>
          <a:xfrm>
            <a:off x="12045255" y="5530081"/>
            <a:ext cx="1991544"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Database records</a:t>
            </a:r>
            <a:endParaRPr b="0" i="0" sz="2100" u="none" cap="none" strike="noStrike">
              <a:solidFill>
                <a:schemeClr val="dk1"/>
              </a:solidFill>
              <a:latin typeface="Calibri"/>
              <a:ea typeface="Calibri"/>
              <a:cs typeface="Calibri"/>
              <a:sym typeface="Calibri"/>
            </a:endParaRPr>
          </a:p>
        </p:txBody>
      </p:sp>
      <p:sp>
        <p:nvSpPr>
          <p:cNvPr id="393" name="Google Shape;393;p15"/>
          <p:cNvSpPr/>
          <p:nvPr/>
        </p:nvSpPr>
        <p:spPr>
          <a:xfrm>
            <a:off x="14360649" y="5415781"/>
            <a:ext cx="1720230" cy="601935"/>
          </a:xfrm>
          <a:prstGeom prst="roundRect">
            <a:avLst>
              <a:gd fmla="val 1898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5"/>
          <p:cNvSpPr/>
          <p:nvPr/>
        </p:nvSpPr>
        <p:spPr>
          <a:xfrm>
            <a:off x="14617824" y="5530081"/>
            <a:ext cx="1282080"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Definitions</a:t>
            </a:r>
            <a:endParaRPr b="0" i="0" sz="2100" u="none" cap="none" strike="noStrike">
              <a:solidFill>
                <a:schemeClr val="dk1"/>
              </a:solidFill>
              <a:latin typeface="Calibri"/>
              <a:ea typeface="Calibri"/>
              <a:cs typeface="Calibri"/>
              <a:sym typeface="Calibri"/>
            </a:endParaRPr>
          </a:p>
        </p:txBody>
      </p:sp>
      <p:sp>
        <p:nvSpPr>
          <p:cNvPr id="395" name="Google Shape;395;p15"/>
          <p:cNvSpPr/>
          <p:nvPr/>
        </p:nvSpPr>
        <p:spPr>
          <a:xfrm>
            <a:off x="914400" y="6160591"/>
            <a:ext cx="1822996" cy="601935"/>
          </a:xfrm>
          <a:prstGeom prst="roundRect">
            <a:avLst>
              <a:gd fmla="val 1898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5"/>
          <p:cNvSpPr/>
          <p:nvPr/>
        </p:nvSpPr>
        <p:spPr>
          <a:xfrm>
            <a:off x="1171575" y="6274891"/>
            <a:ext cx="1384846"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Instructions</a:t>
            </a:r>
            <a:endParaRPr b="0" i="0" sz="2100" u="none" cap="none" strike="noStrike">
              <a:solidFill>
                <a:schemeClr val="dk1"/>
              </a:solidFill>
              <a:latin typeface="Calibri"/>
              <a:ea typeface="Calibri"/>
              <a:cs typeface="Calibri"/>
              <a:sym typeface="Calibri"/>
            </a:endParaRPr>
          </a:p>
        </p:txBody>
      </p:sp>
      <p:sp>
        <p:nvSpPr>
          <p:cNvPr id="397" name="Google Shape;397;p15"/>
          <p:cNvSpPr/>
          <p:nvPr/>
        </p:nvSpPr>
        <p:spPr>
          <a:xfrm>
            <a:off x="914400" y="7124477"/>
            <a:ext cx="16459200" cy="1184821"/>
          </a:xfrm>
          <a:prstGeom prst="roundRect">
            <a:avLst>
              <a:gd fmla="val 12863"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5"/>
          <p:cNvSpPr/>
          <p:nvPr/>
        </p:nvSpPr>
        <p:spPr>
          <a:xfrm>
            <a:off x="1276350" y="7343552"/>
            <a:ext cx="16207359"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In the Agent Factory: </a:t>
            </a:r>
            <a:r>
              <a:rPr b="0" i="0" lang="en-US" sz="2100" u="none" cap="none" strike="noStrike">
                <a:solidFill>
                  <a:srgbClr val="33434E"/>
                </a:solidFill>
                <a:latin typeface="Carlito"/>
                <a:ea typeface="Carlito"/>
                <a:cs typeface="Carlito"/>
                <a:sym typeface="Carlito"/>
              </a:rPr>
              <a:t>a system prompt makes performance persistent, a SKILL.md makes process reusable, a System of Record holds the knowledge and rules.</a:t>
            </a:r>
            <a:endParaRPr b="0" i="0" sz="2100" u="none" cap="none" strike="noStrike">
              <a:solidFill>
                <a:schemeClr val="dk1"/>
              </a:solidFill>
              <a:latin typeface="Calibri"/>
              <a:ea typeface="Calibri"/>
              <a:cs typeface="Calibri"/>
              <a:sym typeface="Calibri"/>
            </a:endParaRPr>
          </a:p>
        </p:txBody>
      </p:sp>
      <p:sp>
        <p:nvSpPr>
          <p:cNvPr id="399" name="Google Shape;399;p15"/>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A beautifully written prompt cannot rescue an agent with the wrong data, missing rules, or no tools.</a:t>
            </a:r>
            <a:endParaRPr b="0" i="0" sz="2775" u="none" cap="none" strike="noStrike">
              <a:solidFill>
                <a:schemeClr val="dk1"/>
              </a:solidFill>
              <a:latin typeface="Calibri"/>
              <a:ea typeface="Calibri"/>
              <a:cs typeface="Calibri"/>
              <a:sym typeface="Calibri"/>
            </a:endParaRPr>
          </a:p>
        </p:txBody>
      </p:sp>
      <p:sp>
        <p:nvSpPr>
          <p:cNvPr id="400" name="Google Shape;400;p15"/>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401" name="Google Shape;401;p15"/>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13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34E"/>
        </a:solidFill>
      </p:bgPr>
    </p:bg>
    <p:spTree>
      <p:nvGrpSpPr>
        <p:cNvPr id="406" name="Shape 406"/>
        <p:cNvGrpSpPr/>
        <p:nvPr/>
      </p:nvGrpSpPr>
      <p:grpSpPr>
        <a:xfrm>
          <a:off x="0" y="0"/>
          <a:ext cx="0" cy="0"/>
          <a:chOff x="0" y="0"/>
          <a:chExt cx="0" cy="0"/>
        </a:xfrm>
      </p:grpSpPr>
      <p:sp>
        <p:nvSpPr>
          <p:cNvPr id="407" name="Google Shape;407;p16"/>
          <p:cNvSpPr/>
          <p:nvPr/>
        </p:nvSpPr>
        <p:spPr>
          <a:xfrm>
            <a:off x="914400" y="400050"/>
            <a:ext cx="4391025" cy="894904"/>
          </a:xfrm>
          <a:prstGeom prst="roundRect">
            <a:avLst>
              <a:gd fmla="val 12772"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8" name="Google Shape;408;p16"/>
          <p:cNvPicPr preferRelativeResize="0"/>
          <p:nvPr/>
        </p:nvPicPr>
        <p:blipFill rotWithShape="1">
          <a:blip r:embed="rId3">
            <a:alphaModFix/>
          </a:blip>
          <a:srcRect b="0" l="0" r="0" t="0"/>
          <a:stretch/>
        </p:blipFill>
        <p:spPr>
          <a:xfrm>
            <a:off x="1133475" y="542925"/>
            <a:ext cx="3952875" cy="609154"/>
          </a:xfrm>
          <a:prstGeom prst="rect">
            <a:avLst/>
          </a:prstGeom>
          <a:noFill/>
          <a:ln>
            <a:noFill/>
          </a:ln>
        </p:spPr>
      </p:pic>
      <p:sp>
        <p:nvSpPr>
          <p:cNvPr id="409" name="Google Shape;409;p16"/>
          <p:cNvSpPr/>
          <p:nvPr/>
        </p:nvSpPr>
        <p:spPr>
          <a:xfrm>
            <a:off x="914400" y="1314450"/>
            <a:ext cx="1526113" cy="423863"/>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D3A03F"/>
              </a:buClr>
              <a:buSzPts val="2025"/>
              <a:buFont typeface="Carlito"/>
              <a:buNone/>
            </a:pPr>
            <a:r>
              <a:rPr b="1" i="0" lang="en-US" sz="2025" u="none" cap="none" strike="noStrike">
                <a:solidFill>
                  <a:srgbClr val="D3A03F"/>
                </a:solidFill>
                <a:latin typeface="Carlito"/>
                <a:ea typeface="Carlito"/>
                <a:cs typeface="Carlito"/>
                <a:sym typeface="Carlito"/>
              </a:rPr>
              <a:t>Checkpoint 1</a:t>
            </a:r>
            <a:endParaRPr b="0" i="0" sz="2025" u="none" cap="none" strike="noStrike">
              <a:solidFill>
                <a:schemeClr val="dk1"/>
              </a:solidFill>
              <a:latin typeface="Calibri"/>
              <a:ea typeface="Calibri"/>
              <a:cs typeface="Calibri"/>
              <a:sym typeface="Calibri"/>
            </a:endParaRPr>
          </a:p>
        </p:txBody>
      </p:sp>
      <p:sp>
        <p:nvSpPr>
          <p:cNvPr id="410" name="Google Shape;410;p16"/>
          <p:cNvSpPr/>
          <p:nvPr/>
        </p:nvSpPr>
        <p:spPr>
          <a:xfrm>
            <a:off x="914400" y="1752600"/>
            <a:ext cx="16952976" cy="1821135"/>
          </a:xfrm>
          <a:prstGeom prst="rect">
            <a:avLst/>
          </a:prstGeom>
          <a:noFill/>
          <a:ln>
            <a:noFill/>
          </a:ln>
        </p:spPr>
        <p:txBody>
          <a:bodyPr anchorCtr="0" anchor="t" bIns="25400" lIns="25400" spcFirstLastPara="1" rIns="25400" wrap="square" tIns="25400">
            <a:noAutofit/>
          </a:bodyPr>
          <a:lstStyle/>
          <a:p>
            <a:pPr indent="0" lvl="0" marL="0" marR="0" rtl="0" algn="l">
              <a:lnSpc>
                <a:spcPct val="98268"/>
              </a:lnSpc>
              <a:spcBef>
                <a:spcPts val="0"/>
              </a:spcBef>
              <a:spcAft>
                <a:spcPts val="0"/>
              </a:spcAft>
              <a:buClr>
                <a:srgbClr val="F5EEE1"/>
              </a:buClr>
              <a:buSzPts val="3900"/>
              <a:buFont typeface="Carlito"/>
              <a:buNone/>
            </a:pPr>
            <a:r>
              <a:rPr b="1" i="0" lang="en-US" sz="3900" u="none" cap="none" strike="noStrike">
                <a:solidFill>
                  <a:srgbClr val="F5EEE1"/>
                </a:solidFill>
                <a:latin typeface="Carlito"/>
                <a:ea typeface="Carlito"/>
                <a:cs typeface="Carlito"/>
                <a:sym typeface="Carlito"/>
              </a:rPr>
              <a:t>A clinic manager types “build me a system for following up with patients who miss appointments.” The output looks impressive but is unusable. Which competency failed?</a:t>
            </a:r>
            <a:endParaRPr b="0" i="0" sz="3900" u="none" cap="none" strike="noStrike">
              <a:solidFill>
                <a:schemeClr val="dk1"/>
              </a:solidFill>
              <a:latin typeface="Calibri"/>
              <a:ea typeface="Calibri"/>
              <a:cs typeface="Calibri"/>
              <a:sym typeface="Calibri"/>
            </a:endParaRPr>
          </a:p>
        </p:txBody>
      </p:sp>
      <p:sp>
        <p:nvSpPr>
          <p:cNvPr id="411" name="Google Shape;411;p16"/>
          <p:cNvSpPr/>
          <p:nvPr/>
        </p:nvSpPr>
        <p:spPr>
          <a:xfrm>
            <a:off x="914400" y="4095750"/>
            <a:ext cx="8081962" cy="1337221"/>
          </a:xfrm>
          <a:prstGeom prst="roundRect">
            <a:avLst>
              <a:gd fmla="val 1139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6"/>
          <p:cNvSpPr/>
          <p:nvPr/>
        </p:nvSpPr>
        <p:spPr>
          <a:xfrm>
            <a:off x="1276350" y="4391025"/>
            <a:ext cx="237827"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A</a:t>
            </a:r>
            <a:endParaRPr b="0" i="0" sz="2100" u="none" cap="none" strike="noStrike">
              <a:solidFill>
                <a:schemeClr val="dk1"/>
              </a:solidFill>
              <a:latin typeface="Calibri"/>
              <a:ea typeface="Calibri"/>
              <a:cs typeface="Calibri"/>
              <a:sym typeface="Calibri"/>
            </a:endParaRPr>
          </a:p>
        </p:txBody>
      </p:sp>
      <p:sp>
        <p:nvSpPr>
          <p:cNvPr id="413" name="Google Shape;413;p16"/>
          <p:cNvSpPr/>
          <p:nvPr/>
        </p:nvSpPr>
        <p:spPr>
          <a:xfrm>
            <a:off x="1657052" y="4391025"/>
            <a:ext cx="7186681"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Delegation: </a:t>
            </a:r>
            <a:r>
              <a:rPr b="0" i="0" lang="en-US" sz="2100" u="none" cap="none" strike="noStrike">
                <a:solidFill>
                  <a:srgbClr val="33434E"/>
                </a:solidFill>
                <a:latin typeface="Carlito"/>
                <a:ea typeface="Carlito"/>
                <a:cs typeface="Carlito"/>
                <a:sym typeface="Carlito"/>
              </a:rPr>
              <a:t>nobody decided who may be contacted, after how long, in what tone, and which decisions a human keeps.</a:t>
            </a:r>
            <a:endParaRPr b="0" i="0" sz="2100" u="none" cap="none" strike="noStrike">
              <a:solidFill>
                <a:schemeClr val="dk1"/>
              </a:solidFill>
              <a:latin typeface="Calibri"/>
              <a:ea typeface="Calibri"/>
              <a:cs typeface="Calibri"/>
              <a:sym typeface="Calibri"/>
            </a:endParaRPr>
          </a:p>
        </p:txBody>
      </p:sp>
      <p:sp>
        <p:nvSpPr>
          <p:cNvPr id="414" name="Google Shape;414;p16"/>
          <p:cNvSpPr/>
          <p:nvPr/>
        </p:nvSpPr>
        <p:spPr>
          <a:xfrm>
            <a:off x="9291638" y="4095750"/>
            <a:ext cx="8081962" cy="1337221"/>
          </a:xfrm>
          <a:prstGeom prst="roundRect">
            <a:avLst>
              <a:gd fmla="val 1139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6"/>
          <p:cNvSpPr/>
          <p:nvPr/>
        </p:nvSpPr>
        <p:spPr>
          <a:xfrm>
            <a:off x="9653588" y="4391025"/>
            <a:ext cx="225698"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B</a:t>
            </a:r>
            <a:endParaRPr b="0" i="0" sz="2100" u="none" cap="none" strike="noStrike">
              <a:solidFill>
                <a:schemeClr val="dk1"/>
              </a:solidFill>
              <a:latin typeface="Calibri"/>
              <a:ea typeface="Calibri"/>
              <a:cs typeface="Calibri"/>
              <a:sym typeface="Calibri"/>
            </a:endParaRPr>
          </a:p>
        </p:txBody>
      </p:sp>
      <p:sp>
        <p:nvSpPr>
          <p:cNvPr id="416" name="Google Shape;416;p16"/>
          <p:cNvSpPr/>
          <p:nvPr/>
        </p:nvSpPr>
        <p:spPr>
          <a:xfrm>
            <a:off x="10022160" y="4391025"/>
            <a:ext cx="7199174"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Discernment: </a:t>
            </a:r>
            <a:r>
              <a:rPr b="0" i="0" lang="en-US" sz="2100" u="none" cap="none" strike="noStrike">
                <a:solidFill>
                  <a:srgbClr val="33434E"/>
                </a:solidFill>
                <a:latin typeface="Carlito"/>
                <a:ea typeface="Carlito"/>
                <a:cs typeface="Carlito"/>
                <a:sym typeface="Carlito"/>
              </a:rPr>
              <a:t>she accepted a polished answer without checking its claims against a reliable source.</a:t>
            </a:r>
            <a:endParaRPr b="0" i="0" sz="2100" u="none" cap="none" strike="noStrike">
              <a:solidFill>
                <a:schemeClr val="dk1"/>
              </a:solidFill>
              <a:latin typeface="Calibri"/>
              <a:ea typeface="Calibri"/>
              <a:cs typeface="Calibri"/>
              <a:sym typeface="Calibri"/>
            </a:endParaRPr>
          </a:p>
        </p:txBody>
      </p:sp>
      <p:sp>
        <p:nvSpPr>
          <p:cNvPr id="417" name="Google Shape;417;p16"/>
          <p:cNvSpPr/>
          <p:nvPr/>
        </p:nvSpPr>
        <p:spPr>
          <a:xfrm>
            <a:off x="914400" y="5728246"/>
            <a:ext cx="8081962" cy="1337221"/>
          </a:xfrm>
          <a:prstGeom prst="roundRect">
            <a:avLst>
              <a:gd fmla="val 1139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p:nvPr/>
        </p:nvSpPr>
        <p:spPr>
          <a:xfrm>
            <a:off x="1276350" y="6023521"/>
            <a:ext cx="217363"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C</a:t>
            </a:r>
            <a:endParaRPr b="0" i="0" sz="2100" u="none" cap="none" strike="noStrike">
              <a:solidFill>
                <a:schemeClr val="dk1"/>
              </a:solidFill>
              <a:latin typeface="Calibri"/>
              <a:ea typeface="Calibri"/>
              <a:cs typeface="Calibri"/>
              <a:sym typeface="Calibri"/>
            </a:endParaRPr>
          </a:p>
        </p:txBody>
      </p:sp>
      <p:sp>
        <p:nvSpPr>
          <p:cNvPr id="419" name="Google Shape;419;p16"/>
          <p:cNvSpPr/>
          <p:nvPr/>
        </p:nvSpPr>
        <p:spPr>
          <a:xfrm>
            <a:off x="1636588" y="6023521"/>
            <a:ext cx="7207759"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Description: </a:t>
            </a:r>
            <a:r>
              <a:rPr b="0" i="0" lang="en-US" sz="2100" u="none" cap="none" strike="noStrike">
                <a:solidFill>
                  <a:srgbClr val="33434E"/>
                </a:solidFill>
                <a:latin typeface="Carlito"/>
                <a:ea typeface="Carlito"/>
                <a:cs typeface="Carlito"/>
                <a:sym typeface="Carlito"/>
              </a:rPr>
              <a:t>the request was too short; a longer, better-worded prompt would have worked first time.</a:t>
            </a:r>
            <a:endParaRPr b="0" i="0" sz="2100" u="none" cap="none" strike="noStrike">
              <a:solidFill>
                <a:schemeClr val="dk1"/>
              </a:solidFill>
              <a:latin typeface="Calibri"/>
              <a:ea typeface="Calibri"/>
              <a:cs typeface="Calibri"/>
              <a:sym typeface="Calibri"/>
            </a:endParaRPr>
          </a:p>
        </p:txBody>
      </p:sp>
      <p:sp>
        <p:nvSpPr>
          <p:cNvPr id="420" name="Google Shape;420;p16"/>
          <p:cNvSpPr/>
          <p:nvPr/>
        </p:nvSpPr>
        <p:spPr>
          <a:xfrm>
            <a:off x="9291638" y="5728246"/>
            <a:ext cx="8081962" cy="1337221"/>
          </a:xfrm>
          <a:prstGeom prst="roundRect">
            <a:avLst>
              <a:gd fmla="val 1139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p:nvPr/>
        </p:nvSpPr>
        <p:spPr>
          <a:xfrm>
            <a:off x="9653588" y="6023521"/>
            <a:ext cx="244376"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D</a:t>
            </a:r>
            <a:endParaRPr b="0" i="0" sz="2100" u="none" cap="none" strike="noStrike">
              <a:solidFill>
                <a:schemeClr val="dk1"/>
              </a:solidFill>
              <a:latin typeface="Calibri"/>
              <a:ea typeface="Calibri"/>
              <a:cs typeface="Calibri"/>
              <a:sym typeface="Calibri"/>
            </a:endParaRPr>
          </a:p>
        </p:txBody>
      </p:sp>
      <p:sp>
        <p:nvSpPr>
          <p:cNvPr id="422" name="Google Shape;422;p16"/>
          <p:cNvSpPr/>
          <p:nvPr/>
        </p:nvSpPr>
        <p:spPr>
          <a:xfrm>
            <a:off x="10040838" y="6023521"/>
            <a:ext cx="7179936"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Diligence: </a:t>
            </a:r>
            <a:r>
              <a:rPr b="0" i="0" lang="en-US" sz="2100" u="none" cap="none" strike="noStrike">
                <a:solidFill>
                  <a:srgbClr val="33434E"/>
                </a:solidFill>
                <a:latin typeface="Carlito"/>
                <a:ea typeface="Carlito"/>
                <a:cs typeface="Carlito"/>
                <a:sym typeface="Carlito"/>
              </a:rPr>
              <a:t>patient follow-up is regulated work and a consumer AI service was never approved for clinical records.</a:t>
            </a:r>
            <a:endParaRPr b="0" i="0" sz="2100" u="none" cap="none" strike="noStrike">
              <a:solidFill>
                <a:schemeClr val="dk1"/>
              </a:solidFill>
              <a:latin typeface="Calibri"/>
              <a:ea typeface="Calibri"/>
              <a:cs typeface="Calibri"/>
              <a:sym typeface="Calibri"/>
            </a:endParaRPr>
          </a:p>
        </p:txBody>
      </p:sp>
      <p:sp>
        <p:nvSpPr>
          <p:cNvPr id="423" name="Google Shape;423;p16"/>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D3A03F"/>
              </a:buClr>
              <a:buSzPts val="2775"/>
              <a:buFont typeface="Carlito"/>
              <a:buNone/>
            </a:pPr>
            <a:r>
              <a:rPr b="1" i="0" lang="en-US" sz="2775" u="none" cap="none" strike="noStrike">
                <a:solidFill>
                  <a:srgbClr val="D3A03F"/>
                </a:solidFill>
                <a:latin typeface="Carlito"/>
                <a:ea typeface="Carlito"/>
                <a:cs typeface="Carlito"/>
                <a:sym typeface="Carlito"/>
              </a:rPr>
              <a:t>Answer from the reasoning, not the wording. Which D is this really testing?</a:t>
            </a:r>
            <a:endParaRPr b="0" i="0" sz="2775" u="none" cap="none" strike="noStrike">
              <a:solidFill>
                <a:schemeClr val="dk1"/>
              </a:solidFill>
              <a:latin typeface="Calibri"/>
              <a:ea typeface="Calibri"/>
              <a:cs typeface="Calibri"/>
              <a:sym typeface="Calibri"/>
            </a:endParaRPr>
          </a:p>
        </p:txBody>
      </p:sp>
      <p:sp>
        <p:nvSpPr>
          <p:cNvPr id="424" name="Google Shape;424;p16"/>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B9C2C9"/>
              </a:buClr>
              <a:buSzPts val="1800"/>
              <a:buFont typeface="Carlito"/>
              <a:buNone/>
            </a:pPr>
            <a:r>
              <a:rPr b="0" i="0" lang="en-US" sz="1800" u="none" cap="none" strike="noStrike">
                <a:solidFill>
                  <a:srgbClr val="B9C2C9"/>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425" name="Google Shape;425;p16"/>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B9C2C9"/>
              </a:buClr>
              <a:buSzPts val="1800"/>
              <a:buFont typeface="Carlito"/>
              <a:buNone/>
            </a:pPr>
            <a:r>
              <a:rPr b="0" i="0" lang="en-US" sz="1800" u="none" cap="none" strike="noStrike">
                <a:solidFill>
                  <a:srgbClr val="B9C2C9"/>
                </a:solidFill>
                <a:latin typeface="Carlito"/>
                <a:ea typeface="Carlito"/>
                <a:cs typeface="Carlito"/>
                <a:sym typeface="Carlito"/>
              </a:rPr>
              <a:t>14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430" name="Shape 430"/>
        <p:cNvGrpSpPr/>
        <p:nvPr/>
      </p:nvGrpSpPr>
      <p:grpSpPr>
        <a:xfrm>
          <a:off x="0" y="0"/>
          <a:ext cx="0" cy="0"/>
          <a:chOff x="0" y="0"/>
          <a:chExt cx="0" cy="0"/>
        </a:xfrm>
      </p:grpSpPr>
      <p:pic>
        <p:nvPicPr>
          <p:cNvPr descr="preencoded.png" id="431" name="Google Shape;431;p17"/>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432" name="Google Shape;432;p17"/>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Discernment: three parts</a:t>
            </a:r>
            <a:endParaRPr b="0" i="0" sz="5175" u="none" cap="none" strike="noStrike">
              <a:solidFill>
                <a:schemeClr val="dk1"/>
              </a:solidFill>
              <a:latin typeface="Calibri"/>
              <a:ea typeface="Calibri"/>
              <a:cs typeface="Calibri"/>
              <a:sym typeface="Calibri"/>
            </a:endParaRPr>
          </a:p>
        </p:txBody>
      </p:sp>
      <p:sp>
        <p:nvSpPr>
          <p:cNvPr id="433" name="Google Shape;433;p17"/>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Description asks “Did I explain the job?” Discernment asks “Did the AI actually do it well?”</a:t>
            </a:r>
            <a:endParaRPr b="0" i="0" sz="2625" u="none" cap="none" strike="noStrike">
              <a:solidFill>
                <a:schemeClr val="dk1"/>
              </a:solidFill>
              <a:latin typeface="Calibri"/>
              <a:ea typeface="Calibri"/>
              <a:cs typeface="Calibri"/>
              <a:sym typeface="Calibri"/>
            </a:endParaRPr>
          </a:p>
        </p:txBody>
      </p:sp>
      <p:sp>
        <p:nvSpPr>
          <p:cNvPr id="434" name="Google Shape;434;p17"/>
          <p:cNvSpPr/>
          <p:nvPr/>
        </p:nvSpPr>
        <p:spPr>
          <a:xfrm>
            <a:off x="914400" y="3019425"/>
            <a:ext cx="5245075" cy="3684017"/>
          </a:xfrm>
          <a:prstGeom prst="roundRect">
            <a:avLst>
              <a:gd fmla="val 4137"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7"/>
          <p:cNvSpPr/>
          <p:nvPr/>
        </p:nvSpPr>
        <p:spPr>
          <a:xfrm>
            <a:off x="1276350" y="3381375"/>
            <a:ext cx="4973293"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Product</a:t>
            </a:r>
            <a:endParaRPr b="0" i="0" sz="3000" u="none" cap="none" strike="noStrike">
              <a:solidFill>
                <a:schemeClr val="dk1"/>
              </a:solidFill>
              <a:latin typeface="Calibri"/>
              <a:ea typeface="Calibri"/>
              <a:cs typeface="Calibri"/>
              <a:sym typeface="Calibri"/>
            </a:endParaRPr>
          </a:p>
        </p:txBody>
      </p:sp>
      <p:sp>
        <p:nvSpPr>
          <p:cNvPr id="436" name="Google Shape;436;p17"/>
          <p:cNvSpPr/>
          <p:nvPr/>
        </p:nvSpPr>
        <p:spPr>
          <a:xfrm>
            <a:off x="1276350" y="3895725"/>
            <a:ext cx="4973293"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B9C2C9"/>
              </a:buClr>
              <a:buSzPts val="2025"/>
              <a:buFont typeface="Carlito"/>
              <a:buNone/>
            </a:pPr>
            <a:r>
              <a:rPr b="0" i="0" lang="en-US" sz="2025" u="none" cap="none" strike="noStrike">
                <a:solidFill>
                  <a:srgbClr val="B9C2C9"/>
                </a:solidFill>
                <a:latin typeface="Carlito"/>
                <a:ea typeface="Carlito"/>
                <a:cs typeface="Carlito"/>
                <a:sym typeface="Carlito"/>
              </a:rPr>
              <a:t>Is the result any good?</a:t>
            </a:r>
            <a:endParaRPr b="0" i="0" sz="2025" u="none" cap="none" strike="noStrike">
              <a:solidFill>
                <a:schemeClr val="dk1"/>
              </a:solidFill>
              <a:latin typeface="Calibri"/>
              <a:ea typeface="Calibri"/>
              <a:cs typeface="Calibri"/>
              <a:sym typeface="Calibri"/>
            </a:endParaRPr>
          </a:p>
        </p:txBody>
      </p:sp>
      <p:sp>
        <p:nvSpPr>
          <p:cNvPr id="437" name="Google Shape;437;p17"/>
          <p:cNvSpPr/>
          <p:nvPr/>
        </p:nvSpPr>
        <p:spPr>
          <a:xfrm>
            <a:off x="1276350" y="4474815"/>
            <a:ext cx="4656810" cy="1904777"/>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Check against what you asked for, against the source material, and against your field's standards. Would an expert find it credible? Would you put your name on it?</a:t>
            </a:r>
            <a:endParaRPr b="0" i="0" sz="2100" u="none" cap="none" strike="noStrike">
              <a:solidFill>
                <a:schemeClr val="dk1"/>
              </a:solidFill>
              <a:latin typeface="Calibri"/>
              <a:ea typeface="Calibri"/>
              <a:cs typeface="Calibri"/>
              <a:sym typeface="Calibri"/>
            </a:endParaRPr>
          </a:p>
        </p:txBody>
      </p:sp>
      <p:sp>
        <p:nvSpPr>
          <p:cNvPr id="438" name="Google Shape;438;p17"/>
          <p:cNvSpPr/>
          <p:nvPr/>
        </p:nvSpPr>
        <p:spPr>
          <a:xfrm>
            <a:off x="6521425" y="3019425"/>
            <a:ext cx="5245075" cy="3684017"/>
          </a:xfrm>
          <a:prstGeom prst="roundRect">
            <a:avLst>
              <a:gd fmla="val 4137"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7"/>
          <p:cNvSpPr/>
          <p:nvPr/>
        </p:nvSpPr>
        <p:spPr>
          <a:xfrm>
            <a:off x="6883375" y="3381375"/>
            <a:ext cx="4973293"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Process</a:t>
            </a:r>
            <a:endParaRPr b="0" i="0" sz="3000" u="none" cap="none" strike="noStrike">
              <a:solidFill>
                <a:schemeClr val="dk1"/>
              </a:solidFill>
              <a:latin typeface="Calibri"/>
              <a:ea typeface="Calibri"/>
              <a:cs typeface="Calibri"/>
              <a:sym typeface="Calibri"/>
            </a:endParaRPr>
          </a:p>
        </p:txBody>
      </p:sp>
      <p:sp>
        <p:nvSpPr>
          <p:cNvPr id="440" name="Google Shape;440;p17"/>
          <p:cNvSpPr/>
          <p:nvPr/>
        </p:nvSpPr>
        <p:spPr>
          <a:xfrm>
            <a:off x="6883375" y="3895725"/>
            <a:ext cx="4973293"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F3D89A"/>
              </a:buClr>
              <a:buSzPts val="2025"/>
              <a:buFont typeface="Carlito"/>
              <a:buNone/>
            </a:pPr>
            <a:r>
              <a:rPr b="0" i="0" lang="en-US" sz="2025" u="none" cap="none" strike="noStrike">
                <a:solidFill>
                  <a:srgbClr val="F3D89A"/>
                </a:solidFill>
                <a:latin typeface="Carlito"/>
                <a:ea typeface="Carlito"/>
                <a:cs typeface="Carlito"/>
                <a:sym typeface="Carlito"/>
              </a:rPr>
              <a:t>Is this way of working paying off?</a:t>
            </a:r>
            <a:endParaRPr b="0" i="0" sz="2025" u="none" cap="none" strike="noStrike">
              <a:solidFill>
                <a:schemeClr val="dk1"/>
              </a:solidFill>
              <a:latin typeface="Calibri"/>
              <a:ea typeface="Calibri"/>
              <a:cs typeface="Calibri"/>
              <a:sym typeface="Calibri"/>
            </a:endParaRPr>
          </a:p>
        </p:txBody>
      </p:sp>
      <p:sp>
        <p:nvSpPr>
          <p:cNvPr id="441" name="Google Shape;441;p17"/>
          <p:cNvSpPr/>
          <p:nvPr/>
        </p:nvSpPr>
        <p:spPr>
          <a:xfrm>
            <a:off x="6883375" y="4474815"/>
            <a:ext cx="4656810" cy="153144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Is it adapting to feedback or drifting back? Repeating a corrected mistake? Are you editing its draft more heavily than writing it yourself?</a:t>
            </a:r>
            <a:endParaRPr b="0" i="0" sz="2100" u="none" cap="none" strike="noStrike">
              <a:solidFill>
                <a:schemeClr val="dk1"/>
              </a:solidFill>
              <a:latin typeface="Calibri"/>
              <a:ea typeface="Calibri"/>
              <a:cs typeface="Calibri"/>
              <a:sym typeface="Calibri"/>
            </a:endParaRPr>
          </a:p>
        </p:txBody>
      </p:sp>
      <p:sp>
        <p:nvSpPr>
          <p:cNvPr id="442" name="Google Shape;442;p17"/>
          <p:cNvSpPr/>
          <p:nvPr/>
        </p:nvSpPr>
        <p:spPr>
          <a:xfrm>
            <a:off x="12128450" y="3019425"/>
            <a:ext cx="5245150" cy="3684017"/>
          </a:xfrm>
          <a:prstGeom prst="roundRect">
            <a:avLst>
              <a:gd fmla="val 4137" name="adj"/>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7"/>
          <p:cNvSpPr/>
          <p:nvPr/>
        </p:nvSpPr>
        <p:spPr>
          <a:xfrm>
            <a:off x="12490400" y="3381375"/>
            <a:ext cx="4973375"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Performance</a:t>
            </a:r>
            <a:endParaRPr b="0" i="0" sz="3000" u="none" cap="none" strike="noStrike">
              <a:solidFill>
                <a:schemeClr val="dk1"/>
              </a:solidFill>
              <a:latin typeface="Calibri"/>
              <a:ea typeface="Calibri"/>
              <a:cs typeface="Calibri"/>
              <a:sym typeface="Calibri"/>
            </a:endParaRPr>
          </a:p>
        </p:txBody>
      </p:sp>
      <p:sp>
        <p:nvSpPr>
          <p:cNvPr id="444" name="Google Shape;444;p17"/>
          <p:cNvSpPr/>
          <p:nvPr/>
        </p:nvSpPr>
        <p:spPr>
          <a:xfrm>
            <a:off x="12490400" y="3895725"/>
            <a:ext cx="4656887"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Are people well served when you are not watching?</a:t>
            </a:r>
            <a:endParaRPr b="0" i="0" sz="2025" u="none" cap="none" strike="noStrike">
              <a:solidFill>
                <a:schemeClr val="dk1"/>
              </a:solidFill>
              <a:latin typeface="Calibri"/>
              <a:ea typeface="Calibri"/>
              <a:cs typeface="Calibri"/>
              <a:sym typeface="Calibri"/>
            </a:endParaRPr>
          </a:p>
        </p:txBody>
      </p:sp>
      <p:sp>
        <p:nvSpPr>
          <p:cNvPr id="445" name="Google Shape;445;p17"/>
          <p:cNvSpPr/>
          <p:nvPr/>
        </p:nvSpPr>
        <p:spPr>
          <a:xfrm>
            <a:off x="12490400" y="4834830"/>
            <a:ext cx="4656887" cy="153144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A tutor can answer every question correctly and still be a bad tutor. This shows up only in the aggregate, so it becomes infrastructure.</a:t>
            </a:r>
            <a:endParaRPr b="0" i="0" sz="2100" u="none" cap="none" strike="noStrike">
              <a:solidFill>
                <a:schemeClr val="dk1"/>
              </a:solidFill>
              <a:latin typeface="Calibri"/>
              <a:ea typeface="Calibri"/>
              <a:cs typeface="Calibri"/>
              <a:sym typeface="Calibri"/>
            </a:endParaRPr>
          </a:p>
        </p:txBody>
      </p:sp>
      <p:sp>
        <p:nvSpPr>
          <p:cNvPr id="446" name="Google Shape;446;p17"/>
          <p:cNvSpPr/>
          <p:nvPr/>
        </p:nvSpPr>
        <p:spPr>
          <a:xfrm>
            <a:off x="914400" y="7065392"/>
            <a:ext cx="16459200" cy="1261021"/>
          </a:xfrm>
          <a:prstGeom prst="roundRect">
            <a:avLst>
              <a:gd fmla="val 12085"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7"/>
          <p:cNvSpPr/>
          <p:nvPr/>
        </p:nvSpPr>
        <p:spPr>
          <a:xfrm>
            <a:off x="1276350" y="7322567"/>
            <a:ext cx="16207359"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Automation bias: </a:t>
            </a:r>
            <a:r>
              <a:rPr b="0" i="0" lang="en-US" sz="2100" u="none" cap="none" strike="noStrike">
                <a:solidFill>
                  <a:srgbClr val="33434E"/>
                </a:solidFill>
                <a:latin typeface="Carlito"/>
                <a:ea typeface="Carlito"/>
                <a:cs typeface="Carlito"/>
                <a:sym typeface="Carlito"/>
              </a:rPr>
              <a:t>the human tendency to trust an automated answer too easily, especially when it looks confident or professional. When the process is not working, three escalating moves: change the performance description, change the tool, take the task back.</a:t>
            </a:r>
            <a:endParaRPr b="0" i="0" sz="2100" u="none" cap="none" strike="noStrike">
              <a:solidFill>
                <a:schemeClr val="dk1"/>
              </a:solidFill>
              <a:latin typeface="Calibri"/>
              <a:ea typeface="Calibri"/>
              <a:cs typeface="Calibri"/>
              <a:sym typeface="Calibri"/>
            </a:endParaRPr>
          </a:p>
        </p:txBody>
      </p:sp>
      <p:sp>
        <p:nvSpPr>
          <p:cNvPr id="448" name="Google Shape;448;p17"/>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AI can increase the speed of expert work. It does not remove the need for expertise.</a:t>
            </a:r>
            <a:endParaRPr b="0" i="0" sz="2775" u="none" cap="none" strike="noStrike">
              <a:solidFill>
                <a:schemeClr val="dk1"/>
              </a:solidFill>
              <a:latin typeface="Calibri"/>
              <a:ea typeface="Calibri"/>
              <a:cs typeface="Calibri"/>
              <a:sym typeface="Calibri"/>
            </a:endParaRPr>
          </a:p>
        </p:txBody>
      </p:sp>
      <p:sp>
        <p:nvSpPr>
          <p:cNvPr id="449" name="Google Shape;449;p17"/>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450" name="Google Shape;450;p17"/>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15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455" name="Shape 455"/>
        <p:cNvGrpSpPr/>
        <p:nvPr/>
      </p:nvGrpSpPr>
      <p:grpSpPr>
        <a:xfrm>
          <a:off x="0" y="0"/>
          <a:ext cx="0" cy="0"/>
          <a:chOff x="0" y="0"/>
          <a:chExt cx="0" cy="0"/>
        </a:xfrm>
      </p:grpSpPr>
      <p:pic>
        <p:nvPicPr>
          <p:cNvPr descr="preencoded.png" id="456" name="Google Shape;456;p18"/>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457" name="Google Shape;457;p18"/>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Four signs of a made-up answer</a:t>
            </a:r>
            <a:endParaRPr b="0" i="0" sz="5175" u="none" cap="none" strike="noStrike">
              <a:solidFill>
                <a:schemeClr val="dk1"/>
              </a:solidFill>
              <a:latin typeface="Calibri"/>
              <a:ea typeface="Calibri"/>
              <a:cs typeface="Calibri"/>
              <a:sym typeface="Calibri"/>
            </a:endParaRPr>
          </a:p>
        </p:txBody>
      </p:sp>
      <p:sp>
        <p:nvSpPr>
          <p:cNvPr id="458" name="Google Shape;458;p18"/>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A hallucinated answer can look identical to a correct one. Fluent writing is not proof.</a:t>
            </a:r>
            <a:endParaRPr b="0" i="0" sz="2625" u="none" cap="none" strike="noStrike">
              <a:solidFill>
                <a:schemeClr val="dk1"/>
              </a:solidFill>
              <a:latin typeface="Calibri"/>
              <a:ea typeface="Calibri"/>
              <a:cs typeface="Calibri"/>
              <a:sym typeface="Calibri"/>
            </a:endParaRPr>
          </a:p>
        </p:txBody>
      </p:sp>
      <p:sp>
        <p:nvSpPr>
          <p:cNvPr id="459" name="Google Shape;459;p18"/>
          <p:cNvSpPr/>
          <p:nvPr/>
        </p:nvSpPr>
        <p:spPr>
          <a:xfrm>
            <a:off x="914400" y="3019425"/>
            <a:ext cx="8048625" cy="2415406"/>
          </a:xfrm>
          <a:prstGeom prst="roundRect">
            <a:avLst>
              <a:gd fmla="val 630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8"/>
          <p:cNvSpPr/>
          <p:nvPr/>
        </p:nvSpPr>
        <p:spPr>
          <a:xfrm>
            <a:off x="1276350" y="3381375"/>
            <a:ext cx="8057197"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Specifics that are too exact</a:t>
            </a:r>
            <a:endParaRPr b="0" i="0" sz="3000" u="none" cap="none" strike="noStrike">
              <a:solidFill>
                <a:schemeClr val="dk1"/>
              </a:solidFill>
              <a:latin typeface="Calibri"/>
              <a:ea typeface="Calibri"/>
              <a:cs typeface="Calibri"/>
              <a:sym typeface="Calibri"/>
            </a:endParaRPr>
          </a:p>
        </p:txBody>
      </p:sp>
      <p:sp>
        <p:nvSpPr>
          <p:cNvPr id="461" name="Google Shape;461;p18"/>
          <p:cNvSpPr/>
          <p:nvPr/>
        </p:nvSpPr>
        <p:spPr>
          <a:xfrm>
            <a:off x="1276350" y="3952875"/>
            <a:ext cx="7544467" cy="1158106"/>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“Vendor A delivered 99.97% of orders on time” is more suspicious than “Vendor A is reliable.” Open the source before you repeat the number.</a:t>
            </a:r>
            <a:endParaRPr b="0" i="0" sz="2100" u="none" cap="none" strike="noStrike">
              <a:solidFill>
                <a:schemeClr val="dk1"/>
              </a:solidFill>
              <a:latin typeface="Calibri"/>
              <a:ea typeface="Calibri"/>
              <a:cs typeface="Calibri"/>
              <a:sym typeface="Calibri"/>
            </a:endParaRPr>
          </a:p>
        </p:txBody>
      </p:sp>
      <p:sp>
        <p:nvSpPr>
          <p:cNvPr id="462" name="Google Shape;462;p18"/>
          <p:cNvSpPr/>
          <p:nvPr/>
        </p:nvSpPr>
        <p:spPr>
          <a:xfrm>
            <a:off x="9324975" y="3019425"/>
            <a:ext cx="8048625" cy="2415406"/>
          </a:xfrm>
          <a:prstGeom prst="roundRect">
            <a:avLst>
              <a:gd fmla="val 630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8"/>
          <p:cNvSpPr/>
          <p:nvPr/>
        </p:nvSpPr>
        <p:spPr>
          <a:xfrm>
            <a:off x="9686925" y="3381375"/>
            <a:ext cx="8057197"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Confidence where an expert would hesitate</a:t>
            </a:r>
            <a:endParaRPr b="0" i="0" sz="3000" u="none" cap="none" strike="noStrike">
              <a:solidFill>
                <a:schemeClr val="dk1"/>
              </a:solidFill>
              <a:latin typeface="Calibri"/>
              <a:ea typeface="Calibri"/>
              <a:cs typeface="Calibri"/>
              <a:sym typeface="Calibri"/>
            </a:endParaRPr>
          </a:p>
        </p:txBody>
      </p:sp>
      <p:sp>
        <p:nvSpPr>
          <p:cNvPr id="464" name="Google Shape;464;p18"/>
          <p:cNvSpPr/>
          <p:nvPr/>
        </p:nvSpPr>
        <p:spPr>
          <a:xfrm>
            <a:off x="9686925" y="3952875"/>
            <a:ext cx="7544467"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A question a specialist would answer with “it depends” comes back as a flat yes. Ask what would change the answer.</a:t>
            </a:r>
            <a:endParaRPr b="0" i="0" sz="2100" u="none" cap="none" strike="noStrike">
              <a:solidFill>
                <a:schemeClr val="dk1"/>
              </a:solidFill>
              <a:latin typeface="Calibri"/>
              <a:ea typeface="Calibri"/>
              <a:cs typeface="Calibri"/>
              <a:sym typeface="Calibri"/>
            </a:endParaRPr>
          </a:p>
        </p:txBody>
      </p:sp>
      <p:sp>
        <p:nvSpPr>
          <p:cNvPr id="465" name="Google Shape;465;p18"/>
          <p:cNvSpPr/>
          <p:nvPr/>
        </p:nvSpPr>
        <p:spPr>
          <a:xfrm>
            <a:off x="914400" y="5796781"/>
            <a:ext cx="8048625" cy="2415406"/>
          </a:xfrm>
          <a:prstGeom prst="roundRect">
            <a:avLst>
              <a:gd fmla="val 630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8"/>
          <p:cNvSpPr/>
          <p:nvPr/>
        </p:nvSpPr>
        <p:spPr>
          <a:xfrm>
            <a:off x="1276350" y="6158731"/>
            <a:ext cx="8057197"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Contradiction across a long output</a:t>
            </a:r>
            <a:endParaRPr b="0" i="0" sz="3000" u="none" cap="none" strike="noStrike">
              <a:solidFill>
                <a:schemeClr val="dk1"/>
              </a:solidFill>
              <a:latin typeface="Calibri"/>
              <a:ea typeface="Calibri"/>
              <a:cs typeface="Calibri"/>
              <a:sym typeface="Calibri"/>
            </a:endParaRPr>
          </a:p>
        </p:txBody>
      </p:sp>
      <p:sp>
        <p:nvSpPr>
          <p:cNvPr id="467" name="Google Shape;467;p18"/>
          <p:cNvSpPr/>
          <p:nvPr/>
        </p:nvSpPr>
        <p:spPr>
          <a:xfrm>
            <a:off x="1276350" y="6730231"/>
            <a:ext cx="7544467"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Page 2 says a flat fee; page 6 works out a per-user cost. Long outputs drift, so read the ending against the beginning.</a:t>
            </a:r>
            <a:endParaRPr b="0" i="0" sz="2100" u="none" cap="none" strike="noStrike">
              <a:solidFill>
                <a:schemeClr val="dk1"/>
              </a:solidFill>
              <a:latin typeface="Calibri"/>
              <a:ea typeface="Calibri"/>
              <a:cs typeface="Calibri"/>
              <a:sym typeface="Calibri"/>
            </a:endParaRPr>
          </a:p>
        </p:txBody>
      </p:sp>
      <p:sp>
        <p:nvSpPr>
          <p:cNvPr id="468" name="Google Shape;468;p18"/>
          <p:cNvSpPr/>
          <p:nvPr/>
        </p:nvSpPr>
        <p:spPr>
          <a:xfrm>
            <a:off x="9324975" y="5796781"/>
            <a:ext cx="8048625" cy="2415406"/>
          </a:xfrm>
          <a:prstGeom prst="roundRect">
            <a:avLst>
              <a:gd fmla="val 6309"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8"/>
          <p:cNvSpPr/>
          <p:nvPr/>
        </p:nvSpPr>
        <p:spPr>
          <a:xfrm>
            <a:off x="9686925" y="6158731"/>
            <a:ext cx="8057197"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A claimed action that never happened</a:t>
            </a:r>
            <a:endParaRPr b="0" i="0" sz="3000" u="none" cap="none" strike="noStrike">
              <a:solidFill>
                <a:schemeClr val="dk1"/>
              </a:solidFill>
              <a:latin typeface="Calibri"/>
              <a:ea typeface="Calibri"/>
              <a:cs typeface="Calibri"/>
              <a:sym typeface="Calibri"/>
            </a:endParaRPr>
          </a:p>
        </p:txBody>
      </p:sp>
      <p:sp>
        <p:nvSpPr>
          <p:cNvPr id="470" name="Google Shape;470;p18"/>
          <p:cNvSpPr/>
          <p:nvPr/>
        </p:nvSpPr>
        <p:spPr>
          <a:xfrm>
            <a:off x="9686925" y="6730231"/>
            <a:ext cx="7544467" cy="1158106"/>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“I have sent the email.” “I ran the tests.” Unless the tool shows you the sent message or the test log, treat the claim as a sentence, not an event.</a:t>
            </a:r>
            <a:endParaRPr b="0" i="0" sz="2100" u="none" cap="none" strike="noStrike">
              <a:solidFill>
                <a:schemeClr val="dk1"/>
              </a:solidFill>
              <a:latin typeface="Calibri"/>
              <a:ea typeface="Calibri"/>
              <a:cs typeface="Calibri"/>
              <a:sym typeface="Calibri"/>
            </a:endParaRPr>
          </a:p>
        </p:txBody>
      </p:sp>
      <p:sp>
        <p:nvSpPr>
          <p:cNvPr id="471" name="Google Shape;471;p18"/>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When accuracy matters, verify. Judging the result includes judging the case made for it.</a:t>
            </a:r>
            <a:endParaRPr b="0" i="0" sz="2775" u="none" cap="none" strike="noStrike">
              <a:solidFill>
                <a:schemeClr val="dk1"/>
              </a:solidFill>
              <a:latin typeface="Calibri"/>
              <a:ea typeface="Calibri"/>
              <a:cs typeface="Calibri"/>
              <a:sym typeface="Calibri"/>
            </a:endParaRPr>
          </a:p>
        </p:txBody>
      </p:sp>
      <p:sp>
        <p:nvSpPr>
          <p:cNvPr id="472" name="Google Shape;472;p18"/>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473" name="Google Shape;473;p18"/>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16</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478" name="Shape 478"/>
        <p:cNvGrpSpPr/>
        <p:nvPr/>
      </p:nvGrpSpPr>
      <p:grpSpPr>
        <a:xfrm>
          <a:off x="0" y="0"/>
          <a:ext cx="0" cy="0"/>
          <a:chOff x="0" y="0"/>
          <a:chExt cx="0" cy="0"/>
        </a:xfrm>
      </p:grpSpPr>
      <p:pic>
        <p:nvPicPr>
          <p:cNvPr descr="preencoded.png" id="479" name="Google Shape;479;p19"/>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480" name="Google Shape;480;p19"/>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The Description and Discernment loop</a:t>
            </a:r>
            <a:endParaRPr b="0" i="0" sz="5175" u="none" cap="none" strike="noStrike">
              <a:solidFill>
                <a:schemeClr val="dk1"/>
              </a:solidFill>
              <a:latin typeface="Calibri"/>
              <a:ea typeface="Calibri"/>
              <a:cs typeface="Calibri"/>
              <a:sym typeface="Calibri"/>
            </a:endParaRPr>
          </a:p>
        </p:txBody>
      </p:sp>
      <p:sp>
        <p:nvSpPr>
          <p:cNvPr id="481" name="Google Shape;481;p19"/>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Good AI work is iterative. The first response is a draft, not the finish line.</a:t>
            </a:r>
            <a:endParaRPr b="0" i="0" sz="2625" u="none" cap="none" strike="noStrike">
              <a:solidFill>
                <a:schemeClr val="dk1"/>
              </a:solidFill>
              <a:latin typeface="Calibri"/>
              <a:ea typeface="Calibri"/>
              <a:cs typeface="Calibri"/>
              <a:sym typeface="Calibri"/>
            </a:endParaRPr>
          </a:p>
        </p:txBody>
      </p:sp>
      <p:sp>
        <p:nvSpPr>
          <p:cNvPr id="482" name="Google Shape;482;p19"/>
          <p:cNvSpPr/>
          <p:nvPr/>
        </p:nvSpPr>
        <p:spPr>
          <a:xfrm>
            <a:off x="4248150" y="3019425"/>
            <a:ext cx="4095750" cy="1333500"/>
          </a:xfrm>
          <a:prstGeom prst="roundRect">
            <a:avLst>
              <a:gd fmla="val 11429"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9"/>
          <p:cNvSpPr/>
          <p:nvPr/>
        </p:nvSpPr>
        <p:spPr>
          <a:xfrm>
            <a:off x="4543425" y="3142357"/>
            <a:ext cx="3855720"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F5EEE1"/>
              </a:buClr>
              <a:buSzPts val="2700"/>
              <a:buFont typeface="Carlito"/>
              <a:buNone/>
            </a:pPr>
            <a:r>
              <a:rPr b="1" i="0" lang="en-US" sz="2700" u="none" cap="none" strike="noStrike">
                <a:solidFill>
                  <a:srgbClr val="F5EEE1"/>
                </a:solidFill>
                <a:latin typeface="Carlito"/>
                <a:ea typeface="Carlito"/>
                <a:cs typeface="Carlito"/>
                <a:sym typeface="Carlito"/>
              </a:rPr>
              <a:t>Describe</a:t>
            </a:r>
            <a:endParaRPr b="0" i="0" sz="2700" u="none" cap="none" strike="noStrike">
              <a:solidFill>
                <a:schemeClr val="dk1"/>
              </a:solidFill>
              <a:latin typeface="Calibri"/>
              <a:ea typeface="Calibri"/>
              <a:cs typeface="Calibri"/>
              <a:sym typeface="Calibri"/>
            </a:endParaRPr>
          </a:p>
        </p:txBody>
      </p:sp>
      <p:sp>
        <p:nvSpPr>
          <p:cNvPr id="484" name="Google Shape;484;p19"/>
          <p:cNvSpPr/>
          <p:nvPr/>
        </p:nvSpPr>
        <p:spPr>
          <a:xfrm>
            <a:off x="4543425" y="3610942"/>
            <a:ext cx="3610356" cy="657225"/>
          </a:xfrm>
          <a:prstGeom prst="rect">
            <a:avLst/>
          </a:prstGeom>
          <a:noFill/>
          <a:ln>
            <a:noFill/>
          </a:ln>
        </p:spPr>
        <p:txBody>
          <a:bodyPr anchorCtr="0" anchor="t" bIns="25400" lIns="25400" spcFirstLastPara="1" rIns="25400" wrap="square" tIns="25400">
            <a:noAutofit/>
          </a:bodyPr>
          <a:lstStyle/>
          <a:p>
            <a:pPr indent="0" lvl="0" marL="0" marR="0" rtl="0" algn="l">
              <a:lnSpc>
                <a:spcPct val="106557"/>
              </a:lnSpc>
              <a:spcBef>
                <a:spcPts val="0"/>
              </a:spcBef>
              <a:spcAft>
                <a:spcPts val="0"/>
              </a:spcAft>
              <a:buClr>
                <a:srgbClr val="F5EEE1"/>
              </a:buClr>
              <a:buSzPts val="1875"/>
              <a:buFont typeface="Carlito"/>
              <a:buNone/>
            </a:pPr>
            <a:r>
              <a:rPr b="0" i="0" lang="en-US" sz="1875" u="none" cap="none" strike="noStrike">
                <a:solidFill>
                  <a:srgbClr val="F5EEE1"/>
                </a:solidFill>
                <a:latin typeface="Carlito"/>
                <a:ea typeface="Carlito"/>
                <a:cs typeface="Carlito"/>
                <a:sym typeface="Carlito"/>
              </a:rPr>
              <a:t>State product, process, and performance</a:t>
            </a:r>
            <a:endParaRPr b="0" i="0" sz="1875" u="none" cap="none" strike="noStrike">
              <a:solidFill>
                <a:schemeClr val="dk1"/>
              </a:solidFill>
              <a:latin typeface="Calibri"/>
              <a:ea typeface="Calibri"/>
              <a:cs typeface="Calibri"/>
              <a:sym typeface="Calibri"/>
            </a:endParaRPr>
          </a:p>
        </p:txBody>
      </p:sp>
      <p:sp>
        <p:nvSpPr>
          <p:cNvPr id="485" name="Google Shape;485;p19"/>
          <p:cNvSpPr/>
          <p:nvPr/>
        </p:nvSpPr>
        <p:spPr>
          <a:xfrm>
            <a:off x="7581900" y="5000625"/>
            <a:ext cx="4095750" cy="1333500"/>
          </a:xfrm>
          <a:prstGeom prst="roundRect">
            <a:avLst>
              <a:gd fmla="val 1142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9"/>
          <p:cNvSpPr/>
          <p:nvPr/>
        </p:nvSpPr>
        <p:spPr>
          <a:xfrm>
            <a:off x="7877175" y="5123557"/>
            <a:ext cx="3855720"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AI produces</a:t>
            </a:r>
            <a:endParaRPr b="0" i="0" sz="2700" u="none" cap="none" strike="noStrike">
              <a:solidFill>
                <a:schemeClr val="dk1"/>
              </a:solidFill>
              <a:latin typeface="Calibri"/>
              <a:ea typeface="Calibri"/>
              <a:cs typeface="Calibri"/>
              <a:sym typeface="Calibri"/>
            </a:endParaRPr>
          </a:p>
        </p:txBody>
      </p:sp>
      <p:sp>
        <p:nvSpPr>
          <p:cNvPr id="487" name="Google Shape;487;p19"/>
          <p:cNvSpPr/>
          <p:nvPr/>
        </p:nvSpPr>
        <p:spPr>
          <a:xfrm>
            <a:off x="7877175" y="5592142"/>
            <a:ext cx="3610356" cy="657225"/>
          </a:xfrm>
          <a:prstGeom prst="rect">
            <a:avLst/>
          </a:prstGeom>
          <a:noFill/>
          <a:ln>
            <a:noFill/>
          </a:ln>
        </p:spPr>
        <p:txBody>
          <a:bodyPr anchorCtr="0" anchor="t" bIns="25400" lIns="25400" spcFirstLastPara="1" rIns="25400" wrap="square" tIns="25400">
            <a:noAutofit/>
          </a:bodyPr>
          <a:lstStyle/>
          <a:p>
            <a:pPr indent="0" lvl="0" marL="0" marR="0" rtl="0" algn="l">
              <a:lnSpc>
                <a:spcPct val="106557"/>
              </a:lnSpc>
              <a:spcBef>
                <a:spcPts val="0"/>
              </a:spcBef>
              <a:spcAft>
                <a:spcPts val="0"/>
              </a:spcAft>
              <a:buClr>
                <a:srgbClr val="33434E"/>
              </a:buClr>
              <a:buSzPts val="1875"/>
              <a:buFont typeface="Carlito"/>
              <a:buNone/>
            </a:pPr>
            <a:r>
              <a:rPr b="0" i="0" lang="en-US" sz="1875" u="none" cap="none" strike="noStrike">
                <a:solidFill>
                  <a:srgbClr val="33434E"/>
                </a:solidFill>
                <a:latin typeface="Carlito"/>
                <a:ea typeface="Carlito"/>
                <a:cs typeface="Carlito"/>
                <a:sym typeface="Carlito"/>
              </a:rPr>
              <a:t>The output arrives, fluent and confident</a:t>
            </a:r>
            <a:endParaRPr b="0" i="0" sz="1875" u="none" cap="none" strike="noStrike">
              <a:solidFill>
                <a:schemeClr val="dk1"/>
              </a:solidFill>
              <a:latin typeface="Calibri"/>
              <a:ea typeface="Calibri"/>
              <a:cs typeface="Calibri"/>
              <a:sym typeface="Calibri"/>
            </a:endParaRPr>
          </a:p>
        </p:txBody>
      </p:sp>
      <p:sp>
        <p:nvSpPr>
          <p:cNvPr id="488" name="Google Shape;488;p19"/>
          <p:cNvSpPr/>
          <p:nvPr/>
        </p:nvSpPr>
        <p:spPr>
          <a:xfrm>
            <a:off x="4248150" y="6991350"/>
            <a:ext cx="4095750" cy="1333500"/>
          </a:xfrm>
          <a:prstGeom prst="roundRect">
            <a:avLst>
              <a:gd fmla="val 11429"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9"/>
          <p:cNvSpPr/>
          <p:nvPr/>
        </p:nvSpPr>
        <p:spPr>
          <a:xfrm>
            <a:off x="4543425" y="7114282"/>
            <a:ext cx="3855720"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F5EEE1"/>
              </a:buClr>
              <a:buSzPts val="2700"/>
              <a:buFont typeface="Carlito"/>
              <a:buNone/>
            </a:pPr>
            <a:r>
              <a:rPr b="1" i="0" lang="en-US" sz="2700" u="none" cap="none" strike="noStrike">
                <a:solidFill>
                  <a:srgbClr val="F5EEE1"/>
                </a:solidFill>
                <a:latin typeface="Carlito"/>
                <a:ea typeface="Carlito"/>
                <a:cs typeface="Carlito"/>
                <a:sym typeface="Carlito"/>
              </a:rPr>
              <a:t>Discern</a:t>
            </a:r>
            <a:endParaRPr b="0" i="0" sz="2700" u="none" cap="none" strike="noStrike">
              <a:solidFill>
                <a:schemeClr val="dk1"/>
              </a:solidFill>
              <a:latin typeface="Calibri"/>
              <a:ea typeface="Calibri"/>
              <a:cs typeface="Calibri"/>
              <a:sym typeface="Calibri"/>
            </a:endParaRPr>
          </a:p>
        </p:txBody>
      </p:sp>
      <p:sp>
        <p:nvSpPr>
          <p:cNvPr id="490" name="Google Shape;490;p19"/>
          <p:cNvSpPr/>
          <p:nvPr/>
        </p:nvSpPr>
        <p:spPr>
          <a:xfrm>
            <a:off x="4543425" y="7582867"/>
            <a:ext cx="3610356" cy="657225"/>
          </a:xfrm>
          <a:prstGeom prst="rect">
            <a:avLst/>
          </a:prstGeom>
          <a:noFill/>
          <a:ln>
            <a:noFill/>
          </a:ln>
        </p:spPr>
        <p:txBody>
          <a:bodyPr anchorCtr="0" anchor="t" bIns="25400" lIns="25400" spcFirstLastPara="1" rIns="25400" wrap="square" tIns="25400">
            <a:noAutofit/>
          </a:bodyPr>
          <a:lstStyle/>
          <a:p>
            <a:pPr indent="0" lvl="0" marL="0" marR="0" rtl="0" algn="l">
              <a:lnSpc>
                <a:spcPct val="106557"/>
              </a:lnSpc>
              <a:spcBef>
                <a:spcPts val="0"/>
              </a:spcBef>
              <a:spcAft>
                <a:spcPts val="0"/>
              </a:spcAft>
              <a:buClr>
                <a:srgbClr val="F5EEE1"/>
              </a:buClr>
              <a:buSzPts val="1875"/>
              <a:buFont typeface="Carlito"/>
              <a:buNone/>
            </a:pPr>
            <a:r>
              <a:rPr b="0" i="0" lang="en-US" sz="1875" u="none" cap="none" strike="noStrike">
                <a:solidFill>
                  <a:srgbClr val="F5EEE1"/>
                </a:solidFill>
                <a:latin typeface="Carlito"/>
                <a:ea typeface="Carlito"/>
                <a:cs typeface="Carlito"/>
                <a:sym typeface="Carlito"/>
              </a:rPr>
              <a:t>Evaluate product, process, and performance</a:t>
            </a:r>
            <a:endParaRPr b="0" i="0" sz="1875" u="none" cap="none" strike="noStrike">
              <a:solidFill>
                <a:schemeClr val="dk1"/>
              </a:solidFill>
              <a:latin typeface="Calibri"/>
              <a:ea typeface="Calibri"/>
              <a:cs typeface="Calibri"/>
              <a:sym typeface="Calibri"/>
            </a:endParaRPr>
          </a:p>
        </p:txBody>
      </p:sp>
      <p:sp>
        <p:nvSpPr>
          <p:cNvPr id="491" name="Google Shape;491;p19"/>
          <p:cNvSpPr/>
          <p:nvPr/>
        </p:nvSpPr>
        <p:spPr>
          <a:xfrm>
            <a:off x="914400" y="5000625"/>
            <a:ext cx="4095750" cy="1333500"/>
          </a:xfrm>
          <a:prstGeom prst="roundRect">
            <a:avLst>
              <a:gd fmla="val 11429" name="adj"/>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9"/>
          <p:cNvSpPr/>
          <p:nvPr/>
        </p:nvSpPr>
        <p:spPr>
          <a:xfrm>
            <a:off x="1209675" y="5123557"/>
            <a:ext cx="3855720"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Refine</a:t>
            </a:r>
            <a:endParaRPr b="0" i="0" sz="2700" u="none" cap="none" strike="noStrike">
              <a:solidFill>
                <a:schemeClr val="dk1"/>
              </a:solidFill>
              <a:latin typeface="Calibri"/>
              <a:ea typeface="Calibri"/>
              <a:cs typeface="Calibri"/>
              <a:sym typeface="Calibri"/>
            </a:endParaRPr>
          </a:p>
        </p:txBody>
      </p:sp>
      <p:sp>
        <p:nvSpPr>
          <p:cNvPr id="493" name="Google Shape;493;p19"/>
          <p:cNvSpPr/>
          <p:nvPr/>
        </p:nvSpPr>
        <p:spPr>
          <a:xfrm>
            <a:off x="1209675" y="5592142"/>
            <a:ext cx="3610356" cy="657225"/>
          </a:xfrm>
          <a:prstGeom prst="rect">
            <a:avLst/>
          </a:prstGeom>
          <a:noFill/>
          <a:ln>
            <a:noFill/>
          </a:ln>
        </p:spPr>
        <p:txBody>
          <a:bodyPr anchorCtr="0" anchor="t" bIns="25400" lIns="25400" spcFirstLastPara="1" rIns="25400" wrap="square" tIns="25400">
            <a:noAutofit/>
          </a:bodyPr>
          <a:lstStyle/>
          <a:p>
            <a:pPr indent="0" lvl="0" marL="0" marR="0" rtl="0" algn="l">
              <a:lnSpc>
                <a:spcPct val="106557"/>
              </a:lnSpc>
              <a:spcBef>
                <a:spcPts val="0"/>
              </a:spcBef>
              <a:spcAft>
                <a:spcPts val="0"/>
              </a:spcAft>
              <a:buClr>
                <a:srgbClr val="33434E"/>
              </a:buClr>
              <a:buSzPts val="1875"/>
              <a:buFont typeface="Carlito"/>
              <a:buNone/>
            </a:pPr>
            <a:r>
              <a:rPr b="0" i="0" lang="en-US" sz="1875" u="none" cap="none" strike="noStrike">
                <a:solidFill>
                  <a:srgbClr val="33434E"/>
                </a:solidFill>
                <a:latin typeface="Carlito"/>
                <a:ea typeface="Carlito"/>
                <a:cs typeface="Carlito"/>
                <a:sym typeface="Carlito"/>
              </a:rPr>
              <a:t>Feedback that names, explains, and directs</a:t>
            </a:r>
            <a:endParaRPr b="0" i="0" sz="1875" u="none" cap="none" strike="noStrike">
              <a:solidFill>
                <a:schemeClr val="dk1"/>
              </a:solidFill>
              <a:latin typeface="Calibri"/>
              <a:ea typeface="Calibri"/>
              <a:cs typeface="Calibri"/>
              <a:sym typeface="Calibri"/>
            </a:endParaRPr>
          </a:p>
        </p:txBody>
      </p:sp>
      <p:sp>
        <p:nvSpPr>
          <p:cNvPr id="494" name="Google Shape;494;p19"/>
          <p:cNvSpPr/>
          <p:nvPr/>
        </p:nvSpPr>
        <p:spPr>
          <a:xfrm rot="2700000">
            <a:off x="8267700" y="4467225"/>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9"/>
          <p:cNvSpPr/>
          <p:nvPr/>
        </p:nvSpPr>
        <p:spPr>
          <a:xfrm rot="8100000">
            <a:off x="8267700" y="6496050"/>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9"/>
          <p:cNvSpPr/>
          <p:nvPr/>
        </p:nvSpPr>
        <p:spPr>
          <a:xfrm rot="-8100000">
            <a:off x="4076700" y="6496050"/>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9"/>
          <p:cNvSpPr/>
          <p:nvPr/>
        </p:nvSpPr>
        <p:spPr>
          <a:xfrm rot="-2700000">
            <a:off x="4076700" y="4467225"/>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9"/>
          <p:cNvSpPr/>
          <p:nvPr/>
        </p:nvSpPr>
        <p:spPr>
          <a:xfrm>
            <a:off x="12249150" y="3019425"/>
            <a:ext cx="5124450" cy="5305425"/>
          </a:xfrm>
          <a:prstGeom prst="roundRect">
            <a:avLst>
              <a:gd fmla="val 2974"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9"/>
          <p:cNvSpPr/>
          <p:nvPr/>
        </p:nvSpPr>
        <p:spPr>
          <a:xfrm>
            <a:off x="12611100" y="3381375"/>
            <a:ext cx="4532567" cy="860971"/>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When discernment flags a problem</a:t>
            </a:r>
            <a:endParaRPr b="0" i="0" sz="2700" u="none" cap="none" strike="noStrike">
              <a:solidFill>
                <a:schemeClr val="dk1"/>
              </a:solidFill>
              <a:latin typeface="Calibri"/>
              <a:ea typeface="Calibri"/>
              <a:cs typeface="Calibri"/>
              <a:sym typeface="Calibri"/>
            </a:endParaRPr>
          </a:p>
        </p:txBody>
      </p:sp>
      <p:sp>
        <p:nvSpPr>
          <p:cNvPr id="500" name="Google Shape;500;p19"/>
          <p:cNvSpPr/>
          <p:nvPr/>
        </p:nvSpPr>
        <p:spPr>
          <a:xfrm>
            <a:off x="12611100" y="4423321"/>
            <a:ext cx="4840605"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Usually the fix is better description.</a:t>
            </a:r>
            <a:endParaRPr b="0" i="0" sz="2025" u="none" cap="none" strike="noStrike">
              <a:solidFill>
                <a:schemeClr val="dk1"/>
              </a:solidFill>
              <a:latin typeface="Calibri"/>
              <a:ea typeface="Calibri"/>
              <a:cs typeface="Calibri"/>
              <a:sym typeface="Calibri"/>
            </a:endParaRPr>
          </a:p>
        </p:txBody>
      </p:sp>
      <p:sp>
        <p:nvSpPr>
          <p:cNvPr id="501" name="Google Shape;501;p19"/>
          <p:cNvSpPr/>
          <p:nvPr/>
        </p:nvSpPr>
        <p:spPr>
          <a:xfrm>
            <a:off x="12611100" y="5002411"/>
            <a:ext cx="4532567" cy="1118146"/>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Sometimes it sends you back to delegation: wrong tool, wrong split, wrong approach entirely.</a:t>
            </a:r>
            <a:endParaRPr b="0" i="0" sz="2025" u="none" cap="none" strike="noStrike">
              <a:solidFill>
                <a:schemeClr val="dk1"/>
              </a:solidFill>
              <a:latin typeface="Calibri"/>
              <a:ea typeface="Calibri"/>
              <a:cs typeface="Calibri"/>
              <a:sym typeface="Calibri"/>
            </a:endParaRPr>
          </a:p>
        </p:txBody>
      </p:sp>
      <p:sp>
        <p:nvSpPr>
          <p:cNvPr id="502" name="Google Shape;502;p19"/>
          <p:cNvSpPr/>
          <p:nvPr/>
        </p:nvSpPr>
        <p:spPr>
          <a:xfrm>
            <a:off x="12611100" y="7549530"/>
            <a:ext cx="4840605" cy="451470"/>
          </a:xfrm>
          <a:prstGeom prst="rect">
            <a:avLst/>
          </a:prstGeom>
          <a:noFill/>
          <a:ln>
            <a:noFill/>
          </a:ln>
        </p:spPr>
        <p:txBody>
          <a:bodyPr anchorCtr="0" anchor="t" bIns="25400" lIns="25400" spcFirstLastPara="1" rIns="25400" wrap="square" tIns="25400">
            <a:noAutofit/>
          </a:bodyPr>
          <a:lstStyle/>
          <a:p>
            <a:pPr indent="0" lvl="0" marL="0" marR="0" rtl="0" algn="l">
              <a:lnSpc>
                <a:spcPct val="114211"/>
              </a:lnSpc>
              <a:spcBef>
                <a:spcPts val="0"/>
              </a:spcBef>
              <a:spcAft>
                <a:spcPts val="0"/>
              </a:spcAft>
              <a:buClr>
                <a:srgbClr val="C05F44"/>
              </a:buClr>
              <a:buSzPts val="2325"/>
              <a:buFont typeface="Carlito"/>
              <a:buNone/>
            </a:pPr>
            <a:r>
              <a:rPr b="1" i="0" lang="en-US" sz="2325" u="none" cap="none" strike="noStrike">
                <a:solidFill>
                  <a:srgbClr val="C05F44"/>
                </a:solidFill>
                <a:latin typeface="Carlito"/>
                <a:ea typeface="Carlito"/>
                <a:cs typeface="Carlito"/>
                <a:sym typeface="Carlito"/>
              </a:rPr>
              <a:t>The loop drives quality.</a:t>
            </a:r>
            <a:endParaRPr b="0" i="0" sz="2325" u="none" cap="none" strike="noStrike">
              <a:solidFill>
                <a:schemeClr val="dk1"/>
              </a:solidFill>
              <a:latin typeface="Calibri"/>
              <a:ea typeface="Calibri"/>
              <a:cs typeface="Calibri"/>
              <a:sym typeface="Calibri"/>
            </a:endParaRPr>
          </a:p>
        </p:txBody>
      </p:sp>
      <p:sp>
        <p:nvSpPr>
          <p:cNvPr id="503" name="Google Shape;503;p19"/>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Professional AI collaboration converges through iteration. It almost never succeeds in one shot.</a:t>
            </a:r>
            <a:endParaRPr b="0" i="0" sz="2775" u="none" cap="none" strike="noStrike">
              <a:solidFill>
                <a:schemeClr val="dk1"/>
              </a:solidFill>
              <a:latin typeface="Calibri"/>
              <a:ea typeface="Calibri"/>
              <a:cs typeface="Calibri"/>
              <a:sym typeface="Calibri"/>
            </a:endParaRPr>
          </a:p>
        </p:txBody>
      </p:sp>
      <p:sp>
        <p:nvSpPr>
          <p:cNvPr id="504" name="Google Shape;504;p19"/>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505" name="Google Shape;505;p19"/>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17</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510" name="Shape 510"/>
        <p:cNvGrpSpPr/>
        <p:nvPr/>
      </p:nvGrpSpPr>
      <p:grpSpPr>
        <a:xfrm>
          <a:off x="0" y="0"/>
          <a:ext cx="0" cy="0"/>
          <a:chOff x="0" y="0"/>
          <a:chExt cx="0" cy="0"/>
        </a:xfrm>
      </p:grpSpPr>
      <p:pic>
        <p:nvPicPr>
          <p:cNvPr descr="preencoded.png" id="511" name="Google Shape;511;p20"/>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512" name="Google Shape;512;p20"/>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Diligence: three moments of responsibility</a:t>
            </a:r>
            <a:endParaRPr b="0" i="0" sz="5175" u="none" cap="none" strike="noStrike">
              <a:solidFill>
                <a:schemeClr val="dk1"/>
              </a:solidFill>
              <a:latin typeface="Calibri"/>
              <a:ea typeface="Calibri"/>
              <a:cs typeface="Calibri"/>
              <a:sym typeface="Calibri"/>
            </a:endParaRPr>
          </a:p>
        </p:txBody>
      </p:sp>
      <p:sp>
        <p:nvSpPr>
          <p:cNvPr id="513" name="Google Shape;513;p20"/>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The first three Ds get better results. Diligence asks: should I use AI this way at all?</a:t>
            </a:r>
            <a:endParaRPr b="0" i="0" sz="2625" u="none" cap="none" strike="noStrike">
              <a:solidFill>
                <a:schemeClr val="dk1"/>
              </a:solidFill>
              <a:latin typeface="Calibri"/>
              <a:ea typeface="Calibri"/>
              <a:cs typeface="Calibri"/>
              <a:sym typeface="Calibri"/>
            </a:endParaRPr>
          </a:p>
        </p:txBody>
      </p:sp>
      <p:sp>
        <p:nvSpPr>
          <p:cNvPr id="514" name="Google Shape;514;p20"/>
          <p:cNvSpPr/>
          <p:nvPr/>
        </p:nvSpPr>
        <p:spPr>
          <a:xfrm>
            <a:off x="640080" y="3019425"/>
            <a:ext cx="6035040" cy="398115"/>
          </a:xfrm>
          <a:prstGeom prst="rect">
            <a:avLst/>
          </a:prstGeom>
          <a:noFill/>
          <a:ln>
            <a:noFill/>
          </a:ln>
        </p:spPr>
        <p:txBody>
          <a:bodyPr anchorCtr="0" anchor="t" bIns="25400" lIns="25400" spcFirstLastPara="1" rIns="25400" wrap="square" tIns="25400">
            <a:noAutofit/>
          </a:bodyPr>
          <a:lstStyle/>
          <a:p>
            <a:pPr indent="0" lvl="0" marL="0" marR="0" rtl="0" algn="ctr">
              <a:lnSpc>
                <a:spcPct val="114545"/>
              </a:lnSpc>
              <a:spcBef>
                <a:spcPts val="0"/>
              </a:spcBef>
              <a:spcAft>
                <a:spcPts val="0"/>
              </a:spcAft>
              <a:buClr>
                <a:srgbClr val="33434E"/>
              </a:buClr>
              <a:buSzPts val="2025"/>
              <a:buFont typeface="Carlito"/>
              <a:buNone/>
            </a:pPr>
            <a:r>
              <a:rPr b="1" i="0" lang="en-US" sz="2025" u="none" cap="none" strike="noStrike">
                <a:solidFill>
                  <a:srgbClr val="33434E"/>
                </a:solidFill>
                <a:latin typeface="Carlito"/>
                <a:ea typeface="Carlito"/>
                <a:cs typeface="Carlito"/>
                <a:sym typeface="Carlito"/>
              </a:rPr>
              <a:t>Before</a:t>
            </a:r>
            <a:endParaRPr b="0" i="0" sz="2025" u="none" cap="none" strike="noStrike">
              <a:solidFill>
                <a:schemeClr val="dk1"/>
              </a:solidFill>
              <a:latin typeface="Calibri"/>
              <a:ea typeface="Calibri"/>
              <a:cs typeface="Calibri"/>
              <a:sym typeface="Calibri"/>
            </a:endParaRPr>
          </a:p>
        </p:txBody>
      </p:sp>
      <p:sp>
        <p:nvSpPr>
          <p:cNvPr id="515" name="Google Shape;515;p20"/>
          <p:cNvSpPr/>
          <p:nvPr/>
        </p:nvSpPr>
        <p:spPr>
          <a:xfrm>
            <a:off x="6126480" y="3019425"/>
            <a:ext cx="6035040" cy="398115"/>
          </a:xfrm>
          <a:prstGeom prst="rect">
            <a:avLst/>
          </a:prstGeom>
          <a:noFill/>
          <a:ln>
            <a:noFill/>
          </a:ln>
        </p:spPr>
        <p:txBody>
          <a:bodyPr anchorCtr="0" anchor="t" bIns="25400" lIns="25400" spcFirstLastPara="1" rIns="25400" wrap="square" tIns="25400">
            <a:noAutofit/>
          </a:bodyPr>
          <a:lstStyle/>
          <a:p>
            <a:pPr indent="0" lvl="0" marL="0" marR="0" rtl="0" algn="ctr">
              <a:lnSpc>
                <a:spcPct val="114545"/>
              </a:lnSpc>
              <a:spcBef>
                <a:spcPts val="0"/>
              </a:spcBef>
              <a:spcAft>
                <a:spcPts val="0"/>
              </a:spcAft>
              <a:buClr>
                <a:srgbClr val="C05F44"/>
              </a:buClr>
              <a:buSzPts val="2025"/>
              <a:buFont typeface="Carlito"/>
              <a:buNone/>
            </a:pPr>
            <a:r>
              <a:rPr b="1" i="0" lang="en-US" sz="2025" u="none" cap="none" strike="noStrike">
                <a:solidFill>
                  <a:srgbClr val="C05F44"/>
                </a:solidFill>
                <a:latin typeface="Carlito"/>
                <a:ea typeface="Carlito"/>
                <a:cs typeface="Carlito"/>
                <a:sym typeface="Carlito"/>
              </a:rPr>
              <a:t>During</a:t>
            </a:r>
            <a:endParaRPr b="0" i="0" sz="2025" u="none" cap="none" strike="noStrike">
              <a:solidFill>
                <a:schemeClr val="dk1"/>
              </a:solidFill>
              <a:latin typeface="Calibri"/>
              <a:ea typeface="Calibri"/>
              <a:cs typeface="Calibri"/>
              <a:sym typeface="Calibri"/>
            </a:endParaRPr>
          </a:p>
        </p:txBody>
      </p:sp>
      <p:sp>
        <p:nvSpPr>
          <p:cNvPr id="516" name="Google Shape;516;p20"/>
          <p:cNvSpPr/>
          <p:nvPr/>
        </p:nvSpPr>
        <p:spPr>
          <a:xfrm>
            <a:off x="11612880" y="3019425"/>
            <a:ext cx="6035040" cy="398115"/>
          </a:xfrm>
          <a:prstGeom prst="rect">
            <a:avLst/>
          </a:prstGeom>
          <a:noFill/>
          <a:ln>
            <a:noFill/>
          </a:ln>
        </p:spPr>
        <p:txBody>
          <a:bodyPr anchorCtr="0" anchor="t" bIns="25400" lIns="25400" spcFirstLastPara="1" rIns="25400" wrap="square" tIns="25400">
            <a:noAutofit/>
          </a:bodyPr>
          <a:lstStyle/>
          <a:p>
            <a:pPr indent="0" lvl="0" marL="0" marR="0" rtl="0" algn="ctr">
              <a:lnSpc>
                <a:spcPct val="114545"/>
              </a:lnSpc>
              <a:spcBef>
                <a:spcPts val="0"/>
              </a:spcBef>
              <a:spcAft>
                <a:spcPts val="0"/>
              </a:spcAft>
              <a:buClr>
                <a:srgbClr val="7D5E17"/>
              </a:buClr>
              <a:buSzPts val="2025"/>
              <a:buFont typeface="Carlito"/>
              <a:buNone/>
            </a:pPr>
            <a:r>
              <a:rPr b="1" i="0" lang="en-US" sz="2025" u="none" cap="none" strike="noStrike">
                <a:solidFill>
                  <a:srgbClr val="7D5E17"/>
                </a:solidFill>
                <a:latin typeface="Carlito"/>
                <a:ea typeface="Carlito"/>
                <a:cs typeface="Carlito"/>
                <a:sym typeface="Carlito"/>
              </a:rPr>
              <a:t>After</a:t>
            </a:r>
            <a:endParaRPr b="0" i="0" sz="2025" u="none" cap="none" strike="noStrike">
              <a:solidFill>
                <a:schemeClr val="dk1"/>
              </a:solidFill>
              <a:latin typeface="Calibri"/>
              <a:ea typeface="Calibri"/>
              <a:cs typeface="Calibri"/>
              <a:sym typeface="Calibri"/>
            </a:endParaRPr>
          </a:p>
        </p:txBody>
      </p:sp>
      <p:sp>
        <p:nvSpPr>
          <p:cNvPr id="517" name="Google Shape;517;p20"/>
          <p:cNvSpPr/>
          <p:nvPr/>
        </p:nvSpPr>
        <p:spPr>
          <a:xfrm>
            <a:off x="914400" y="3646140"/>
            <a:ext cx="16211550" cy="381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20"/>
          <p:cNvSpPr/>
          <p:nvPr/>
        </p:nvSpPr>
        <p:spPr>
          <a:xfrm>
            <a:off x="17125950" y="3474690"/>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20"/>
          <p:cNvSpPr/>
          <p:nvPr/>
        </p:nvSpPr>
        <p:spPr>
          <a:xfrm>
            <a:off x="3524771" y="3531840"/>
            <a:ext cx="266700" cy="266700"/>
          </a:xfrm>
          <a:prstGeom prst="ellipse">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0"/>
          <p:cNvSpPr/>
          <p:nvPr/>
        </p:nvSpPr>
        <p:spPr>
          <a:xfrm>
            <a:off x="9010650" y="3531840"/>
            <a:ext cx="266700" cy="266700"/>
          </a:xfrm>
          <a:prstGeom prst="ellipse">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20"/>
          <p:cNvSpPr/>
          <p:nvPr/>
        </p:nvSpPr>
        <p:spPr>
          <a:xfrm>
            <a:off x="14496455" y="3531840"/>
            <a:ext cx="266700" cy="266700"/>
          </a:xfrm>
          <a:prstGeom prst="ellipse">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20"/>
          <p:cNvSpPr/>
          <p:nvPr/>
        </p:nvSpPr>
        <p:spPr>
          <a:xfrm>
            <a:off x="914400" y="4141440"/>
            <a:ext cx="5245075" cy="2329681"/>
          </a:xfrm>
          <a:prstGeom prst="roundRect">
            <a:avLst>
              <a:gd fmla="val 6542"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0"/>
          <p:cNvSpPr/>
          <p:nvPr/>
        </p:nvSpPr>
        <p:spPr>
          <a:xfrm>
            <a:off x="914400" y="4141440"/>
            <a:ext cx="5245075" cy="13335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0"/>
          <p:cNvSpPr/>
          <p:nvPr/>
        </p:nvSpPr>
        <p:spPr>
          <a:xfrm>
            <a:off x="1276350" y="4570065"/>
            <a:ext cx="4973293"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Creation diligence</a:t>
            </a:r>
            <a:endParaRPr b="0" i="0" sz="2700" u="none" cap="none" strike="noStrike">
              <a:solidFill>
                <a:schemeClr val="dk1"/>
              </a:solidFill>
              <a:latin typeface="Calibri"/>
              <a:ea typeface="Calibri"/>
              <a:cs typeface="Calibri"/>
              <a:sym typeface="Calibri"/>
            </a:endParaRPr>
          </a:p>
        </p:txBody>
      </p:sp>
      <p:sp>
        <p:nvSpPr>
          <p:cNvPr id="525" name="Google Shape;525;p20"/>
          <p:cNvSpPr/>
          <p:nvPr/>
        </p:nvSpPr>
        <p:spPr>
          <a:xfrm>
            <a:off x="1276350" y="5095801"/>
            <a:ext cx="4656810"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Choose systems and data responsibly. Right tool, right data, right context.</a:t>
            </a:r>
            <a:endParaRPr b="0" i="0" sz="2025" u="none" cap="none" strike="noStrike">
              <a:solidFill>
                <a:schemeClr val="dk1"/>
              </a:solidFill>
              <a:latin typeface="Calibri"/>
              <a:ea typeface="Calibri"/>
              <a:cs typeface="Calibri"/>
              <a:sym typeface="Calibri"/>
            </a:endParaRPr>
          </a:p>
        </p:txBody>
      </p:sp>
      <p:sp>
        <p:nvSpPr>
          <p:cNvPr id="526" name="Google Shape;526;p20"/>
          <p:cNvSpPr/>
          <p:nvPr/>
        </p:nvSpPr>
        <p:spPr>
          <a:xfrm>
            <a:off x="6521425" y="4141440"/>
            <a:ext cx="5245075" cy="2329681"/>
          </a:xfrm>
          <a:prstGeom prst="roundRect">
            <a:avLst>
              <a:gd fmla="val 6542"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0"/>
          <p:cNvSpPr/>
          <p:nvPr/>
        </p:nvSpPr>
        <p:spPr>
          <a:xfrm>
            <a:off x="6521425" y="4141440"/>
            <a:ext cx="5245075" cy="133350"/>
          </a:xfrm>
          <a:prstGeom prst="rect">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0"/>
          <p:cNvSpPr/>
          <p:nvPr/>
        </p:nvSpPr>
        <p:spPr>
          <a:xfrm>
            <a:off x="6883375" y="4570065"/>
            <a:ext cx="4973293"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Transparency diligence</a:t>
            </a:r>
            <a:endParaRPr b="0" i="0" sz="2700" u="none" cap="none" strike="noStrike">
              <a:solidFill>
                <a:schemeClr val="dk1"/>
              </a:solidFill>
              <a:latin typeface="Calibri"/>
              <a:ea typeface="Calibri"/>
              <a:cs typeface="Calibri"/>
              <a:sym typeface="Calibri"/>
            </a:endParaRPr>
          </a:p>
        </p:txBody>
      </p:sp>
      <p:sp>
        <p:nvSpPr>
          <p:cNvPr id="529" name="Google Shape;529;p20"/>
          <p:cNvSpPr/>
          <p:nvPr/>
        </p:nvSpPr>
        <p:spPr>
          <a:xfrm>
            <a:off x="6883375" y="5095801"/>
            <a:ext cx="4656810" cy="1118146"/>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Be honest about AI's role with everyone affected. Disclosure builds trust, concealment destroys it.</a:t>
            </a:r>
            <a:endParaRPr b="0" i="0" sz="2025" u="none" cap="none" strike="noStrike">
              <a:solidFill>
                <a:schemeClr val="dk1"/>
              </a:solidFill>
              <a:latin typeface="Calibri"/>
              <a:ea typeface="Calibri"/>
              <a:cs typeface="Calibri"/>
              <a:sym typeface="Calibri"/>
            </a:endParaRPr>
          </a:p>
        </p:txBody>
      </p:sp>
      <p:sp>
        <p:nvSpPr>
          <p:cNvPr id="530" name="Google Shape;530;p20"/>
          <p:cNvSpPr/>
          <p:nvPr/>
        </p:nvSpPr>
        <p:spPr>
          <a:xfrm>
            <a:off x="12128450" y="4141440"/>
            <a:ext cx="5245150" cy="2329681"/>
          </a:xfrm>
          <a:prstGeom prst="roundRect">
            <a:avLst>
              <a:gd fmla="val 6542"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0"/>
          <p:cNvSpPr/>
          <p:nvPr/>
        </p:nvSpPr>
        <p:spPr>
          <a:xfrm>
            <a:off x="12128450" y="4141440"/>
            <a:ext cx="5245150" cy="133350"/>
          </a:xfrm>
          <a:prstGeom prst="rect">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0"/>
          <p:cNvSpPr/>
          <p:nvPr/>
        </p:nvSpPr>
        <p:spPr>
          <a:xfrm>
            <a:off x="12490400" y="4570065"/>
            <a:ext cx="4973375"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Deployment diligence</a:t>
            </a:r>
            <a:endParaRPr b="0" i="0" sz="2700" u="none" cap="none" strike="noStrike">
              <a:solidFill>
                <a:schemeClr val="dk1"/>
              </a:solidFill>
              <a:latin typeface="Calibri"/>
              <a:ea typeface="Calibri"/>
              <a:cs typeface="Calibri"/>
              <a:sym typeface="Calibri"/>
            </a:endParaRPr>
          </a:p>
        </p:txBody>
      </p:sp>
      <p:sp>
        <p:nvSpPr>
          <p:cNvPr id="533" name="Google Shape;533;p20"/>
          <p:cNvSpPr/>
          <p:nvPr/>
        </p:nvSpPr>
        <p:spPr>
          <a:xfrm>
            <a:off x="12490400" y="5095801"/>
            <a:ext cx="4656887"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Verify and vouch before anything ships. Facts, sources, bias, rights, and policy.</a:t>
            </a:r>
            <a:endParaRPr b="0" i="0" sz="2025" u="none" cap="none" strike="noStrike">
              <a:solidFill>
                <a:schemeClr val="dk1"/>
              </a:solidFill>
              <a:latin typeface="Calibri"/>
              <a:ea typeface="Calibri"/>
              <a:cs typeface="Calibri"/>
              <a:sym typeface="Calibri"/>
            </a:endParaRPr>
          </a:p>
        </p:txBody>
      </p:sp>
      <p:sp>
        <p:nvSpPr>
          <p:cNvPr id="534" name="Google Shape;534;p20"/>
          <p:cNvSpPr/>
          <p:nvPr/>
        </p:nvSpPr>
        <p:spPr>
          <a:xfrm>
            <a:off x="914400" y="6737821"/>
            <a:ext cx="16459200" cy="1388715"/>
          </a:xfrm>
          <a:prstGeom prst="roundRect">
            <a:avLst>
              <a:gd fmla="val 10974"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0"/>
          <p:cNvSpPr/>
          <p:nvPr/>
        </p:nvSpPr>
        <p:spPr>
          <a:xfrm>
            <a:off x="1276350" y="6994996"/>
            <a:ext cx="17308830"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“Would I confidently put my name on this?”</a:t>
            </a:r>
            <a:endParaRPr b="0" i="0" sz="3000" u="none" cap="none" strike="noStrike">
              <a:solidFill>
                <a:schemeClr val="dk1"/>
              </a:solidFill>
              <a:latin typeface="Calibri"/>
              <a:ea typeface="Calibri"/>
              <a:cs typeface="Calibri"/>
              <a:sym typeface="Calibri"/>
            </a:endParaRPr>
          </a:p>
        </p:txBody>
      </p:sp>
      <p:sp>
        <p:nvSpPr>
          <p:cNvPr id="536" name="Google Shape;536;p20"/>
          <p:cNvSpPr/>
          <p:nvPr/>
        </p:nvSpPr>
        <p:spPr>
          <a:xfrm>
            <a:off x="1276350" y="7509346"/>
            <a:ext cx="17308830"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B9C2C9"/>
              </a:buClr>
              <a:buSzPts val="2025"/>
              <a:buFont typeface="Carlito"/>
              <a:buNone/>
            </a:pPr>
            <a:r>
              <a:rPr b="0" i="0" lang="en-US" sz="2025" u="none" cap="none" strike="noStrike">
                <a:solidFill>
                  <a:srgbClr val="B9C2C9"/>
                </a:solidFill>
                <a:latin typeface="Carlito"/>
                <a:ea typeface="Carlito"/>
                <a:cs typeface="Carlito"/>
                <a:sym typeface="Carlito"/>
              </a:rPr>
              <a:t>If not, it does not ship.</a:t>
            </a:r>
            <a:endParaRPr b="0" i="0" sz="2025" u="none" cap="none" strike="noStrike">
              <a:solidFill>
                <a:schemeClr val="dk1"/>
              </a:solidFill>
              <a:latin typeface="Calibri"/>
              <a:ea typeface="Calibri"/>
              <a:cs typeface="Calibri"/>
              <a:sym typeface="Calibri"/>
            </a:endParaRPr>
          </a:p>
        </p:txBody>
      </p:sp>
      <p:sp>
        <p:nvSpPr>
          <p:cNvPr id="537" name="Google Shape;537;p20"/>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AI automates work. It does not automate responsibility.</a:t>
            </a:r>
            <a:endParaRPr b="0" i="0" sz="2775" u="none" cap="none" strike="noStrike">
              <a:solidFill>
                <a:schemeClr val="dk1"/>
              </a:solidFill>
              <a:latin typeface="Calibri"/>
              <a:ea typeface="Calibri"/>
              <a:cs typeface="Calibri"/>
              <a:sym typeface="Calibri"/>
            </a:endParaRPr>
          </a:p>
        </p:txBody>
      </p:sp>
      <p:sp>
        <p:nvSpPr>
          <p:cNvPr id="538" name="Google Shape;538;p20"/>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539" name="Google Shape;539;p20"/>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18</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544" name="Shape 544"/>
        <p:cNvGrpSpPr/>
        <p:nvPr/>
      </p:nvGrpSpPr>
      <p:grpSpPr>
        <a:xfrm>
          <a:off x="0" y="0"/>
          <a:ext cx="0" cy="0"/>
          <a:chOff x="0" y="0"/>
          <a:chExt cx="0" cy="0"/>
        </a:xfrm>
      </p:grpSpPr>
      <p:pic>
        <p:nvPicPr>
          <p:cNvPr descr="preencoded.png" id="545" name="Google Shape;545;p21"/>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546" name="Google Shape;546;p21"/>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Before it leaves your hands</a:t>
            </a:r>
            <a:endParaRPr b="0" i="0" sz="5175" u="none" cap="none" strike="noStrike">
              <a:solidFill>
                <a:schemeClr val="dk1"/>
              </a:solidFill>
              <a:latin typeface="Calibri"/>
              <a:ea typeface="Calibri"/>
              <a:cs typeface="Calibri"/>
              <a:sym typeface="Calibri"/>
            </a:endParaRPr>
          </a:p>
        </p:txBody>
      </p:sp>
      <p:sp>
        <p:nvSpPr>
          <p:cNvPr id="547" name="Google Shape;547;p21"/>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The size of the check scales with reach and reversibility.</a:t>
            </a:r>
            <a:endParaRPr b="0" i="0" sz="2625" u="none" cap="none" strike="noStrike">
              <a:solidFill>
                <a:schemeClr val="dk1"/>
              </a:solidFill>
              <a:latin typeface="Calibri"/>
              <a:ea typeface="Calibri"/>
              <a:cs typeface="Calibri"/>
              <a:sym typeface="Calibri"/>
            </a:endParaRPr>
          </a:p>
        </p:txBody>
      </p:sp>
      <p:sp>
        <p:nvSpPr>
          <p:cNvPr id="548" name="Google Shape;548;p21"/>
          <p:cNvSpPr/>
          <p:nvPr/>
        </p:nvSpPr>
        <p:spPr>
          <a:xfrm>
            <a:off x="914400" y="3019425"/>
            <a:ext cx="8048625" cy="2788741"/>
          </a:xfrm>
          <a:prstGeom prst="roundRect">
            <a:avLst>
              <a:gd fmla="val 5465"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1"/>
          <p:cNvSpPr/>
          <p:nvPr/>
        </p:nvSpPr>
        <p:spPr>
          <a:xfrm>
            <a:off x="1276350" y="3381375"/>
            <a:ext cx="8057197"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The numbers rule</a:t>
            </a:r>
            <a:endParaRPr b="0" i="0" sz="3000" u="none" cap="none" strike="noStrike">
              <a:solidFill>
                <a:schemeClr val="dk1"/>
              </a:solidFill>
              <a:latin typeface="Calibri"/>
              <a:ea typeface="Calibri"/>
              <a:cs typeface="Calibri"/>
              <a:sym typeface="Calibri"/>
            </a:endParaRPr>
          </a:p>
        </p:txBody>
      </p:sp>
      <p:sp>
        <p:nvSpPr>
          <p:cNvPr id="550" name="Google Shape;550;p21"/>
          <p:cNvSpPr/>
          <p:nvPr/>
        </p:nvSpPr>
        <p:spPr>
          <a:xfrm>
            <a:off x="1276350" y="3952875"/>
            <a:ext cx="7544467" cy="153144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Any number a decision rests on must be computed, never generated. A model predicts a likely-looking total, so the total can be wrong while every line item is right. Get it from a spreadsheet, a calculator, or code the AI ran and showed you.</a:t>
            </a:r>
            <a:endParaRPr b="0" i="0" sz="2100" u="none" cap="none" strike="noStrike">
              <a:solidFill>
                <a:schemeClr val="dk1"/>
              </a:solidFill>
              <a:latin typeface="Calibri"/>
              <a:ea typeface="Calibri"/>
              <a:cs typeface="Calibri"/>
              <a:sym typeface="Calibri"/>
            </a:endParaRPr>
          </a:p>
        </p:txBody>
      </p:sp>
      <p:sp>
        <p:nvSpPr>
          <p:cNvPr id="551" name="Google Shape;551;p21"/>
          <p:cNvSpPr/>
          <p:nvPr/>
        </p:nvSpPr>
        <p:spPr>
          <a:xfrm>
            <a:off x="9324975" y="3019425"/>
            <a:ext cx="8048625" cy="2788741"/>
          </a:xfrm>
          <a:prstGeom prst="roundRect">
            <a:avLst>
              <a:gd fmla="val 5465"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1"/>
          <p:cNvSpPr/>
          <p:nvPr/>
        </p:nvSpPr>
        <p:spPr>
          <a:xfrm>
            <a:off x="9686925" y="3381375"/>
            <a:ext cx="8057197"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When the case is unclear</a:t>
            </a:r>
            <a:endParaRPr b="0" i="0" sz="3000" u="none" cap="none" strike="noStrike">
              <a:solidFill>
                <a:schemeClr val="dk1"/>
              </a:solidFill>
              <a:latin typeface="Calibri"/>
              <a:ea typeface="Calibri"/>
              <a:cs typeface="Calibri"/>
              <a:sym typeface="Calibri"/>
            </a:endParaRPr>
          </a:p>
        </p:txBody>
      </p:sp>
      <p:sp>
        <p:nvSpPr>
          <p:cNvPr id="553" name="Google Shape;553;p21"/>
          <p:cNvSpPr/>
          <p:nvPr/>
        </p:nvSpPr>
        <p:spPr>
          <a:xfrm>
            <a:off x="9686925" y="3952875"/>
            <a:ext cx="7544467" cy="153144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Who is affected, including people who will never see it? What could go wrong for them? What would a fair outcome look like? What should be disclosed, and to whom? Answer all four and write them down, or escalate to the decision's owner.</a:t>
            </a:r>
            <a:endParaRPr b="0" i="0" sz="2100" u="none" cap="none" strike="noStrike">
              <a:solidFill>
                <a:schemeClr val="dk1"/>
              </a:solidFill>
              <a:latin typeface="Calibri"/>
              <a:ea typeface="Calibri"/>
              <a:cs typeface="Calibri"/>
              <a:sym typeface="Calibri"/>
            </a:endParaRPr>
          </a:p>
        </p:txBody>
      </p:sp>
      <p:sp>
        <p:nvSpPr>
          <p:cNvPr id="554" name="Google Shape;554;p21"/>
          <p:cNvSpPr/>
          <p:nvPr/>
        </p:nvSpPr>
        <p:spPr>
          <a:xfrm>
            <a:off x="914400" y="6170116"/>
            <a:ext cx="16459200" cy="1261021"/>
          </a:xfrm>
          <a:prstGeom prst="roundRect">
            <a:avLst>
              <a:gd fmla="val 12085"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1"/>
          <p:cNvSpPr/>
          <p:nvPr/>
        </p:nvSpPr>
        <p:spPr>
          <a:xfrm>
            <a:off x="1276350" y="6427291"/>
            <a:ext cx="16207359"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The lecturer. </a:t>
            </a:r>
            <a:r>
              <a:rPr b="0" i="0" lang="en-US" sz="2100" u="none" cap="none" strike="noStrike">
                <a:solidFill>
                  <a:srgbClr val="33434E"/>
                </a:solidFill>
                <a:latin typeface="Carlito"/>
                <a:ea typeface="Carlito"/>
                <a:cs typeface="Carlito"/>
                <a:sym typeface="Carlito"/>
              </a:rPr>
              <a:t>Excellent AI-drafted feedback, but student names, grades, and disciplinary notes went into a consumer service the university never approved. Good output; irresponsible use. The fix was redaction in an approved tool: the AI needs the pattern, not the person.</a:t>
            </a:r>
            <a:endParaRPr b="0" i="0" sz="2100" u="none" cap="none" strike="noStrike">
              <a:solidFill>
                <a:schemeClr val="dk1"/>
              </a:solidFill>
              <a:latin typeface="Calibri"/>
              <a:ea typeface="Calibri"/>
              <a:cs typeface="Calibri"/>
              <a:sym typeface="Calibri"/>
            </a:endParaRPr>
          </a:p>
        </p:txBody>
      </p:sp>
      <p:sp>
        <p:nvSpPr>
          <p:cNvPr id="556" name="Google Shape;556;p21"/>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Guessing is the one option that turns an unclear case into your mistake.</a:t>
            </a:r>
            <a:endParaRPr b="0" i="0" sz="2775" u="none" cap="none" strike="noStrike">
              <a:solidFill>
                <a:schemeClr val="dk1"/>
              </a:solidFill>
              <a:latin typeface="Calibri"/>
              <a:ea typeface="Calibri"/>
              <a:cs typeface="Calibri"/>
              <a:sym typeface="Calibri"/>
            </a:endParaRPr>
          </a:p>
        </p:txBody>
      </p:sp>
      <p:sp>
        <p:nvSpPr>
          <p:cNvPr id="557" name="Google Shape;557;p21"/>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558" name="Google Shape;558;p21"/>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19</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34E"/>
        </a:solidFill>
      </p:bgPr>
    </p:bg>
    <p:spTree>
      <p:nvGrpSpPr>
        <p:cNvPr id="563" name="Shape 563"/>
        <p:cNvGrpSpPr/>
        <p:nvPr/>
      </p:nvGrpSpPr>
      <p:grpSpPr>
        <a:xfrm>
          <a:off x="0" y="0"/>
          <a:ext cx="0" cy="0"/>
          <a:chOff x="0" y="0"/>
          <a:chExt cx="0" cy="0"/>
        </a:xfrm>
      </p:grpSpPr>
      <p:sp>
        <p:nvSpPr>
          <p:cNvPr id="564" name="Google Shape;564;p22"/>
          <p:cNvSpPr/>
          <p:nvPr/>
        </p:nvSpPr>
        <p:spPr>
          <a:xfrm>
            <a:off x="914400" y="400050"/>
            <a:ext cx="4391025" cy="894904"/>
          </a:xfrm>
          <a:prstGeom prst="roundRect">
            <a:avLst>
              <a:gd fmla="val 12772"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65" name="Google Shape;565;p22"/>
          <p:cNvPicPr preferRelativeResize="0"/>
          <p:nvPr/>
        </p:nvPicPr>
        <p:blipFill rotWithShape="1">
          <a:blip r:embed="rId3">
            <a:alphaModFix/>
          </a:blip>
          <a:srcRect b="0" l="0" r="0" t="0"/>
          <a:stretch/>
        </p:blipFill>
        <p:spPr>
          <a:xfrm>
            <a:off x="1133475" y="542925"/>
            <a:ext cx="3952875" cy="609154"/>
          </a:xfrm>
          <a:prstGeom prst="rect">
            <a:avLst/>
          </a:prstGeom>
          <a:noFill/>
          <a:ln>
            <a:noFill/>
          </a:ln>
        </p:spPr>
      </p:pic>
      <p:sp>
        <p:nvSpPr>
          <p:cNvPr id="566" name="Google Shape;566;p22"/>
          <p:cNvSpPr/>
          <p:nvPr/>
        </p:nvSpPr>
        <p:spPr>
          <a:xfrm>
            <a:off x="914400" y="1314450"/>
            <a:ext cx="1526113" cy="423863"/>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D3A03F"/>
              </a:buClr>
              <a:buSzPts val="2025"/>
              <a:buFont typeface="Carlito"/>
              <a:buNone/>
            </a:pPr>
            <a:r>
              <a:rPr b="1" i="0" lang="en-US" sz="2025" u="none" cap="none" strike="noStrike">
                <a:solidFill>
                  <a:srgbClr val="D3A03F"/>
                </a:solidFill>
                <a:latin typeface="Carlito"/>
                <a:ea typeface="Carlito"/>
                <a:cs typeface="Carlito"/>
                <a:sym typeface="Carlito"/>
              </a:rPr>
              <a:t>Checkpoint 2</a:t>
            </a:r>
            <a:endParaRPr b="0" i="0" sz="2025" u="none" cap="none" strike="noStrike">
              <a:solidFill>
                <a:schemeClr val="dk1"/>
              </a:solidFill>
              <a:latin typeface="Calibri"/>
              <a:ea typeface="Calibri"/>
              <a:cs typeface="Calibri"/>
              <a:sym typeface="Calibri"/>
            </a:endParaRPr>
          </a:p>
        </p:txBody>
      </p:sp>
      <p:sp>
        <p:nvSpPr>
          <p:cNvPr id="567" name="Google Shape;567;p22"/>
          <p:cNvSpPr/>
          <p:nvPr/>
        </p:nvSpPr>
        <p:spPr>
          <a:xfrm>
            <a:off x="914400" y="1752600"/>
            <a:ext cx="16952976" cy="1226790"/>
          </a:xfrm>
          <a:prstGeom prst="rect">
            <a:avLst/>
          </a:prstGeom>
          <a:noFill/>
          <a:ln>
            <a:noFill/>
          </a:ln>
        </p:spPr>
        <p:txBody>
          <a:bodyPr anchorCtr="0" anchor="t" bIns="25400" lIns="25400" spcFirstLastPara="1" rIns="25400" wrap="square" tIns="25400">
            <a:noAutofit/>
          </a:bodyPr>
          <a:lstStyle/>
          <a:p>
            <a:pPr indent="0" lvl="0" marL="0" marR="0" rtl="0" algn="l">
              <a:lnSpc>
                <a:spcPct val="98268"/>
              </a:lnSpc>
              <a:spcBef>
                <a:spcPts val="0"/>
              </a:spcBef>
              <a:spcAft>
                <a:spcPts val="0"/>
              </a:spcAft>
              <a:buClr>
                <a:srgbClr val="F5EEE1"/>
              </a:buClr>
              <a:buSzPts val="3900"/>
              <a:buFont typeface="Carlito"/>
              <a:buNone/>
            </a:pPr>
            <a:r>
              <a:rPr b="1" i="0" lang="en-US" sz="3900" u="none" cap="none" strike="noStrike">
                <a:solidFill>
                  <a:srgbClr val="F5EEE1"/>
                </a:solidFill>
                <a:latin typeface="Carlito"/>
                <a:ea typeface="Carlito"/>
                <a:cs typeface="Carlito"/>
                <a:sym typeface="Carlito"/>
              </a:rPr>
              <a:t>A team ships an AI tutor. Every answer it gives is factually correct, yet students perform worse than before. Which kind of discernment would have caught this?</a:t>
            </a:r>
            <a:endParaRPr b="0" i="0" sz="3900" u="none" cap="none" strike="noStrike">
              <a:solidFill>
                <a:schemeClr val="dk1"/>
              </a:solidFill>
              <a:latin typeface="Calibri"/>
              <a:ea typeface="Calibri"/>
              <a:cs typeface="Calibri"/>
              <a:sym typeface="Calibri"/>
            </a:endParaRPr>
          </a:p>
        </p:txBody>
      </p:sp>
      <p:sp>
        <p:nvSpPr>
          <p:cNvPr id="568" name="Google Shape;568;p22"/>
          <p:cNvSpPr/>
          <p:nvPr/>
        </p:nvSpPr>
        <p:spPr>
          <a:xfrm>
            <a:off x="914400" y="4095750"/>
            <a:ext cx="8081962" cy="1337221"/>
          </a:xfrm>
          <a:prstGeom prst="roundRect">
            <a:avLst>
              <a:gd fmla="val 1139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22"/>
          <p:cNvSpPr/>
          <p:nvPr/>
        </p:nvSpPr>
        <p:spPr>
          <a:xfrm>
            <a:off x="1276350" y="4391025"/>
            <a:ext cx="237827"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A</a:t>
            </a:r>
            <a:endParaRPr b="0" i="0" sz="2100" u="none" cap="none" strike="noStrike">
              <a:solidFill>
                <a:schemeClr val="dk1"/>
              </a:solidFill>
              <a:latin typeface="Calibri"/>
              <a:ea typeface="Calibri"/>
              <a:cs typeface="Calibri"/>
              <a:sym typeface="Calibri"/>
            </a:endParaRPr>
          </a:p>
        </p:txBody>
      </p:sp>
      <p:sp>
        <p:nvSpPr>
          <p:cNvPr id="570" name="Google Shape;570;p22"/>
          <p:cNvSpPr/>
          <p:nvPr/>
        </p:nvSpPr>
        <p:spPr>
          <a:xfrm>
            <a:off x="1657052" y="4391025"/>
            <a:ext cx="7186681"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Product discernment, </a:t>
            </a:r>
            <a:r>
              <a:rPr b="0" i="0" lang="en-US" sz="2100" u="none" cap="none" strike="noStrike">
                <a:solidFill>
                  <a:srgbClr val="33434E"/>
                </a:solidFill>
                <a:latin typeface="Carlito"/>
                <a:ea typeface="Carlito"/>
                <a:cs typeface="Carlito"/>
                <a:sym typeface="Carlito"/>
              </a:rPr>
              <a:t>which checks each output for factual errors, missing requirements, and contradictions.</a:t>
            </a:r>
            <a:endParaRPr b="0" i="0" sz="2100" u="none" cap="none" strike="noStrike">
              <a:solidFill>
                <a:schemeClr val="dk1"/>
              </a:solidFill>
              <a:latin typeface="Calibri"/>
              <a:ea typeface="Calibri"/>
              <a:cs typeface="Calibri"/>
              <a:sym typeface="Calibri"/>
            </a:endParaRPr>
          </a:p>
        </p:txBody>
      </p:sp>
      <p:sp>
        <p:nvSpPr>
          <p:cNvPr id="571" name="Google Shape;571;p22"/>
          <p:cNvSpPr/>
          <p:nvPr/>
        </p:nvSpPr>
        <p:spPr>
          <a:xfrm>
            <a:off x="9291638" y="4095750"/>
            <a:ext cx="8081962" cy="1337221"/>
          </a:xfrm>
          <a:prstGeom prst="roundRect">
            <a:avLst>
              <a:gd fmla="val 1139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2"/>
          <p:cNvSpPr/>
          <p:nvPr/>
        </p:nvSpPr>
        <p:spPr>
          <a:xfrm>
            <a:off x="9653588" y="4391025"/>
            <a:ext cx="225698"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B</a:t>
            </a:r>
            <a:endParaRPr b="0" i="0" sz="2100" u="none" cap="none" strike="noStrike">
              <a:solidFill>
                <a:schemeClr val="dk1"/>
              </a:solidFill>
              <a:latin typeface="Calibri"/>
              <a:ea typeface="Calibri"/>
              <a:cs typeface="Calibri"/>
              <a:sym typeface="Calibri"/>
            </a:endParaRPr>
          </a:p>
        </p:txBody>
      </p:sp>
      <p:sp>
        <p:nvSpPr>
          <p:cNvPr id="573" name="Google Shape;573;p22"/>
          <p:cNvSpPr/>
          <p:nvPr/>
        </p:nvSpPr>
        <p:spPr>
          <a:xfrm>
            <a:off x="10022160" y="4391025"/>
            <a:ext cx="7199174"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Process discernment, </a:t>
            </a:r>
            <a:r>
              <a:rPr b="0" i="0" lang="en-US" sz="2100" u="none" cap="none" strike="noStrike">
                <a:solidFill>
                  <a:srgbClr val="33434E"/>
                </a:solidFill>
                <a:latin typeface="Carlito"/>
                <a:ea typeface="Carlito"/>
                <a:cs typeface="Carlito"/>
                <a:sym typeface="Carlito"/>
              </a:rPr>
              <a:t>which asks whether working alongside the AI is still paying off for the team that steers it.</a:t>
            </a:r>
            <a:endParaRPr b="0" i="0" sz="2100" u="none" cap="none" strike="noStrike">
              <a:solidFill>
                <a:schemeClr val="dk1"/>
              </a:solidFill>
              <a:latin typeface="Calibri"/>
              <a:ea typeface="Calibri"/>
              <a:cs typeface="Calibri"/>
              <a:sym typeface="Calibri"/>
            </a:endParaRPr>
          </a:p>
        </p:txBody>
      </p:sp>
      <p:sp>
        <p:nvSpPr>
          <p:cNvPr id="574" name="Google Shape;574;p22"/>
          <p:cNvSpPr/>
          <p:nvPr/>
        </p:nvSpPr>
        <p:spPr>
          <a:xfrm>
            <a:off x="914400" y="5728246"/>
            <a:ext cx="8081962" cy="1337221"/>
          </a:xfrm>
          <a:prstGeom prst="roundRect">
            <a:avLst>
              <a:gd fmla="val 1139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2"/>
          <p:cNvSpPr/>
          <p:nvPr/>
        </p:nvSpPr>
        <p:spPr>
          <a:xfrm>
            <a:off x="1276350" y="6023521"/>
            <a:ext cx="217363"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C</a:t>
            </a:r>
            <a:endParaRPr b="0" i="0" sz="2100" u="none" cap="none" strike="noStrike">
              <a:solidFill>
                <a:schemeClr val="dk1"/>
              </a:solidFill>
              <a:latin typeface="Calibri"/>
              <a:ea typeface="Calibri"/>
              <a:cs typeface="Calibri"/>
              <a:sym typeface="Calibri"/>
            </a:endParaRPr>
          </a:p>
        </p:txBody>
      </p:sp>
      <p:sp>
        <p:nvSpPr>
          <p:cNvPr id="576" name="Google Shape;576;p22"/>
          <p:cNvSpPr/>
          <p:nvPr/>
        </p:nvSpPr>
        <p:spPr>
          <a:xfrm>
            <a:off x="1636588" y="6023521"/>
            <a:ext cx="7207759"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Performance discernment, </a:t>
            </a:r>
            <a:r>
              <a:rPr b="0" i="0" lang="en-US" sz="2100" u="none" cap="none" strike="noStrike">
                <a:solidFill>
                  <a:srgbClr val="33434E"/>
                </a:solidFill>
                <a:latin typeface="Carlito"/>
                <a:ea typeface="Carlito"/>
                <a:cs typeface="Carlito"/>
                <a:sym typeface="Carlito"/>
              </a:rPr>
              <a:t>which asks whether the AI's independent, user-facing behavior serves the people meeting it.</a:t>
            </a:r>
            <a:endParaRPr b="0" i="0" sz="2100" u="none" cap="none" strike="noStrike">
              <a:solidFill>
                <a:schemeClr val="dk1"/>
              </a:solidFill>
              <a:latin typeface="Calibri"/>
              <a:ea typeface="Calibri"/>
              <a:cs typeface="Calibri"/>
              <a:sym typeface="Calibri"/>
            </a:endParaRPr>
          </a:p>
        </p:txBody>
      </p:sp>
      <p:sp>
        <p:nvSpPr>
          <p:cNvPr id="577" name="Google Shape;577;p22"/>
          <p:cNvSpPr/>
          <p:nvPr/>
        </p:nvSpPr>
        <p:spPr>
          <a:xfrm>
            <a:off x="9291638" y="5728246"/>
            <a:ext cx="8081962" cy="1337221"/>
          </a:xfrm>
          <a:prstGeom prst="roundRect">
            <a:avLst>
              <a:gd fmla="val 1139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2"/>
          <p:cNvSpPr/>
          <p:nvPr/>
        </p:nvSpPr>
        <p:spPr>
          <a:xfrm>
            <a:off x="9653588" y="6023521"/>
            <a:ext cx="244376"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D</a:t>
            </a:r>
            <a:endParaRPr b="0" i="0" sz="2100" u="none" cap="none" strike="noStrike">
              <a:solidFill>
                <a:schemeClr val="dk1"/>
              </a:solidFill>
              <a:latin typeface="Calibri"/>
              <a:ea typeface="Calibri"/>
              <a:cs typeface="Calibri"/>
              <a:sym typeface="Calibri"/>
            </a:endParaRPr>
          </a:p>
        </p:txBody>
      </p:sp>
      <p:sp>
        <p:nvSpPr>
          <p:cNvPr id="579" name="Google Shape;579;p22"/>
          <p:cNvSpPr/>
          <p:nvPr/>
        </p:nvSpPr>
        <p:spPr>
          <a:xfrm>
            <a:off x="10040838" y="6023521"/>
            <a:ext cx="7179936"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1" i="0" lang="en-US" sz="2100" u="none" cap="none" strike="noStrike">
                <a:solidFill>
                  <a:srgbClr val="33434E"/>
                </a:solidFill>
                <a:latin typeface="Carlito"/>
                <a:ea typeface="Carlito"/>
                <a:cs typeface="Carlito"/>
                <a:sym typeface="Carlito"/>
              </a:rPr>
              <a:t>Creation discernment, </a:t>
            </a:r>
            <a:r>
              <a:rPr b="0" i="0" lang="en-US" sz="2100" u="none" cap="none" strike="noStrike">
                <a:solidFill>
                  <a:srgbClr val="33434E"/>
                </a:solidFill>
                <a:latin typeface="Carlito"/>
                <a:ea typeface="Carlito"/>
                <a:cs typeface="Carlito"/>
                <a:sym typeface="Carlito"/>
              </a:rPr>
              <a:t>which checks that the training data and connected systems suited the audience.</a:t>
            </a:r>
            <a:endParaRPr b="0" i="0" sz="2100" u="none" cap="none" strike="noStrike">
              <a:solidFill>
                <a:schemeClr val="dk1"/>
              </a:solidFill>
              <a:latin typeface="Calibri"/>
              <a:ea typeface="Calibri"/>
              <a:cs typeface="Calibri"/>
              <a:sym typeface="Calibri"/>
            </a:endParaRPr>
          </a:p>
        </p:txBody>
      </p:sp>
      <p:sp>
        <p:nvSpPr>
          <p:cNvPr id="580" name="Google Shape;580;p22"/>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D3A03F"/>
              </a:buClr>
              <a:buSzPts val="2775"/>
              <a:buFont typeface="Carlito"/>
              <a:buNone/>
            </a:pPr>
            <a:r>
              <a:rPr b="1" i="0" lang="en-US" sz="2775" u="none" cap="none" strike="noStrike">
                <a:solidFill>
                  <a:srgbClr val="D3A03F"/>
                </a:solidFill>
                <a:latin typeface="Carlito"/>
                <a:ea typeface="Carlito"/>
                <a:cs typeface="Carlito"/>
                <a:sym typeface="Carlito"/>
              </a:rPr>
              <a:t>Correct answers and worse outcomes: what does that combination tell you?</a:t>
            </a:r>
            <a:endParaRPr b="0" i="0" sz="2775" u="none" cap="none" strike="noStrike">
              <a:solidFill>
                <a:schemeClr val="dk1"/>
              </a:solidFill>
              <a:latin typeface="Calibri"/>
              <a:ea typeface="Calibri"/>
              <a:cs typeface="Calibri"/>
              <a:sym typeface="Calibri"/>
            </a:endParaRPr>
          </a:p>
        </p:txBody>
      </p:sp>
      <p:sp>
        <p:nvSpPr>
          <p:cNvPr id="581" name="Google Shape;581;p22"/>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B9C2C9"/>
              </a:buClr>
              <a:buSzPts val="1800"/>
              <a:buFont typeface="Carlito"/>
              <a:buNone/>
            </a:pPr>
            <a:r>
              <a:rPr b="0" i="0" lang="en-US" sz="1800" u="none" cap="none" strike="noStrike">
                <a:solidFill>
                  <a:srgbClr val="B9C2C9"/>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582" name="Google Shape;582;p22"/>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B9C2C9"/>
              </a:buClr>
              <a:buSzPts val="1800"/>
              <a:buFont typeface="Carlito"/>
              <a:buNone/>
            </a:pPr>
            <a:r>
              <a:rPr b="0" i="0" lang="en-US" sz="1800" u="none" cap="none" strike="noStrike">
                <a:solidFill>
                  <a:srgbClr val="B9C2C9"/>
                </a:solidFill>
                <a:latin typeface="Carlito"/>
                <a:ea typeface="Carlito"/>
                <a:cs typeface="Carlito"/>
                <a:sym typeface="Carlito"/>
              </a:rPr>
              <a:t>20</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587" name="Shape 587"/>
        <p:cNvGrpSpPr/>
        <p:nvPr/>
      </p:nvGrpSpPr>
      <p:grpSpPr>
        <a:xfrm>
          <a:off x="0" y="0"/>
          <a:ext cx="0" cy="0"/>
          <a:chOff x="0" y="0"/>
          <a:chExt cx="0" cy="0"/>
        </a:xfrm>
      </p:grpSpPr>
      <p:pic>
        <p:nvPicPr>
          <p:cNvPr descr="preencoded.png" id="588" name="Google Shape;588;p23"/>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589" name="Google Shape;589;p23"/>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The 4Ds and the 10-80-10 Rule</a:t>
            </a:r>
            <a:endParaRPr b="0" i="0" sz="5175" u="none" cap="none" strike="noStrike">
              <a:solidFill>
                <a:schemeClr val="dk1"/>
              </a:solidFill>
              <a:latin typeface="Calibri"/>
              <a:ea typeface="Calibri"/>
              <a:cs typeface="Calibri"/>
              <a:sym typeface="Calibri"/>
            </a:endParaRPr>
          </a:p>
        </p:txBody>
      </p:sp>
      <p:sp>
        <p:nvSpPr>
          <p:cNvPr id="590" name="Google Shape;590;p23"/>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Human judgment at the boundaries of AI work.</a:t>
            </a:r>
            <a:endParaRPr b="0" i="0" sz="2625" u="none" cap="none" strike="noStrike">
              <a:solidFill>
                <a:schemeClr val="dk1"/>
              </a:solidFill>
              <a:latin typeface="Calibri"/>
              <a:ea typeface="Calibri"/>
              <a:cs typeface="Calibri"/>
              <a:sym typeface="Calibri"/>
            </a:endParaRPr>
          </a:p>
        </p:txBody>
      </p:sp>
      <p:sp>
        <p:nvSpPr>
          <p:cNvPr id="591" name="Google Shape;591;p23"/>
          <p:cNvSpPr/>
          <p:nvPr/>
        </p:nvSpPr>
        <p:spPr>
          <a:xfrm>
            <a:off x="914400" y="3019425"/>
            <a:ext cx="5029200" cy="3432646"/>
          </a:xfrm>
          <a:prstGeom prst="roundRect">
            <a:avLst>
              <a:gd fmla="val 4440"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3"/>
          <p:cNvSpPr/>
          <p:nvPr/>
        </p:nvSpPr>
        <p:spPr>
          <a:xfrm>
            <a:off x="914400" y="3019425"/>
            <a:ext cx="5029200" cy="112008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23"/>
          <p:cNvSpPr/>
          <p:nvPr/>
        </p:nvSpPr>
        <p:spPr>
          <a:xfrm>
            <a:off x="1209675" y="3200400"/>
            <a:ext cx="4882515" cy="384795"/>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B9C2C9"/>
              </a:buClr>
              <a:buSzPts val="1950"/>
              <a:buFont typeface="Carlito"/>
              <a:buNone/>
            </a:pPr>
            <a:r>
              <a:rPr b="0" i="0" lang="en-US" sz="1950" u="none" cap="none" strike="noStrike">
                <a:solidFill>
                  <a:srgbClr val="B9C2C9"/>
                </a:solidFill>
                <a:latin typeface="Carlito"/>
                <a:ea typeface="Carlito"/>
                <a:cs typeface="Carlito"/>
                <a:sym typeface="Carlito"/>
              </a:rPr>
              <a:t>First 10%</a:t>
            </a:r>
            <a:endParaRPr b="0" i="0" sz="1950" u="none" cap="none" strike="noStrike">
              <a:solidFill>
                <a:schemeClr val="dk1"/>
              </a:solidFill>
              <a:latin typeface="Calibri"/>
              <a:ea typeface="Calibri"/>
              <a:cs typeface="Calibri"/>
              <a:sym typeface="Calibri"/>
            </a:endParaRPr>
          </a:p>
        </p:txBody>
      </p:sp>
      <p:sp>
        <p:nvSpPr>
          <p:cNvPr id="594" name="Google Shape;594;p23"/>
          <p:cNvSpPr/>
          <p:nvPr/>
        </p:nvSpPr>
        <p:spPr>
          <a:xfrm>
            <a:off x="1209675" y="3547095"/>
            <a:ext cx="4882515"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F5EEE1"/>
              </a:buClr>
              <a:buSzPts val="2700"/>
              <a:buFont typeface="Carlito"/>
              <a:buNone/>
            </a:pPr>
            <a:r>
              <a:rPr b="1" i="0" lang="en-US" sz="2700" u="none" cap="none" strike="noStrike">
                <a:solidFill>
                  <a:srgbClr val="F5EEE1"/>
                </a:solidFill>
                <a:latin typeface="Carlito"/>
                <a:ea typeface="Carlito"/>
                <a:cs typeface="Carlito"/>
                <a:sym typeface="Carlito"/>
              </a:rPr>
              <a:t>Human sets direction</a:t>
            </a:r>
            <a:endParaRPr b="0" i="0" sz="2700" u="none" cap="none" strike="noStrike">
              <a:solidFill>
                <a:schemeClr val="dk1"/>
              </a:solidFill>
              <a:latin typeface="Calibri"/>
              <a:ea typeface="Calibri"/>
              <a:cs typeface="Calibri"/>
              <a:sym typeface="Calibri"/>
            </a:endParaRPr>
          </a:p>
        </p:txBody>
      </p:sp>
      <p:sp>
        <p:nvSpPr>
          <p:cNvPr id="595" name="Google Shape;595;p23"/>
          <p:cNvSpPr/>
          <p:nvPr/>
        </p:nvSpPr>
        <p:spPr>
          <a:xfrm>
            <a:off x="1209675" y="4434780"/>
            <a:ext cx="1472431" cy="499095"/>
          </a:xfrm>
          <a:prstGeom prst="roundRect">
            <a:avLst>
              <a:gd fmla="val 22901" name="adj"/>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3"/>
          <p:cNvSpPr/>
          <p:nvPr/>
        </p:nvSpPr>
        <p:spPr>
          <a:xfrm>
            <a:off x="1390650" y="4510980"/>
            <a:ext cx="1186681" cy="384795"/>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33434E"/>
              </a:buClr>
              <a:buSzPts val="1950"/>
              <a:buFont typeface="Carlito"/>
              <a:buNone/>
            </a:pPr>
            <a:r>
              <a:rPr b="1" i="0" lang="en-US" sz="1950" u="none" cap="none" strike="noStrike">
                <a:solidFill>
                  <a:srgbClr val="33434E"/>
                </a:solidFill>
                <a:latin typeface="Carlito"/>
                <a:ea typeface="Carlito"/>
                <a:cs typeface="Carlito"/>
                <a:sym typeface="Carlito"/>
              </a:rPr>
              <a:t>Delegation</a:t>
            </a:r>
            <a:endParaRPr b="0" i="0" sz="1950" u="none" cap="none" strike="noStrike">
              <a:solidFill>
                <a:schemeClr val="dk1"/>
              </a:solidFill>
              <a:latin typeface="Calibri"/>
              <a:ea typeface="Calibri"/>
              <a:cs typeface="Calibri"/>
              <a:sym typeface="Calibri"/>
            </a:endParaRPr>
          </a:p>
        </p:txBody>
      </p:sp>
      <p:sp>
        <p:nvSpPr>
          <p:cNvPr id="597" name="Google Shape;597;p23"/>
          <p:cNvSpPr/>
          <p:nvPr/>
        </p:nvSpPr>
        <p:spPr>
          <a:xfrm>
            <a:off x="2796406" y="4434780"/>
            <a:ext cx="1537022" cy="499095"/>
          </a:xfrm>
          <a:prstGeom prst="roundRect">
            <a:avLst>
              <a:gd fmla="val 22901" name="adj"/>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3"/>
          <p:cNvSpPr/>
          <p:nvPr/>
        </p:nvSpPr>
        <p:spPr>
          <a:xfrm>
            <a:off x="2977381" y="4510980"/>
            <a:ext cx="1251272" cy="384795"/>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33434E"/>
              </a:buClr>
              <a:buSzPts val="1950"/>
              <a:buFont typeface="Carlito"/>
              <a:buNone/>
            </a:pPr>
            <a:r>
              <a:rPr b="1" i="0" lang="en-US" sz="1950" u="none" cap="none" strike="noStrike">
                <a:solidFill>
                  <a:srgbClr val="33434E"/>
                </a:solidFill>
                <a:latin typeface="Carlito"/>
                <a:ea typeface="Carlito"/>
                <a:cs typeface="Carlito"/>
                <a:sym typeface="Carlito"/>
              </a:rPr>
              <a:t>Description</a:t>
            </a:r>
            <a:endParaRPr b="0" i="0" sz="1950" u="none" cap="none" strike="noStrike">
              <a:solidFill>
                <a:schemeClr val="dk1"/>
              </a:solidFill>
              <a:latin typeface="Calibri"/>
              <a:ea typeface="Calibri"/>
              <a:cs typeface="Calibri"/>
              <a:sym typeface="Calibri"/>
            </a:endParaRPr>
          </a:p>
        </p:txBody>
      </p:sp>
      <p:sp>
        <p:nvSpPr>
          <p:cNvPr id="599" name="Google Shape;599;p23"/>
          <p:cNvSpPr/>
          <p:nvPr/>
        </p:nvSpPr>
        <p:spPr>
          <a:xfrm>
            <a:off x="1209675" y="5076751"/>
            <a:ext cx="4571810"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Decide what AI should do. Give it goals, context, constraints, and boundaries.</a:t>
            </a:r>
            <a:endParaRPr b="0" i="0" sz="2025" u="none" cap="none" strike="noStrike">
              <a:solidFill>
                <a:schemeClr val="dk1"/>
              </a:solidFill>
              <a:latin typeface="Calibri"/>
              <a:ea typeface="Calibri"/>
              <a:cs typeface="Calibri"/>
              <a:sym typeface="Calibri"/>
            </a:endParaRPr>
          </a:p>
        </p:txBody>
      </p:sp>
      <p:sp>
        <p:nvSpPr>
          <p:cNvPr id="600" name="Google Shape;600;p23"/>
          <p:cNvSpPr/>
          <p:nvPr/>
        </p:nvSpPr>
        <p:spPr>
          <a:xfrm>
            <a:off x="6162675" y="4545211"/>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3"/>
          <p:cNvSpPr/>
          <p:nvPr/>
        </p:nvSpPr>
        <p:spPr>
          <a:xfrm>
            <a:off x="6629400" y="3019425"/>
            <a:ext cx="5029200" cy="3432646"/>
          </a:xfrm>
          <a:prstGeom prst="roundRect">
            <a:avLst>
              <a:gd fmla="val 4440"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3"/>
          <p:cNvSpPr/>
          <p:nvPr/>
        </p:nvSpPr>
        <p:spPr>
          <a:xfrm>
            <a:off x="6629400" y="3019425"/>
            <a:ext cx="5029200" cy="1120080"/>
          </a:xfrm>
          <a:prstGeom prst="rect">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3"/>
          <p:cNvSpPr/>
          <p:nvPr/>
        </p:nvSpPr>
        <p:spPr>
          <a:xfrm>
            <a:off x="6924675" y="3200400"/>
            <a:ext cx="4882515" cy="384795"/>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F3D89A"/>
              </a:buClr>
              <a:buSzPts val="1950"/>
              <a:buFont typeface="Carlito"/>
              <a:buNone/>
            </a:pPr>
            <a:r>
              <a:rPr b="0" i="0" lang="en-US" sz="1950" u="none" cap="none" strike="noStrike">
                <a:solidFill>
                  <a:srgbClr val="F3D89A"/>
                </a:solidFill>
                <a:latin typeface="Carlito"/>
                <a:ea typeface="Carlito"/>
                <a:cs typeface="Carlito"/>
                <a:sym typeface="Carlito"/>
              </a:rPr>
              <a:t>Middle 80%</a:t>
            </a:r>
            <a:endParaRPr b="0" i="0" sz="1950" u="none" cap="none" strike="noStrike">
              <a:solidFill>
                <a:schemeClr val="dk1"/>
              </a:solidFill>
              <a:latin typeface="Calibri"/>
              <a:ea typeface="Calibri"/>
              <a:cs typeface="Calibri"/>
              <a:sym typeface="Calibri"/>
            </a:endParaRPr>
          </a:p>
        </p:txBody>
      </p:sp>
      <p:sp>
        <p:nvSpPr>
          <p:cNvPr id="604" name="Google Shape;604;p23"/>
          <p:cNvSpPr/>
          <p:nvPr/>
        </p:nvSpPr>
        <p:spPr>
          <a:xfrm>
            <a:off x="6924675" y="3547095"/>
            <a:ext cx="4882515"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F5EEE1"/>
              </a:buClr>
              <a:buSzPts val="2700"/>
              <a:buFont typeface="Carlito"/>
              <a:buNone/>
            </a:pPr>
            <a:r>
              <a:rPr b="1" i="0" lang="en-US" sz="2700" u="none" cap="none" strike="noStrike">
                <a:solidFill>
                  <a:srgbClr val="F5EEE1"/>
                </a:solidFill>
                <a:latin typeface="Carlito"/>
                <a:ea typeface="Carlito"/>
                <a:cs typeface="Carlito"/>
                <a:sym typeface="Carlito"/>
              </a:rPr>
              <a:t>AI executes</a:t>
            </a:r>
            <a:endParaRPr b="0" i="0" sz="2700" u="none" cap="none" strike="noStrike">
              <a:solidFill>
                <a:schemeClr val="dk1"/>
              </a:solidFill>
              <a:latin typeface="Calibri"/>
              <a:ea typeface="Calibri"/>
              <a:cs typeface="Calibri"/>
              <a:sym typeface="Calibri"/>
            </a:endParaRPr>
          </a:p>
        </p:txBody>
      </p:sp>
      <p:sp>
        <p:nvSpPr>
          <p:cNvPr id="605" name="Google Shape;605;p23"/>
          <p:cNvSpPr/>
          <p:nvPr/>
        </p:nvSpPr>
        <p:spPr>
          <a:xfrm>
            <a:off x="6924675" y="4434780"/>
            <a:ext cx="4571810"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C05F44"/>
              </a:buClr>
              <a:buSzPts val="2025"/>
              <a:buFont typeface="Carlito"/>
              <a:buNone/>
            </a:pPr>
            <a:r>
              <a:rPr b="1" i="0" lang="en-US" sz="2025" u="none" cap="none" strike="noStrike">
                <a:solidFill>
                  <a:srgbClr val="C05F44"/>
                </a:solidFill>
                <a:latin typeface="Carlito"/>
                <a:ea typeface="Carlito"/>
                <a:cs typeface="Carlito"/>
                <a:sym typeface="Carlito"/>
              </a:rPr>
              <a:t>Research, analyze, generate, code, transform, coordinate</a:t>
            </a:r>
            <a:endParaRPr b="0" i="0" sz="2025" u="none" cap="none" strike="noStrike">
              <a:solidFill>
                <a:schemeClr val="dk1"/>
              </a:solidFill>
              <a:latin typeface="Calibri"/>
              <a:ea typeface="Calibri"/>
              <a:cs typeface="Calibri"/>
              <a:sym typeface="Calibri"/>
            </a:endParaRPr>
          </a:p>
        </p:txBody>
      </p:sp>
      <p:sp>
        <p:nvSpPr>
          <p:cNvPr id="606" name="Google Shape;606;p23"/>
          <p:cNvSpPr/>
          <p:nvPr/>
        </p:nvSpPr>
        <p:spPr>
          <a:xfrm>
            <a:off x="6924675" y="5297686"/>
            <a:ext cx="4571810"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AI performs the production work within the direction already set.</a:t>
            </a:r>
            <a:endParaRPr b="0" i="0" sz="2025" u="none" cap="none" strike="noStrike">
              <a:solidFill>
                <a:schemeClr val="dk1"/>
              </a:solidFill>
              <a:latin typeface="Calibri"/>
              <a:ea typeface="Calibri"/>
              <a:cs typeface="Calibri"/>
              <a:sym typeface="Calibri"/>
            </a:endParaRPr>
          </a:p>
        </p:txBody>
      </p:sp>
      <p:sp>
        <p:nvSpPr>
          <p:cNvPr id="607" name="Google Shape;607;p23"/>
          <p:cNvSpPr/>
          <p:nvPr/>
        </p:nvSpPr>
        <p:spPr>
          <a:xfrm>
            <a:off x="11877675" y="4545211"/>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3"/>
          <p:cNvSpPr/>
          <p:nvPr/>
        </p:nvSpPr>
        <p:spPr>
          <a:xfrm>
            <a:off x="12344400" y="3019425"/>
            <a:ext cx="5029200" cy="3432646"/>
          </a:xfrm>
          <a:prstGeom prst="roundRect">
            <a:avLst>
              <a:gd fmla="val 4440"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3"/>
          <p:cNvSpPr/>
          <p:nvPr/>
        </p:nvSpPr>
        <p:spPr>
          <a:xfrm>
            <a:off x="12344400" y="3019425"/>
            <a:ext cx="5029200" cy="1120080"/>
          </a:xfrm>
          <a:prstGeom prst="rect">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3"/>
          <p:cNvSpPr/>
          <p:nvPr/>
        </p:nvSpPr>
        <p:spPr>
          <a:xfrm>
            <a:off x="12639675" y="3200400"/>
            <a:ext cx="4882515" cy="384795"/>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33434E"/>
              </a:buClr>
              <a:buSzPts val="1950"/>
              <a:buFont typeface="Carlito"/>
              <a:buNone/>
            </a:pPr>
            <a:r>
              <a:rPr b="0" i="0" lang="en-US" sz="1950" u="none" cap="none" strike="noStrike">
                <a:solidFill>
                  <a:srgbClr val="33434E"/>
                </a:solidFill>
                <a:latin typeface="Carlito"/>
                <a:ea typeface="Carlito"/>
                <a:cs typeface="Carlito"/>
                <a:sym typeface="Carlito"/>
              </a:rPr>
              <a:t>Final 10%</a:t>
            </a:r>
            <a:endParaRPr b="0" i="0" sz="1950" u="none" cap="none" strike="noStrike">
              <a:solidFill>
                <a:schemeClr val="dk1"/>
              </a:solidFill>
              <a:latin typeface="Calibri"/>
              <a:ea typeface="Calibri"/>
              <a:cs typeface="Calibri"/>
              <a:sym typeface="Calibri"/>
            </a:endParaRPr>
          </a:p>
        </p:txBody>
      </p:sp>
      <p:sp>
        <p:nvSpPr>
          <p:cNvPr id="611" name="Google Shape;611;p23"/>
          <p:cNvSpPr/>
          <p:nvPr/>
        </p:nvSpPr>
        <p:spPr>
          <a:xfrm>
            <a:off x="12639675" y="3547095"/>
            <a:ext cx="4882515" cy="449535"/>
          </a:xfrm>
          <a:prstGeom prst="rect">
            <a:avLst/>
          </a:prstGeom>
          <a:noFill/>
          <a:ln>
            <a:noFill/>
          </a:ln>
        </p:spPr>
        <p:txBody>
          <a:bodyPr anchorCtr="0" anchor="t" bIns="25400" lIns="25400" spcFirstLastPara="1" rIns="25400" wrap="square" tIns="25400">
            <a:noAutofit/>
          </a:bodyPr>
          <a:lstStyle/>
          <a:p>
            <a:pPr indent="0" lvl="0" marL="0" marR="0" rtl="0" algn="l">
              <a:lnSpc>
                <a:spcPct val="98182"/>
              </a:lnSpc>
              <a:spcBef>
                <a:spcPts val="0"/>
              </a:spcBef>
              <a:spcAft>
                <a:spcPts val="0"/>
              </a:spcAft>
              <a:buClr>
                <a:srgbClr val="33434E"/>
              </a:buClr>
              <a:buSzPts val="2700"/>
              <a:buFont typeface="Carlito"/>
              <a:buNone/>
            </a:pPr>
            <a:r>
              <a:rPr b="1" i="0" lang="en-US" sz="2700" u="none" cap="none" strike="noStrike">
                <a:solidFill>
                  <a:srgbClr val="33434E"/>
                </a:solidFill>
                <a:latin typeface="Carlito"/>
                <a:ea typeface="Carlito"/>
                <a:cs typeface="Carlito"/>
                <a:sym typeface="Carlito"/>
              </a:rPr>
              <a:t>Human verifies</a:t>
            </a:r>
            <a:endParaRPr b="0" i="0" sz="2700" u="none" cap="none" strike="noStrike">
              <a:solidFill>
                <a:schemeClr val="dk1"/>
              </a:solidFill>
              <a:latin typeface="Calibri"/>
              <a:ea typeface="Calibri"/>
              <a:cs typeface="Calibri"/>
              <a:sym typeface="Calibri"/>
            </a:endParaRPr>
          </a:p>
        </p:txBody>
      </p:sp>
      <p:sp>
        <p:nvSpPr>
          <p:cNvPr id="612" name="Google Shape;612;p23"/>
          <p:cNvSpPr/>
          <p:nvPr/>
        </p:nvSpPr>
        <p:spPr>
          <a:xfrm>
            <a:off x="12639675" y="4434780"/>
            <a:ext cx="1669554" cy="499095"/>
          </a:xfrm>
          <a:prstGeom prst="roundRect">
            <a:avLst>
              <a:gd fmla="val 22901" name="adj"/>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3"/>
          <p:cNvSpPr/>
          <p:nvPr/>
        </p:nvSpPr>
        <p:spPr>
          <a:xfrm>
            <a:off x="12820650" y="4510980"/>
            <a:ext cx="1383804" cy="384795"/>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33434E"/>
              </a:buClr>
              <a:buSzPts val="1950"/>
              <a:buFont typeface="Carlito"/>
              <a:buNone/>
            </a:pPr>
            <a:r>
              <a:rPr b="1" i="0" lang="en-US" sz="1950" u="none" cap="none" strike="noStrike">
                <a:solidFill>
                  <a:srgbClr val="33434E"/>
                </a:solidFill>
                <a:latin typeface="Carlito"/>
                <a:ea typeface="Carlito"/>
                <a:cs typeface="Carlito"/>
                <a:sym typeface="Carlito"/>
              </a:rPr>
              <a:t>Discernment</a:t>
            </a:r>
            <a:endParaRPr b="0" i="0" sz="1950" u="none" cap="none" strike="noStrike">
              <a:solidFill>
                <a:schemeClr val="dk1"/>
              </a:solidFill>
              <a:latin typeface="Calibri"/>
              <a:ea typeface="Calibri"/>
              <a:cs typeface="Calibri"/>
              <a:sym typeface="Calibri"/>
            </a:endParaRPr>
          </a:p>
        </p:txBody>
      </p:sp>
      <p:sp>
        <p:nvSpPr>
          <p:cNvPr id="614" name="Google Shape;614;p23"/>
          <p:cNvSpPr/>
          <p:nvPr/>
        </p:nvSpPr>
        <p:spPr>
          <a:xfrm>
            <a:off x="14423529" y="4434780"/>
            <a:ext cx="1301204" cy="499095"/>
          </a:xfrm>
          <a:prstGeom prst="roundRect">
            <a:avLst>
              <a:gd fmla="val 22901" name="adj"/>
            </a:avLst>
          </a:prstGeom>
          <a:solidFill>
            <a:srgbClr val="F5EE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3"/>
          <p:cNvSpPr/>
          <p:nvPr/>
        </p:nvSpPr>
        <p:spPr>
          <a:xfrm>
            <a:off x="14604504" y="4510980"/>
            <a:ext cx="1015454" cy="384795"/>
          </a:xfrm>
          <a:prstGeom prst="rect">
            <a:avLst/>
          </a:prstGeom>
          <a:noFill/>
          <a:ln>
            <a:noFill/>
          </a:ln>
        </p:spPr>
        <p:txBody>
          <a:bodyPr anchorCtr="0" anchor="t" bIns="25400" lIns="25400" spcFirstLastPara="1" rIns="25400" wrap="square" tIns="25400">
            <a:noAutofit/>
          </a:bodyPr>
          <a:lstStyle/>
          <a:p>
            <a:pPr indent="0" lvl="0" marL="0" marR="0" rtl="0" algn="l">
              <a:lnSpc>
                <a:spcPct val="113750"/>
              </a:lnSpc>
              <a:spcBef>
                <a:spcPts val="0"/>
              </a:spcBef>
              <a:spcAft>
                <a:spcPts val="0"/>
              </a:spcAft>
              <a:buClr>
                <a:srgbClr val="33434E"/>
              </a:buClr>
              <a:buSzPts val="1950"/>
              <a:buFont typeface="Carlito"/>
              <a:buNone/>
            </a:pPr>
            <a:r>
              <a:rPr b="1" i="0" lang="en-US" sz="1950" u="none" cap="none" strike="noStrike">
                <a:solidFill>
                  <a:srgbClr val="33434E"/>
                </a:solidFill>
                <a:latin typeface="Carlito"/>
                <a:ea typeface="Carlito"/>
                <a:cs typeface="Carlito"/>
                <a:sym typeface="Carlito"/>
              </a:rPr>
              <a:t>Diligence</a:t>
            </a:r>
            <a:endParaRPr b="0" i="0" sz="1950" u="none" cap="none" strike="noStrike">
              <a:solidFill>
                <a:schemeClr val="dk1"/>
              </a:solidFill>
              <a:latin typeface="Calibri"/>
              <a:ea typeface="Calibri"/>
              <a:cs typeface="Calibri"/>
              <a:sym typeface="Calibri"/>
            </a:endParaRPr>
          </a:p>
        </p:txBody>
      </p:sp>
      <p:sp>
        <p:nvSpPr>
          <p:cNvPr id="616" name="Google Shape;616;p23"/>
          <p:cNvSpPr/>
          <p:nvPr/>
        </p:nvSpPr>
        <p:spPr>
          <a:xfrm>
            <a:off x="12639675" y="5076751"/>
            <a:ext cx="4571810" cy="1118146"/>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Judge accuracy, usefulness, safety, and readiness. Take responsibility for the outcome.</a:t>
            </a:r>
            <a:endParaRPr b="0" i="0" sz="2025" u="none" cap="none" strike="noStrike">
              <a:solidFill>
                <a:schemeClr val="dk1"/>
              </a:solidFill>
              <a:latin typeface="Calibri"/>
              <a:ea typeface="Calibri"/>
              <a:cs typeface="Calibri"/>
              <a:sym typeface="Calibri"/>
            </a:endParaRPr>
          </a:p>
        </p:txBody>
      </p:sp>
      <p:sp>
        <p:nvSpPr>
          <p:cNvPr id="617" name="Google Shape;617;p23"/>
          <p:cNvSpPr/>
          <p:nvPr/>
        </p:nvSpPr>
        <p:spPr>
          <a:xfrm>
            <a:off x="914400" y="6814021"/>
            <a:ext cx="16459200" cy="1234380"/>
          </a:xfrm>
          <a:prstGeom prst="roundRect">
            <a:avLst>
              <a:gd fmla="val 12346"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3"/>
          <p:cNvSpPr/>
          <p:nvPr/>
        </p:nvSpPr>
        <p:spPr>
          <a:xfrm>
            <a:off x="1276350" y="7224489"/>
            <a:ext cx="4382378" cy="451470"/>
          </a:xfrm>
          <a:prstGeom prst="rect">
            <a:avLst/>
          </a:prstGeom>
          <a:noFill/>
          <a:ln>
            <a:noFill/>
          </a:ln>
        </p:spPr>
        <p:txBody>
          <a:bodyPr anchorCtr="0" anchor="t" bIns="25400" lIns="25400" spcFirstLastPara="1" rIns="25400" wrap="square" tIns="25400">
            <a:noAutofit/>
          </a:bodyPr>
          <a:lstStyle/>
          <a:p>
            <a:pPr indent="0" lvl="0" marL="0" marR="0" rtl="0" algn="l">
              <a:lnSpc>
                <a:spcPct val="114211"/>
              </a:lnSpc>
              <a:spcBef>
                <a:spcPts val="0"/>
              </a:spcBef>
              <a:spcAft>
                <a:spcPts val="0"/>
              </a:spcAft>
              <a:buClr>
                <a:srgbClr val="D3A03F"/>
              </a:buClr>
              <a:buSzPts val="2325"/>
              <a:buFont typeface="Carlito"/>
              <a:buNone/>
            </a:pPr>
            <a:r>
              <a:rPr b="1" i="0" lang="en-US" sz="2325" u="none" cap="none" strike="noStrike">
                <a:solidFill>
                  <a:srgbClr val="D3A03F"/>
                </a:solidFill>
                <a:latin typeface="Carlito"/>
                <a:ea typeface="Carlito"/>
                <a:cs typeface="Carlito"/>
                <a:sym typeface="Carlito"/>
              </a:rPr>
              <a:t>Diligence across all 100%</a:t>
            </a:r>
            <a:endParaRPr b="0" i="0" sz="2325" u="none" cap="none" strike="noStrike">
              <a:solidFill>
                <a:schemeClr val="dk1"/>
              </a:solidFill>
              <a:latin typeface="Calibri"/>
              <a:ea typeface="Calibri"/>
              <a:cs typeface="Calibri"/>
              <a:sym typeface="Calibri"/>
            </a:endParaRPr>
          </a:p>
        </p:txBody>
      </p:sp>
      <p:sp>
        <p:nvSpPr>
          <p:cNvPr id="619" name="Google Shape;619;p23"/>
          <p:cNvSpPr/>
          <p:nvPr/>
        </p:nvSpPr>
        <p:spPr>
          <a:xfrm>
            <a:off x="5555605" y="7251204"/>
            <a:ext cx="3983988"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F5EEE1"/>
              </a:buClr>
              <a:buSzPts val="2025"/>
              <a:buFont typeface="Carlito"/>
              <a:buNone/>
            </a:pPr>
            <a:r>
              <a:rPr b="1" i="0" lang="en-US" sz="2025" u="none" cap="none" strike="noStrike">
                <a:solidFill>
                  <a:srgbClr val="F5EEE1"/>
                </a:solidFill>
                <a:latin typeface="Carlito"/>
                <a:ea typeface="Carlito"/>
                <a:cs typeface="Carlito"/>
                <a:sym typeface="Carlito"/>
              </a:rPr>
              <a:t>Before: </a:t>
            </a:r>
            <a:r>
              <a:rPr b="0" i="0" lang="en-US" sz="2025" u="none" cap="none" strike="noStrike">
                <a:solidFill>
                  <a:srgbClr val="F5EEE1"/>
                </a:solidFill>
                <a:latin typeface="Carlito"/>
                <a:ea typeface="Carlito"/>
                <a:cs typeface="Carlito"/>
                <a:sym typeface="Carlito"/>
              </a:rPr>
              <a:t>approved tools and data</a:t>
            </a:r>
            <a:endParaRPr b="0" i="0" sz="2025" u="none" cap="none" strike="noStrike">
              <a:solidFill>
                <a:schemeClr val="dk1"/>
              </a:solidFill>
              <a:latin typeface="Calibri"/>
              <a:ea typeface="Calibri"/>
              <a:cs typeface="Calibri"/>
              <a:sym typeface="Calibri"/>
            </a:endParaRPr>
          </a:p>
        </p:txBody>
      </p:sp>
      <p:sp>
        <p:nvSpPr>
          <p:cNvPr id="620" name="Google Shape;620;p23"/>
          <p:cNvSpPr/>
          <p:nvPr/>
        </p:nvSpPr>
        <p:spPr>
          <a:xfrm>
            <a:off x="9472687" y="7071196"/>
            <a:ext cx="3730461"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F5EEE1"/>
              </a:buClr>
              <a:buSzPts val="2025"/>
              <a:buFont typeface="Carlito"/>
              <a:buNone/>
            </a:pPr>
            <a:r>
              <a:rPr b="1" i="0" lang="en-US" sz="2025" u="none" cap="none" strike="noStrike">
                <a:solidFill>
                  <a:srgbClr val="F5EEE1"/>
                </a:solidFill>
                <a:latin typeface="Carlito"/>
                <a:ea typeface="Carlito"/>
                <a:cs typeface="Carlito"/>
                <a:sym typeface="Carlito"/>
              </a:rPr>
              <a:t>During: </a:t>
            </a:r>
            <a:r>
              <a:rPr b="0" i="0" lang="en-US" sz="2025" u="none" cap="none" strike="noStrike">
                <a:solidFill>
                  <a:srgbClr val="F5EEE1"/>
                </a:solidFill>
                <a:latin typeface="Carlito"/>
                <a:ea typeface="Carlito"/>
                <a:cs typeface="Carlito"/>
                <a:sym typeface="Carlito"/>
              </a:rPr>
              <a:t>guardrails and permissions</a:t>
            </a:r>
            <a:endParaRPr b="0" i="0" sz="2025" u="none" cap="none" strike="noStrike">
              <a:solidFill>
                <a:schemeClr val="dk1"/>
              </a:solidFill>
              <a:latin typeface="Calibri"/>
              <a:ea typeface="Calibri"/>
              <a:cs typeface="Calibri"/>
              <a:sym typeface="Calibri"/>
            </a:endParaRPr>
          </a:p>
        </p:txBody>
      </p:sp>
      <p:sp>
        <p:nvSpPr>
          <p:cNvPr id="621" name="Google Shape;621;p23"/>
          <p:cNvSpPr/>
          <p:nvPr/>
        </p:nvSpPr>
        <p:spPr>
          <a:xfrm>
            <a:off x="13389769" y="7071196"/>
            <a:ext cx="3730461" cy="758130"/>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F5EEE1"/>
              </a:buClr>
              <a:buSzPts val="2025"/>
              <a:buFont typeface="Carlito"/>
              <a:buNone/>
            </a:pPr>
            <a:r>
              <a:rPr b="1" i="0" lang="en-US" sz="2025" u="none" cap="none" strike="noStrike">
                <a:solidFill>
                  <a:srgbClr val="F5EEE1"/>
                </a:solidFill>
                <a:latin typeface="Carlito"/>
                <a:ea typeface="Carlito"/>
                <a:cs typeface="Carlito"/>
                <a:sym typeface="Carlito"/>
              </a:rPr>
              <a:t>After: </a:t>
            </a:r>
            <a:r>
              <a:rPr b="0" i="0" lang="en-US" sz="2025" u="none" cap="none" strike="noStrike">
                <a:solidFill>
                  <a:srgbClr val="F5EEE1"/>
                </a:solidFill>
                <a:latin typeface="Carlito"/>
                <a:ea typeface="Carlito"/>
                <a:cs typeface="Carlito"/>
                <a:sym typeface="Carlito"/>
              </a:rPr>
              <a:t>review, disclosure, accountability</a:t>
            </a:r>
            <a:endParaRPr b="0" i="0" sz="2025" u="none" cap="none" strike="noStrike">
              <a:solidFill>
                <a:schemeClr val="dk1"/>
              </a:solidFill>
              <a:latin typeface="Calibri"/>
              <a:ea typeface="Calibri"/>
              <a:cs typeface="Calibri"/>
              <a:sym typeface="Calibri"/>
            </a:endParaRPr>
          </a:p>
        </p:txBody>
      </p:sp>
      <p:sp>
        <p:nvSpPr>
          <p:cNvPr id="622" name="Google Shape;622;p23"/>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Delegate it. Describe it. Let AI do it. Discern it. Own it.</a:t>
            </a:r>
            <a:endParaRPr b="0" i="0" sz="2775" u="none" cap="none" strike="noStrike">
              <a:solidFill>
                <a:schemeClr val="dk1"/>
              </a:solidFill>
              <a:latin typeface="Calibri"/>
              <a:ea typeface="Calibri"/>
              <a:cs typeface="Calibri"/>
              <a:sym typeface="Calibri"/>
            </a:endParaRPr>
          </a:p>
        </p:txBody>
      </p:sp>
      <p:sp>
        <p:nvSpPr>
          <p:cNvPr id="623" name="Google Shape;623;p23"/>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624" name="Google Shape;624;p23"/>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21</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629" name="Shape 629"/>
        <p:cNvGrpSpPr/>
        <p:nvPr/>
      </p:nvGrpSpPr>
      <p:grpSpPr>
        <a:xfrm>
          <a:off x="0" y="0"/>
          <a:ext cx="0" cy="0"/>
          <a:chOff x="0" y="0"/>
          <a:chExt cx="0" cy="0"/>
        </a:xfrm>
      </p:grpSpPr>
      <p:pic>
        <p:nvPicPr>
          <p:cNvPr descr="preencoded.png" id="630" name="Google Shape;630;p24"/>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631" name="Google Shape;631;p24"/>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The 4Ds: from chat skill to factory system</a:t>
            </a:r>
            <a:endParaRPr b="0" i="0" sz="5175" u="none" cap="none" strike="noStrike">
              <a:solidFill>
                <a:schemeClr val="dk1"/>
              </a:solidFill>
              <a:latin typeface="Calibri"/>
              <a:ea typeface="Calibri"/>
              <a:cs typeface="Calibri"/>
              <a:sym typeface="Calibri"/>
            </a:endParaRPr>
          </a:p>
        </p:txBody>
      </p:sp>
      <p:sp>
        <p:nvSpPr>
          <p:cNvPr id="632" name="Google Shape;632;p24"/>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The same four disciplines at different scales.</a:t>
            </a:r>
            <a:endParaRPr b="0" i="0" sz="2625" u="none" cap="none" strike="noStrike">
              <a:solidFill>
                <a:schemeClr val="dk1"/>
              </a:solidFill>
              <a:latin typeface="Calibri"/>
              <a:ea typeface="Calibri"/>
              <a:cs typeface="Calibri"/>
              <a:sym typeface="Calibri"/>
            </a:endParaRPr>
          </a:p>
        </p:txBody>
      </p:sp>
      <p:sp>
        <p:nvSpPr>
          <p:cNvPr id="633" name="Google Shape;633;p24"/>
          <p:cNvSpPr/>
          <p:nvPr/>
        </p:nvSpPr>
        <p:spPr>
          <a:xfrm>
            <a:off x="4876800" y="3019425"/>
            <a:ext cx="5810250" cy="939105"/>
          </a:xfrm>
          <a:prstGeom prst="roundRect">
            <a:avLst>
              <a:gd fmla="val 12171"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24"/>
          <p:cNvSpPr/>
          <p:nvPr/>
        </p:nvSpPr>
        <p:spPr>
          <a:xfrm>
            <a:off x="5046821" y="3114675"/>
            <a:ext cx="5470208" cy="786705"/>
          </a:xfrm>
          <a:prstGeom prst="rect">
            <a:avLst/>
          </a:prstGeom>
          <a:noFill/>
          <a:ln>
            <a:noFill/>
          </a:ln>
        </p:spPr>
        <p:txBody>
          <a:bodyPr anchorCtr="0" anchor="ctr" bIns="25400" lIns="25400" spcFirstLastPara="1" rIns="25400" wrap="square" tIns="25400">
            <a:noAutofit/>
          </a:bodyPr>
          <a:lstStyle/>
          <a:p>
            <a:pPr indent="0" lvl="0" marL="0" marR="0" rtl="0" algn="ctr">
              <a:lnSpc>
                <a:spcPct val="114545"/>
              </a:lnSpc>
              <a:spcBef>
                <a:spcPts val="0"/>
              </a:spcBef>
              <a:spcAft>
                <a:spcPts val="0"/>
              </a:spcAft>
              <a:buClr>
                <a:srgbClr val="F5EEE1"/>
              </a:buClr>
              <a:buSzPts val="2025"/>
              <a:buFont typeface="Carlito"/>
              <a:buNone/>
            </a:pPr>
            <a:r>
              <a:rPr b="1" i="0" lang="en-US" sz="2025" u="none" cap="none" strike="noStrike">
                <a:solidFill>
                  <a:srgbClr val="F5EEE1"/>
                </a:solidFill>
                <a:latin typeface="Carlito"/>
                <a:ea typeface="Carlito"/>
                <a:cs typeface="Carlito"/>
                <a:sym typeface="Carlito"/>
              </a:rPr>
              <a:t>In a chat session</a:t>
            </a:r>
            <a:endParaRPr b="0" i="0" sz="2025" u="none" cap="none" strike="noStrike">
              <a:solidFill>
                <a:schemeClr val="dk1"/>
              </a:solidFill>
              <a:latin typeface="Calibri"/>
              <a:ea typeface="Calibri"/>
              <a:cs typeface="Calibri"/>
              <a:sym typeface="Calibri"/>
            </a:endParaRPr>
          </a:p>
        </p:txBody>
      </p:sp>
      <p:sp>
        <p:nvSpPr>
          <p:cNvPr id="635" name="Google Shape;635;p24"/>
          <p:cNvSpPr/>
          <p:nvPr/>
        </p:nvSpPr>
        <p:spPr>
          <a:xfrm>
            <a:off x="11563350" y="3019425"/>
            <a:ext cx="5810250" cy="939105"/>
          </a:xfrm>
          <a:prstGeom prst="roundRect">
            <a:avLst>
              <a:gd fmla="val 12171"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24"/>
          <p:cNvSpPr/>
          <p:nvPr/>
        </p:nvSpPr>
        <p:spPr>
          <a:xfrm>
            <a:off x="11733371" y="3114675"/>
            <a:ext cx="5470208" cy="786705"/>
          </a:xfrm>
          <a:prstGeom prst="rect">
            <a:avLst/>
          </a:prstGeom>
          <a:noFill/>
          <a:ln>
            <a:noFill/>
          </a:ln>
        </p:spPr>
        <p:txBody>
          <a:bodyPr anchorCtr="0" anchor="ctr" bIns="25400" lIns="25400" spcFirstLastPara="1" rIns="25400" wrap="square" tIns="25400">
            <a:noAutofit/>
          </a:bodyPr>
          <a:lstStyle/>
          <a:p>
            <a:pPr indent="0" lvl="0" marL="0" marR="0" rtl="0" algn="ctr">
              <a:lnSpc>
                <a:spcPct val="114545"/>
              </a:lnSpc>
              <a:spcBef>
                <a:spcPts val="0"/>
              </a:spcBef>
              <a:spcAft>
                <a:spcPts val="0"/>
              </a:spcAft>
              <a:buClr>
                <a:srgbClr val="F5EEE1"/>
              </a:buClr>
              <a:buSzPts val="2025"/>
              <a:buFont typeface="Carlito"/>
              <a:buNone/>
            </a:pPr>
            <a:r>
              <a:rPr b="1" i="0" lang="en-US" sz="2025" u="none" cap="none" strike="noStrike">
                <a:solidFill>
                  <a:srgbClr val="F5EEE1"/>
                </a:solidFill>
                <a:latin typeface="Carlito"/>
                <a:ea typeface="Carlito"/>
                <a:cs typeface="Carlito"/>
                <a:sym typeface="Carlito"/>
              </a:rPr>
              <a:t>In the Agent Factory</a:t>
            </a:r>
            <a:endParaRPr b="0" i="0" sz="2025" u="none" cap="none" strike="noStrike">
              <a:solidFill>
                <a:schemeClr val="dk1"/>
              </a:solidFill>
              <a:latin typeface="Calibri"/>
              <a:ea typeface="Calibri"/>
              <a:cs typeface="Calibri"/>
              <a:sym typeface="Calibri"/>
            </a:endParaRPr>
          </a:p>
        </p:txBody>
      </p:sp>
      <p:sp>
        <p:nvSpPr>
          <p:cNvPr id="637" name="Google Shape;637;p24"/>
          <p:cNvSpPr/>
          <p:nvPr/>
        </p:nvSpPr>
        <p:spPr>
          <a:xfrm>
            <a:off x="914400" y="4110930"/>
            <a:ext cx="3810000" cy="939180"/>
          </a:xfrm>
          <a:prstGeom prst="roundRect">
            <a:avLst>
              <a:gd fmla="val 16227"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4"/>
          <p:cNvSpPr/>
          <p:nvPr/>
        </p:nvSpPr>
        <p:spPr>
          <a:xfrm>
            <a:off x="1068188" y="4237658"/>
            <a:ext cx="3625200" cy="403800"/>
          </a:xfrm>
          <a:prstGeom prst="rect">
            <a:avLst/>
          </a:prstGeom>
          <a:noFill/>
          <a:ln>
            <a:noFill/>
          </a:ln>
        </p:spPr>
        <p:txBody>
          <a:bodyPr anchorCtr="0" anchor="t" bIns="25400" lIns="25400" spcFirstLastPara="1" rIns="25400" wrap="square" tIns="25400">
            <a:noAutofit/>
          </a:bodyPr>
          <a:lstStyle/>
          <a:p>
            <a:pPr indent="0" lvl="0" marL="0" marR="0" rtl="0" algn="l">
              <a:lnSpc>
                <a:spcPct val="98462"/>
              </a:lnSpc>
              <a:spcBef>
                <a:spcPts val="0"/>
              </a:spcBef>
              <a:spcAft>
                <a:spcPts val="0"/>
              </a:spcAft>
              <a:buClr>
                <a:srgbClr val="F5EEE1"/>
              </a:buClr>
              <a:buSzPts val="2400"/>
              <a:buFont typeface="Carlito"/>
              <a:buNone/>
            </a:pPr>
            <a:r>
              <a:rPr b="1" i="0" lang="en-US" sz="2400" u="none" cap="none" strike="noStrike">
                <a:solidFill>
                  <a:srgbClr val="F5EEE1"/>
                </a:solidFill>
                <a:latin typeface="Carlito"/>
                <a:ea typeface="Carlito"/>
                <a:cs typeface="Carlito"/>
                <a:sym typeface="Carlito"/>
              </a:rPr>
              <a:t>Delegation</a:t>
            </a:r>
            <a:endParaRPr b="0" i="0" sz="2400" u="none" cap="none" strike="noStrike">
              <a:solidFill>
                <a:schemeClr val="dk1"/>
              </a:solidFill>
              <a:latin typeface="Calibri"/>
              <a:ea typeface="Calibri"/>
              <a:cs typeface="Calibri"/>
              <a:sym typeface="Calibri"/>
            </a:endParaRPr>
          </a:p>
        </p:txBody>
      </p:sp>
      <p:sp>
        <p:nvSpPr>
          <p:cNvPr id="639" name="Google Shape;639;p24"/>
          <p:cNvSpPr/>
          <p:nvPr/>
        </p:nvSpPr>
        <p:spPr>
          <a:xfrm>
            <a:off x="1068188" y="4603403"/>
            <a:ext cx="3625200" cy="358200"/>
          </a:xfrm>
          <a:prstGeom prst="rect">
            <a:avLst/>
          </a:prstGeom>
          <a:noFill/>
          <a:ln>
            <a:noFill/>
          </a:ln>
        </p:spPr>
        <p:txBody>
          <a:bodyPr anchorCtr="0" anchor="t" bIns="25400" lIns="25400" spcFirstLastPara="1" rIns="25400" wrap="square" tIns="25400">
            <a:noAutofit/>
          </a:bodyPr>
          <a:lstStyle/>
          <a:p>
            <a:pPr indent="0" lvl="0" marL="0" marR="0" rtl="0" algn="l">
              <a:lnSpc>
                <a:spcPct val="113898"/>
              </a:lnSpc>
              <a:spcBef>
                <a:spcPts val="0"/>
              </a:spcBef>
              <a:spcAft>
                <a:spcPts val="0"/>
              </a:spcAft>
              <a:buClr>
                <a:srgbClr val="B9C2C9"/>
              </a:buClr>
              <a:buSzPts val="1800"/>
              <a:buFont typeface="Carlito"/>
              <a:buNone/>
            </a:pPr>
            <a:r>
              <a:rPr b="0" i="0" lang="en-US" sz="1800" u="none" cap="none" strike="noStrike">
                <a:solidFill>
                  <a:srgbClr val="B9C2C9"/>
                </a:solidFill>
                <a:latin typeface="Carlito"/>
                <a:ea typeface="Carlito"/>
                <a:cs typeface="Carlito"/>
                <a:sym typeface="Carlito"/>
              </a:rPr>
              <a:t>Define the scope of what to do.</a:t>
            </a:r>
            <a:endParaRPr b="0" i="0" sz="1800" u="none" cap="none" strike="noStrike">
              <a:solidFill>
                <a:schemeClr val="dk1"/>
              </a:solidFill>
              <a:latin typeface="Calibri"/>
              <a:ea typeface="Calibri"/>
              <a:cs typeface="Calibri"/>
              <a:sym typeface="Calibri"/>
            </a:endParaRPr>
          </a:p>
        </p:txBody>
      </p:sp>
      <p:sp>
        <p:nvSpPr>
          <p:cNvPr id="640" name="Google Shape;640;p24"/>
          <p:cNvSpPr/>
          <p:nvPr/>
        </p:nvSpPr>
        <p:spPr>
          <a:xfrm>
            <a:off x="4876800" y="4110930"/>
            <a:ext cx="5810250" cy="939180"/>
          </a:xfrm>
          <a:prstGeom prst="roundRect">
            <a:avLst>
              <a:gd fmla="val 1622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4"/>
          <p:cNvSpPr/>
          <p:nvPr/>
        </p:nvSpPr>
        <p:spPr>
          <a:xfrm>
            <a:off x="5133975" y="4263330"/>
            <a:ext cx="5470208" cy="672480"/>
          </a:xfrm>
          <a:prstGeom prst="rect">
            <a:avLst/>
          </a:prstGeom>
          <a:noFill/>
          <a:ln>
            <a:noFill/>
          </a:ln>
        </p:spPr>
        <p:txBody>
          <a:bodyPr anchorCtr="0" anchor="ctr"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Choosing what to ask AI</a:t>
            </a:r>
            <a:endParaRPr b="0" i="0" sz="2025" u="none" cap="none" strike="noStrike">
              <a:solidFill>
                <a:schemeClr val="dk1"/>
              </a:solidFill>
              <a:latin typeface="Calibri"/>
              <a:ea typeface="Calibri"/>
              <a:cs typeface="Calibri"/>
              <a:sym typeface="Calibri"/>
            </a:endParaRPr>
          </a:p>
        </p:txBody>
      </p:sp>
      <p:sp>
        <p:nvSpPr>
          <p:cNvPr id="642" name="Google Shape;642;p24"/>
          <p:cNvSpPr/>
          <p:nvPr/>
        </p:nvSpPr>
        <p:spPr>
          <a:xfrm>
            <a:off x="11001375" y="4389983"/>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4"/>
          <p:cNvSpPr/>
          <p:nvPr/>
        </p:nvSpPr>
        <p:spPr>
          <a:xfrm>
            <a:off x="11563350" y="4110930"/>
            <a:ext cx="5810250" cy="939180"/>
          </a:xfrm>
          <a:prstGeom prst="roundRect">
            <a:avLst>
              <a:gd fmla="val 1622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4"/>
          <p:cNvSpPr/>
          <p:nvPr/>
        </p:nvSpPr>
        <p:spPr>
          <a:xfrm>
            <a:off x="11820525" y="4263330"/>
            <a:ext cx="5470208" cy="672480"/>
          </a:xfrm>
          <a:prstGeom prst="rect">
            <a:avLst/>
          </a:prstGeom>
          <a:noFill/>
          <a:ln>
            <a:noFill/>
          </a:ln>
        </p:spPr>
        <p:txBody>
          <a:bodyPr anchorCtr="0" anchor="ctr" bIns="25400" lIns="25400" spcFirstLastPara="1" rIns="25400" wrap="square" tIns="25400">
            <a:noAutofit/>
          </a:bodyPr>
          <a:lstStyle/>
          <a:p>
            <a:pPr indent="0" lvl="0" marL="0" marR="0" rtl="0" algn="l">
              <a:lnSpc>
                <a:spcPct val="114545"/>
              </a:lnSpc>
              <a:spcBef>
                <a:spcPts val="0"/>
              </a:spcBef>
              <a:spcAft>
                <a:spcPts val="0"/>
              </a:spcAft>
              <a:buClr>
                <a:srgbClr val="C05F44"/>
              </a:buClr>
              <a:buSzPts val="2025"/>
              <a:buFont typeface="Carlito"/>
              <a:buNone/>
            </a:pPr>
            <a:r>
              <a:rPr b="1" i="0" lang="en-US" sz="2025" u="none" cap="none" strike="noStrike">
                <a:solidFill>
                  <a:srgbClr val="C05F44"/>
                </a:solidFill>
                <a:latin typeface="Carlito"/>
                <a:ea typeface="Carlito"/>
                <a:cs typeface="Carlito"/>
                <a:sym typeface="Carlito"/>
              </a:rPr>
              <a:t>Scoping a Digital FTE, spec-driven planning</a:t>
            </a:r>
            <a:endParaRPr b="0" i="0" sz="2025" u="none" cap="none" strike="noStrike">
              <a:solidFill>
                <a:schemeClr val="dk1"/>
              </a:solidFill>
              <a:latin typeface="Calibri"/>
              <a:ea typeface="Calibri"/>
              <a:cs typeface="Calibri"/>
              <a:sym typeface="Calibri"/>
            </a:endParaRPr>
          </a:p>
        </p:txBody>
      </p:sp>
      <p:sp>
        <p:nvSpPr>
          <p:cNvPr id="645" name="Google Shape;645;p24"/>
          <p:cNvSpPr/>
          <p:nvPr/>
        </p:nvSpPr>
        <p:spPr>
          <a:xfrm>
            <a:off x="914400" y="5202510"/>
            <a:ext cx="3810000" cy="939180"/>
          </a:xfrm>
          <a:prstGeom prst="roundRect">
            <a:avLst>
              <a:gd fmla="val 16227"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4"/>
          <p:cNvSpPr/>
          <p:nvPr/>
        </p:nvSpPr>
        <p:spPr>
          <a:xfrm>
            <a:off x="1068188" y="5169247"/>
            <a:ext cx="3625200" cy="403800"/>
          </a:xfrm>
          <a:prstGeom prst="rect">
            <a:avLst/>
          </a:prstGeom>
          <a:noFill/>
          <a:ln>
            <a:noFill/>
          </a:ln>
        </p:spPr>
        <p:txBody>
          <a:bodyPr anchorCtr="0" anchor="t" bIns="25400" lIns="25400" spcFirstLastPara="1" rIns="25400" wrap="square" tIns="25400">
            <a:noAutofit/>
          </a:bodyPr>
          <a:lstStyle/>
          <a:p>
            <a:pPr indent="0" lvl="0" marL="0" marR="0" rtl="0" algn="l">
              <a:lnSpc>
                <a:spcPct val="98462"/>
              </a:lnSpc>
              <a:spcBef>
                <a:spcPts val="0"/>
              </a:spcBef>
              <a:spcAft>
                <a:spcPts val="0"/>
              </a:spcAft>
              <a:buClr>
                <a:srgbClr val="F5EEE1"/>
              </a:buClr>
              <a:buSzPts val="2400"/>
              <a:buFont typeface="Carlito"/>
              <a:buNone/>
            </a:pPr>
            <a:r>
              <a:rPr b="1" i="0" lang="en-US" sz="2400" u="none" cap="none" strike="noStrike">
                <a:solidFill>
                  <a:srgbClr val="F5EEE1"/>
                </a:solidFill>
                <a:latin typeface="Carlito"/>
                <a:ea typeface="Carlito"/>
                <a:cs typeface="Carlito"/>
                <a:sym typeface="Carlito"/>
              </a:rPr>
              <a:t>Description</a:t>
            </a:r>
            <a:endParaRPr b="0" i="0" sz="2400" u="none" cap="none" strike="noStrike">
              <a:solidFill>
                <a:schemeClr val="dk1"/>
              </a:solidFill>
              <a:latin typeface="Calibri"/>
              <a:ea typeface="Calibri"/>
              <a:cs typeface="Calibri"/>
              <a:sym typeface="Calibri"/>
            </a:endParaRPr>
          </a:p>
        </p:txBody>
      </p:sp>
      <p:sp>
        <p:nvSpPr>
          <p:cNvPr id="647" name="Google Shape;647;p24"/>
          <p:cNvSpPr/>
          <p:nvPr/>
        </p:nvSpPr>
        <p:spPr>
          <a:xfrm>
            <a:off x="1068188" y="5535000"/>
            <a:ext cx="3705300" cy="678000"/>
          </a:xfrm>
          <a:prstGeom prst="rect">
            <a:avLst/>
          </a:prstGeom>
          <a:noFill/>
          <a:ln>
            <a:noFill/>
          </a:ln>
        </p:spPr>
        <p:txBody>
          <a:bodyPr anchorCtr="0" anchor="t" bIns="25400" lIns="25400" spcFirstLastPara="1" rIns="25400" wrap="square" tIns="25400">
            <a:noAutofit/>
          </a:bodyPr>
          <a:lstStyle/>
          <a:p>
            <a:pPr indent="0" lvl="0" marL="0" marR="0" rtl="0" algn="l">
              <a:lnSpc>
                <a:spcPct val="113898"/>
              </a:lnSpc>
              <a:spcBef>
                <a:spcPts val="0"/>
              </a:spcBef>
              <a:spcAft>
                <a:spcPts val="0"/>
              </a:spcAft>
              <a:buClr>
                <a:srgbClr val="F3D89A"/>
              </a:buClr>
              <a:buSzPts val="1800"/>
              <a:buFont typeface="Carlito"/>
              <a:buNone/>
            </a:pPr>
            <a:r>
              <a:rPr b="0" i="0" lang="en-US" sz="1800" u="none" cap="none" strike="noStrike">
                <a:solidFill>
                  <a:srgbClr val="F3D89A"/>
                </a:solidFill>
                <a:latin typeface="Carlito"/>
                <a:ea typeface="Carlito"/>
                <a:cs typeface="Carlito"/>
                <a:sym typeface="Carlito"/>
              </a:rPr>
              <a:t>Provide clear context and instructions.</a:t>
            </a:r>
            <a:endParaRPr b="0" i="0" sz="1800" u="none" cap="none" strike="noStrike">
              <a:solidFill>
                <a:schemeClr val="dk1"/>
              </a:solidFill>
              <a:latin typeface="Calibri"/>
              <a:ea typeface="Calibri"/>
              <a:cs typeface="Calibri"/>
              <a:sym typeface="Calibri"/>
            </a:endParaRPr>
          </a:p>
        </p:txBody>
      </p:sp>
      <p:sp>
        <p:nvSpPr>
          <p:cNvPr id="648" name="Google Shape;648;p24"/>
          <p:cNvSpPr/>
          <p:nvPr/>
        </p:nvSpPr>
        <p:spPr>
          <a:xfrm>
            <a:off x="4876800" y="5202510"/>
            <a:ext cx="5810250" cy="939180"/>
          </a:xfrm>
          <a:prstGeom prst="roundRect">
            <a:avLst>
              <a:gd fmla="val 1622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4"/>
          <p:cNvSpPr/>
          <p:nvPr/>
        </p:nvSpPr>
        <p:spPr>
          <a:xfrm>
            <a:off x="5133975" y="5354910"/>
            <a:ext cx="5470208" cy="672480"/>
          </a:xfrm>
          <a:prstGeom prst="rect">
            <a:avLst/>
          </a:prstGeom>
          <a:noFill/>
          <a:ln>
            <a:noFill/>
          </a:ln>
        </p:spPr>
        <p:txBody>
          <a:bodyPr anchorCtr="0" anchor="ctr"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Writing rich prompts</a:t>
            </a:r>
            <a:endParaRPr b="0" i="0" sz="2025" u="none" cap="none" strike="noStrike">
              <a:solidFill>
                <a:schemeClr val="dk1"/>
              </a:solidFill>
              <a:latin typeface="Calibri"/>
              <a:ea typeface="Calibri"/>
              <a:cs typeface="Calibri"/>
              <a:sym typeface="Calibri"/>
            </a:endParaRPr>
          </a:p>
        </p:txBody>
      </p:sp>
      <p:sp>
        <p:nvSpPr>
          <p:cNvPr id="650" name="Google Shape;650;p24"/>
          <p:cNvSpPr/>
          <p:nvPr/>
        </p:nvSpPr>
        <p:spPr>
          <a:xfrm>
            <a:off x="11001375" y="5481563"/>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4"/>
          <p:cNvSpPr/>
          <p:nvPr/>
        </p:nvSpPr>
        <p:spPr>
          <a:xfrm>
            <a:off x="11563350" y="5202510"/>
            <a:ext cx="5810250" cy="939180"/>
          </a:xfrm>
          <a:prstGeom prst="roundRect">
            <a:avLst>
              <a:gd fmla="val 1622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24"/>
          <p:cNvSpPr/>
          <p:nvPr/>
        </p:nvSpPr>
        <p:spPr>
          <a:xfrm>
            <a:off x="11820525" y="5354910"/>
            <a:ext cx="5470208" cy="672480"/>
          </a:xfrm>
          <a:prstGeom prst="rect">
            <a:avLst/>
          </a:prstGeom>
          <a:noFill/>
          <a:ln>
            <a:noFill/>
          </a:ln>
        </p:spPr>
        <p:txBody>
          <a:bodyPr anchorCtr="0" anchor="ctr" bIns="25400" lIns="25400" spcFirstLastPara="1" rIns="25400" wrap="square" tIns="25400">
            <a:noAutofit/>
          </a:bodyPr>
          <a:lstStyle/>
          <a:p>
            <a:pPr indent="0" lvl="0" marL="0" marR="0" rtl="0" algn="l">
              <a:lnSpc>
                <a:spcPct val="114545"/>
              </a:lnSpc>
              <a:spcBef>
                <a:spcPts val="0"/>
              </a:spcBef>
              <a:spcAft>
                <a:spcPts val="0"/>
              </a:spcAft>
              <a:buClr>
                <a:srgbClr val="C05F44"/>
              </a:buClr>
              <a:buSzPts val="2025"/>
              <a:buFont typeface="Carlito"/>
              <a:buNone/>
            </a:pPr>
            <a:r>
              <a:rPr b="1" i="0" lang="en-US" sz="2025" u="none" cap="none" strike="noStrike">
                <a:solidFill>
                  <a:srgbClr val="C05F44"/>
                </a:solidFill>
                <a:latin typeface="Carlito"/>
                <a:ea typeface="Carlito"/>
                <a:cs typeface="Carlito"/>
                <a:sym typeface="Carlito"/>
              </a:rPr>
              <a:t>System prompts, skills, Systems of Record</a:t>
            </a:r>
            <a:endParaRPr b="0" i="0" sz="2025" u="none" cap="none" strike="noStrike">
              <a:solidFill>
                <a:schemeClr val="dk1"/>
              </a:solidFill>
              <a:latin typeface="Calibri"/>
              <a:ea typeface="Calibri"/>
              <a:cs typeface="Calibri"/>
              <a:sym typeface="Calibri"/>
            </a:endParaRPr>
          </a:p>
        </p:txBody>
      </p:sp>
      <p:sp>
        <p:nvSpPr>
          <p:cNvPr id="653" name="Google Shape;653;p24"/>
          <p:cNvSpPr/>
          <p:nvPr/>
        </p:nvSpPr>
        <p:spPr>
          <a:xfrm>
            <a:off x="914400" y="6294090"/>
            <a:ext cx="3810000" cy="939180"/>
          </a:xfrm>
          <a:prstGeom prst="roundRect">
            <a:avLst>
              <a:gd fmla="val 16227" name="adj"/>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4"/>
          <p:cNvSpPr/>
          <p:nvPr/>
        </p:nvSpPr>
        <p:spPr>
          <a:xfrm>
            <a:off x="1068188" y="6420817"/>
            <a:ext cx="3625200" cy="403800"/>
          </a:xfrm>
          <a:prstGeom prst="rect">
            <a:avLst/>
          </a:prstGeom>
          <a:noFill/>
          <a:ln>
            <a:noFill/>
          </a:ln>
        </p:spPr>
        <p:txBody>
          <a:bodyPr anchorCtr="0" anchor="t" bIns="25400" lIns="25400" spcFirstLastPara="1" rIns="25400" wrap="square" tIns="25400">
            <a:noAutofit/>
          </a:bodyPr>
          <a:lstStyle/>
          <a:p>
            <a:pPr indent="0" lvl="0" marL="0" marR="0" rtl="0" algn="l">
              <a:lnSpc>
                <a:spcPct val="98462"/>
              </a:lnSpc>
              <a:spcBef>
                <a:spcPts val="0"/>
              </a:spcBef>
              <a:spcAft>
                <a:spcPts val="0"/>
              </a:spcAft>
              <a:buClr>
                <a:srgbClr val="33434E"/>
              </a:buClr>
              <a:buSzPts val="2400"/>
              <a:buFont typeface="Carlito"/>
              <a:buNone/>
            </a:pPr>
            <a:r>
              <a:rPr b="1" i="0" lang="en-US" sz="2400" u="none" cap="none" strike="noStrike">
                <a:solidFill>
                  <a:srgbClr val="33434E"/>
                </a:solidFill>
                <a:latin typeface="Carlito"/>
                <a:ea typeface="Carlito"/>
                <a:cs typeface="Carlito"/>
                <a:sym typeface="Carlito"/>
              </a:rPr>
              <a:t>Discernment</a:t>
            </a:r>
            <a:endParaRPr b="0" i="0" sz="2400" u="none" cap="none" strike="noStrike">
              <a:solidFill>
                <a:schemeClr val="dk1"/>
              </a:solidFill>
              <a:latin typeface="Calibri"/>
              <a:ea typeface="Calibri"/>
              <a:cs typeface="Calibri"/>
              <a:sym typeface="Calibri"/>
            </a:endParaRPr>
          </a:p>
        </p:txBody>
      </p:sp>
      <p:sp>
        <p:nvSpPr>
          <p:cNvPr id="655" name="Google Shape;655;p24"/>
          <p:cNvSpPr/>
          <p:nvPr/>
        </p:nvSpPr>
        <p:spPr>
          <a:xfrm>
            <a:off x="1068188" y="6786563"/>
            <a:ext cx="3625200" cy="358200"/>
          </a:xfrm>
          <a:prstGeom prst="rect">
            <a:avLst/>
          </a:prstGeom>
          <a:noFill/>
          <a:ln>
            <a:noFill/>
          </a:ln>
        </p:spPr>
        <p:txBody>
          <a:bodyPr anchorCtr="0" anchor="t" bIns="25400" lIns="25400" spcFirstLastPara="1" rIns="25400" wrap="square" tIns="25400">
            <a:noAutofit/>
          </a:bodyPr>
          <a:lstStyle/>
          <a:p>
            <a:pPr indent="0" lvl="0" marL="0" marR="0" rtl="0" algn="l">
              <a:lnSpc>
                <a:spcPct val="113898"/>
              </a:lnSpc>
              <a:spcBef>
                <a:spcPts val="0"/>
              </a:spcBef>
              <a:spcAft>
                <a:spcPts val="0"/>
              </a:spcAft>
              <a:buClr>
                <a:srgbClr val="33434E"/>
              </a:buClr>
              <a:buSzPts val="1800"/>
              <a:buFont typeface="Carlito"/>
              <a:buNone/>
            </a:pPr>
            <a:r>
              <a:rPr b="0" i="0" lang="en-US" sz="1800" u="none" cap="none" strike="noStrike">
                <a:solidFill>
                  <a:srgbClr val="33434E"/>
                </a:solidFill>
                <a:latin typeface="Carlito"/>
                <a:ea typeface="Carlito"/>
                <a:cs typeface="Carlito"/>
                <a:sym typeface="Carlito"/>
              </a:rPr>
              <a:t>Evaluate and judge the output.</a:t>
            </a:r>
            <a:endParaRPr b="0" i="0" sz="1800" u="none" cap="none" strike="noStrike">
              <a:solidFill>
                <a:schemeClr val="dk1"/>
              </a:solidFill>
              <a:latin typeface="Calibri"/>
              <a:ea typeface="Calibri"/>
              <a:cs typeface="Calibri"/>
              <a:sym typeface="Calibri"/>
            </a:endParaRPr>
          </a:p>
        </p:txBody>
      </p:sp>
      <p:sp>
        <p:nvSpPr>
          <p:cNvPr id="656" name="Google Shape;656;p24"/>
          <p:cNvSpPr/>
          <p:nvPr/>
        </p:nvSpPr>
        <p:spPr>
          <a:xfrm>
            <a:off x="4876800" y="6294090"/>
            <a:ext cx="5810250" cy="939180"/>
          </a:xfrm>
          <a:prstGeom prst="roundRect">
            <a:avLst>
              <a:gd fmla="val 1622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4"/>
          <p:cNvSpPr/>
          <p:nvPr/>
        </p:nvSpPr>
        <p:spPr>
          <a:xfrm>
            <a:off x="5133975" y="6446490"/>
            <a:ext cx="5470208" cy="672480"/>
          </a:xfrm>
          <a:prstGeom prst="rect">
            <a:avLst/>
          </a:prstGeom>
          <a:noFill/>
          <a:ln>
            <a:noFill/>
          </a:ln>
        </p:spPr>
        <p:txBody>
          <a:bodyPr anchorCtr="0" anchor="ctr"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Reviewing outputs</a:t>
            </a:r>
            <a:endParaRPr b="0" i="0" sz="2025" u="none" cap="none" strike="noStrike">
              <a:solidFill>
                <a:schemeClr val="dk1"/>
              </a:solidFill>
              <a:latin typeface="Calibri"/>
              <a:ea typeface="Calibri"/>
              <a:cs typeface="Calibri"/>
              <a:sym typeface="Calibri"/>
            </a:endParaRPr>
          </a:p>
        </p:txBody>
      </p:sp>
      <p:sp>
        <p:nvSpPr>
          <p:cNvPr id="658" name="Google Shape;658;p24"/>
          <p:cNvSpPr/>
          <p:nvPr/>
        </p:nvSpPr>
        <p:spPr>
          <a:xfrm>
            <a:off x="11001375" y="6573143"/>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4"/>
          <p:cNvSpPr/>
          <p:nvPr/>
        </p:nvSpPr>
        <p:spPr>
          <a:xfrm>
            <a:off x="11563350" y="6294090"/>
            <a:ext cx="5810250" cy="939180"/>
          </a:xfrm>
          <a:prstGeom prst="roundRect">
            <a:avLst>
              <a:gd fmla="val 16227"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24"/>
          <p:cNvSpPr/>
          <p:nvPr/>
        </p:nvSpPr>
        <p:spPr>
          <a:xfrm>
            <a:off x="11820525" y="6446490"/>
            <a:ext cx="5470208" cy="672480"/>
          </a:xfrm>
          <a:prstGeom prst="rect">
            <a:avLst/>
          </a:prstGeom>
          <a:noFill/>
          <a:ln>
            <a:noFill/>
          </a:ln>
        </p:spPr>
        <p:txBody>
          <a:bodyPr anchorCtr="0" anchor="ctr" bIns="25400" lIns="25400" spcFirstLastPara="1" rIns="25400" wrap="square" tIns="25400">
            <a:noAutofit/>
          </a:bodyPr>
          <a:lstStyle/>
          <a:p>
            <a:pPr indent="0" lvl="0" marL="0" marR="0" rtl="0" algn="l">
              <a:lnSpc>
                <a:spcPct val="114545"/>
              </a:lnSpc>
              <a:spcBef>
                <a:spcPts val="0"/>
              </a:spcBef>
              <a:spcAft>
                <a:spcPts val="0"/>
              </a:spcAft>
              <a:buClr>
                <a:srgbClr val="C05F44"/>
              </a:buClr>
              <a:buSzPts val="2025"/>
              <a:buFont typeface="Carlito"/>
              <a:buNone/>
            </a:pPr>
            <a:r>
              <a:rPr b="1" i="0" lang="en-US" sz="2025" u="none" cap="none" strike="noStrike">
                <a:solidFill>
                  <a:srgbClr val="C05F44"/>
                </a:solidFill>
                <a:latin typeface="Carlito"/>
                <a:ea typeface="Carlito"/>
                <a:cs typeface="Carlito"/>
                <a:sym typeface="Carlito"/>
              </a:rPr>
              <a:t>Eval engines, monitoring, trusting the checker</a:t>
            </a:r>
            <a:endParaRPr b="0" i="0" sz="2025" u="none" cap="none" strike="noStrike">
              <a:solidFill>
                <a:schemeClr val="dk1"/>
              </a:solidFill>
              <a:latin typeface="Calibri"/>
              <a:ea typeface="Calibri"/>
              <a:cs typeface="Calibri"/>
              <a:sym typeface="Calibri"/>
            </a:endParaRPr>
          </a:p>
        </p:txBody>
      </p:sp>
      <p:sp>
        <p:nvSpPr>
          <p:cNvPr id="661" name="Google Shape;661;p24"/>
          <p:cNvSpPr/>
          <p:nvPr/>
        </p:nvSpPr>
        <p:spPr>
          <a:xfrm>
            <a:off x="914400" y="7385670"/>
            <a:ext cx="3810000" cy="939105"/>
          </a:xfrm>
          <a:prstGeom prst="roundRect">
            <a:avLst>
              <a:gd fmla="val 16228"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4"/>
          <p:cNvSpPr/>
          <p:nvPr/>
        </p:nvSpPr>
        <p:spPr>
          <a:xfrm>
            <a:off x="1068188" y="7352407"/>
            <a:ext cx="3625200" cy="403800"/>
          </a:xfrm>
          <a:prstGeom prst="rect">
            <a:avLst/>
          </a:prstGeom>
          <a:noFill/>
          <a:ln>
            <a:noFill/>
          </a:ln>
        </p:spPr>
        <p:txBody>
          <a:bodyPr anchorCtr="0" anchor="t" bIns="25400" lIns="25400" spcFirstLastPara="1" rIns="25400" wrap="square" tIns="25400">
            <a:noAutofit/>
          </a:bodyPr>
          <a:lstStyle/>
          <a:p>
            <a:pPr indent="0" lvl="0" marL="0" marR="0" rtl="0" algn="l">
              <a:lnSpc>
                <a:spcPct val="98462"/>
              </a:lnSpc>
              <a:spcBef>
                <a:spcPts val="0"/>
              </a:spcBef>
              <a:spcAft>
                <a:spcPts val="0"/>
              </a:spcAft>
              <a:buClr>
                <a:srgbClr val="F5EEE1"/>
              </a:buClr>
              <a:buSzPts val="2400"/>
              <a:buFont typeface="Carlito"/>
              <a:buNone/>
            </a:pPr>
            <a:r>
              <a:rPr b="1" i="0" lang="en-US" sz="2400" u="none" cap="none" strike="noStrike">
                <a:solidFill>
                  <a:srgbClr val="F5EEE1"/>
                </a:solidFill>
                <a:latin typeface="Carlito"/>
                <a:ea typeface="Carlito"/>
                <a:cs typeface="Carlito"/>
                <a:sym typeface="Carlito"/>
              </a:rPr>
              <a:t>Diligence</a:t>
            </a:r>
            <a:endParaRPr b="0" i="0" sz="2400" u="none" cap="none" strike="noStrike">
              <a:solidFill>
                <a:schemeClr val="dk1"/>
              </a:solidFill>
              <a:latin typeface="Calibri"/>
              <a:ea typeface="Calibri"/>
              <a:cs typeface="Calibri"/>
              <a:sym typeface="Calibri"/>
            </a:endParaRPr>
          </a:p>
        </p:txBody>
      </p:sp>
      <p:sp>
        <p:nvSpPr>
          <p:cNvPr id="663" name="Google Shape;663;p24"/>
          <p:cNvSpPr/>
          <p:nvPr/>
        </p:nvSpPr>
        <p:spPr>
          <a:xfrm>
            <a:off x="1068188" y="7718152"/>
            <a:ext cx="3394500" cy="678000"/>
          </a:xfrm>
          <a:prstGeom prst="rect">
            <a:avLst/>
          </a:prstGeom>
          <a:noFill/>
          <a:ln>
            <a:noFill/>
          </a:ln>
        </p:spPr>
        <p:txBody>
          <a:bodyPr anchorCtr="0" anchor="t" bIns="25400" lIns="25400" spcFirstLastPara="1" rIns="25400" wrap="square" tIns="25400">
            <a:noAutofit/>
          </a:bodyPr>
          <a:lstStyle/>
          <a:p>
            <a:pPr indent="0" lvl="0" marL="0" marR="0" rtl="0" algn="l">
              <a:lnSpc>
                <a:spcPct val="113898"/>
              </a:lnSpc>
              <a:spcBef>
                <a:spcPts val="0"/>
              </a:spcBef>
              <a:spcAft>
                <a:spcPts val="0"/>
              </a:spcAft>
              <a:buClr>
                <a:srgbClr val="B9C2C9"/>
              </a:buClr>
              <a:buSzPts val="1800"/>
              <a:buFont typeface="Carlito"/>
              <a:buNone/>
            </a:pPr>
            <a:r>
              <a:rPr b="0" i="0" lang="en-US" sz="1800" u="none" cap="none" strike="noStrike">
                <a:solidFill>
                  <a:srgbClr val="B9C2C9"/>
                </a:solidFill>
                <a:latin typeface="Carlito"/>
                <a:ea typeface="Carlito"/>
                <a:cs typeface="Carlito"/>
                <a:sym typeface="Carlito"/>
              </a:rPr>
              <a:t>Act responsibly and protect what matters.</a:t>
            </a:r>
            <a:endParaRPr b="0" i="0" sz="1800" u="none" cap="none" strike="noStrike">
              <a:solidFill>
                <a:schemeClr val="dk1"/>
              </a:solidFill>
              <a:latin typeface="Calibri"/>
              <a:ea typeface="Calibri"/>
              <a:cs typeface="Calibri"/>
              <a:sym typeface="Calibri"/>
            </a:endParaRPr>
          </a:p>
        </p:txBody>
      </p:sp>
      <p:sp>
        <p:nvSpPr>
          <p:cNvPr id="664" name="Google Shape;664;p24"/>
          <p:cNvSpPr/>
          <p:nvPr/>
        </p:nvSpPr>
        <p:spPr>
          <a:xfrm>
            <a:off x="4876800" y="7385670"/>
            <a:ext cx="5810250" cy="939105"/>
          </a:xfrm>
          <a:prstGeom prst="roundRect">
            <a:avLst>
              <a:gd fmla="val 16228"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4"/>
          <p:cNvSpPr/>
          <p:nvPr/>
        </p:nvSpPr>
        <p:spPr>
          <a:xfrm>
            <a:off x="5133975" y="7538070"/>
            <a:ext cx="5470208" cy="672405"/>
          </a:xfrm>
          <a:prstGeom prst="rect">
            <a:avLst/>
          </a:prstGeom>
          <a:noFill/>
          <a:ln>
            <a:noFill/>
          </a:ln>
        </p:spPr>
        <p:txBody>
          <a:bodyPr anchorCtr="0" anchor="ctr" bIns="25400" lIns="25400" spcFirstLastPara="1" rIns="25400" wrap="square" tIns="25400">
            <a:noAutofit/>
          </a:bodyPr>
          <a:lstStyle/>
          <a:p>
            <a:pPr indent="0" lvl="0" marL="0" marR="0" rtl="0" algn="l">
              <a:lnSpc>
                <a:spcPct val="114545"/>
              </a:lnSpc>
              <a:spcBef>
                <a:spcPts val="0"/>
              </a:spcBef>
              <a:spcAft>
                <a:spcPts val="0"/>
              </a:spcAft>
              <a:buClr>
                <a:srgbClr val="33434E"/>
              </a:buClr>
              <a:buSzPts val="2025"/>
              <a:buFont typeface="Carlito"/>
              <a:buNone/>
            </a:pPr>
            <a:r>
              <a:rPr b="0" i="0" lang="en-US" sz="2025" u="none" cap="none" strike="noStrike">
                <a:solidFill>
                  <a:srgbClr val="33434E"/>
                </a:solidFill>
                <a:latin typeface="Carlito"/>
                <a:ea typeface="Carlito"/>
                <a:cs typeface="Carlito"/>
                <a:sym typeface="Carlito"/>
              </a:rPr>
              <a:t>Protecting data, disclosing use</a:t>
            </a:r>
            <a:endParaRPr b="0" i="0" sz="2025" u="none" cap="none" strike="noStrike">
              <a:solidFill>
                <a:schemeClr val="dk1"/>
              </a:solidFill>
              <a:latin typeface="Calibri"/>
              <a:ea typeface="Calibri"/>
              <a:cs typeface="Calibri"/>
              <a:sym typeface="Calibri"/>
            </a:endParaRPr>
          </a:p>
        </p:txBody>
      </p:sp>
      <p:sp>
        <p:nvSpPr>
          <p:cNvPr id="666" name="Google Shape;666;p24"/>
          <p:cNvSpPr/>
          <p:nvPr/>
        </p:nvSpPr>
        <p:spPr>
          <a:xfrm>
            <a:off x="11001375" y="7664723"/>
            <a:ext cx="247650" cy="381000"/>
          </a:xfrm>
          <a:prstGeom prst="rect">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4"/>
          <p:cNvSpPr/>
          <p:nvPr/>
        </p:nvSpPr>
        <p:spPr>
          <a:xfrm>
            <a:off x="11563350" y="7385670"/>
            <a:ext cx="5810250" cy="939105"/>
          </a:xfrm>
          <a:prstGeom prst="roundRect">
            <a:avLst>
              <a:gd fmla="val 16228"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4"/>
          <p:cNvSpPr/>
          <p:nvPr/>
        </p:nvSpPr>
        <p:spPr>
          <a:xfrm>
            <a:off x="11820525" y="7538070"/>
            <a:ext cx="5470208" cy="672405"/>
          </a:xfrm>
          <a:prstGeom prst="rect">
            <a:avLst/>
          </a:prstGeom>
          <a:noFill/>
          <a:ln>
            <a:noFill/>
          </a:ln>
        </p:spPr>
        <p:txBody>
          <a:bodyPr anchorCtr="0" anchor="ctr" bIns="25400" lIns="25400" spcFirstLastPara="1" rIns="25400" wrap="square" tIns="25400">
            <a:noAutofit/>
          </a:bodyPr>
          <a:lstStyle/>
          <a:p>
            <a:pPr indent="0" lvl="0" marL="0" marR="0" rtl="0" algn="l">
              <a:lnSpc>
                <a:spcPct val="114545"/>
              </a:lnSpc>
              <a:spcBef>
                <a:spcPts val="0"/>
              </a:spcBef>
              <a:spcAft>
                <a:spcPts val="0"/>
              </a:spcAft>
              <a:buClr>
                <a:srgbClr val="C05F44"/>
              </a:buClr>
              <a:buSzPts val="2025"/>
              <a:buFont typeface="Carlito"/>
              <a:buNone/>
            </a:pPr>
            <a:r>
              <a:rPr b="1" i="0" lang="en-US" sz="2025" u="none" cap="none" strike="noStrike">
                <a:solidFill>
                  <a:srgbClr val="C05F44"/>
                </a:solidFill>
                <a:latin typeface="Carlito"/>
                <a:ea typeface="Carlito"/>
                <a:cs typeface="Carlito"/>
                <a:sym typeface="Carlito"/>
              </a:rPr>
              <a:t>Governance-first architecture, audit and disclosure design</a:t>
            </a:r>
            <a:endParaRPr b="0" i="0" sz="2025" u="none" cap="none" strike="noStrike">
              <a:solidFill>
                <a:schemeClr val="dk1"/>
              </a:solidFill>
              <a:latin typeface="Calibri"/>
              <a:ea typeface="Calibri"/>
              <a:cs typeface="Calibri"/>
              <a:sym typeface="Calibri"/>
            </a:endParaRPr>
          </a:p>
        </p:txBody>
      </p:sp>
      <p:sp>
        <p:nvSpPr>
          <p:cNvPr id="669" name="Google Shape;669;p24"/>
          <p:cNvSpPr/>
          <p:nvPr/>
        </p:nvSpPr>
        <p:spPr>
          <a:xfrm>
            <a:off x="914400" y="8548424"/>
            <a:ext cx="18105000" cy="496200"/>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The Agent Factory does not replace AI fluency. It industrializes it.</a:t>
            </a:r>
            <a:endParaRPr b="0" i="0" sz="2775" u="none" cap="none" strike="noStrike">
              <a:solidFill>
                <a:schemeClr val="dk1"/>
              </a:solidFill>
              <a:latin typeface="Calibri"/>
              <a:ea typeface="Calibri"/>
              <a:cs typeface="Calibri"/>
              <a:sym typeface="Calibri"/>
            </a:endParaRPr>
          </a:p>
        </p:txBody>
      </p:sp>
      <p:sp>
        <p:nvSpPr>
          <p:cNvPr id="670" name="Google Shape;670;p24"/>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671" name="Google Shape;671;p24"/>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22</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676" name="Shape 676"/>
        <p:cNvGrpSpPr/>
        <p:nvPr/>
      </p:nvGrpSpPr>
      <p:grpSpPr>
        <a:xfrm>
          <a:off x="0" y="0"/>
          <a:ext cx="0" cy="0"/>
          <a:chOff x="0" y="0"/>
          <a:chExt cx="0" cy="0"/>
        </a:xfrm>
      </p:grpSpPr>
      <p:pic>
        <p:nvPicPr>
          <p:cNvPr descr="preencoded.png" id="677" name="Google Shape;677;p25"/>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678" name="Google Shape;678;p25"/>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Four common beginner mistakes</a:t>
            </a:r>
            <a:endParaRPr b="0" i="0" sz="5175" u="none" cap="none" strike="noStrike">
              <a:solidFill>
                <a:schemeClr val="dk1"/>
              </a:solidFill>
              <a:latin typeface="Calibri"/>
              <a:ea typeface="Calibri"/>
              <a:cs typeface="Calibri"/>
              <a:sym typeface="Calibri"/>
            </a:endParaRPr>
          </a:p>
        </p:txBody>
      </p:sp>
      <p:sp>
        <p:nvSpPr>
          <p:cNvPr id="679" name="Google Shape;679;p25"/>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Most frustrating AI experiences can be traced to one of these failures.</a:t>
            </a:r>
            <a:endParaRPr b="0" i="0" sz="2625" u="none" cap="none" strike="noStrike">
              <a:solidFill>
                <a:schemeClr val="dk1"/>
              </a:solidFill>
              <a:latin typeface="Calibri"/>
              <a:ea typeface="Calibri"/>
              <a:cs typeface="Calibri"/>
              <a:sym typeface="Calibri"/>
            </a:endParaRPr>
          </a:p>
        </p:txBody>
      </p:sp>
      <p:sp>
        <p:nvSpPr>
          <p:cNvPr id="680" name="Google Shape;680;p25"/>
          <p:cNvSpPr/>
          <p:nvPr/>
        </p:nvSpPr>
        <p:spPr>
          <a:xfrm>
            <a:off x="914400" y="3019425"/>
            <a:ext cx="8048625" cy="2123926"/>
          </a:xfrm>
          <a:prstGeom prst="roundRect">
            <a:avLst>
              <a:gd fmla="val 7175"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5"/>
          <p:cNvSpPr/>
          <p:nvPr/>
        </p:nvSpPr>
        <p:spPr>
          <a:xfrm>
            <a:off x="1276350" y="3276600"/>
            <a:ext cx="8057197"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6B7780"/>
              </a:buClr>
              <a:buSzPts val="2025"/>
              <a:buFont typeface="Carlito"/>
              <a:buNone/>
            </a:pPr>
            <a:r>
              <a:rPr b="0" i="0" lang="en-US" sz="2025" u="none" cap="none" strike="noStrike">
                <a:solidFill>
                  <a:srgbClr val="6B7780"/>
                </a:solidFill>
                <a:latin typeface="Carlito"/>
                <a:ea typeface="Carlito"/>
                <a:cs typeface="Carlito"/>
                <a:sym typeface="Carlito"/>
              </a:rPr>
              <a:t>Missing skill: Delegation</a:t>
            </a:r>
            <a:endParaRPr b="0" i="0" sz="2025" u="none" cap="none" strike="noStrike">
              <a:solidFill>
                <a:schemeClr val="dk1"/>
              </a:solidFill>
              <a:latin typeface="Calibri"/>
              <a:ea typeface="Calibri"/>
              <a:cs typeface="Calibri"/>
              <a:sym typeface="Calibri"/>
            </a:endParaRPr>
          </a:p>
        </p:txBody>
      </p:sp>
      <p:sp>
        <p:nvSpPr>
          <p:cNvPr id="682" name="Google Shape;682;p25"/>
          <p:cNvSpPr/>
          <p:nvPr/>
        </p:nvSpPr>
        <p:spPr>
          <a:xfrm>
            <a:off x="1276350" y="3674715"/>
            <a:ext cx="8057197" cy="426690"/>
          </a:xfrm>
          <a:prstGeom prst="rect">
            <a:avLst/>
          </a:prstGeom>
          <a:noFill/>
          <a:ln>
            <a:noFill/>
          </a:ln>
        </p:spPr>
        <p:txBody>
          <a:bodyPr anchorCtr="0" anchor="t" bIns="25400" lIns="25400" spcFirstLastPara="1" rIns="25400" wrap="square" tIns="25400">
            <a:noAutofit/>
          </a:bodyPr>
          <a:lstStyle/>
          <a:p>
            <a:pPr indent="0" lvl="0" marL="0" marR="0" rtl="0" algn="l">
              <a:lnSpc>
                <a:spcPct val="98313"/>
              </a:lnSpc>
              <a:spcBef>
                <a:spcPts val="0"/>
              </a:spcBef>
              <a:spcAft>
                <a:spcPts val="0"/>
              </a:spcAft>
              <a:buClr>
                <a:srgbClr val="33434E"/>
              </a:buClr>
              <a:buSzPts val="2550"/>
              <a:buFont typeface="Carlito"/>
              <a:buNone/>
            </a:pPr>
            <a:r>
              <a:rPr b="1" i="0" lang="en-US" sz="2550" u="none" cap="none" strike="noStrike">
                <a:solidFill>
                  <a:srgbClr val="33434E"/>
                </a:solidFill>
                <a:latin typeface="Carlito"/>
                <a:ea typeface="Carlito"/>
                <a:cs typeface="Carlito"/>
                <a:sym typeface="Carlito"/>
              </a:rPr>
              <a:t>Prompting before defining the problem</a:t>
            </a:r>
            <a:endParaRPr b="0" i="0" sz="2550" u="none" cap="none" strike="noStrike">
              <a:solidFill>
                <a:schemeClr val="dk1"/>
              </a:solidFill>
              <a:latin typeface="Calibri"/>
              <a:ea typeface="Calibri"/>
              <a:cs typeface="Calibri"/>
              <a:sym typeface="Calibri"/>
            </a:endParaRPr>
          </a:p>
        </p:txBody>
      </p:sp>
      <p:sp>
        <p:nvSpPr>
          <p:cNvPr id="683" name="Google Shape;683;p25"/>
          <p:cNvSpPr/>
          <p:nvPr/>
        </p:nvSpPr>
        <p:spPr>
          <a:xfrm>
            <a:off x="1276350" y="4139505"/>
            <a:ext cx="7544467"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Fix: </a:t>
            </a:r>
            <a:r>
              <a:rPr b="0" i="0" lang="en-US" sz="2100" u="none" cap="none" strike="noStrike">
                <a:solidFill>
                  <a:srgbClr val="33434E"/>
                </a:solidFill>
                <a:latin typeface="Carlito"/>
                <a:ea typeface="Carlito"/>
                <a:cs typeface="Carlito"/>
                <a:sym typeface="Carlito"/>
              </a:rPr>
              <a:t>define the goal, the audience, the constraints, and the human/AI split first.</a:t>
            </a:r>
            <a:endParaRPr b="0" i="0" sz="2100" u="none" cap="none" strike="noStrike">
              <a:solidFill>
                <a:schemeClr val="dk1"/>
              </a:solidFill>
              <a:latin typeface="Calibri"/>
              <a:ea typeface="Calibri"/>
              <a:cs typeface="Calibri"/>
              <a:sym typeface="Calibri"/>
            </a:endParaRPr>
          </a:p>
        </p:txBody>
      </p:sp>
      <p:sp>
        <p:nvSpPr>
          <p:cNvPr id="684" name="Google Shape;684;p25"/>
          <p:cNvSpPr/>
          <p:nvPr/>
        </p:nvSpPr>
        <p:spPr>
          <a:xfrm>
            <a:off x="9324975" y="3019425"/>
            <a:ext cx="8048625" cy="2123926"/>
          </a:xfrm>
          <a:prstGeom prst="roundRect">
            <a:avLst>
              <a:gd fmla="val 7175"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5"/>
          <p:cNvSpPr/>
          <p:nvPr/>
        </p:nvSpPr>
        <p:spPr>
          <a:xfrm>
            <a:off x="9686925" y="3276600"/>
            <a:ext cx="8057197"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6B7780"/>
              </a:buClr>
              <a:buSzPts val="2025"/>
              <a:buFont typeface="Carlito"/>
              <a:buNone/>
            </a:pPr>
            <a:r>
              <a:rPr b="0" i="0" lang="en-US" sz="2025" u="none" cap="none" strike="noStrike">
                <a:solidFill>
                  <a:srgbClr val="6B7780"/>
                </a:solidFill>
                <a:latin typeface="Carlito"/>
                <a:ea typeface="Carlito"/>
                <a:cs typeface="Carlito"/>
                <a:sym typeface="Carlito"/>
              </a:rPr>
              <a:t>Missing skill: Description and Discernment loop</a:t>
            </a:r>
            <a:endParaRPr b="0" i="0" sz="2025" u="none" cap="none" strike="noStrike">
              <a:solidFill>
                <a:schemeClr val="dk1"/>
              </a:solidFill>
              <a:latin typeface="Calibri"/>
              <a:ea typeface="Calibri"/>
              <a:cs typeface="Calibri"/>
              <a:sym typeface="Calibri"/>
            </a:endParaRPr>
          </a:p>
        </p:txBody>
      </p:sp>
      <p:sp>
        <p:nvSpPr>
          <p:cNvPr id="686" name="Google Shape;686;p25"/>
          <p:cNvSpPr/>
          <p:nvPr/>
        </p:nvSpPr>
        <p:spPr>
          <a:xfrm>
            <a:off x="9686925" y="3674715"/>
            <a:ext cx="8057197" cy="426690"/>
          </a:xfrm>
          <a:prstGeom prst="rect">
            <a:avLst/>
          </a:prstGeom>
          <a:noFill/>
          <a:ln>
            <a:noFill/>
          </a:ln>
        </p:spPr>
        <p:txBody>
          <a:bodyPr anchorCtr="0" anchor="t" bIns="25400" lIns="25400" spcFirstLastPara="1" rIns="25400" wrap="square" tIns="25400">
            <a:noAutofit/>
          </a:bodyPr>
          <a:lstStyle/>
          <a:p>
            <a:pPr indent="0" lvl="0" marL="0" marR="0" rtl="0" algn="l">
              <a:lnSpc>
                <a:spcPct val="98313"/>
              </a:lnSpc>
              <a:spcBef>
                <a:spcPts val="0"/>
              </a:spcBef>
              <a:spcAft>
                <a:spcPts val="0"/>
              </a:spcAft>
              <a:buClr>
                <a:srgbClr val="33434E"/>
              </a:buClr>
              <a:buSzPts val="2550"/>
              <a:buFont typeface="Carlito"/>
              <a:buNone/>
            </a:pPr>
            <a:r>
              <a:rPr b="1" i="0" lang="en-US" sz="2550" u="none" cap="none" strike="noStrike">
                <a:solidFill>
                  <a:srgbClr val="33434E"/>
                </a:solidFill>
                <a:latin typeface="Carlito"/>
                <a:ea typeface="Carlito"/>
                <a:cs typeface="Carlito"/>
                <a:sym typeface="Carlito"/>
              </a:rPr>
              <a:t>Treating the first answer as the final answer</a:t>
            </a:r>
            <a:endParaRPr b="0" i="0" sz="2550" u="none" cap="none" strike="noStrike">
              <a:solidFill>
                <a:schemeClr val="dk1"/>
              </a:solidFill>
              <a:latin typeface="Calibri"/>
              <a:ea typeface="Calibri"/>
              <a:cs typeface="Calibri"/>
              <a:sym typeface="Calibri"/>
            </a:endParaRPr>
          </a:p>
        </p:txBody>
      </p:sp>
      <p:sp>
        <p:nvSpPr>
          <p:cNvPr id="687" name="Google Shape;687;p25"/>
          <p:cNvSpPr/>
          <p:nvPr/>
        </p:nvSpPr>
        <p:spPr>
          <a:xfrm>
            <a:off x="9686925" y="4139505"/>
            <a:ext cx="8057197"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Fix: </a:t>
            </a:r>
            <a:r>
              <a:rPr b="0" i="0" lang="en-US" sz="2100" u="none" cap="none" strike="noStrike">
                <a:solidFill>
                  <a:srgbClr val="33434E"/>
                </a:solidFill>
                <a:latin typeface="Carlito"/>
                <a:ea typeface="Carlito"/>
                <a:cs typeface="Carlito"/>
                <a:sym typeface="Carlito"/>
              </a:rPr>
              <a:t>inspect the result, give specific feedback, and iterate.</a:t>
            </a:r>
            <a:endParaRPr b="0" i="0" sz="2100" u="none" cap="none" strike="noStrike">
              <a:solidFill>
                <a:schemeClr val="dk1"/>
              </a:solidFill>
              <a:latin typeface="Calibri"/>
              <a:ea typeface="Calibri"/>
              <a:cs typeface="Calibri"/>
              <a:sym typeface="Calibri"/>
            </a:endParaRPr>
          </a:p>
        </p:txBody>
      </p:sp>
      <p:sp>
        <p:nvSpPr>
          <p:cNvPr id="688" name="Google Shape;688;p25"/>
          <p:cNvSpPr/>
          <p:nvPr/>
        </p:nvSpPr>
        <p:spPr>
          <a:xfrm>
            <a:off x="914400" y="5505301"/>
            <a:ext cx="8048625" cy="2512516"/>
          </a:xfrm>
          <a:prstGeom prst="roundRect">
            <a:avLst>
              <a:gd fmla="val 6066"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25"/>
          <p:cNvSpPr/>
          <p:nvPr/>
        </p:nvSpPr>
        <p:spPr>
          <a:xfrm>
            <a:off x="1276350" y="5762476"/>
            <a:ext cx="8057197"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6B7780"/>
              </a:buClr>
              <a:buSzPts val="2025"/>
              <a:buFont typeface="Carlito"/>
              <a:buNone/>
            </a:pPr>
            <a:r>
              <a:rPr b="0" i="0" lang="en-US" sz="2025" u="none" cap="none" strike="noStrike">
                <a:solidFill>
                  <a:srgbClr val="6B7780"/>
                </a:solidFill>
                <a:latin typeface="Carlito"/>
                <a:ea typeface="Carlito"/>
                <a:cs typeface="Carlito"/>
                <a:sym typeface="Carlito"/>
              </a:rPr>
              <a:t>Missing skill: Discernment</a:t>
            </a:r>
            <a:endParaRPr b="0" i="0" sz="2025" u="none" cap="none" strike="noStrike">
              <a:solidFill>
                <a:schemeClr val="dk1"/>
              </a:solidFill>
              <a:latin typeface="Calibri"/>
              <a:ea typeface="Calibri"/>
              <a:cs typeface="Calibri"/>
              <a:sym typeface="Calibri"/>
            </a:endParaRPr>
          </a:p>
        </p:txBody>
      </p:sp>
      <p:sp>
        <p:nvSpPr>
          <p:cNvPr id="690" name="Google Shape;690;p25"/>
          <p:cNvSpPr/>
          <p:nvPr/>
        </p:nvSpPr>
        <p:spPr>
          <a:xfrm>
            <a:off x="1276350" y="6160591"/>
            <a:ext cx="7544467" cy="815280"/>
          </a:xfrm>
          <a:prstGeom prst="rect">
            <a:avLst/>
          </a:prstGeom>
          <a:noFill/>
          <a:ln>
            <a:noFill/>
          </a:ln>
        </p:spPr>
        <p:txBody>
          <a:bodyPr anchorCtr="0" anchor="t" bIns="25400" lIns="25400" spcFirstLastPara="1" rIns="25400" wrap="square" tIns="25400">
            <a:noAutofit/>
          </a:bodyPr>
          <a:lstStyle/>
          <a:p>
            <a:pPr indent="0" lvl="0" marL="0" marR="0" rtl="0" algn="l">
              <a:lnSpc>
                <a:spcPct val="98313"/>
              </a:lnSpc>
              <a:spcBef>
                <a:spcPts val="0"/>
              </a:spcBef>
              <a:spcAft>
                <a:spcPts val="0"/>
              </a:spcAft>
              <a:buClr>
                <a:srgbClr val="33434E"/>
              </a:buClr>
              <a:buSzPts val="2550"/>
              <a:buFont typeface="Carlito"/>
              <a:buNone/>
            </a:pPr>
            <a:r>
              <a:rPr b="1" i="0" lang="en-US" sz="2550" u="none" cap="none" strike="noStrike">
                <a:solidFill>
                  <a:srgbClr val="33434E"/>
                </a:solidFill>
                <a:latin typeface="Carlito"/>
                <a:ea typeface="Carlito"/>
                <a:cs typeface="Carlito"/>
                <a:sym typeface="Carlito"/>
              </a:rPr>
              <a:t>Trusting a polished answer because it sounds professional</a:t>
            </a:r>
            <a:endParaRPr b="0" i="0" sz="2550" u="none" cap="none" strike="noStrike">
              <a:solidFill>
                <a:schemeClr val="dk1"/>
              </a:solidFill>
              <a:latin typeface="Calibri"/>
              <a:ea typeface="Calibri"/>
              <a:cs typeface="Calibri"/>
              <a:sym typeface="Calibri"/>
            </a:endParaRPr>
          </a:p>
        </p:txBody>
      </p:sp>
      <p:sp>
        <p:nvSpPr>
          <p:cNvPr id="691" name="Google Shape;691;p25"/>
          <p:cNvSpPr/>
          <p:nvPr/>
        </p:nvSpPr>
        <p:spPr>
          <a:xfrm>
            <a:off x="1276350" y="7013972"/>
            <a:ext cx="8057197" cy="411435"/>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Fix: </a:t>
            </a:r>
            <a:r>
              <a:rPr b="0" i="0" lang="en-US" sz="2100" u="none" cap="none" strike="noStrike">
                <a:solidFill>
                  <a:srgbClr val="33434E"/>
                </a:solidFill>
                <a:latin typeface="Carlito"/>
                <a:ea typeface="Carlito"/>
                <a:cs typeface="Carlito"/>
                <a:sym typeface="Carlito"/>
              </a:rPr>
              <a:t>verify important facts, assumptions, calculations, and sources.</a:t>
            </a:r>
            <a:endParaRPr b="0" i="0" sz="2100" u="none" cap="none" strike="noStrike">
              <a:solidFill>
                <a:schemeClr val="dk1"/>
              </a:solidFill>
              <a:latin typeface="Calibri"/>
              <a:ea typeface="Calibri"/>
              <a:cs typeface="Calibri"/>
              <a:sym typeface="Calibri"/>
            </a:endParaRPr>
          </a:p>
        </p:txBody>
      </p:sp>
      <p:sp>
        <p:nvSpPr>
          <p:cNvPr id="692" name="Google Shape;692;p25"/>
          <p:cNvSpPr/>
          <p:nvPr/>
        </p:nvSpPr>
        <p:spPr>
          <a:xfrm>
            <a:off x="9324975" y="5505301"/>
            <a:ext cx="8048625" cy="2512516"/>
          </a:xfrm>
          <a:prstGeom prst="roundRect">
            <a:avLst>
              <a:gd fmla="val 6066"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5"/>
          <p:cNvSpPr/>
          <p:nvPr/>
        </p:nvSpPr>
        <p:spPr>
          <a:xfrm>
            <a:off x="9686925" y="5762476"/>
            <a:ext cx="8057197" cy="398115"/>
          </a:xfrm>
          <a:prstGeom prst="rect">
            <a:avLst/>
          </a:prstGeom>
          <a:noFill/>
          <a:ln>
            <a:noFill/>
          </a:ln>
        </p:spPr>
        <p:txBody>
          <a:bodyPr anchorCtr="0" anchor="t" bIns="25400" lIns="25400" spcFirstLastPara="1" rIns="25400" wrap="square" tIns="25400">
            <a:noAutofit/>
          </a:bodyPr>
          <a:lstStyle/>
          <a:p>
            <a:pPr indent="0" lvl="0" marL="0" marR="0" rtl="0" algn="l">
              <a:lnSpc>
                <a:spcPct val="114545"/>
              </a:lnSpc>
              <a:spcBef>
                <a:spcPts val="0"/>
              </a:spcBef>
              <a:spcAft>
                <a:spcPts val="0"/>
              </a:spcAft>
              <a:buClr>
                <a:srgbClr val="6B7780"/>
              </a:buClr>
              <a:buSzPts val="2025"/>
              <a:buFont typeface="Carlito"/>
              <a:buNone/>
            </a:pPr>
            <a:r>
              <a:rPr b="0" i="0" lang="en-US" sz="2025" u="none" cap="none" strike="noStrike">
                <a:solidFill>
                  <a:srgbClr val="6B7780"/>
                </a:solidFill>
                <a:latin typeface="Carlito"/>
                <a:ea typeface="Carlito"/>
                <a:cs typeface="Carlito"/>
                <a:sym typeface="Carlito"/>
              </a:rPr>
              <a:t>Missing skill: Diligence</a:t>
            </a:r>
            <a:endParaRPr b="0" i="0" sz="2025" u="none" cap="none" strike="noStrike">
              <a:solidFill>
                <a:schemeClr val="dk1"/>
              </a:solidFill>
              <a:latin typeface="Calibri"/>
              <a:ea typeface="Calibri"/>
              <a:cs typeface="Calibri"/>
              <a:sym typeface="Calibri"/>
            </a:endParaRPr>
          </a:p>
        </p:txBody>
      </p:sp>
      <p:sp>
        <p:nvSpPr>
          <p:cNvPr id="694" name="Google Shape;694;p25"/>
          <p:cNvSpPr/>
          <p:nvPr/>
        </p:nvSpPr>
        <p:spPr>
          <a:xfrm>
            <a:off x="9686925" y="6160591"/>
            <a:ext cx="7544467" cy="815280"/>
          </a:xfrm>
          <a:prstGeom prst="rect">
            <a:avLst/>
          </a:prstGeom>
          <a:noFill/>
          <a:ln>
            <a:noFill/>
          </a:ln>
        </p:spPr>
        <p:txBody>
          <a:bodyPr anchorCtr="0" anchor="t" bIns="25400" lIns="25400" spcFirstLastPara="1" rIns="25400" wrap="square" tIns="25400">
            <a:noAutofit/>
          </a:bodyPr>
          <a:lstStyle/>
          <a:p>
            <a:pPr indent="0" lvl="0" marL="0" marR="0" rtl="0" algn="l">
              <a:lnSpc>
                <a:spcPct val="98313"/>
              </a:lnSpc>
              <a:spcBef>
                <a:spcPts val="0"/>
              </a:spcBef>
              <a:spcAft>
                <a:spcPts val="0"/>
              </a:spcAft>
              <a:buClr>
                <a:srgbClr val="33434E"/>
              </a:buClr>
              <a:buSzPts val="2550"/>
              <a:buFont typeface="Carlito"/>
              <a:buNone/>
            </a:pPr>
            <a:r>
              <a:rPr b="1" i="0" lang="en-US" sz="2550" u="none" cap="none" strike="noStrike">
                <a:solidFill>
                  <a:srgbClr val="33434E"/>
                </a:solidFill>
                <a:latin typeface="Carlito"/>
                <a:ea typeface="Carlito"/>
                <a:cs typeface="Carlito"/>
                <a:sym typeface="Carlito"/>
              </a:rPr>
              <a:t>Thinking about privacy only after something goes wrong</a:t>
            </a:r>
            <a:endParaRPr b="0" i="0" sz="2550" u="none" cap="none" strike="noStrike">
              <a:solidFill>
                <a:schemeClr val="dk1"/>
              </a:solidFill>
              <a:latin typeface="Calibri"/>
              <a:ea typeface="Calibri"/>
              <a:cs typeface="Calibri"/>
              <a:sym typeface="Calibri"/>
            </a:endParaRPr>
          </a:p>
        </p:txBody>
      </p:sp>
      <p:sp>
        <p:nvSpPr>
          <p:cNvPr id="695" name="Google Shape;695;p25"/>
          <p:cNvSpPr/>
          <p:nvPr/>
        </p:nvSpPr>
        <p:spPr>
          <a:xfrm>
            <a:off x="9686925" y="7013972"/>
            <a:ext cx="7544467"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Fix: </a:t>
            </a:r>
            <a:r>
              <a:rPr b="0" i="0" lang="en-US" sz="2100" u="none" cap="none" strike="noStrike">
                <a:solidFill>
                  <a:srgbClr val="33434E"/>
                </a:solidFill>
                <a:latin typeface="Carlito"/>
                <a:ea typeface="Carlito"/>
                <a:cs typeface="Carlito"/>
                <a:sym typeface="Carlito"/>
              </a:rPr>
              <a:t>decide data, disclosure, approval, and accountability rules before deployment.</a:t>
            </a:r>
            <a:endParaRPr b="0" i="0" sz="2100" u="none" cap="none" strike="noStrike">
              <a:solidFill>
                <a:schemeClr val="dk1"/>
              </a:solidFill>
              <a:latin typeface="Calibri"/>
              <a:ea typeface="Calibri"/>
              <a:cs typeface="Calibri"/>
              <a:sym typeface="Calibri"/>
            </a:endParaRPr>
          </a:p>
        </p:txBody>
      </p:sp>
      <p:sp>
        <p:nvSpPr>
          <p:cNvPr id="696" name="Google Shape;696;p25"/>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Each mistake is one missing competency, and each has a fix you can apply tomorrow.</a:t>
            </a:r>
            <a:endParaRPr b="0" i="0" sz="2775" u="none" cap="none" strike="noStrike">
              <a:solidFill>
                <a:schemeClr val="dk1"/>
              </a:solidFill>
              <a:latin typeface="Calibri"/>
              <a:ea typeface="Calibri"/>
              <a:cs typeface="Calibri"/>
              <a:sym typeface="Calibri"/>
            </a:endParaRPr>
          </a:p>
        </p:txBody>
      </p:sp>
      <p:sp>
        <p:nvSpPr>
          <p:cNvPr id="697" name="Google Shape;697;p25"/>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698" name="Google Shape;698;p25"/>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23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EEE1"/>
        </a:solidFill>
      </p:bgPr>
    </p:bg>
    <p:spTree>
      <p:nvGrpSpPr>
        <p:cNvPr id="703" name="Shape 703"/>
        <p:cNvGrpSpPr/>
        <p:nvPr/>
      </p:nvGrpSpPr>
      <p:grpSpPr>
        <a:xfrm>
          <a:off x="0" y="0"/>
          <a:ext cx="0" cy="0"/>
          <a:chOff x="0" y="0"/>
          <a:chExt cx="0" cy="0"/>
        </a:xfrm>
      </p:grpSpPr>
      <p:pic>
        <p:nvPicPr>
          <p:cNvPr descr="preencoded.png" id="704" name="Google Shape;704;p26"/>
          <p:cNvPicPr preferRelativeResize="0"/>
          <p:nvPr/>
        </p:nvPicPr>
        <p:blipFill rotWithShape="1">
          <a:blip r:embed="rId3">
            <a:alphaModFix/>
          </a:blip>
          <a:srcRect b="0" l="0" r="0" t="0"/>
          <a:stretch/>
        </p:blipFill>
        <p:spPr>
          <a:xfrm>
            <a:off x="914400" y="400050"/>
            <a:ext cx="4391025" cy="676721"/>
          </a:xfrm>
          <a:prstGeom prst="rect">
            <a:avLst/>
          </a:prstGeom>
          <a:noFill/>
          <a:ln>
            <a:noFill/>
          </a:ln>
        </p:spPr>
      </p:pic>
      <p:sp>
        <p:nvSpPr>
          <p:cNvPr id="705" name="Google Shape;705;p26"/>
          <p:cNvSpPr/>
          <p:nvPr/>
        </p:nvSpPr>
        <p:spPr>
          <a:xfrm>
            <a:off x="914400" y="1314450"/>
            <a:ext cx="18105120" cy="793849"/>
          </a:xfrm>
          <a:prstGeom prst="rect">
            <a:avLst/>
          </a:prstGeom>
          <a:noFill/>
          <a:ln>
            <a:noFill/>
          </a:ln>
        </p:spPr>
        <p:txBody>
          <a:bodyPr anchorCtr="0" anchor="t" bIns="25400" lIns="25400" spcFirstLastPara="1" rIns="25400" wrap="square" tIns="25400">
            <a:noAutofit/>
          </a:bodyPr>
          <a:lstStyle/>
          <a:p>
            <a:pPr indent="0" lvl="0" marL="0" marR="0" rtl="0" algn="l">
              <a:lnSpc>
                <a:spcPct val="94464"/>
              </a:lnSpc>
              <a:spcBef>
                <a:spcPts val="0"/>
              </a:spcBef>
              <a:spcAft>
                <a:spcPts val="0"/>
              </a:spcAft>
              <a:buClr>
                <a:srgbClr val="33434E"/>
              </a:buClr>
              <a:buSzPts val="5175"/>
              <a:buFont typeface="Carlito"/>
              <a:buNone/>
            </a:pPr>
            <a:r>
              <a:rPr b="1" i="0" lang="en-US" sz="5175" u="none" cap="none" strike="noStrike">
                <a:solidFill>
                  <a:srgbClr val="33434E"/>
                </a:solidFill>
                <a:latin typeface="Carlito"/>
                <a:ea typeface="Carlito"/>
                <a:cs typeface="Carlito"/>
                <a:sym typeface="Carlito"/>
              </a:rPr>
              <a:t>A checklist for every day</a:t>
            </a:r>
            <a:endParaRPr b="0" i="0" sz="5175" u="none" cap="none" strike="noStrike">
              <a:solidFill>
                <a:schemeClr val="dk1"/>
              </a:solidFill>
              <a:latin typeface="Calibri"/>
              <a:ea typeface="Calibri"/>
              <a:cs typeface="Calibri"/>
              <a:sym typeface="Calibri"/>
            </a:endParaRPr>
          </a:p>
        </p:txBody>
      </p:sp>
      <p:sp>
        <p:nvSpPr>
          <p:cNvPr id="706" name="Google Shape;706;p26"/>
          <p:cNvSpPr/>
          <p:nvPr/>
        </p:nvSpPr>
        <p:spPr>
          <a:xfrm>
            <a:off x="914400" y="2266950"/>
            <a:ext cx="18105120" cy="438150"/>
          </a:xfrm>
          <a:prstGeom prst="rect">
            <a:avLst/>
          </a:prstGeom>
          <a:noFill/>
          <a:ln>
            <a:noFill/>
          </a:ln>
        </p:spPr>
        <p:txBody>
          <a:bodyPr anchorCtr="0" anchor="t" bIns="25400" lIns="25400" spcFirstLastPara="1" rIns="25400" wrap="square" tIns="25400">
            <a:noAutofit/>
          </a:bodyPr>
          <a:lstStyle/>
          <a:p>
            <a:pPr indent="0" lvl="0" marL="0" marR="0" rtl="0" algn="l">
              <a:lnSpc>
                <a:spcPct val="97674"/>
              </a:lnSpc>
              <a:spcBef>
                <a:spcPts val="0"/>
              </a:spcBef>
              <a:spcAft>
                <a:spcPts val="0"/>
              </a:spcAft>
              <a:buClr>
                <a:srgbClr val="6B7780"/>
              </a:buClr>
              <a:buSzPts val="2625"/>
              <a:buFont typeface="Carlito"/>
              <a:buNone/>
            </a:pPr>
            <a:r>
              <a:rPr b="0" i="0" lang="en-US" sz="2625" u="none" cap="none" strike="noStrike">
                <a:solidFill>
                  <a:srgbClr val="6B7780"/>
                </a:solidFill>
                <a:latin typeface="Carlito"/>
                <a:ea typeface="Carlito"/>
                <a:cs typeface="Carlito"/>
                <a:sym typeface="Carlito"/>
              </a:rPr>
              <a:t>Before you ask AI to do meaningful work, run this quick check.</a:t>
            </a:r>
            <a:endParaRPr b="0" i="0" sz="2625" u="none" cap="none" strike="noStrike">
              <a:solidFill>
                <a:schemeClr val="dk1"/>
              </a:solidFill>
              <a:latin typeface="Calibri"/>
              <a:ea typeface="Calibri"/>
              <a:cs typeface="Calibri"/>
              <a:sym typeface="Calibri"/>
            </a:endParaRPr>
          </a:p>
        </p:txBody>
      </p:sp>
      <p:sp>
        <p:nvSpPr>
          <p:cNvPr id="707" name="Google Shape;707;p26"/>
          <p:cNvSpPr/>
          <p:nvPr/>
        </p:nvSpPr>
        <p:spPr>
          <a:xfrm>
            <a:off x="914400" y="3019425"/>
            <a:ext cx="3843338" cy="2817316"/>
          </a:xfrm>
          <a:prstGeom prst="roundRect">
            <a:avLst>
              <a:gd fmla="val 5409" name="adj"/>
            </a:avLst>
          </a:prstGeom>
          <a:solidFill>
            <a:srgbClr val="3343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26"/>
          <p:cNvSpPr/>
          <p:nvPr/>
        </p:nvSpPr>
        <p:spPr>
          <a:xfrm>
            <a:off x="1276350" y="3381375"/>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Delegate</a:t>
            </a:r>
            <a:endParaRPr b="0" i="0" sz="3000" u="none" cap="none" strike="noStrike">
              <a:solidFill>
                <a:schemeClr val="dk1"/>
              </a:solidFill>
              <a:latin typeface="Calibri"/>
              <a:ea typeface="Calibri"/>
              <a:cs typeface="Calibri"/>
              <a:sym typeface="Calibri"/>
            </a:endParaRPr>
          </a:p>
        </p:txBody>
      </p:sp>
      <p:sp>
        <p:nvSpPr>
          <p:cNvPr id="709" name="Google Shape;709;p26"/>
          <p:cNvSpPr/>
          <p:nvPr/>
        </p:nvSpPr>
        <p:spPr>
          <a:xfrm>
            <a:off x="1276350" y="3981450"/>
            <a:ext cx="3213021" cy="1158106"/>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What is the goal? What should AI do? What stays with me?</a:t>
            </a:r>
            <a:endParaRPr b="0" i="0" sz="2100" u="none" cap="none" strike="noStrike">
              <a:solidFill>
                <a:schemeClr val="dk1"/>
              </a:solidFill>
              <a:latin typeface="Calibri"/>
              <a:ea typeface="Calibri"/>
              <a:cs typeface="Calibri"/>
              <a:sym typeface="Calibri"/>
            </a:endParaRPr>
          </a:p>
        </p:txBody>
      </p:sp>
      <p:sp>
        <p:nvSpPr>
          <p:cNvPr id="710" name="Google Shape;710;p26"/>
          <p:cNvSpPr/>
          <p:nvPr/>
        </p:nvSpPr>
        <p:spPr>
          <a:xfrm>
            <a:off x="5119688" y="3019425"/>
            <a:ext cx="3843338" cy="2817316"/>
          </a:xfrm>
          <a:prstGeom prst="roundRect">
            <a:avLst>
              <a:gd fmla="val 5409" name="adj"/>
            </a:avLst>
          </a:prstGeom>
          <a:solidFill>
            <a:srgbClr val="C05F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6"/>
          <p:cNvSpPr/>
          <p:nvPr/>
        </p:nvSpPr>
        <p:spPr>
          <a:xfrm>
            <a:off x="5481638" y="3381375"/>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F5EEE1"/>
              </a:buClr>
              <a:buSzPts val="3000"/>
              <a:buFont typeface="Carlito"/>
              <a:buNone/>
            </a:pPr>
            <a:r>
              <a:rPr b="1" i="0" lang="en-US" sz="3000" u="none" cap="none" strike="noStrike">
                <a:solidFill>
                  <a:srgbClr val="F5EEE1"/>
                </a:solidFill>
                <a:latin typeface="Carlito"/>
                <a:ea typeface="Carlito"/>
                <a:cs typeface="Carlito"/>
                <a:sym typeface="Carlito"/>
              </a:rPr>
              <a:t>Describe</a:t>
            </a:r>
            <a:endParaRPr b="0" i="0" sz="3000" u="none" cap="none" strike="noStrike">
              <a:solidFill>
                <a:schemeClr val="dk1"/>
              </a:solidFill>
              <a:latin typeface="Calibri"/>
              <a:ea typeface="Calibri"/>
              <a:cs typeface="Calibri"/>
              <a:sym typeface="Calibri"/>
            </a:endParaRPr>
          </a:p>
        </p:txBody>
      </p:sp>
      <p:sp>
        <p:nvSpPr>
          <p:cNvPr id="712" name="Google Shape;712;p26"/>
          <p:cNvSpPr/>
          <p:nvPr/>
        </p:nvSpPr>
        <p:spPr>
          <a:xfrm>
            <a:off x="5481638" y="3981450"/>
            <a:ext cx="3213021" cy="1158106"/>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F5EEE1"/>
              </a:buClr>
              <a:buSzPts val="2100"/>
              <a:buFont typeface="Carlito"/>
              <a:buNone/>
            </a:pPr>
            <a:r>
              <a:rPr b="0" i="0" lang="en-US" sz="2100" u="none" cap="none" strike="noStrike">
                <a:solidFill>
                  <a:srgbClr val="F5EEE1"/>
                </a:solidFill>
                <a:latin typeface="Carlito"/>
                <a:ea typeface="Carlito"/>
                <a:cs typeface="Carlito"/>
                <a:sym typeface="Carlito"/>
              </a:rPr>
              <a:t>What output, context, method, and behavior does AI need?</a:t>
            </a:r>
            <a:endParaRPr b="0" i="0" sz="2100" u="none" cap="none" strike="noStrike">
              <a:solidFill>
                <a:schemeClr val="dk1"/>
              </a:solidFill>
              <a:latin typeface="Calibri"/>
              <a:ea typeface="Calibri"/>
              <a:cs typeface="Calibri"/>
              <a:sym typeface="Calibri"/>
            </a:endParaRPr>
          </a:p>
        </p:txBody>
      </p:sp>
      <p:sp>
        <p:nvSpPr>
          <p:cNvPr id="713" name="Google Shape;713;p26"/>
          <p:cNvSpPr/>
          <p:nvPr/>
        </p:nvSpPr>
        <p:spPr>
          <a:xfrm>
            <a:off x="9324975" y="3019425"/>
            <a:ext cx="3843338" cy="2817316"/>
          </a:xfrm>
          <a:prstGeom prst="roundRect">
            <a:avLst>
              <a:gd fmla="val 5409" name="adj"/>
            </a:avLst>
          </a:prstGeom>
          <a:solidFill>
            <a:srgbClr val="D3A0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26"/>
          <p:cNvSpPr/>
          <p:nvPr/>
        </p:nvSpPr>
        <p:spPr>
          <a:xfrm>
            <a:off x="9686925" y="3381375"/>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Discern</a:t>
            </a:r>
            <a:endParaRPr b="0" i="0" sz="3000" u="none" cap="none" strike="noStrike">
              <a:solidFill>
                <a:schemeClr val="dk1"/>
              </a:solidFill>
              <a:latin typeface="Calibri"/>
              <a:ea typeface="Calibri"/>
              <a:cs typeface="Calibri"/>
              <a:sym typeface="Calibri"/>
            </a:endParaRPr>
          </a:p>
        </p:txBody>
      </p:sp>
      <p:sp>
        <p:nvSpPr>
          <p:cNvPr id="715" name="Google Shape;715;p26"/>
          <p:cNvSpPr/>
          <p:nvPr/>
        </p:nvSpPr>
        <p:spPr>
          <a:xfrm>
            <a:off x="9686925" y="3981450"/>
            <a:ext cx="3213021" cy="1158106"/>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How will I know the answer is correct, complete, and useful?</a:t>
            </a:r>
            <a:endParaRPr b="0" i="0" sz="2100" u="none" cap="none" strike="noStrike">
              <a:solidFill>
                <a:schemeClr val="dk1"/>
              </a:solidFill>
              <a:latin typeface="Calibri"/>
              <a:ea typeface="Calibri"/>
              <a:cs typeface="Calibri"/>
              <a:sym typeface="Calibri"/>
            </a:endParaRPr>
          </a:p>
        </p:txBody>
      </p:sp>
      <p:sp>
        <p:nvSpPr>
          <p:cNvPr id="716" name="Google Shape;716;p26"/>
          <p:cNvSpPr/>
          <p:nvPr/>
        </p:nvSpPr>
        <p:spPr>
          <a:xfrm>
            <a:off x="13530263" y="3019425"/>
            <a:ext cx="3843338" cy="2817316"/>
          </a:xfrm>
          <a:prstGeom prst="roundRect">
            <a:avLst>
              <a:gd fmla="val 5409"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26"/>
          <p:cNvSpPr/>
          <p:nvPr/>
        </p:nvSpPr>
        <p:spPr>
          <a:xfrm>
            <a:off x="13892213" y="3381375"/>
            <a:ext cx="3431381" cy="495300"/>
          </a:xfrm>
          <a:prstGeom prst="rect">
            <a:avLst/>
          </a:prstGeom>
          <a:noFill/>
          <a:ln>
            <a:noFill/>
          </a:ln>
        </p:spPr>
        <p:txBody>
          <a:bodyPr anchorCtr="0" anchor="t" bIns="25400" lIns="25400" spcFirstLastPara="1" rIns="25400" wrap="square" tIns="25400">
            <a:noAutofit/>
          </a:bodyPr>
          <a:lstStyle/>
          <a:p>
            <a:pPr indent="0" lvl="0" marL="0" marR="0" rtl="0" algn="l">
              <a:lnSpc>
                <a:spcPct val="98969"/>
              </a:lnSpc>
              <a:spcBef>
                <a:spcPts val="0"/>
              </a:spcBef>
              <a:spcAft>
                <a:spcPts val="0"/>
              </a:spcAft>
              <a:buClr>
                <a:srgbClr val="33434E"/>
              </a:buClr>
              <a:buSzPts val="3000"/>
              <a:buFont typeface="Carlito"/>
              <a:buNone/>
            </a:pPr>
            <a:r>
              <a:rPr b="1" i="0" lang="en-US" sz="3000" u="none" cap="none" strike="noStrike">
                <a:solidFill>
                  <a:srgbClr val="33434E"/>
                </a:solidFill>
                <a:latin typeface="Carlito"/>
                <a:ea typeface="Carlito"/>
                <a:cs typeface="Carlito"/>
                <a:sym typeface="Carlito"/>
              </a:rPr>
              <a:t>Be diligent</a:t>
            </a:r>
            <a:endParaRPr b="0" i="0" sz="3000" u="none" cap="none" strike="noStrike">
              <a:solidFill>
                <a:schemeClr val="dk1"/>
              </a:solidFill>
              <a:latin typeface="Calibri"/>
              <a:ea typeface="Calibri"/>
              <a:cs typeface="Calibri"/>
              <a:sym typeface="Calibri"/>
            </a:endParaRPr>
          </a:p>
        </p:txBody>
      </p:sp>
      <p:sp>
        <p:nvSpPr>
          <p:cNvPr id="718" name="Google Shape;718;p26"/>
          <p:cNvSpPr/>
          <p:nvPr/>
        </p:nvSpPr>
        <p:spPr>
          <a:xfrm>
            <a:off x="13892213" y="3981450"/>
            <a:ext cx="3213021" cy="153144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33434E"/>
              </a:buClr>
              <a:buSzPts val="2100"/>
              <a:buFont typeface="Carlito"/>
              <a:buNone/>
            </a:pPr>
            <a:r>
              <a:rPr b="0" i="0" lang="en-US" sz="2100" u="none" cap="none" strike="noStrike">
                <a:solidFill>
                  <a:srgbClr val="33434E"/>
                </a:solidFill>
                <a:latin typeface="Carlito"/>
                <a:ea typeface="Carlito"/>
                <a:cs typeface="Carlito"/>
                <a:sym typeface="Carlito"/>
              </a:rPr>
              <a:t>Is the data safe? Does AI's role need disclosure? Who approves and owns the result?</a:t>
            </a:r>
            <a:endParaRPr b="0" i="0" sz="2100" u="none" cap="none" strike="noStrike">
              <a:solidFill>
                <a:schemeClr val="dk1"/>
              </a:solidFill>
              <a:latin typeface="Calibri"/>
              <a:ea typeface="Calibri"/>
              <a:cs typeface="Calibri"/>
              <a:sym typeface="Calibri"/>
            </a:endParaRPr>
          </a:p>
        </p:txBody>
      </p:sp>
      <p:sp>
        <p:nvSpPr>
          <p:cNvPr id="719" name="Google Shape;719;p26"/>
          <p:cNvSpPr/>
          <p:nvPr/>
        </p:nvSpPr>
        <p:spPr>
          <a:xfrm>
            <a:off x="914400" y="6198691"/>
            <a:ext cx="16459200" cy="1261021"/>
          </a:xfrm>
          <a:prstGeom prst="roundRect">
            <a:avLst>
              <a:gd fmla="val 12085"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6"/>
          <p:cNvSpPr/>
          <p:nvPr/>
        </p:nvSpPr>
        <p:spPr>
          <a:xfrm>
            <a:off x="1276350" y="6455866"/>
            <a:ext cx="16207359" cy="784771"/>
          </a:xfrm>
          <a:prstGeom prst="rect">
            <a:avLst/>
          </a:prstGeom>
          <a:noFill/>
          <a:ln>
            <a:noFill/>
          </a:ln>
        </p:spPr>
        <p:txBody>
          <a:bodyPr anchorCtr="0" anchor="t" bIns="25400" lIns="25400" spcFirstLastPara="1" rIns="25400" wrap="square" tIns="25400">
            <a:noAutofit/>
          </a:bodyPr>
          <a:lstStyle/>
          <a:p>
            <a:pPr indent="0" lvl="0" marL="0" marR="0" rtl="0" algn="l">
              <a:lnSpc>
                <a:spcPct val="115294"/>
              </a:lnSpc>
              <a:spcBef>
                <a:spcPts val="0"/>
              </a:spcBef>
              <a:spcAft>
                <a:spcPts val="0"/>
              </a:spcAft>
              <a:buClr>
                <a:srgbClr val="C05F44"/>
              </a:buClr>
              <a:buSzPts val="2100"/>
              <a:buFont typeface="Carlito"/>
              <a:buNone/>
            </a:pPr>
            <a:r>
              <a:rPr b="1" i="0" lang="en-US" sz="2100" u="none" cap="none" strike="noStrike">
                <a:solidFill>
                  <a:srgbClr val="C05F44"/>
                </a:solidFill>
                <a:latin typeface="Carlito"/>
                <a:ea typeface="Carlito"/>
                <a:cs typeface="Carlito"/>
                <a:sym typeface="Carlito"/>
              </a:rPr>
              <a:t>Practice this week: </a:t>
            </a:r>
            <a:r>
              <a:rPr b="0" i="0" lang="en-US" sz="2100" u="none" cap="none" strike="noStrike">
                <a:solidFill>
                  <a:srgbClr val="33434E"/>
                </a:solidFill>
                <a:latin typeface="Carlito"/>
                <a:ea typeface="Carlito"/>
                <a:cs typeface="Carlito"/>
                <a:sym typeface="Carlito"/>
              </a:rPr>
              <a:t>pick a real task and ask an assistant to walk you through the four Ds for it, one question at a time, with the plan as a short table at the end. Notice that the plan is mostly made of your answers, not the AI's.</a:t>
            </a:r>
            <a:endParaRPr b="0" i="0" sz="2100" u="none" cap="none" strike="noStrike">
              <a:solidFill>
                <a:schemeClr val="dk1"/>
              </a:solidFill>
              <a:latin typeface="Calibri"/>
              <a:ea typeface="Calibri"/>
              <a:cs typeface="Calibri"/>
              <a:sym typeface="Calibri"/>
            </a:endParaRPr>
          </a:p>
        </p:txBody>
      </p:sp>
      <p:sp>
        <p:nvSpPr>
          <p:cNvPr id="721" name="Google Shape;721;p26"/>
          <p:cNvSpPr/>
          <p:nvPr/>
        </p:nvSpPr>
        <p:spPr>
          <a:xfrm>
            <a:off x="914400" y="8410575"/>
            <a:ext cx="18105120" cy="496193"/>
          </a:xfrm>
          <a:prstGeom prst="rect">
            <a:avLst/>
          </a:prstGeom>
          <a:noFill/>
          <a:ln>
            <a:noFill/>
          </a:ln>
        </p:spPr>
        <p:txBody>
          <a:bodyPr anchorCtr="0" anchor="t" bIns="25400" lIns="25400" spcFirstLastPara="1" rIns="25400" wrap="square" tIns="25400">
            <a:noAutofit/>
          </a:bodyPr>
          <a:lstStyle/>
          <a:p>
            <a:pPr indent="0" lvl="0" marL="0" marR="0" rtl="0" algn="l">
              <a:lnSpc>
                <a:spcPct val="106889"/>
              </a:lnSpc>
              <a:spcBef>
                <a:spcPts val="0"/>
              </a:spcBef>
              <a:spcAft>
                <a:spcPts val="0"/>
              </a:spcAft>
              <a:buClr>
                <a:srgbClr val="C05F44"/>
              </a:buClr>
              <a:buSzPts val="2775"/>
              <a:buFont typeface="Carlito"/>
              <a:buNone/>
            </a:pPr>
            <a:r>
              <a:rPr b="1" i="0" lang="en-US" sz="2775" u="none" cap="none" strike="noStrike">
                <a:solidFill>
                  <a:srgbClr val="C05F44"/>
                </a:solidFill>
                <a:latin typeface="Carlito"/>
                <a:ea typeface="Carlito"/>
                <a:cs typeface="Carlito"/>
                <a:sym typeface="Carlito"/>
              </a:rPr>
              <a:t>This is not paperwork for every small task. The point is to make the four questions automatic.</a:t>
            </a:r>
            <a:endParaRPr b="0" i="0" sz="2775" u="none" cap="none" strike="noStrike">
              <a:solidFill>
                <a:schemeClr val="dk1"/>
              </a:solidFill>
              <a:latin typeface="Calibri"/>
              <a:ea typeface="Calibri"/>
              <a:cs typeface="Calibri"/>
              <a:sym typeface="Calibri"/>
            </a:endParaRPr>
          </a:p>
        </p:txBody>
      </p:sp>
      <p:sp>
        <p:nvSpPr>
          <p:cNvPr id="722" name="Google Shape;722;p26"/>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723" name="Google Shape;723;p26"/>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6B7780"/>
              </a:buClr>
              <a:buSzPts val="1800"/>
              <a:buFont typeface="Carlito"/>
              <a:buNone/>
            </a:pPr>
            <a:r>
              <a:rPr b="0" i="0" lang="en-US" sz="1800" u="none" cap="none" strike="noStrike">
                <a:solidFill>
                  <a:srgbClr val="6B7780"/>
                </a:solidFill>
                <a:latin typeface="Carlito"/>
                <a:ea typeface="Carlito"/>
                <a:cs typeface="Carlito"/>
                <a:sym typeface="Carlito"/>
              </a:rPr>
              <a:t>24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434E"/>
        </a:solidFill>
      </p:bgPr>
    </p:bg>
    <p:spTree>
      <p:nvGrpSpPr>
        <p:cNvPr id="728" name="Shape 728"/>
        <p:cNvGrpSpPr/>
        <p:nvPr/>
      </p:nvGrpSpPr>
      <p:grpSpPr>
        <a:xfrm>
          <a:off x="0" y="0"/>
          <a:ext cx="0" cy="0"/>
          <a:chOff x="0" y="0"/>
          <a:chExt cx="0" cy="0"/>
        </a:xfrm>
      </p:grpSpPr>
      <p:sp>
        <p:nvSpPr>
          <p:cNvPr id="729" name="Google Shape;729;p27"/>
          <p:cNvSpPr/>
          <p:nvPr/>
        </p:nvSpPr>
        <p:spPr>
          <a:xfrm>
            <a:off x="914400" y="771525"/>
            <a:ext cx="4752975" cy="1079599"/>
          </a:xfrm>
          <a:prstGeom prst="roundRect">
            <a:avLst>
              <a:gd fmla="val 14116" name="adj"/>
            </a:avLst>
          </a:prstGeom>
          <a:solidFill>
            <a:srgbClr val="FBF7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0" name="Google Shape;730;p27"/>
          <p:cNvPicPr preferRelativeResize="0"/>
          <p:nvPr/>
        </p:nvPicPr>
        <p:blipFill rotWithShape="1">
          <a:blip r:embed="rId3">
            <a:alphaModFix/>
          </a:blip>
          <a:srcRect b="0" l="0" r="0" t="0"/>
          <a:stretch/>
        </p:blipFill>
        <p:spPr>
          <a:xfrm>
            <a:off x="1209675" y="990600"/>
            <a:ext cx="4162425" cy="641449"/>
          </a:xfrm>
          <a:prstGeom prst="rect">
            <a:avLst/>
          </a:prstGeom>
          <a:noFill/>
          <a:ln>
            <a:noFill/>
          </a:ln>
        </p:spPr>
      </p:pic>
      <p:sp>
        <p:nvSpPr>
          <p:cNvPr id="731" name="Google Shape;731;p27"/>
          <p:cNvSpPr/>
          <p:nvPr/>
        </p:nvSpPr>
        <p:spPr>
          <a:xfrm>
            <a:off x="914400" y="2924175"/>
            <a:ext cx="16580168" cy="1878211"/>
          </a:xfrm>
          <a:prstGeom prst="rect">
            <a:avLst/>
          </a:prstGeom>
          <a:noFill/>
          <a:ln>
            <a:noFill/>
          </a:ln>
        </p:spPr>
        <p:txBody>
          <a:bodyPr anchorCtr="0" anchor="t" bIns="25400" lIns="25400" spcFirstLastPara="1" rIns="25400" wrap="square" tIns="25400">
            <a:noAutofit/>
          </a:bodyPr>
          <a:lstStyle/>
          <a:p>
            <a:pPr indent="0" lvl="0" marL="0" marR="0" rtl="0" algn="l">
              <a:lnSpc>
                <a:spcPct val="94244"/>
              </a:lnSpc>
              <a:spcBef>
                <a:spcPts val="0"/>
              </a:spcBef>
              <a:spcAft>
                <a:spcPts val="0"/>
              </a:spcAft>
              <a:buClr>
                <a:srgbClr val="F5EEE1"/>
              </a:buClr>
              <a:buSzPts val="6300"/>
              <a:buFont typeface="Carlito"/>
              <a:buNone/>
            </a:pPr>
            <a:r>
              <a:rPr b="1" i="0" lang="en-US" sz="6300" u="none" cap="none" strike="noStrike">
                <a:solidFill>
                  <a:srgbClr val="F5EEE1"/>
                </a:solidFill>
                <a:latin typeface="Carlito"/>
                <a:ea typeface="Carlito"/>
                <a:cs typeface="Carlito"/>
                <a:sym typeface="Carlito"/>
              </a:rPr>
              <a:t>Decide what AI should do. Describe the work clearly.</a:t>
            </a:r>
            <a:endParaRPr b="0" i="0" sz="6300" u="none" cap="none" strike="noStrike">
              <a:solidFill>
                <a:schemeClr val="dk1"/>
              </a:solidFill>
              <a:latin typeface="Calibri"/>
              <a:ea typeface="Calibri"/>
              <a:cs typeface="Calibri"/>
              <a:sym typeface="Calibri"/>
            </a:endParaRPr>
          </a:p>
        </p:txBody>
      </p:sp>
      <p:sp>
        <p:nvSpPr>
          <p:cNvPr id="732" name="Google Shape;732;p27"/>
          <p:cNvSpPr/>
          <p:nvPr/>
        </p:nvSpPr>
        <p:spPr>
          <a:xfrm>
            <a:off x="914400" y="4953000"/>
            <a:ext cx="16580168" cy="1878211"/>
          </a:xfrm>
          <a:prstGeom prst="rect">
            <a:avLst/>
          </a:prstGeom>
          <a:noFill/>
          <a:ln>
            <a:noFill/>
          </a:ln>
        </p:spPr>
        <p:txBody>
          <a:bodyPr anchorCtr="0" anchor="t" bIns="25400" lIns="25400" spcFirstLastPara="1" rIns="25400" wrap="square" tIns="25400">
            <a:noAutofit/>
          </a:bodyPr>
          <a:lstStyle/>
          <a:p>
            <a:pPr indent="0" lvl="0" marL="0" marR="0" rtl="0" algn="l">
              <a:lnSpc>
                <a:spcPct val="94244"/>
              </a:lnSpc>
              <a:spcBef>
                <a:spcPts val="0"/>
              </a:spcBef>
              <a:spcAft>
                <a:spcPts val="0"/>
              </a:spcAft>
              <a:buClr>
                <a:srgbClr val="D3A03F"/>
              </a:buClr>
              <a:buSzPts val="6300"/>
              <a:buFont typeface="Carlito"/>
              <a:buNone/>
            </a:pPr>
            <a:r>
              <a:rPr b="1" i="0" lang="en-US" sz="6300" u="none" cap="none" strike="noStrike">
                <a:solidFill>
                  <a:srgbClr val="D3A03F"/>
                </a:solidFill>
                <a:latin typeface="Carlito"/>
                <a:ea typeface="Carlito"/>
                <a:cs typeface="Carlito"/>
                <a:sym typeface="Carlito"/>
              </a:rPr>
              <a:t>Check what comes back. Own what happens next.</a:t>
            </a:r>
            <a:endParaRPr b="0" i="0" sz="6300" u="none" cap="none" strike="noStrike">
              <a:solidFill>
                <a:schemeClr val="dk1"/>
              </a:solidFill>
              <a:latin typeface="Calibri"/>
              <a:ea typeface="Calibri"/>
              <a:cs typeface="Calibri"/>
              <a:sym typeface="Calibri"/>
            </a:endParaRPr>
          </a:p>
        </p:txBody>
      </p:sp>
      <p:sp>
        <p:nvSpPr>
          <p:cNvPr id="733" name="Google Shape;733;p27"/>
          <p:cNvSpPr/>
          <p:nvPr/>
        </p:nvSpPr>
        <p:spPr>
          <a:xfrm>
            <a:off x="914400" y="7239000"/>
            <a:ext cx="15069312" cy="1278210"/>
          </a:xfrm>
          <a:prstGeom prst="rect">
            <a:avLst/>
          </a:prstGeom>
          <a:noFill/>
          <a:ln>
            <a:noFill/>
          </a:ln>
        </p:spPr>
        <p:txBody>
          <a:bodyPr anchorCtr="0" anchor="t" bIns="25400" lIns="25400" spcFirstLastPara="1" rIns="25400" wrap="square" tIns="25400">
            <a:noAutofit/>
          </a:bodyPr>
          <a:lstStyle/>
          <a:p>
            <a:pPr indent="0" lvl="0" marL="0" marR="0" rtl="0" algn="l">
              <a:lnSpc>
                <a:spcPct val="114211"/>
              </a:lnSpc>
              <a:spcBef>
                <a:spcPts val="0"/>
              </a:spcBef>
              <a:spcAft>
                <a:spcPts val="0"/>
              </a:spcAft>
              <a:buClr>
                <a:srgbClr val="F5EEE1"/>
              </a:buClr>
              <a:buSzPts val="2325"/>
              <a:buFont typeface="Carlito"/>
              <a:buNone/>
            </a:pPr>
            <a:r>
              <a:rPr b="0" i="0" lang="en-US" sz="2325" u="none" cap="none" strike="noStrike">
                <a:solidFill>
                  <a:srgbClr val="F5EEE1"/>
                </a:solidFill>
                <a:latin typeface="Carlito"/>
                <a:ea typeface="Carlito"/>
                <a:cs typeface="Carlito"/>
                <a:sym typeface="Carlito"/>
              </a:rPr>
              <a:t>The AI Fluency Framework was created by Rick Dakan and Joseph Feller and taught through courses produced with Anthropic (CC BY-NC-SA 4.0). The free original course is on Claude Academy. This crash course is an independent explanation in the book's own words; the Agent Factory mappings are our extensions.</a:t>
            </a:r>
            <a:endParaRPr b="0" i="0" sz="2325" u="none" cap="none" strike="noStrike">
              <a:solidFill>
                <a:schemeClr val="dk1"/>
              </a:solidFill>
              <a:latin typeface="Calibri"/>
              <a:ea typeface="Calibri"/>
              <a:cs typeface="Calibri"/>
              <a:sym typeface="Calibri"/>
            </a:endParaRPr>
          </a:p>
        </p:txBody>
      </p:sp>
      <p:sp>
        <p:nvSpPr>
          <p:cNvPr id="734" name="Google Shape;734;p27"/>
          <p:cNvSpPr/>
          <p:nvPr/>
        </p:nvSpPr>
        <p:spPr>
          <a:xfrm>
            <a:off x="914400" y="8763000"/>
            <a:ext cx="16093440" cy="481012"/>
          </a:xfrm>
          <a:prstGeom prst="rect">
            <a:avLst/>
          </a:prstGeom>
          <a:noFill/>
          <a:ln>
            <a:noFill/>
          </a:ln>
        </p:spPr>
        <p:txBody>
          <a:bodyPr anchorCtr="0" anchor="t" bIns="25400" lIns="25400" spcFirstLastPara="1" rIns="25400" wrap="square" tIns="25400">
            <a:noAutofit/>
          </a:bodyPr>
          <a:lstStyle/>
          <a:p>
            <a:pPr indent="0" lvl="0" marL="0" marR="0" rtl="0" algn="l">
              <a:lnSpc>
                <a:spcPct val="122368"/>
              </a:lnSpc>
              <a:spcBef>
                <a:spcPts val="0"/>
              </a:spcBef>
              <a:spcAft>
                <a:spcPts val="0"/>
              </a:spcAft>
              <a:buClr>
                <a:srgbClr val="F5EEE1"/>
              </a:buClr>
              <a:buSzPts val="2325"/>
              <a:buFont typeface="Carlito"/>
              <a:buNone/>
            </a:pPr>
            <a:r>
              <a:rPr b="1" i="0" lang="en-US" sz="2325" u="none" cap="none" strike="noStrike">
                <a:solidFill>
                  <a:srgbClr val="F5EEE1"/>
                </a:solidFill>
                <a:latin typeface="Carlito"/>
                <a:ea typeface="Carlito"/>
                <a:cs typeface="Carlito"/>
                <a:sym typeface="Carlito"/>
              </a:rPr>
              <a:t>Next in Foundations: AI Prompting in 2026</a:t>
            </a:r>
            <a:endParaRPr b="0" i="0" sz="2325" u="none" cap="none" strike="noStrike">
              <a:solidFill>
                <a:schemeClr val="dk1"/>
              </a:solidFill>
              <a:latin typeface="Calibri"/>
              <a:ea typeface="Calibri"/>
              <a:cs typeface="Calibri"/>
              <a:sym typeface="Calibri"/>
            </a:endParaRPr>
          </a:p>
        </p:txBody>
      </p:sp>
      <p:sp>
        <p:nvSpPr>
          <p:cNvPr id="735" name="Google Shape;735;p27"/>
          <p:cNvSpPr/>
          <p:nvPr/>
        </p:nvSpPr>
        <p:spPr>
          <a:xfrm>
            <a:off x="914400" y="9544050"/>
            <a:ext cx="2888270"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B9C2C9"/>
              </a:buClr>
              <a:buSzPts val="1800"/>
              <a:buFont typeface="Carlito"/>
              <a:buNone/>
            </a:pPr>
            <a:r>
              <a:rPr b="0" i="0" lang="en-US" sz="1800" u="none" cap="none" strike="noStrike">
                <a:solidFill>
                  <a:srgbClr val="B9C2C9"/>
                </a:solidFill>
                <a:latin typeface="Carlito"/>
                <a:ea typeface="Carlito"/>
                <a:cs typeface="Carlito"/>
                <a:sym typeface="Carlito"/>
              </a:rPr>
              <a:t>agentfactory.panaversity.org</a:t>
            </a:r>
            <a:endParaRPr b="0" i="0" sz="1800" u="none" cap="none" strike="noStrike">
              <a:solidFill>
                <a:schemeClr val="dk1"/>
              </a:solidFill>
              <a:latin typeface="Calibri"/>
              <a:ea typeface="Calibri"/>
              <a:cs typeface="Calibri"/>
              <a:sym typeface="Calibri"/>
            </a:endParaRPr>
          </a:p>
        </p:txBody>
      </p:sp>
      <p:sp>
        <p:nvSpPr>
          <p:cNvPr id="736" name="Google Shape;736;p27"/>
          <p:cNvSpPr/>
          <p:nvPr/>
        </p:nvSpPr>
        <p:spPr>
          <a:xfrm>
            <a:off x="17141875" y="9544050"/>
            <a:ext cx="307925" cy="381000"/>
          </a:xfrm>
          <a:prstGeom prst="rect">
            <a:avLst/>
          </a:prstGeom>
          <a:noFill/>
          <a:ln>
            <a:noFill/>
          </a:ln>
        </p:spPr>
        <p:txBody>
          <a:bodyPr anchorCtr="0" anchor="t" bIns="25400" lIns="25400" spcFirstLastPara="1" rIns="25400" wrap="square" tIns="25400">
            <a:noAutofit/>
          </a:bodyPr>
          <a:lstStyle/>
          <a:p>
            <a:pPr indent="0" lvl="0" marL="0" marR="0" rtl="0" algn="l">
              <a:lnSpc>
                <a:spcPct val="122034"/>
              </a:lnSpc>
              <a:spcBef>
                <a:spcPts val="0"/>
              </a:spcBef>
              <a:spcAft>
                <a:spcPts val="0"/>
              </a:spcAft>
              <a:buClr>
                <a:srgbClr val="B9C2C9"/>
              </a:buClr>
              <a:buSzPts val="1800"/>
              <a:buFont typeface="Carlito"/>
              <a:buNone/>
            </a:pPr>
            <a:r>
              <a:rPr b="0" i="0" lang="en-US" sz="1800" u="none" cap="none" strike="noStrike">
                <a:solidFill>
                  <a:srgbClr val="B9C2C9"/>
                </a:solidFill>
                <a:latin typeface="Carlito"/>
                <a:ea typeface="Carlito"/>
                <a:cs typeface="Carlito"/>
                <a:sym typeface="Carlito"/>
              </a:rPr>
              <a:t>25</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