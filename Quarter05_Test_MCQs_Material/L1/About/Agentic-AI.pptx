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743200" y="0"/>
            <a:ext cx="3291204" cy="1828800"/>
          </a:xfrm>
          <a:custGeom>
            <a:avLst/>
            <a:gdLst/>
            <a:ahLst/>
            <a:cxnLst/>
            <a:rect l="l" t="t" r="r" b="b"/>
            <a:pathLst>
              <a:path w="3291204" h="1828800">
                <a:moveTo>
                  <a:pt x="1828799" y="1828799"/>
                </a:moveTo>
                <a:lnTo>
                  <a:pt x="0" y="0"/>
                </a:lnTo>
                <a:lnTo>
                  <a:pt x="3291125" y="0"/>
                </a:lnTo>
                <a:lnTo>
                  <a:pt x="3291074" y="42219"/>
                </a:lnTo>
                <a:lnTo>
                  <a:pt x="3290178" y="97994"/>
                </a:lnTo>
                <a:lnTo>
                  <a:pt x="3288464" y="152764"/>
                </a:lnTo>
                <a:lnTo>
                  <a:pt x="3285942" y="206535"/>
                </a:lnTo>
                <a:lnTo>
                  <a:pt x="3282621" y="259311"/>
                </a:lnTo>
                <a:lnTo>
                  <a:pt x="3278513" y="311099"/>
                </a:lnTo>
                <a:lnTo>
                  <a:pt x="3273626" y="361904"/>
                </a:lnTo>
                <a:lnTo>
                  <a:pt x="3267970" y="411732"/>
                </a:lnTo>
                <a:lnTo>
                  <a:pt x="3261555" y="460588"/>
                </a:lnTo>
                <a:lnTo>
                  <a:pt x="3254392" y="508479"/>
                </a:lnTo>
                <a:lnTo>
                  <a:pt x="3246490" y="555409"/>
                </a:lnTo>
                <a:lnTo>
                  <a:pt x="3237859" y="601386"/>
                </a:lnTo>
                <a:lnTo>
                  <a:pt x="3228509" y="646413"/>
                </a:lnTo>
                <a:lnTo>
                  <a:pt x="3218450" y="690497"/>
                </a:lnTo>
                <a:lnTo>
                  <a:pt x="3207691" y="733644"/>
                </a:lnTo>
                <a:lnTo>
                  <a:pt x="3196244" y="775859"/>
                </a:lnTo>
                <a:lnTo>
                  <a:pt x="3184116" y="817148"/>
                </a:lnTo>
                <a:lnTo>
                  <a:pt x="3171320" y="857516"/>
                </a:lnTo>
                <a:lnTo>
                  <a:pt x="3157863" y="896970"/>
                </a:lnTo>
                <a:lnTo>
                  <a:pt x="3143757" y="935514"/>
                </a:lnTo>
                <a:lnTo>
                  <a:pt x="3129011" y="973156"/>
                </a:lnTo>
                <a:lnTo>
                  <a:pt x="3113635" y="1009899"/>
                </a:lnTo>
                <a:lnTo>
                  <a:pt x="3097639" y="1045750"/>
                </a:lnTo>
                <a:lnTo>
                  <a:pt x="3081033" y="1080715"/>
                </a:lnTo>
                <a:lnTo>
                  <a:pt x="3063826" y="1114798"/>
                </a:lnTo>
                <a:lnTo>
                  <a:pt x="3027652" y="1180346"/>
                </a:lnTo>
                <a:lnTo>
                  <a:pt x="2989196" y="1242439"/>
                </a:lnTo>
                <a:lnTo>
                  <a:pt x="2948536" y="1301122"/>
                </a:lnTo>
                <a:lnTo>
                  <a:pt x="2905753" y="1356440"/>
                </a:lnTo>
                <a:lnTo>
                  <a:pt x="2860926" y="1408439"/>
                </a:lnTo>
                <a:lnTo>
                  <a:pt x="2814132" y="1457164"/>
                </a:lnTo>
                <a:lnTo>
                  <a:pt x="2765453" y="1502660"/>
                </a:lnTo>
                <a:lnTo>
                  <a:pt x="2714966" y="1544973"/>
                </a:lnTo>
                <a:lnTo>
                  <a:pt x="2662752" y="1584149"/>
                </a:lnTo>
                <a:lnTo>
                  <a:pt x="2608889" y="1620231"/>
                </a:lnTo>
                <a:lnTo>
                  <a:pt x="2553457" y="1653266"/>
                </a:lnTo>
                <a:lnTo>
                  <a:pt x="2496535" y="1683299"/>
                </a:lnTo>
                <a:lnTo>
                  <a:pt x="2438201" y="1710375"/>
                </a:lnTo>
                <a:lnTo>
                  <a:pt x="2378536" y="1734540"/>
                </a:lnTo>
                <a:lnTo>
                  <a:pt x="2317618" y="1755839"/>
                </a:lnTo>
                <a:lnTo>
                  <a:pt x="2255526" y="1774317"/>
                </a:lnTo>
                <a:lnTo>
                  <a:pt x="2192341" y="1790020"/>
                </a:lnTo>
                <a:lnTo>
                  <a:pt x="2128140" y="1802993"/>
                </a:lnTo>
                <a:lnTo>
                  <a:pt x="2063003" y="1813280"/>
                </a:lnTo>
                <a:lnTo>
                  <a:pt x="1997010" y="1820929"/>
                </a:lnTo>
                <a:lnTo>
                  <a:pt x="1930240" y="1825983"/>
                </a:lnTo>
                <a:lnTo>
                  <a:pt x="1862771" y="1828488"/>
                </a:lnTo>
                <a:lnTo>
                  <a:pt x="1828799" y="182879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73878" y="1484883"/>
            <a:ext cx="3196242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E293B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E11C48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E293B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E11C48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E293B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19" y="1115855"/>
            <a:ext cx="3657600" cy="293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4F46E4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54879" y="1096098"/>
            <a:ext cx="3657600" cy="295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F97316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858000" y="0"/>
            <a:ext cx="2286000" cy="3200400"/>
          </a:xfrm>
          <a:custGeom>
            <a:avLst/>
            <a:gdLst/>
            <a:ahLst/>
            <a:cxnLst/>
            <a:rect l="l" t="t" r="r" b="b"/>
            <a:pathLst>
              <a:path w="2286000" h="3200400">
                <a:moveTo>
                  <a:pt x="2286000" y="3200399"/>
                </a:moveTo>
                <a:lnTo>
                  <a:pt x="2237560" y="3199896"/>
                </a:lnTo>
                <a:lnTo>
                  <a:pt x="2189367" y="3198394"/>
                </a:lnTo>
                <a:lnTo>
                  <a:pt x="2141429" y="3195902"/>
                </a:lnTo>
                <a:lnTo>
                  <a:pt x="2093757" y="3192430"/>
                </a:lnTo>
                <a:lnTo>
                  <a:pt x="2046360" y="3187989"/>
                </a:lnTo>
                <a:lnTo>
                  <a:pt x="1999249" y="3182588"/>
                </a:lnTo>
                <a:lnTo>
                  <a:pt x="1952432" y="3176237"/>
                </a:lnTo>
                <a:lnTo>
                  <a:pt x="1905921" y="3168947"/>
                </a:lnTo>
                <a:lnTo>
                  <a:pt x="1859725" y="3160726"/>
                </a:lnTo>
                <a:lnTo>
                  <a:pt x="1813854" y="3151585"/>
                </a:lnTo>
                <a:lnTo>
                  <a:pt x="1768318" y="3141534"/>
                </a:lnTo>
                <a:lnTo>
                  <a:pt x="1723127" y="3130583"/>
                </a:lnTo>
                <a:lnTo>
                  <a:pt x="1678290" y="3118741"/>
                </a:lnTo>
                <a:lnTo>
                  <a:pt x="1633818" y="3106019"/>
                </a:lnTo>
                <a:lnTo>
                  <a:pt x="1589721" y="3092427"/>
                </a:lnTo>
                <a:lnTo>
                  <a:pt x="1546009" y="3077974"/>
                </a:lnTo>
                <a:lnTo>
                  <a:pt x="1502690" y="3062670"/>
                </a:lnTo>
                <a:lnTo>
                  <a:pt x="1459776" y="3046526"/>
                </a:lnTo>
                <a:lnTo>
                  <a:pt x="1417277" y="3029550"/>
                </a:lnTo>
                <a:lnTo>
                  <a:pt x="1375201" y="3011754"/>
                </a:lnTo>
                <a:lnTo>
                  <a:pt x="1333560" y="2993147"/>
                </a:lnTo>
                <a:lnTo>
                  <a:pt x="1292363" y="2973739"/>
                </a:lnTo>
                <a:lnTo>
                  <a:pt x="1251619" y="2953539"/>
                </a:lnTo>
                <a:lnTo>
                  <a:pt x="1211340" y="2932559"/>
                </a:lnTo>
                <a:lnTo>
                  <a:pt x="1171534" y="2910807"/>
                </a:lnTo>
                <a:lnTo>
                  <a:pt x="1132212" y="2888293"/>
                </a:lnTo>
                <a:lnTo>
                  <a:pt x="1093383" y="2865029"/>
                </a:lnTo>
                <a:lnTo>
                  <a:pt x="1055058" y="2841022"/>
                </a:lnTo>
                <a:lnTo>
                  <a:pt x="1017247" y="2816284"/>
                </a:lnTo>
                <a:lnTo>
                  <a:pt x="979959" y="2790824"/>
                </a:lnTo>
                <a:lnTo>
                  <a:pt x="943204" y="2764653"/>
                </a:lnTo>
                <a:lnTo>
                  <a:pt x="906992" y="2737779"/>
                </a:lnTo>
                <a:lnTo>
                  <a:pt x="871334" y="2710214"/>
                </a:lnTo>
                <a:lnTo>
                  <a:pt x="836238" y="2681967"/>
                </a:lnTo>
                <a:lnTo>
                  <a:pt x="801716" y="2653047"/>
                </a:lnTo>
                <a:lnTo>
                  <a:pt x="767776" y="2623465"/>
                </a:lnTo>
                <a:lnTo>
                  <a:pt x="734429" y="2593231"/>
                </a:lnTo>
                <a:lnTo>
                  <a:pt x="701685" y="2562355"/>
                </a:lnTo>
                <a:lnTo>
                  <a:pt x="669554" y="2530846"/>
                </a:lnTo>
                <a:lnTo>
                  <a:pt x="638045" y="2498714"/>
                </a:lnTo>
                <a:lnTo>
                  <a:pt x="607168" y="2465970"/>
                </a:lnTo>
                <a:lnTo>
                  <a:pt x="576934" y="2432623"/>
                </a:lnTo>
                <a:lnTo>
                  <a:pt x="547352" y="2398683"/>
                </a:lnTo>
                <a:lnTo>
                  <a:pt x="518433" y="2364161"/>
                </a:lnTo>
                <a:lnTo>
                  <a:pt x="490185" y="2329065"/>
                </a:lnTo>
                <a:lnTo>
                  <a:pt x="462620" y="2293407"/>
                </a:lnTo>
                <a:lnTo>
                  <a:pt x="435746" y="2257195"/>
                </a:lnTo>
                <a:lnTo>
                  <a:pt x="409575" y="2220440"/>
                </a:lnTo>
                <a:lnTo>
                  <a:pt x="384115" y="2183152"/>
                </a:lnTo>
                <a:lnTo>
                  <a:pt x="359377" y="2145341"/>
                </a:lnTo>
                <a:lnTo>
                  <a:pt x="335370" y="2107016"/>
                </a:lnTo>
                <a:lnTo>
                  <a:pt x="312106" y="2068187"/>
                </a:lnTo>
                <a:lnTo>
                  <a:pt x="289592" y="2028865"/>
                </a:lnTo>
                <a:lnTo>
                  <a:pt x="267840" y="1989060"/>
                </a:lnTo>
                <a:lnTo>
                  <a:pt x="246860" y="1948780"/>
                </a:lnTo>
                <a:lnTo>
                  <a:pt x="226660" y="1908037"/>
                </a:lnTo>
                <a:lnTo>
                  <a:pt x="207252" y="1866839"/>
                </a:lnTo>
                <a:lnTo>
                  <a:pt x="188645" y="1825198"/>
                </a:lnTo>
                <a:lnTo>
                  <a:pt x="170849" y="1783122"/>
                </a:lnTo>
                <a:lnTo>
                  <a:pt x="153873" y="1740623"/>
                </a:lnTo>
                <a:lnTo>
                  <a:pt x="137729" y="1697709"/>
                </a:lnTo>
                <a:lnTo>
                  <a:pt x="122425" y="1654391"/>
                </a:lnTo>
                <a:lnTo>
                  <a:pt x="107972" y="1610678"/>
                </a:lnTo>
                <a:lnTo>
                  <a:pt x="94380" y="1566581"/>
                </a:lnTo>
                <a:lnTo>
                  <a:pt x="81658" y="1522109"/>
                </a:lnTo>
                <a:lnTo>
                  <a:pt x="69816" y="1477272"/>
                </a:lnTo>
                <a:lnTo>
                  <a:pt x="58865" y="1432081"/>
                </a:lnTo>
                <a:lnTo>
                  <a:pt x="48814" y="1386545"/>
                </a:lnTo>
                <a:lnTo>
                  <a:pt x="39673" y="1340674"/>
                </a:lnTo>
                <a:lnTo>
                  <a:pt x="31452" y="1294478"/>
                </a:lnTo>
                <a:lnTo>
                  <a:pt x="24162" y="1247967"/>
                </a:lnTo>
                <a:lnTo>
                  <a:pt x="17811" y="1201150"/>
                </a:lnTo>
                <a:lnTo>
                  <a:pt x="12410" y="1154039"/>
                </a:lnTo>
                <a:lnTo>
                  <a:pt x="7968" y="1106642"/>
                </a:lnTo>
                <a:lnTo>
                  <a:pt x="4497" y="1058970"/>
                </a:lnTo>
                <a:lnTo>
                  <a:pt x="2005" y="1011032"/>
                </a:lnTo>
                <a:lnTo>
                  <a:pt x="503" y="962839"/>
                </a:lnTo>
                <a:lnTo>
                  <a:pt x="0" y="914399"/>
                </a:lnTo>
                <a:lnTo>
                  <a:pt x="503" y="865960"/>
                </a:lnTo>
                <a:lnTo>
                  <a:pt x="2005" y="817767"/>
                </a:lnTo>
                <a:lnTo>
                  <a:pt x="4497" y="769829"/>
                </a:lnTo>
                <a:lnTo>
                  <a:pt x="7968" y="722157"/>
                </a:lnTo>
                <a:lnTo>
                  <a:pt x="12410" y="674760"/>
                </a:lnTo>
                <a:lnTo>
                  <a:pt x="17811" y="627649"/>
                </a:lnTo>
                <a:lnTo>
                  <a:pt x="24162" y="580832"/>
                </a:lnTo>
                <a:lnTo>
                  <a:pt x="31452" y="534321"/>
                </a:lnTo>
                <a:lnTo>
                  <a:pt x="39673" y="488125"/>
                </a:lnTo>
                <a:lnTo>
                  <a:pt x="48814" y="442254"/>
                </a:lnTo>
                <a:lnTo>
                  <a:pt x="58865" y="396718"/>
                </a:lnTo>
                <a:lnTo>
                  <a:pt x="69816" y="351527"/>
                </a:lnTo>
                <a:lnTo>
                  <a:pt x="81658" y="306690"/>
                </a:lnTo>
                <a:lnTo>
                  <a:pt x="94380" y="262218"/>
                </a:lnTo>
                <a:lnTo>
                  <a:pt x="107972" y="218121"/>
                </a:lnTo>
                <a:lnTo>
                  <a:pt x="122425" y="174408"/>
                </a:lnTo>
                <a:lnTo>
                  <a:pt x="137729" y="131090"/>
                </a:lnTo>
                <a:lnTo>
                  <a:pt x="153873" y="88176"/>
                </a:lnTo>
                <a:lnTo>
                  <a:pt x="170849" y="45677"/>
                </a:lnTo>
                <a:lnTo>
                  <a:pt x="188645" y="3601"/>
                </a:lnTo>
                <a:lnTo>
                  <a:pt x="2286000" y="0"/>
                </a:lnTo>
                <a:lnTo>
                  <a:pt x="2286000" y="320039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315200" y="3200399"/>
            <a:ext cx="1828800" cy="1943100"/>
          </a:xfrm>
          <a:custGeom>
            <a:avLst/>
            <a:gdLst/>
            <a:ahLst/>
            <a:cxnLst/>
            <a:rect l="l" t="t" r="r" b="b"/>
            <a:pathLst>
              <a:path w="1828800" h="1943100">
                <a:moveTo>
                  <a:pt x="1828800" y="1943099"/>
                </a:moveTo>
                <a:lnTo>
                  <a:pt x="3659" y="1943099"/>
                </a:lnTo>
                <a:lnTo>
                  <a:pt x="2455" y="1924393"/>
                </a:lnTo>
                <a:lnTo>
                  <a:pt x="616" y="1876749"/>
                </a:lnTo>
                <a:lnTo>
                  <a:pt x="0" y="1828799"/>
                </a:lnTo>
                <a:lnTo>
                  <a:pt x="616" y="1780850"/>
                </a:lnTo>
                <a:lnTo>
                  <a:pt x="2455" y="1733206"/>
                </a:lnTo>
                <a:lnTo>
                  <a:pt x="5502" y="1685880"/>
                </a:lnTo>
                <a:lnTo>
                  <a:pt x="9741" y="1638888"/>
                </a:lnTo>
                <a:lnTo>
                  <a:pt x="15158" y="1592246"/>
                </a:lnTo>
                <a:lnTo>
                  <a:pt x="21737" y="1545969"/>
                </a:lnTo>
                <a:lnTo>
                  <a:pt x="29464" y="1500070"/>
                </a:lnTo>
                <a:lnTo>
                  <a:pt x="38323" y="1454567"/>
                </a:lnTo>
                <a:lnTo>
                  <a:pt x="48299" y="1409472"/>
                </a:lnTo>
                <a:lnTo>
                  <a:pt x="59378" y="1364803"/>
                </a:lnTo>
                <a:lnTo>
                  <a:pt x="71544" y="1320573"/>
                </a:lnTo>
                <a:lnTo>
                  <a:pt x="84782" y="1276798"/>
                </a:lnTo>
                <a:lnTo>
                  <a:pt x="99077" y="1233492"/>
                </a:lnTo>
                <a:lnTo>
                  <a:pt x="114414" y="1190672"/>
                </a:lnTo>
                <a:lnTo>
                  <a:pt x="130778" y="1148351"/>
                </a:lnTo>
                <a:lnTo>
                  <a:pt x="148154" y="1106546"/>
                </a:lnTo>
                <a:lnTo>
                  <a:pt x="166526" y="1065270"/>
                </a:lnTo>
                <a:lnTo>
                  <a:pt x="185881" y="1024540"/>
                </a:lnTo>
                <a:lnTo>
                  <a:pt x="206202" y="984369"/>
                </a:lnTo>
                <a:lnTo>
                  <a:pt x="227475" y="944774"/>
                </a:lnTo>
                <a:lnTo>
                  <a:pt x="249684" y="905769"/>
                </a:lnTo>
                <a:lnTo>
                  <a:pt x="272815" y="867370"/>
                </a:lnTo>
                <a:lnTo>
                  <a:pt x="296853" y="829590"/>
                </a:lnTo>
                <a:lnTo>
                  <a:pt x="321782" y="792447"/>
                </a:lnTo>
                <a:lnTo>
                  <a:pt x="347587" y="755953"/>
                </a:lnTo>
                <a:lnTo>
                  <a:pt x="374254" y="720126"/>
                </a:lnTo>
                <a:lnTo>
                  <a:pt x="401766" y="684978"/>
                </a:lnTo>
                <a:lnTo>
                  <a:pt x="430110" y="650527"/>
                </a:lnTo>
                <a:lnTo>
                  <a:pt x="459271" y="616786"/>
                </a:lnTo>
                <a:lnTo>
                  <a:pt x="489232" y="583771"/>
                </a:lnTo>
                <a:lnTo>
                  <a:pt x="519979" y="551497"/>
                </a:lnTo>
                <a:lnTo>
                  <a:pt x="551497" y="519979"/>
                </a:lnTo>
                <a:lnTo>
                  <a:pt x="583771" y="489232"/>
                </a:lnTo>
                <a:lnTo>
                  <a:pt x="616786" y="459271"/>
                </a:lnTo>
                <a:lnTo>
                  <a:pt x="650527" y="430110"/>
                </a:lnTo>
                <a:lnTo>
                  <a:pt x="684979" y="401766"/>
                </a:lnTo>
                <a:lnTo>
                  <a:pt x="720126" y="374254"/>
                </a:lnTo>
                <a:lnTo>
                  <a:pt x="755953" y="347587"/>
                </a:lnTo>
                <a:lnTo>
                  <a:pt x="792447" y="321782"/>
                </a:lnTo>
                <a:lnTo>
                  <a:pt x="829590" y="296853"/>
                </a:lnTo>
                <a:lnTo>
                  <a:pt x="867370" y="272815"/>
                </a:lnTo>
                <a:lnTo>
                  <a:pt x="905769" y="249684"/>
                </a:lnTo>
                <a:lnTo>
                  <a:pt x="944774" y="227475"/>
                </a:lnTo>
                <a:lnTo>
                  <a:pt x="984369" y="206202"/>
                </a:lnTo>
                <a:lnTo>
                  <a:pt x="1024540" y="185881"/>
                </a:lnTo>
                <a:lnTo>
                  <a:pt x="1065270" y="166526"/>
                </a:lnTo>
                <a:lnTo>
                  <a:pt x="1106546" y="148154"/>
                </a:lnTo>
                <a:lnTo>
                  <a:pt x="1148351" y="130778"/>
                </a:lnTo>
                <a:lnTo>
                  <a:pt x="1190672" y="114414"/>
                </a:lnTo>
                <a:lnTo>
                  <a:pt x="1233493" y="99077"/>
                </a:lnTo>
                <a:lnTo>
                  <a:pt x="1276798" y="84782"/>
                </a:lnTo>
                <a:lnTo>
                  <a:pt x="1320573" y="71544"/>
                </a:lnTo>
                <a:lnTo>
                  <a:pt x="1364803" y="59378"/>
                </a:lnTo>
                <a:lnTo>
                  <a:pt x="1409473" y="48299"/>
                </a:lnTo>
                <a:lnTo>
                  <a:pt x="1454567" y="38323"/>
                </a:lnTo>
                <a:lnTo>
                  <a:pt x="1500070" y="29464"/>
                </a:lnTo>
                <a:lnTo>
                  <a:pt x="1545969" y="21737"/>
                </a:lnTo>
                <a:lnTo>
                  <a:pt x="1592246" y="15158"/>
                </a:lnTo>
                <a:lnTo>
                  <a:pt x="1638888" y="9741"/>
                </a:lnTo>
                <a:lnTo>
                  <a:pt x="1685880" y="5502"/>
                </a:lnTo>
                <a:lnTo>
                  <a:pt x="1733206" y="2455"/>
                </a:lnTo>
                <a:lnTo>
                  <a:pt x="1780850" y="616"/>
                </a:lnTo>
                <a:lnTo>
                  <a:pt x="1828800" y="0"/>
                </a:lnTo>
                <a:lnTo>
                  <a:pt x="1828800" y="1943099"/>
                </a:lnTo>
                <a:close/>
              </a:path>
            </a:pathLst>
          </a:custGeom>
          <a:solidFill>
            <a:srgbClr val="475568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E293B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901" y="264391"/>
            <a:ext cx="8422197" cy="572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E293B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5004" y="1324804"/>
            <a:ext cx="3931285" cy="1572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E11C48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jp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jpg"/><Relationship Id="rId18" Type="http://schemas.openxmlformats.org/officeDocument/2006/relationships/image" Target="../media/image18.jpg"/><Relationship Id="rId19" Type="http://schemas.openxmlformats.org/officeDocument/2006/relationships/image" Target="../media/image19.jpg"/><Relationship Id="rId20" Type="http://schemas.openxmlformats.org/officeDocument/2006/relationships/image" Target="../media/image20.jpg"/><Relationship Id="rId21" Type="http://schemas.openxmlformats.org/officeDocument/2006/relationships/image" Target="../media/image21.jpg"/><Relationship Id="rId22" Type="http://schemas.openxmlformats.org/officeDocument/2006/relationships/image" Target="../media/image22.jpg"/><Relationship Id="rId23" Type="http://schemas.openxmlformats.org/officeDocument/2006/relationships/image" Target="../media/image2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pn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jpg"/><Relationship Id="rId11" Type="http://schemas.openxmlformats.org/officeDocument/2006/relationships/image" Target="../media/image43.jpg"/><Relationship Id="rId12" Type="http://schemas.openxmlformats.org/officeDocument/2006/relationships/image" Target="../media/image44.jpg"/><Relationship Id="rId13" Type="http://schemas.openxmlformats.org/officeDocument/2006/relationships/image" Target="../media/image45.jpg"/><Relationship Id="rId14" Type="http://schemas.openxmlformats.org/officeDocument/2006/relationships/image" Target="../media/image46.png"/><Relationship Id="rId15" Type="http://schemas.openxmlformats.org/officeDocument/2006/relationships/image" Target="../media/image47.jpg"/><Relationship Id="rId16" Type="http://schemas.openxmlformats.org/officeDocument/2006/relationships/image" Target="../media/image48.jp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51.jpg"/><Relationship Id="rId20" Type="http://schemas.openxmlformats.org/officeDocument/2006/relationships/image" Target="../media/image52.jpg"/><Relationship Id="rId21" Type="http://schemas.openxmlformats.org/officeDocument/2006/relationships/image" Target="../media/image53.png"/><Relationship Id="rId22" Type="http://schemas.openxmlformats.org/officeDocument/2006/relationships/image" Target="../media/image54.jpg"/><Relationship Id="rId23" Type="http://schemas.openxmlformats.org/officeDocument/2006/relationships/image" Target="../media/image55.jpg"/><Relationship Id="rId24" Type="http://schemas.openxmlformats.org/officeDocument/2006/relationships/image" Target="../media/image56.png"/><Relationship Id="rId25" Type="http://schemas.openxmlformats.org/officeDocument/2006/relationships/image" Target="../media/image5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Relationship Id="rId8" Type="http://schemas.openxmlformats.org/officeDocument/2006/relationships/image" Target="../media/image69.jpg"/><Relationship Id="rId9" Type="http://schemas.openxmlformats.org/officeDocument/2006/relationships/image" Target="../media/image70.jpg"/><Relationship Id="rId10" Type="http://schemas.openxmlformats.org/officeDocument/2006/relationships/image" Target="../media/image71.jp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75.jpg"/><Relationship Id="rId15" Type="http://schemas.openxmlformats.org/officeDocument/2006/relationships/image" Target="../media/image76.png"/><Relationship Id="rId16" Type="http://schemas.openxmlformats.org/officeDocument/2006/relationships/image" Target="../media/image77.jpg"/><Relationship Id="rId17" Type="http://schemas.openxmlformats.org/officeDocument/2006/relationships/image" Target="../media/image78.jpg"/><Relationship Id="rId18" Type="http://schemas.openxmlformats.org/officeDocument/2006/relationships/image" Target="../media/image79.jpg"/><Relationship Id="rId19" Type="http://schemas.openxmlformats.org/officeDocument/2006/relationships/image" Target="../media/image80.jpg"/><Relationship Id="rId20" Type="http://schemas.openxmlformats.org/officeDocument/2006/relationships/image" Target="../media/image8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g"/><Relationship Id="rId3" Type="http://schemas.openxmlformats.org/officeDocument/2006/relationships/image" Target="../media/image83.png"/><Relationship Id="rId4" Type="http://schemas.openxmlformats.org/officeDocument/2006/relationships/image" Target="../media/image84.jp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95.png"/><Relationship Id="rId16" Type="http://schemas.openxmlformats.org/officeDocument/2006/relationships/image" Target="../media/image96.jpg"/><Relationship Id="rId17" Type="http://schemas.openxmlformats.org/officeDocument/2006/relationships/image" Target="../media/image97.png"/><Relationship Id="rId18" Type="http://schemas.openxmlformats.org/officeDocument/2006/relationships/image" Target="../media/image98.jpg"/><Relationship Id="rId19" Type="http://schemas.openxmlformats.org/officeDocument/2006/relationships/image" Target="../media/image99.png"/><Relationship Id="rId20" Type="http://schemas.openxmlformats.org/officeDocument/2006/relationships/image" Target="../media/image100.png"/><Relationship Id="rId21" Type="http://schemas.openxmlformats.org/officeDocument/2006/relationships/image" Target="../media/image101.png"/><Relationship Id="rId22" Type="http://schemas.openxmlformats.org/officeDocument/2006/relationships/image" Target="../media/image102.jpg"/><Relationship Id="rId23" Type="http://schemas.openxmlformats.org/officeDocument/2006/relationships/image" Target="../media/image103.jpg"/><Relationship Id="rId24" Type="http://schemas.openxmlformats.org/officeDocument/2006/relationships/image" Target="../media/image10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2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0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5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27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7.jpg"/><Relationship Id="rId3" Type="http://schemas.openxmlformats.org/officeDocument/2006/relationships/image" Target="../media/image118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0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1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2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2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7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1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2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3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jpg"/><Relationship Id="rId3" Type="http://schemas.openxmlformats.org/officeDocument/2006/relationships/image" Target="../media/image135.jpg"/><Relationship Id="rId4" Type="http://schemas.openxmlformats.org/officeDocument/2006/relationships/image" Target="../media/image136.jpg"/><Relationship Id="rId5" Type="http://schemas.openxmlformats.org/officeDocument/2006/relationships/image" Target="../media/image137.jpg"/><Relationship Id="rId6" Type="http://schemas.openxmlformats.org/officeDocument/2006/relationships/image" Target="../media/image138.jpg"/><Relationship Id="rId7" Type="http://schemas.openxmlformats.org/officeDocument/2006/relationships/image" Target="../media/image139.jpg"/><Relationship Id="rId8" Type="http://schemas.openxmlformats.org/officeDocument/2006/relationships/image" Target="../media/image140.jp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jpg"/><Relationship Id="rId12" Type="http://schemas.openxmlformats.org/officeDocument/2006/relationships/image" Target="../media/image144.jpg"/><Relationship Id="rId13" Type="http://schemas.openxmlformats.org/officeDocument/2006/relationships/image" Target="../media/image145.png"/><Relationship Id="rId14" Type="http://schemas.openxmlformats.org/officeDocument/2006/relationships/image" Target="../media/image146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7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8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2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5" Type="http://schemas.openxmlformats.org/officeDocument/2006/relationships/image" Target="../media/image151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3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4.jpg"/><Relationship Id="rId3" Type="http://schemas.openxmlformats.org/officeDocument/2006/relationships/image" Target="../media/image155.jpg"/><Relationship Id="rId4" Type="http://schemas.openxmlformats.org/officeDocument/2006/relationships/image" Target="../media/image156.jpg"/><Relationship Id="rId5" Type="http://schemas.openxmlformats.org/officeDocument/2006/relationships/image" Target="../media/image157.jpg"/><Relationship Id="rId6" Type="http://schemas.openxmlformats.org/officeDocument/2006/relationships/image" Target="../media/image158.jpg"/><Relationship Id="rId7" Type="http://schemas.openxmlformats.org/officeDocument/2006/relationships/image" Target="../media/image159.png"/><Relationship Id="rId8" Type="http://schemas.openxmlformats.org/officeDocument/2006/relationships/image" Target="../media/image160.jpg"/><Relationship Id="rId9" Type="http://schemas.openxmlformats.org/officeDocument/2006/relationships/image" Target="../media/image161.jpg"/><Relationship Id="rId10" Type="http://schemas.openxmlformats.org/officeDocument/2006/relationships/image" Target="../media/image162.jpg"/><Relationship Id="rId11" Type="http://schemas.openxmlformats.org/officeDocument/2006/relationships/image" Target="../media/image163.jpg"/><Relationship Id="rId12" Type="http://schemas.openxmlformats.org/officeDocument/2006/relationships/image" Target="../media/image164.jpg"/><Relationship Id="rId13" Type="http://schemas.openxmlformats.org/officeDocument/2006/relationships/image" Target="../media/image165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6.png"/><Relationship Id="rId3" Type="http://schemas.openxmlformats.org/officeDocument/2006/relationships/image" Target="../media/image27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7.jpg"/><Relationship Id="rId3" Type="http://schemas.openxmlformats.org/officeDocument/2006/relationships/image" Target="../media/image168.jpg"/><Relationship Id="rId4" Type="http://schemas.openxmlformats.org/officeDocument/2006/relationships/image" Target="../media/image169.jpg"/><Relationship Id="rId5" Type="http://schemas.openxmlformats.org/officeDocument/2006/relationships/image" Target="../media/image170.jp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jpg"/><Relationship Id="rId9" Type="http://schemas.openxmlformats.org/officeDocument/2006/relationships/image" Target="../media/image174.png"/><Relationship Id="rId10" Type="http://schemas.openxmlformats.org/officeDocument/2006/relationships/image" Target="../media/image175.jpg"/><Relationship Id="rId11" Type="http://schemas.openxmlformats.org/officeDocument/2006/relationships/image" Target="../media/image176.jpg"/><Relationship Id="rId12" Type="http://schemas.openxmlformats.org/officeDocument/2006/relationships/image" Target="../media/image177.jp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Relationship Id="rId15" Type="http://schemas.openxmlformats.org/officeDocument/2006/relationships/image" Target="../media/image180.png"/><Relationship Id="rId16" Type="http://schemas.openxmlformats.org/officeDocument/2006/relationships/image" Target="../media/image181.png"/><Relationship Id="rId17" Type="http://schemas.openxmlformats.org/officeDocument/2006/relationships/image" Target="../media/image182.png"/><Relationship Id="rId18" Type="http://schemas.openxmlformats.org/officeDocument/2006/relationships/image" Target="../media/image183.png"/><Relationship Id="rId19" Type="http://schemas.openxmlformats.org/officeDocument/2006/relationships/image" Target="../media/image184.jpg"/><Relationship Id="rId20" Type="http://schemas.openxmlformats.org/officeDocument/2006/relationships/image" Target="../media/image185.png"/><Relationship Id="rId21" Type="http://schemas.openxmlformats.org/officeDocument/2006/relationships/image" Target="../media/image186.jpg"/><Relationship Id="rId22" Type="http://schemas.openxmlformats.org/officeDocument/2006/relationships/image" Target="../media/image187.jpg"/><Relationship Id="rId23" Type="http://schemas.openxmlformats.org/officeDocument/2006/relationships/image" Target="../media/image188.png"/><Relationship Id="rId24" Type="http://schemas.openxmlformats.org/officeDocument/2006/relationships/image" Target="../media/image189.jpg"/><Relationship Id="rId25" Type="http://schemas.openxmlformats.org/officeDocument/2006/relationships/image" Target="../media/image190.jpg"/><Relationship Id="rId26" Type="http://schemas.openxmlformats.org/officeDocument/2006/relationships/image" Target="../media/image191.png"/><Relationship Id="rId27" Type="http://schemas.openxmlformats.org/officeDocument/2006/relationships/image" Target="../media/image192.jpg"/><Relationship Id="rId28" Type="http://schemas.openxmlformats.org/officeDocument/2006/relationships/image" Target="../media/image193.jpg"/><Relationship Id="rId29" Type="http://schemas.openxmlformats.org/officeDocument/2006/relationships/image" Target="../media/image194.jpg"/><Relationship Id="rId30" Type="http://schemas.openxmlformats.org/officeDocument/2006/relationships/image" Target="../media/image195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7.jpg"/><Relationship Id="rId3" Type="http://schemas.openxmlformats.org/officeDocument/2006/relationships/image" Target="../media/image198.jpg"/><Relationship Id="rId4" Type="http://schemas.openxmlformats.org/officeDocument/2006/relationships/image" Target="../media/image199.jpg"/><Relationship Id="rId5" Type="http://schemas.openxmlformats.org/officeDocument/2006/relationships/image" Target="../media/image200.jpg"/><Relationship Id="rId6" Type="http://schemas.openxmlformats.org/officeDocument/2006/relationships/image" Target="../media/image201.jpg"/><Relationship Id="rId7" Type="http://schemas.openxmlformats.org/officeDocument/2006/relationships/image" Target="../media/image202.jpg"/><Relationship Id="rId8" Type="http://schemas.openxmlformats.org/officeDocument/2006/relationships/image" Target="../media/image203.jpg"/><Relationship Id="rId9" Type="http://schemas.openxmlformats.org/officeDocument/2006/relationships/image" Target="../media/image204.jpg"/><Relationship Id="rId10" Type="http://schemas.openxmlformats.org/officeDocument/2006/relationships/image" Target="../media/image205.jpg"/><Relationship Id="rId11" Type="http://schemas.openxmlformats.org/officeDocument/2006/relationships/image" Target="../media/image206.png"/><Relationship Id="rId12" Type="http://schemas.openxmlformats.org/officeDocument/2006/relationships/image" Target="../media/image207.png"/><Relationship Id="rId13" Type="http://schemas.openxmlformats.org/officeDocument/2006/relationships/image" Target="../media/image208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9.jpg"/><Relationship Id="rId3" Type="http://schemas.openxmlformats.org/officeDocument/2006/relationships/image" Target="../media/image210.jpg"/><Relationship Id="rId4" Type="http://schemas.openxmlformats.org/officeDocument/2006/relationships/image" Target="../media/image211.jpg"/><Relationship Id="rId5" Type="http://schemas.openxmlformats.org/officeDocument/2006/relationships/image" Target="../media/image212.jpg"/><Relationship Id="rId6" Type="http://schemas.openxmlformats.org/officeDocument/2006/relationships/image" Target="../media/image213.jpg"/><Relationship Id="rId7" Type="http://schemas.openxmlformats.org/officeDocument/2006/relationships/image" Target="../media/image214.jpg"/><Relationship Id="rId8" Type="http://schemas.openxmlformats.org/officeDocument/2006/relationships/image" Target="../media/image215.jpg"/><Relationship Id="rId9" Type="http://schemas.openxmlformats.org/officeDocument/2006/relationships/image" Target="../media/image216.jpg"/><Relationship Id="rId10" Type="http://schemas.openxmlformats.org/officeDocument/2006/relationships/image" Target="../media/image217.png"/><Relationship Id="rId11" Type="http://schemas.openxmlformats.org/officeDocument/2006/relationships/image" Target="../media/image218.jpg"/><Relationship Id="rId12" Type="http://schemas.openxmlformats.org/officeDocument/2006/relationships/image" Target="../media/image219.jpg"/><Relationship Id="rId13" Type="http://schemas.openxmlformats.org/officeDocument/2006/relationships/image" Target="../media/image220.png"/><Relationship Id="rId14" Type="http://schemas.openxmlformats.org/officeDocument/2006/relationships/image" Target="../media/image221.jpg"/><Relationship Id="rId15" Type="http://schemas.openxmlformats.org/officeDocument/2006/relationships/image" Target="../media/image222.jpg"/><Relationship Id="rId16" Type="http://schemas.openxmlformats.org/officeDocument/2006/relationships/image" Target="../media/image223.jpg"/><Relationship Id="rId17" Type="http://schemas.openxmlformats.org/officeDocument/2006/relationships/image" Target="../media/image224.jpg"/><Relationship Id="rId18" Type="http://schemas.openxmlformats.org/officeDocument/2006/relationships/image" Target="../media/image225.jpg"/><Relationship Id="rId19" Type="http://schemas.openxmlformats.org/officeDocument/2006/relationships/image" Target="../media/image226.jpg"/><Relationship Id="rId20" Type="http://schemas.openxmlformats.org/officeDocument/2006/relationships/image" Target="../media/image227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8.jpg"/><Relationship Id="rId3" Type="http://schemas.openxmlformats.org/officeDocument/2006/relationships/image" Target="../media/image229.jpg"/><Relationship Id="rId4" Type="http://schemas.openxmlformats.org/officeDocument/2006/relationships/image" Target="../media/image230.png"/><Relationship Id="rId5" Type="http://schemas.openxmlformats.org/officeDocument/2006/relationships/image" Target="../media/image231.jpg"/><Relationship Id="rId6" Type="http://schemas.openxmlformats.org/officeDocument/2006/relationships/image" Target="../media/image232.png"/><Relationship Id="rId7" Type="http://schemas.openxmlformats.org/officeDocument/2006/relationships/image" Target="../media/image233.jpg"/><Relationship Id="rId8" Type="http://schemas.openxmlformats.org/officeDocument/2006/relationships/image" Target="../media/image234.jpg"/><Relationship Id="rId9" Type="http://schemas.openxmlformats.org/officeDocument/2006/relationships/image" Target="../media/image235.jpg"/><Relationship Id="rId10" Type="http://schemas.openxmlformats.org/officeDocument/2006/relationships/image" Target="../media/image236.jpg"/><Relationship Id="rId11" Type="http://schemas.openxmlformats.org/officeDocument/2006/relationships/image" Target="../media/image237.jpg"/><Relationship Id="rId12" Type="http://schemas.openxmlformats.org/officeDocument/2006/relationships/image" Target="../media/image238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9.jpg"/><Relationship Id="rId3" Type="http://schemas.openxmlformats.org/officeDocument/2006/relationships/image" Target="../media/image240.jpg"/><Relationship Id="rId4" Type="http://schemas.openxmlformats.org/officeDocument/2006/relationships/image" Target="../media/image241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2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3.jpg"/><Relationship Id="rId3" Type="http://schemas.openxmlformats.org/officeDocument/2006/relationships/image" Target="../media/image244.jpg"/><Relationship Id="rId4" Type="http://schemas.openxmlformats.org/officeDocument/2006/relationships/image" Target="../media/image245.jpg"/><Relationship Id="rId5" Type="http://schemas.openxmlformats.org/officeDocument/2006/relationships/image" Target="../media/image246.jpg"/><Relationship Id="rId6" Type="http://schemas.openxmlformats.org/officeDocument/2006/relationships/image" Target="../media/image247.jpg"/><Relationship Id="rId7" Type="http://schemas.openxmlformats.org/officeDocument/2006/relationships/image" Target="../media/image248.jpg"/><Relationship Id="rId8" Type="http://schemas.openxmlformats.org/officeDocument/2006/relationships/image" Target="../media/image249.jpg"/><Relationship Id="rId9" Type="http://schemas.openxmlformats.org/officeDocument/2006/relationships/image" Target="../media/image250.jpg"/><Relationship Id="rId10" Type="http://schemas.openxmlformats.org/officeDocument/2006/relationships/image" Target="../media/image251.jpg"/><Relationship Id="rId11" Type="http://schemas.openxmlformats.org/officeDocument/2006/relationships/image" Target="../media/image252.jpg"/><Relationship Id="rId12" Type="http://schemas.openxmlformats.org/officeDocument/2006/relationships/image" Target="../media/image253.jpg"/><Relationship Id="rId13" Type="http://schemas.openxmlformats.org/officeDocument/2006/relationships/image" Target="../media/image254.jpg"/><Relationship Id="rId14" Type="http://schemas.openxmlformats.org/officeDocument/2006/relationships/image" Target="../media/image255.png"/><Relationship Id="rId15" Type="http://schemas.openxmlformats.org/officeDocument/2006/relationships/image" Target="../media/image256.jpg"/><Relationship Id="rId16" Type="http://schemas.openxmlformats.org/officeDocument/2006/relationships/image" Target="../media/image257.jpg"/><Relationship Id="rId17" Type="http://schemas.openxmlformats.org/officeDocument/2006/relationships/image" Target="../media/image258.png"/><Relationship Id="rId18" Type="http://schemas.openxmlformats.org/officeDocument/2006/relationships/image" Target="../media/image259.jpg"/><Relationship Id="rId19" Type="http://schemas.openxmlformats.org/officeDocument/2006/relationships/image" Target="../media/image260.jpg"/><Relationship Id="rId20" Type="http://schemas.openxmlformats.org/officeDocument/2006/relationships/image" Target="../media/image261.jpg"/><Relationship Id="rId21" Type="http://schemas.openxmlformats.org/officeDocument/2006/relationships/image" Target="../media/image262.jpg"/><Relationship Id="rId22" Type="http://schemas.openxmlformats.org/officeDocument/2006/relationships/image" Target="../media/image263.jpg"/><Relationship Id="rId23" Type="http://schemas.openxmlformats.org/officeDocument/2006/relationships/image" Target="../media/image264.png"/><Relationship Id="rId24" Type="http://schemas.openxmlformats.org/officeDocument/2006/relationships/image" Target="../media/image265.jpg"/><Relationship Id="rId25" Type="http://schemas.openxmlformats.org/officeDocument/2006/relationships/image" Target="../media/image266.png"/><Relationship Id="rId26" Type="http://schemas.openxmlformats.org/officeDocument/2006/relationships/image" Target="../media/image267.jpg"/><Relationship Id="rId27" Type="http://schemas.openxmlformats.org/officeDocument/2006/relationships/image" Target="../media/image268.jpg"/><Relationship Id="rId28" Type="http://schemas.openxmlformats.org/officeDocument/2006/relationships/image" Target="../media/image269.jpg"/><Relationship Id="rId29" Type="http://schemas.openxmlformats.org/officeDocument/2006/relationships/image" Target="../media/image270.jpg"/><Relationship Id="rId30" Type="http://schemas.openxmlformats.org/officeDocument/2006/relationships/image" Target="../media/image271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2.png"/><Relationship Id="rId3" Type="http://schemas.openxmlformats.org/officeDocument/2006/relationships/image" Target="../media/image152.png"/><Relationship Id="rId4" Type="http://schemas.openxmlformats.org/officeDocument/2006/relationships/image" Target="../media/image273.png"/><Relationship Id="rId5" Type="http://schemas.openxmlformats.org/officeDocument/2006/relationships/image" Target="../media/image274.png"/><Relationship Id="rId6" Type="http://schemas.openxmlformats.org/officeDocument/2006/relationships/image" Target="../media/image275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5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6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5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7.jpg"/><Relationship Id="rId3" Type="http://schemas.openxmlformats.org/officeDocument/2006/relationships/image" Target="../media/image278.jpg"/><Relationship Id="rId4" Type="http://schemas.openxmlformats.org/officeDocument/2006/relationships/image" Target="../media/image279.png"/><Relationship Id="rId5" Type="http://schemas.openxmlformats.org/officeDocument/2006/relationships/image" Target="../media/image280.png"/><Relationship Id="rId6" Type="http://schemas.openxmlformats.org/officeDocument/2006/relationships/image" Target="../media/image281.jpg"/><Relationship Id="rId7" Type="http://schemas.openxmlformats.org/officeDocument/2006/relationships/image" Target="../media/image282.png"/><Relationship Id="rId8" Type="http://schemas.openxmlformats.org/officeDocument/2006/relationships/image" Target="../media/image283.jpg"/><Relationship Id="rId9" Type="http://schemas.openxmlformats.org/officeDocument/2006/relationships/image" Target="../media/image284.jpg"/><Relationship Id="rId10" Type="http://schemas.openxmlformats.org/officeDocument/2006/relationships/image" Target="../media/image285.jpg"/><Relationship Id="rId11" Type="http://schemas.openxmlformats.org/officeDocument/2006/relationships/image" Target="../media/image286.jpg"/><Relationship Id="rId12" Type="http://schemas.openxmlformats.org/officeDocument/2006/relationships/image" Target="../media/image287.jpg"/><Relationship Id="rId13" Type="http://schemas.openxmlformats.org/officeDocument/2006/relationships/image" Target="../media/image288.jpg"/><Relationship Id="rId14" Type="http://schemas.openxmlformats.org/officeDocument/2006/relationships/image" Target="../media/image289.png"/><Relationship Id="rId15" Type="http://schemas.openxmlformats.org/officeDocument/2006/relationships/image" Target="../media/image290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1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2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3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4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00800" y="0"/>
            <a:ext cx="2743200" cy="3657600"/>
          </a:xfrm>
          <a:custGeom>
            <a:avLst/>
            <a:gdLst/>
            <a:ahLst/>
            <a:cxnLst/>
            <a:rect l="l" t="t" r="r" b="b"/>
            <a:pathLst>
              <a:path w="2743200" h="3657600">
                <a:moveTo>
                  <a:pt x="2743200" y="3657599"/>
                </a:moveTo>
                <a:lnTo>
                  <a:pt x="2694946" y="3657184"/>
                </a:lnTo>
                <a:lnTo>
                  <a:pt x="2646894" y="3655941"/>
                </a:lnTo>
                <a:lnTo>
                  <a:pt x="2599051" y="3653877"/>
                </a:lnTo>
                <a:lnTo>
                  <a:pt x="2551423" y="3651000"/>
                </a:lnTo>
                <a:lnTo>
                  <a:pt x="2504016" y="3647316"/>
                </a:lnTo>
                <a:lnTo>
                  <a:pt x="2456839" y="3642833"/>
                </a:lnTo>
                <a:lnTo>
                  <a:pt x="2409897" y="3637556"/>
                </a:lnTo>
                <a:lnTo>
                  <a:pt x="2363197" y="3631492"/>
                </a:lnTo>
                <a:lnTo>
                  <a:pt x="2316747" y="3624650"/>
                </a:lnTo>
                <a:lnTo>
                  <a:pt x="2270553" y="3617034"/>
                </a:lnTo>
                <a:lnTo>
                  <a:pt x="2224621" y="3608652"/>
                </a:lnTo>
                <a:lnTo>
                  <a:pt x="2178959" y="3599511"/>
                </a:lnTo>
                <a:lnTo>
                  <a:pt x="2133574" y="3589618"/>
                </a:lnTo>
                <a:lnTo>
                  <a:pt x="2088471" y="3578979"/>
                </a:lnTo>
                <a:lnTo>
                  <a:pt x="2043659" y="3567602"/>
                </a:lnTo>
                <a:lnTo>
                  <a:pt x="1999143" y="3555492"/>
                </a:lnTo>
                <a:lnTo>
                  <a:pt x="1954931" y="3542658"/>
                </a:lnTo>
                <a:lnTo>
                  <a:pt x="1911029" y="3529104"/>
                </a:lnTo>
                <a:lnTo>
                  <a:pt x="1867445" y="3514840"/>
                </a:lnTo>
                <a:lnTo>
                  <a:pt x="1824184" y="3499870"/>
                </a:lnTo>
                <a:lnTo>
                  <a:pt x="1781255" y="3484203"/>
                </a:lnTo>
                <a:lnTo>
                  <a:pt x="1738663" y="3467844"/>
                </a:lnTo>
                <a:lnTo>
                  <a:pt x="1696415" y="3450801"/>
                </a:lnTo>
                <a:lnTo>
                  <a:pt x="1654518" y="3433081"/>
                </a:lnTo>
                <a:lnTo>
                  <a:pt x="1612980" y="3414689"/>
                </a:lnTo>
                <a:lnTo>
                  <a:pt x="1571806" y="3395634"/>
                </a:lnTo>
                <a:lnTo>
                  <a:pt x="1531004" y="3375921"/>
                </a:lnTo>
                <a:lnTo>
                  <a:pt x="1490580" y="3355558"/>
                </a:lnTo>
                <a:lnTo>
                  <a:pt x="1450541" y="3334552"/>
                </a:lnTo>
                <a:lnTo>
                  <a:pt x="1410895" y="3312909"/>
                </a:lnTo>
                <a:lnTo>
                  <a:pt x="1371647" y="3290635"/>
                </a:lnTo>
                <a:lnTo>
                  <a:pt x="1332804" y="3267739"/>
                </a:lnTo>
                <a:lnTo>
                  <a:pt x="1294375" y="3244226"/>
                </a:lnTo>
                <a:lnTo>
                  <a:pt x="1256364" y="3220104"/>
                </a:lnTo>
                <a:lnTo>
                  <a:pt x="1218779" y="3195379"/>
                </a:lnTo>
                <a:lnTo>
                  <a:pt x="1181627" y="3170058"/>
                </a:lnTo>
                <a:lnTo>
                  <a:pt x="1144915" y="3144147"/>
                </a:lnTo>
                <a:lnTo>
                  <a:pt x="1108649" y="3117654"/>
                </a:lnTo>
                <a:lnTo>
                  <a:pt x="1072836" y="3090586"/>
                </a:lnTo>
                <a:lnTo>
                  <a:pt x="1037483" y="3062949"/>
                </a:lnTo>
                <a:lnTo>
                  <a:pt x="1002597" y="3034750"/>
                </a:lnTo>
                <a:lnTo>
                  <a:pt x="968185" y="3005996"/>
                </a:lnTo>
                <a:lnTo>
                  <a:pt x="934253" y="2976693"/>
                </a:lnTo>
                <a:lnTo>
                  <a:pt x="900808" y="2946849"/>
                </a:lnTo>
                <a:lnTo>
                  <a:pt x="867857" y="2916470"/>
                </a:lnTo>
                <a:lnTo>
                  <a:pt x="835407" y="2885563"/>
                </a:lnTo>
                <a:lnTo>
                  <a:pt x="803464" y="2854135"/>
                </a:lnTo>
                <a:lnTo>
                  <a:pt x="772036" y="2822192"/>
                </a:lnTo>
                <a:lnTo>
                  <a:pt x="741129" y="2789742"/>
                </a:lnTo>
                <a:lnTo>
                  <a:pt x="710750" y="2756791"/>
                </a:lnTo>
                <a:lnTo>
                  <a:pt x="680906" y="2723346"/>
                </a:lnTo>
                <a:lnTo>
                  <a:pt x="651603" y="2689414"/>
                </a:lnTo>
                <a:lnTo>
                  <a:pt x="622849" y="2655002"/>
                </a:lnTo>
                <a:lnTo>
                  <a:pt x="594650" y="2620116"/>
                </a:lnTo>
                <a:lnTo>
                  <a:pt x="567013" y="2584763"/>
                </a:lnTo>
                <a:lnTo>
                  <a:pt x="539945" y="2548950"/>
                </a:lnTo>
                <a:lnTo>
                  <a:pt x="513452" y="2512684"/>
                </a:lnTo>
                <a:lnTo>
                  <a:pt x="487541" y="2475972"/>
                </a:lnTo>
                <a:lnTo>
                  <a:pt x="462220" y="2438820"/>
                </a:lnTo>
                <a:lnTo>
                  <a:pt x="437495" y="2401235"/>
                </a:lnTo>
                <a:lnTo>
                  <a:pt x="413373" y="2363224"/>
                </a:lnTo>
                <a:lnTo>
                  <a:pt x="389860" y="2324794"/>
                </a:lnTo>
                <a:lnTo>
                  <a:pt x="366963" y="2285952"/>
                </a:lnTo>
                <a:lnTo>
                  <a:pt x="344690" y="2246704"/>
                </a:lnTo>
                <a:lnTo>
                  <a:pt x="323047" y="2207058"/>
                </a:lnTo>
                <a:lnTo>
                  <a:pt x="302040" y="2167019"/>
                </a:lnTo>
                <a:lnTo>
                  <a:pt x="281678" y="2126595"/>
                </a:lnTo>
                <a:lnTo>
                  <a:pt x="261965" y="2085793"/>
                </a:lnTo>
                <a:lnTo>
                  <a:pt x="242910" y="2044619"/>
                </a:lnTo>
                <a:lnTo>
                  <a:pt x="224518" y="2003081"/>
                </a:lnTo>
                <a:lnTo>
                  <a:pt x="206798" y="1961184"/>
                </a:lnTo>
                <a:lnTo>
                  <a:pt x="189755" y="1918936"/>
                </a:lnTo>
                <a:lnTo>
                  <a:pt x="173396" y="1876344"/>
                </a:lnTo>
                <a:lnTo>
                  <a:pt x="157729" y="1833415"/>
                </a:lnTo>
                <a:lnTo>
                  <a:pt x="142759" y="1790154"/>
                </a:lnTo>
                <a:lnTo>
                  <a:pt x="128495" y="1746570"/>
                </a:lnTo>
                <a:lnTo>
                  <a:pt x="114941" y="1702668"/>
                </a:lnTo>
                <a:lnTo>
                  <a:pt x="102107" y="1658456"/>
                </a:lnTo>
                <a:lnTo>
                  <a:pt x="89997" y="1613940"/>
                </a:lnTo>
                <a:lnTo>
                  <a:pt x="78620" y="1569128"/>
                </a:lnTo>
                <a:lnTo>
                  <a:pt x="67981" y="1524025"/>
                </a:lnTo>
                <a:lnTo>
                  <a:pt x="58088" y="1478640"/>
                </a:lnTo>
                <a:lnTo>
                  <a:pt x="48947" y="1432978"/>
                </a:lnTo>
                <a:lnTo>
                  <a:pt x="40565" y="1387046"/>
                </a:lnTo>
                <a:lnTo>
                  <a:pt x="32949" y="1340852"/>
                </a:lnTo>
                <a:lnTo>
                  <a:pt x="26107" y="1294402"/>
                </a:lnTo>
                <a:lnTo>
                  <a:pt x="20043" y="1247702"/>
                </a:lnTo>
                <a:lnTo>
                  <a:pt x="14766" y="1200760"/>
                </a:lnTo>
                <a:lnTo>
                  <a:pt x="10283" y="1153583"/>
                </a:lnTo>
                <a:lnTo>
                  <a:pt x="6599" y="1106176"/>
                </a:lnTo>
                <a:lnTo>
                  <a:pt x="3722" y="1058548"/>
                </a:lnTo>
                <a:lnTo>
                  <a:pt x="1658" y="1010705"/>
                </a:lnTo>
                <a:lnTo>
                  <a:pt x="415" y="962653"/>
                </a:lnTo>
                <a:lnTo>
                  <a:pt x="0" y="914399"/>
                </a:lnTo>
                <a:lnTo>
                  <a:pt x="415" y="866146"/>
                </a:lnTo>
                <a:lnTo>
                  <a:pt x="1658" y="818094"/>
                </a:lnTo>
                <a:lnTo>
                  <a:pt x="3722" y="770251"/>
                </a:lnTo>
                <a:lnTo>
                  <a:pt x="6599" y="722623"/>
                </a:lnTo>
                <a:lnTo>
                  <a:pt x="10283" y="675216"/>
                </a:lnTo>
                <a:lnTo>
                  <a:pt x="14766" y="628039"/>
                </a:lnTo>
                <a:lnTo>
                  <a:pt x="20043" y="581097"/>
                </a:lnTo>
                <a:lnTo>
                  <a:pt x="26107" y="534397"/>
                </a:lnTo>
                <a:lnTo>
                  <a:pt x="32949" y="487947"/>
                </a:lnTo>
                <a:lnTo>
                  <a:pt x="40565" y="441753"/>
                </a:lnTo>
                <a:lnTo>
                  <a:pt x="48947" y="395821"/>
                </a:lnTo>
                <a:lnTo>
                  <a:pt x="58088" y="350159"/>
                </a:lnTo>
                <a:lnTo>
                  <a:pt x="67981" y="304774"/>
                </a:lnTo>
                <a:lnTo>
                  <a:pt x="78620" y="259671"/>
                </a:lnTo>
                <a:lnTo>
                  <a:pt x="89997" y="214859"/>
                </a:lnTo>
                <a:lnTo>
                  <a:pt x="102107" y="170343"/>
                </a:lnTo>
                <a:lnTo>
                  <a:pt x="114941" y="126131"/>
                </a:lnTo>
                <a:lnTo>
                  <a:pt x="128495" y="82229"/>
                </a:lnTo>
                <a:lnTo>
                  <a:pt x="142759" y="38645"/>
                </a:lnTo>
                <a:lnTo>
                  <a:pt x="156132" y="0"/>
                </a:lnTo>
                <a:lnTo>
                  <a:pt x="2743200" y="0"/>
                </a:lnTo>
                <a:lnTo>
                  <a:pt x="2743200" y="365759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200400"/>
            <a:ext cx="2717800" cy="1943100"/>
          </a:xfrm>
          <a:custGeom>
            <a:avLst/>
            <a:gdLst/>
            <a:ahLst/>
            <a:cxnLst/>
            <a:rect l="l" t="t" r="r" b="b"/>
            <a:pathLst>
              <a:path w="2717800" h="1943100">
                <a:moveTo>
                  <a:pt x="2717278" y="1943099"/>
                </a:moveTo>
                <a:lnTo>
                  <a:pt x="0" y="1943099"/>
                </a:lnTo>
                <a:lnTo>
                  <a:pt x="0" y="45836"/>
                </a:lnTo>
                <a:lnTo>
                  <a:pt x="77121" y="31452"/>
                </a:lnTo>
                <a:lnTo>
                  <a:pt x="123632" y="24162"/>
                </a:lnTo>
                <a:lnTo>
                  <a:pt x="170449" y="17811"/>
                </a:lnTo>
                <a:lnTo>
                  <a:pt x="217560" y="12410"/>
                </a:lnTo>
                <a:lnTo>
                  <a:pt x="264957" y="7968"/>
                </a:lnTo>
                <a:lnTo>
                  <a:pt x="312629" y="4497"/>
                </a:lnTo>
                <a:lnTo>
                  <a:pt x="360567" y="2005"/>
                </a:lnTo>
                <a:lnTo>
                  <a:pt x="408760" y="503"/>
                </a:lnTo>
                <a:lnTo>
                  <a:pt x="457199" y="0"/>
                </a:lnTo>
                <a:lnTo>
                  <a:pt x="502823" y="503"/>
                </a:lnTo>
                <a:lnTo>
                  <a:pt x="506050" y="503"/>
                </a:lnTo>
                <a:lnTo>
                  <a:pt x="557995" y="2220"/>
                </a:lnTo>
                <a:lnTo>
                  <a:pt x="608179" y="4986"/>
                </a:lnTo>
                <a:lnTo>
                  <a:pt x="658199" y="8847"/>
                </a:lnTo>
                <a:lnTo>
                  <a:pt x="708038" y="13795"/>
                </a:lnTo>
                <a:lnTo>
                  <a:pt x="757680" y="19825"/>
                </a:lnTo>
                <a:lnTo>
                  <a:pt x="807109" y="26928"/>
                </a:lnTo>
                <a:lnTo>
                  <a:pt x="856307" y="35099"/>
                </a:lnTo>
                <a:lnTo>
                  <a:pt x="905259" y="44330"/>
                </a:lnTo>
                <a:lnTo>
                  <a:pt x="953947" y="54615"/>
                </a:lnTo>
                <a:lnTo>
                  <a:pt x="1002356" y="65947"/>
                </a:lnTo>
                <a:lnTo>
                  <a:pt x="1050470" y="78319"/>
                </a:lnTo>
                <a:lnTo>
                  <a:pt x="1098270" y="91724"/>
                </a:lnTo>
                <a:lnTo>
                  <a:pt x="1145743" y="106156"/>
                </a:lnTo>
                <a:lnTo>
                  <a:pt x="1192869" y="121607"/>
                </a:lnTo>
                <a:lnTo>
                  <a:pt x="1239634" y="138071"/>
                </a:lnTo>
                <a:lnTo>
                  <a:pt x="1286021" y="155542"/>
                </a:lnTo>
                <a:lnTo>
                  <a:pt x="1332014" y="174011"/>
                </a:lnTo>
                <a:lnTo>
                  <a:pt x="1377595" y="193473"/>
                </a:lnTo>
                <a:lnTo>
                  <a:pt x="1422749" y="213920"/>
                </a:lnTo>
                <a:lnTo>
                  <a:pt x="1467459" y="235346"/>
                </a:lnTo>
                <a:lnTo>
                  <a:pt x="1511708" y="257744"/>
                </a:lnTo>
                <a:lnTo>
                  <a:pt x="1555481" y="281107"/>
                </a:lnTo>
                <a:lnTo>
                  <a:pt x="1598760" y="305428"/>
                </a:lnTo>
                <a:lnTo>
                  <a:pt x="1641529" y="330701"/>
                </a:lnTo>
                <a:lnTo>
                  <a:pt x="1683773" y="356919"/>
                </a:lnTo>
                <a:lnTo>
                  <a:pt x="1725473" y="384074"/>
                </a:lnTo>
                <a:lnTo>
                  <a:pt x="1766615" y="412161"/>
                </a:lnTo>
                <a:lnTo>
                  <a:pt x="1807181" y="441172"/>
                </a:lnTo>
                <a:lnTo>
                  <a:pt x="1847155" y="471100"/>
                </a:lnTo>
                <a:lnTo>
                  <a:pt x="1886520" y="501939"/>
                </a:lnTo>
                <a:lnTo>
                  <a:pt x="1925261" y="533681"/>
                </a:lnTo>
                <a:lnTo>
                  <a:pt x="1963360" y="566321"/>
                </a:lnTo>
                <a:lnTo>
                  <a:pt x="2000802" y="599851"/>
                </a:lnTo>
                <a:lnTo>
                  <a:pt x="2037569" y="634264"/>
                </a:lnTo>
                <a:lnTo>
                  <a:pt x="2073645" y="669553"/>
                </a:lnTo>
                <a:lnTo>
                  <a:pt x="2108935" y="705630"/>
                </a:lnTo>
                <a:lnTo>
                  <a:pt x="2143348" y="742397"/>
                </a:lnTo>
                <a:lnTo>
                  <a:pt x="2176878" y="779839"/>
                </a:lnTo>
                <a:lnTo>
                  <a:pt x="2209518" y="817938"/>
                </a:lnTo>
                <a:lnTo>
                  <a:pt x="2241260" y="856679"/>
                </a:lnTo>
                <a:lnTo>
                  <a:pt x="2272099" y="896044"/>
                </a:lnTo>
                <a:lnTo>
                  <a:pt x="2302027" y="936018"/>
                </a:lnTo>
                <a:lnTo>
                  <a:pt x="2331038" y="976584"/>
                </a:lnTo>
                <a:lnTo>
                  <a:pt x="2359125" y="1017726"/>
                </a:lnTo>
                <a:lnTo>
                  <a:pt x="2386280" y="1059426"/>
                </a:lnTo>
                <a:lnTo>
                  <a:pt x="2412498" y="1101670"/>
                </a:lnTo>
                <a:lnTo>
                  <a:pt x="2437771" y="1144439"/>
                </a:lnTo>
                <a:lnTo>
                  <a:pt x="2462092" y="1187718"/>
                </a:lnTo>
                <a:lnTo>
                  <a:pt x="2485455" y="1231491"/>
                </a:lnTo>
                <a:lnTo>
                  <a:pt x="2507853" y="1275740"/>
                </a:lnTo>
                <a:lnTo>
                  <a:pt x="2529279" y="1320450"/>
                </a:lnTo>
                <a:lnTo>
                  <a:pt x="2549726" y="1365604"/>
                </a:lnTo>
                <a:lnTo>
                  <a:pt x="2569188" y="1411185"/>
                </a:lnTo>
                <a:lnTo>
                  <a:pt x="2587657" y="1457178"/>
                </a:lnTo>
                <a:lnTo>
                  <a:pt x="2605128" y="1503565"/>
                </a:lnTo>
                <a:lnTo>
                  <a:pt x="2621592" y="1550330"/>
                </a:lnTo>
                <a:lnTo>
                  <a:pt x="2637043" y="1597456"/>
                </a:lnTo>
                <a:lnTo>
                  <a:pt x="2651475" y="1644929"/>
                </a:lnTo>
                <a:lnTo>
                  <a:pt x="2664880" y="1692729"/>
                </a:lnTo>
                <a:lnTo>
                  <a:pt x="2677252" y="1740843"/>
                </a:lnTo>
                <a:lnTo>
                  <a:pt x="2688584" y="1789252"/>
                </a:lnTo>
                <a:lnTo>
                  <a:pt x="2698869" y="1837940"/>
                </a:lnTo>
                <a:lnTo>
                  <a:pt x="2708100" y="1886892"/>
                </a:lnTo>
                <a:lnTo>
                  <a:pt x="2716271" y="1936090"/>
                </a:lnTo>
                <a:lnTo>
                  <a:pt x="2717278" y="1943099"/>
                </a:lnTo>
                <a:close/>
              </a:path>
            </a:pathLst>
          </a:custGeom>
          <a:solidFill>
            <a:srgbClr val="475568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519" y="1005839"/>
            <a:ext cx="2377440" cy="384175"/>
          </a:xfrm>
          <a:custGeom>
            <a:avLst/>
            <a:gdLst/>
            <a:ahLst/>
            <a:cxnLst/>
            <a:rect l="l" t="t" r="r" b="b"/>
            <a:pathLst>
              <a:path w="2377440" h="384175">
                <a:moveTo>
                  <a:pt x="2240281" y="384047"/>
                </a:moveTo>
                <a:lnTo>
                  <a:pt x="137158" y="384047"/>
                </a:lnTo>
                <a:lnTo>
                  <a:pt x="93806" y="377055"/>
                </a:lnTo>
                <a:lnTo>
                  <a:pt x="56154" y="357584"/>
                </a:lnTo>
                <a:lnTo>
                  <a:pt x="26463" y="327893"/>
                </a:lnTo>
                <a:lnTo>
                  <a:pt x="6992" y="290241"/>
                </a:lnTo>
                <a:lnTo>
                  <a:pt x="0" y="246889"/>
                </a:lnTo>
                <a:lnTo>
                  <a:pt x="0" y="137158"/>
                </a:lnTo>
                <a:lnTo>
                  <a:pt x="6992" y="93806"/>
                </a:lnTo>
                <a:lnTo>
                  <a:pt x="26463" y="56154"/>
                </a:lnTo>
                <a:lnTo>
                  <a:pt x="56154" y="26463"/>
                </a:lnTo>
                <a:lnTo>
                  <a:pt x="93806" y="6992"/>
                </a:lnTo>
                <a:lnTo>
                  <a:pt x="137158" y="0"/>
                </a:lnTo>
                <a:lnTo>
                  <a:pt x="2240281" y="0"/>
                </a:lnTo>
                <a:lnTo>
                  <a:pt x="2292769" y="10440"/>
                </a:lnTo>
                <a:lnTo>
                  <a:pt x="2337267" y="40172"/>
                </a:lnTo>
                <a:lnTo>
                  <a:pt x="2366999" y="84670"/>
                </a:lnTo>
                <a:lnTo>
                  <a:pt x="2377439" y="137158"/>
                </a:lnTo>
                <a:lnTo>
                  <a:pt x="2377439" y="246889"/>
                </a:lnTo>
                <a:lnTo>
                  <a:pt x="2370447" y="290241"/>
                </a:lnTo>
                <a:lnTo>
                  <a:pt x="2350976" y="327893"/>
                </a:lnTo>
                <a:lnTo>
                  <a:pt x="2321285" y="357584"/>
                </a:lnTo>
                <a:lnTo>
                  <a:pt x="2283634" y="377055"/>
                </a:lnTo>
                <a:lnTo>
                  <a:pt x="2240281" y="384047"/>
                </a:lnTo>
                <a:close/>
              </a:path>
            </a:pathLst>
          </a:custGeom>
          <a:solidFill>
            <a:srgbClr val="0F76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23651" y="1103884"/>
            <a:ext cx="7924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ORIENTATION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04545" y="1760220"/>
            <a:ext cx="5147945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>
                <a:solidFill>
                  <a:srgbClr val="FFFFFF"/>
                </a:solidFill>
              </a:rPr>
              <a:t>The</a:t>
            </a:r>
            <a:r>
              <a:rPr dirty="0" sz="5000" spc="-15">
                <a:solidFill>
                  <a:srgbClr val="FFFFFF"/>
                </a:solidFill>
              </a:rPr>
              <a:t> </a:t>
            </a:r>
            <a:r>
              <a:rPr dirty="0" sz="5000">
                <a:solidFill>
                  <a:srgbClr val="FFFFFF"/>
                </a:solidFill>
              </a:rPr>
              <a:t>AI</a:t>
            </a:r>
            <a:r>
              <a:rPr dirty="0" sz="5000" spc="-10">
                <a:solidFill>
                  <a:srgbClr val="FFFFFF"/>
                </a:solidFill>
              </a:rPr>
              <a:t> Revolution</a:t>
            </a:r>
            <a:endParaRPr sz="5000"/>
          </a:p>
          <a:p>
            <a:pPr marL="12700">
              <a:lnSpc>
                <a:spcPct val="100000"/>
              </a:lnSpc>
            </a:pPr>
            <a:r>
              <a:rPr dirty="0" sz="5000" i="1">
                <a:solidFill>
                  <a:srgbClr val="5EEAD4"/>
                </a:solidFill>
                <a:latin typeface="Georgia"/>
                <a:cs typeface="Georgia"/>
              </a:rPr>
              <a:t>Starts</a:t>
            </a:r>
            <a:r>
              <a:rPr dirty="0" sz="5000" spc="-30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5000" spc="-20" i="1">
                <a:solidFill>
                  <a:srgbClr val="5EEAD4"/>
                </a:solidFill>
                <a:latin typeface="Georgia"/>
                <a:cs typeface="Georgia"/>
              </a:rPr>
              <a:t>Here</a:t>
            </a:r>
            <a:endParaRPr sz="5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4545" y="3417087"/>
            <a:ext cx="4957445" cy="79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A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94A3B8"/>
                </a:solidFill>
                <a:latin typeface="Calibri"/>
                <a:cs typeface="Calibri"/>
              </a:rPr>
              <a:t>beginner-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friendly</a:t>
            </a:r>
            <a:r>
              <a:rPr dirty="0" sz="1800" spc="-2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guide</a:t>
            </a:r>
            <a:r>
              <a:rPr dirty="0" sz="1800" spc="-20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with</a:t>
            </a:r>
            <a:r>
              <a:rPr dirty="0" sz="1800" spc="-2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94A3B8"/>
                </a:solidFill>
                <a:latin typeface="Calibri"/>
                <a:cs typeface="Calibri"/>
              </a:rPr>
              <a:t>real-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world</a:t>
            </a:r>
            <a:r>
              <a:rPr dirty="0" sz="1800" spc="-20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94A3B8"/>
                </a:solidFill>
                <a:latin typeface="Calibri"/>
                <a:cs typeface="Calibri"/>
              </a:rPr>
              <a:t>analogies.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No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tech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background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needed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94A3B8"/>
                </a:solidFill>
                <a:latin typeface="Calibri"/>
                <a:cs typeface="Calibri"/>
              </a:rPr>
              <a:t>just</a:t>
            </a:r>
            <a:r>
              <a:rPr dirty="0" sz="18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94A3B8"/>
                </a:solidFill>
                <a:latin typeface="Calibri"/>
                <a:cs typeface="Calibri"/>
              </a:rPr>
              <a:t>curiosity.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1429" y="4526773"/>
            <a:ext cx="21393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040" marR="5080" indent="-18097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7B7B7"/>
                </a:solidFill>
                <a:latin typeface="Calibri"/>
                <a:cs typeface="Calibri"/>
              </a:rPr>
              <a:t>Based</a:t>
            </a:r>
            <a:r>
              <a:rPr dirty="0" sz="1200" spc="-3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B7B7B7"/>
                </a:solidFill>
                <a:latin typeface="Calibri"/>
                <a:cs typeface="Calibri"/>
              </a:rPr>
              <a:t>on</a:t>
            </a:r>
            <a:r>
              <a:rPr dirty="0" sz="1200" spc="-3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B7B7B7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B7B7B7"/>
                </a:solidFill>
                <a:latin typeface="Calibri"/>
                <a:cs typeface="Calibri"/>
              </a:rPr>
              <a:t>Agent</a:t>
            </a:r>
            <a:r>
              <a:rPr dirty="0" sz="1200" spc="-3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B7B7B7"/>
                </a:solidFill>
                <a:latin typeface="Calibri"/>
                <a:cs typeface="Calibri"/>
              </a:rPr>
              <a:t>Factory</a:t>
            </a:r>
            <a:r>
              <a:rPr dirty="0" sz="1200" spc="-3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B7B7B7"/>
                </a:solidFill>
                <a:latin typeface="Calibri"/>
                <a:cs typeface="Calibri"/>
              </a:rPr>
              <a:t>Thesis agentfactory.panaversity.org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4545" y="367284"/>
            <a:ext cx="43618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What</a:t>
            </a:r>
            <a:r>
              <a:rPr dirty="0" sz="3200" spc="-35"/>
              <a:t> </a:t>
            </a:r>
            <a:r>
              <a:rPr dirty="0" sz="3200"/>
              <a:t>We'll</a:t>
            </a:r>
            <a:r>
              <a:rPr dirty="0" sz="3200" spc="-25"/>
              <a:t> </a:t>
            </a:r>
            <a:r>
              <a:rPr dirty="0" sz="3200"/>
              <a:t>Cover</a:t>
            </a:r>
            <a:r>
              <a:rPr dirty="0" sz="3200" spc="-20"/>
              <a:t> </a:t>
            </a:r>
            <a:r>
              <a:rPr dirty="0" sz="3200" spc="-10"/>
              <a:t>Today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731519" y="914400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30">
                <a:moveTo>
                  <a:pt x="914399" y="36575"/>
                </a:moveTo>
                <a:lnTo>
                  <a:pt x="0" y="36575"/>
                </a:lnTo>
                <a:lnTo>
                  <a:pt x="0" y="0"/>
                </a:lnTo>
                <a:lnTo>
                  <a:pt x="914399" y="0"/>
                </a:lnTo>
                <a:lnTo>
                  <a:pt x="914399" y="36575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31519" y="1234439"/>
            <a:ext cx="3931920" cy="567055"/>
            <a:chOff x="731519" y="1234439"/>
            <a:chExt cx="3931920" cy="567055"/>
          </a:xfrm>
        </p:grpSpPr>
        <p:sp>
          <p:nvSpPr>
            <p:cNvPr id="5" name="object 5"/>
            <p:cNvSpPr/>
            <p:nvPr/>
          </p:nvSpPr>
          <p:spPr>
            <a:xfrm>
              <a:off x="731519" y="1234439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5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1519" y="1234439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5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731519" y="1965960"/>
            <a:ext cx="3931920" cy="567055"/>
            <a:chOff x="731519" y="1965960"/>
            <a:chExt cx="3931920" cy="567055"/>
          </a:xfrm>
        </p:grpSpPr>
        <p:sp>
          <p:nvSpPr>
            <p:cNvPr id="8" name="object 8"/>
            <p:cNvSpPr/>
            <p:nvPr/>
          </p:nvSpPr>
          <p:spPr>
            <a:xfrm>
              <a:off x="731519" y="1965960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5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1519" y="1965960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5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731519" y="2697479"/>
            <a:ext cx="3931920" cy="567055"/>
            <a:chOff x="731519" y="2697479"/>
            <a:chExt cx="3931920" cy="567055"/>
          </a:xfrm>
        </p:grpSpPr>
        <p:sp>
          <p:nvSpPr>
            <p:cNvPr id="11" name="object 11"/>
            <p:cNvSpPr/>
            <p:nvPr/>
          </p:nvSpPr>
          <p:spPr>
            <a:xfrm>
              <a:off x="731519" y="2697479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4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31519" y="2697479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4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731519" y="3429000"/>
            <a:ext cx="3931920" cy="567055"/>
            <a:chOff x="731519" y="3429000"/>
            <a:chExt cx="3931920" cy="567055"/>
          </a:xfrm>
        </p:grpSpPr>
        <p:sp>
          <p:nvSpPr>
            <p:cNvPr id="14" name="object 14"/>
            <p:cNvSpPr/>
            <p:nvPr/>
          </p:nvSpPr>
          <p:spPr>
            <a:xfrm>
              <a:off x="731519" y="3429000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4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31519" y="3429000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4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0F76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77240" y="1375155"/>
            <a:ext cx="3886200" cy="246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9450" indent="-456565">
              <a:lnSpc>
                <a:spcPct val="100000"/>
              </a:lnSpc>
              <a:spcBef>
                <a:spcPts val="100"/>
              </a:spcBef>
              <a:buClr>
                <a:srgbClr val="0D9488"/>
              </a:buClr>
              <a:buSzPct val="81250"/>
              <a:buFont typeface="Consolas"/>
              <a:buAutoNum type="arabicPeriod"/>
              <a:tabLst>
                <a:tab pos="679450" algn="l"/>
              </a:tabLst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What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is</a:t>
            </a:r>
            <a:r>
              <a:rPr dirty="0" sz="16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AI,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Really?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AutoNum type="arabicPeriod"/>
            </a:pPr>
            <a:endParaRPr sz="1600">
              <a:latin typeface="Calibri"/>
              <a:cs typeface="Calibri"/>
            </a:endParaRPr>
          </a:p>
          <a:p>
            <a:pPr marL="679450" indent="-456565">
              <a:lnSpc>
                <a:spcPct val="100000"/>
              </a:lnSpc>
              <a:buClr>
                <a:srgbClr val="F97316"/>
              </a:buClr>
              <a:buSzPct val="81250"/>
              <a:buFont typeface="Consolas"/>
              <a:buAutoNum type="arabicPeriod"/>
              <a:tabLst>
                <a:tab pos="679450" algn="l"/>
              </a:tabLst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What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is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Agentic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AI?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AutoNum type="arabicPeriod"/>
            </a:pPr>
            <a:endParaRPr sz="1600">
              <a:latin typeface="Calibri"/>
              <a:cs typeface="Calibri"/>
            </a:endParaRPr>
          </a:p>
          <a:p>
            <a:pPr marL="679450" indent="-456565">
              <a:lnSpc>
                <a:spcPct val="100000"/>
              </a:lnSpc>
              <a:buClr>
                <a:srgbClr val="4F46E4"/>
              </a:buClr>
              <a:buSzPct val="81250"/>
              <a:buFont typeface="Consolas"/>
              <a:buAutoNum type="arabicPeriod"/>
              <a:tabLst>
                <a:tab pos="679450" algn="l"/>
              </a:tabLst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Agent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Is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Operating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AutoNum type="arabicPeriod"/>
            </a:pPr>
            <a:endParaRPr sz="1600">
              <a:latin typeface="Calibri"/>
              <a:cs typeface="Calibri"/>
            </a:endParaRPr>
          </a:p>
          <a:p>
            <a:pPr marL="679450" indent="-456565">
              <a:lnSpc>
                <a:spcPct val="100000"/>
              </a:lnSpc>
              <a:buClr>
                <a:srgbClr val="0F766E"/>
              </a:buClr>
              <a:buSzPct val="81250"/>
              <a:buFont typeface="Consolas"/>
              <a:buAutoNum type="arabicPeriod"/>
              <a:tabLst>
                <a:tab pos="679450" algn="l"/>
              </a:tabLst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10-80-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10</a:t>
            </a:r>
            <a:r>
              <a:rPr dirty="0" sz="1600" spc="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Rhythm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1519" y="4160520"/>
            <a:ext cx="3931920" cy="567055"/>
            <a:chOff x="731519" y="4160520"/>
            <a:chExt cx="3931920" cy="567055"/>
          </a:xfrm>
        </p:grpSpPr>
        <p:sp>
          <p:nvSpPr>
            <p:cNvPr id="18" name="object 18"/>
            <p:cNvSpPr/>
            <p:nvPr/>
          </p:nvSpPr>
          <p:spPr>
            <a:xfrm>
              <a:off x="731519" y="4160520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4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1519" y="4160520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4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00125" y="4325620"/>
            <a:ext cx="1943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97316"/>
                </a:solidFill>
                <a:latin typeface="Consolas"/>
                <a:cs typeface="Consolas"/>
              </a:rPr>
              <a:t>05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57325" y="4179316"/>
            <a:ext cx="22574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From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'Smart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Tool'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to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'Smart Worker'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37759" y="1234439"/>
            <a:ext cx="3931920" cy="567055"/>
            <a:chOff x="4937759" y="1234439"/>
            <a:chExt cx="3931920" cy="567055"/>
          </a:xfrm>
        </p:grpSpPr>
        <p:sp>
          <p:nvSpPr>
            <p:cNvPr id="23" name="object 23"/>
            <p:cNvSpPr/>
            <p:nvPr/>
          </p:nvSpPr>
          <p:spPr>
            <a:xfrm>
              <a:off x="4937759" y="1234439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5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37759" y="1234439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5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937759" y="1965960"/>
            <a:ext cx="3931920" cy="567055"/>
            <a:chOff x="4937759" y="1965960"/>
            <a:chExt cx="3931920" cy="567055"/>
          </a:xfrm>
        </p:grpSpPr>
        <p:sp>
          <p:nvSpPr>
            <p:cNvPr id="26" name="object 26"/>
            <p:cNvSpPr/>
            <p:nvPr/>
          </p:nvSpPr>
          <p:spPr>
            <a:xfrm>
              <a:off x="4937759" y="1965960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5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37759" y="1965960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5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937759" y="2697479"/>
            <a:ext cx="3931920" cy="567055"/>
            <a:chOff x="4937759" y="2697479"/>
            <a:chExt cx="3931920" cy="567055"/>
          </a:xfrm>
        </p:grpSpPr>
        <p:sp>
          <p:nvSpPr>
            <p:cNvPr id="29" name="object 29"/>
            <p:cNvSpPr/>
            <p:nvPr/>
          </p:nvSpPr>
          <p:spPr>
            <a:xfrm>
              <a:off x="4937759" y="2697479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4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37759" y="2697479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4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206365" y="2862580"/>
            <a:ext cx="1943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E11C48"/>
                </a:solidFill>
                <a:latin typeface="Consolas"/>
                <a:cs typeface="Consolas"/>
              </a:rPr>
              <a:t>08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37759" y="3429000"/>
            <a:ext cx="3931920" cy="567055"/>
            <a:chOff x="4937759" y="3429000"/>
            <a:chExt cx="3931920" cy="567055"/>
          </a:xfrm>
        </p:grpSpPr>
        <p:sp>
          <p:nvSpPr>
            <p:cNvPr id="33" name="object 33"/>
            <p:cNvSpPr/>
            <p:nvPr/>
          </p:nvSpPr>
          <p:spPr>
            <a:xfrm>
              <a:off x="4937759" y="3429000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4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937759" y="3429000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4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206365" y="3594100"/>
            <a:ext cx="1943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16A34A"/>
                </a:solidFill>
                <a:latin typeface="Consolas"/>
                <a:cs typeface="Consolas"/>
              </a:rPr>
              <a:t>09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37759" y="4160520"/>
            <a:ext cx="3931920" cy="567055"/>
            <a:chOff x="4937759" y="4160520"/>
            <a:chExt cx="3931920" cy="567055"/>
          </a:xfrm>
        </p:grpSpPr>
        <p:sp>
          <p:nvSpPr>
            <p:cNvPr id="37" name="object 37"/>
            <p:cNvSpPr/>
            <p:nvPr/>
          </p:nvSpPr>
          <p:spPr>
            <a:xfrm>
              <a:off x="4937759" y="4160520"/>
              <a:ext cx="3931920" cy="567055"/>
            </a:xfrm>
            <a:custGeom>
              <a:avLst/>
              <a:gdLst/>
              <a:ahLst/>
              <a:cxnLst/>
              <a:rect l="l" t="t" r="r" b="b"/>
              <a:pathLst>
                <a:path w="3931920" h="567054">
                  <a:moveTo>
                    <a:pt x="39319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566927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937759" y="4160520"/>
              <a:ext cx="45720" cy="567055"/>
            </a:xfrm>
            <a:custGeom>
              <a:avLst/>
              <a:gdLst/>
              <a:ahLst/>
              <a:cxnLst/>
              <a:rect l="l" t="t" r="r" b="b"/>
              <a:pathLst>
                <a:path w="45720" h="567054">
                  <a:moveTo>
                    <a:pt x="45719" y="566927"/>
                  </a:moveTo>
                  <a:lnTo>
                    <a:pt x="0" y="56692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566927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983479" y="1375155"/>
            <a:ext cx="3886200" cy="319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9450" indent="-456565">
              <a:lnSpc>
                <a:spcPct val="100000"/>
              </a:lnSpc>
              <a:spcBef>
                <a:spcPts val="100"/>
              </a:spcBef>
              <a:buClr>
                <a:srgbClr val="4F46E4"/>
              </a:buClr>
              <a:buSzPct val="81250"/>
              <a:buFont typeface="Consolas"/>
              <a:buAutoNum type="arabicPeriod" startAt="6"/>
              <a:tabLst>
                <a:tab pos="679450" algn="l"/>
              </a:tabLst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4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Agent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Factory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Idea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AutoNum type="arabicPeriod" startAt="6"/>
            </a:pPr>
            <a:endParaRPr sz="1600">
              <a:latin typeface="Calibri"/>
              <a:cs typeface="Calibri"/>
            </a:endParaRPr>
          </a:p>
          <a:p>
            <a:pPr marL="679450" indent="-456565">
              <a:lnSpc>
                <a:spcPct val="100000"/>
              </a:lnSpc>
              <a:buClr>
                <a:srgbClr val="0D9488"/>
              </a:buClr>
              <a:buSzPct val="81250"/>
              <a:buFont typeface="Consolas"/>
              <a:buAutoNum type="arabicPeriod" startAt="6"/>
              <a:tabLst>
                <a:tab pos="679450" algn="l"/>
              </a:tabLst>
            </a:pP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Your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Personal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AI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Delegate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600">
              <a:latin typeface="Calibri"/>
              <a:cs typeface="Calibri"/>
            </a:endParaRPr>
          </a:p>
          <a:p>
            <a:pPr marL="680085" marR="462280">
              <a:lnSpc>
                <a:spcPct val="100000"/>
              </a:lnSpc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7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Principles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of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General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Agent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Problem</a:t>
            </a:r>
            <a:r>
              <a:rPr dirty="0" sz="1600" spc="-7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Solving</a:t>
            </a:r>
            <a:endParaRPr sz="1600">
              <a:latin typeface="Calibri"/>
              <a:cs typeface="Calibri"/>
            </a:endParaRPr>
          </a:p>
          <a:p>
            <a:pPr marL="680085">
              <a:lnSpc>
                <a:spcPct val="100000"/>
              </a:lnSpc>
              <a:spcBef>
                <a:spcPts val="1920"/>
              </a:spcBef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7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Golden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Rules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35"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68008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AI-Native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(Invariants)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600">
              <a:latin typeface="Calibri"/>
              <a:cs typeface="Calibri"/>
            </a:endParaRPr>
          </a:p>
          <a:p>
            <a:pPr marL="222885">
              <a:lnSpc>
                <a:spcPct val="100000"/>
              </a:lnSpc>
              <a:tabLst>
                <a:tab pos="679450" algn="l"/>
              </a:tabLst>
            </a:pPr>
            <a:r>
              <a:rPr dirty="0" baseline="4273" sz="1950" spc="-37" b="1">
                <a:solidFill>
                  <a:srgbClr val="F97316"/>
                </a:solidFill>
                <a:latin typeface="Consolas"/>
                <a:cs typeface="Consolas"/>
              </a:rPr>
              <a:t>10</a:t>
            </a:r>
            <a:r>
              <a:rPr dirty="0" baseline="4273" sz="1950" b="1">
                <a:solidFill>
                  <a:srgbClr val="F97316"/>
                </a:solidFill>
                <a:latin typeface="Consolas"/>
                <a:cs typeface="Consolas"/>
              </a:rPr>
              <a:t>	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</a:t>
            </a:r>
            <a:r>
              <a:rPr dirty="0" sz="1600" spc="-5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Real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Example: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Ecomm</a:t>
            </a:r>
            <a:r>
              <a:rPr dirty="0" sz="1600" spc="-5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Mart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116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01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42983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What</a:t>
            </a:r>
            <a:r>
              <a:rPr dirty="0" sz="4000" spc="-3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is</a:t>
            </a:r>
            <a:r>
              <a:rPr dirty="0" sz="4000" spc="-3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AI,</a:t>
            </a:r>
            <a:r>
              <a:rPr dirty="0" sz="4000" spc="-3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Really?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4549140"/>
            <a:ext cx="8743950" cy="4800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255" y="3966210"/>
            <a:ext cx="331469" cy="371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0815" y="3977640"/>
            <a:ext cx="320040" cy="3314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617344"/>
            <a:ext cx="554355" cy="571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659" y="771525"/>
            <a:ext cx="4200525" cy="24460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57850" y="3034664"/>
            <a:ext cx="262889" cy="2628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3859" y="1805939"/>
            <a:ext cx="674370" cy="38290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011668" y="2409444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356616"/>
                </a:moveTo>
                <a:lnTo>
                  <a:pt x="0" y="0"/>
                </a:lnTo>
              </a:path>
            </a:pathLst>
          </a:custGeom>
          <a:ln w="9144">
            <a:solidFill>
              <a:srgbClr val="38676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8007095" y="2409444"/>
            <a:ext cx="753110" cy="356870"/>
            <a:chOff x="8007095" y="2409444"/>
            <a:chExt cx="753110" cy="356870"/>
          </a:xfrm>
        </p:grpSpPr>
        <p:sp>
          <p:nvSpPr>
            <p:cNvPr id="11" name="object 11"/>
            <p:cNvSpPr/>
            <p:nvPr/>
          </p:nvSpPr>
          <p:spPr>
            <a:xfrm>
              <a:off x="8755379" y="2409444"/>
              <a:ext cx="0" cy="356870"/>
            </a:xfrm>
            <a:custGeom>
              <a:avLst/>
              <a:gdLst/>
              <a:ahLst/>
              <a:cxnLst/>
              <a:rect l="l" t="t" r="r" b="b"/>
              <a:pathLst>
                <a:path w="0" h="356869">
                  <a:moveTo>
                    <a:pt x="0" y="356616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3867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007095" y="2414016"/>
              <a:ext cx="753110" cy="0"/>
            </a:xfrm>
            <a:custGeom>
              <a:avLst/>
              <a:gdLst/>
              <a:ahLst/>
              <a:cxnLst/>
              <a:rect l="l" t="t" r="r" b="b"/>
              <a:pathLst>
                <a:path w="753109" h="0">
                  <a:moveTo>
                    <a:pt x="0" y="0"/>
                  </a:moveTo>
                  <a:lnTo>
                    <a:pt x="752856" y="0"/>
                  </a:lnTo>
                </a:path>
              </a:pathLst>
            </a:custGeom>
            <a:ln w="9144">
              <a:solidFill>
                <a:srgbClr val="3867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007095" y="2761488"/>
              <a:ext cx="485140" cy="0"/>
            </a:xfrm>
            <a:custGeom>
              <a:avLst/>
              <a:gdLst/>
              <a:ahLst/>
              <a:cxnLst/>
              <a:rect l="l" t="t" r="r" b="b"/>
              <a:pathLst>
                <a:path w="485140" h="0">
                  <a:moveTo>
                    <a:pt x="0" y="0"/>
                  </a:moveTo>
                  <a:lnTo>
                    <a:pt x="484631" y="0"/>
                  </a:lnTo>
                </a:path>
              </a:pathLst>
            </a:custGeom>
            <a:ln w="9144">
              <a:solidFill>
                <a:srgbClr val="38676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5108447" y="175260"/>
            <a:ext cx="1313815" cy="0"/>
          </a:xfrm>
          <a:custGeom>
            <a:avLst/>
            <a:gdLst/>
            <a:ahLst/>
            <a:cxnLst/>
            <a:rect l="l" t="t" r="r" b="b"/>
            <a:pathLst>
              <a:path w="1313814" h="0">
                <a:moveTo>
                  <a:pt x="0" y="0"/>
                </a:moveTo>
                <a:lnTo>
                  <a:pt x="1313688" y="0"/>
                </a:lnTo>
              </a:path>
            </a:pathLst>
          </a:custGeom>
          <a:ln w="12192">
            <a:solidFill>
              <a:srgbClr val="4877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59623" y="175260"/>
            <a:ext cx="1274445" cy="0"/>
          </a:xfrm>
          <a:custGeom>
            <a:avLst/>
            <a:gdLst/>
            <a:ahLst/>
            <a:cxnLst/>
            <a:rect l="l" t="t" r="r" b="b"/>
            <a:pathLst>
              <a:path w="1274445" h="0">
                <a:moveTo>
                  <a:pt x="0" y="0"/>
                </a:moveTo>
                <a:lnTo>
                  <a:pt x="1274064" y="0"/>
                </a:lnTo>
              </a:path>
            </a:pathLst>
          </a:custGeom>
          <a:ln w="12192">
            <a:solidFill>
              <a:srgbClr val="48747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2503170" y="308609"/>
            <a:ext cx="1337310" cy="400050"/>
            <a:chOff x="2503170" y="308609"/>
            <a:chExt cx="1337310" cy="40005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4760" y="457199"/>
              <a:ext cx="45720" cy="2514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03170" y="308609"/>
              <a:ext cx="1331595" cy="394335"/>
            </a:xfrm>
            <a:custGeom>
              <a:avLst/>
              <a:gdLst/>
              <a:ahLst/>
              <a:cxnLst/>
              <a:rect l="l" t="t" r="r" b="b"/>
              <a:pathLst>
                <a:path w="1331595" h="394334">
                  <a:moveTo>
                    <a:pt x="1331595" y="394335"/>
                  </a:moveTo>
                  <a:lnTo>
                    <a:pt x="0" y="394335"/>
                  </a:lnTo>
                  <a:lnTo>
                    <a:pt x="0" y="0"/>
                  </a:lnTo>
                  <a:lnTo>
                    <a:pt x="1331595" y="0"/>
                  </a:lnTo>
                  <a:lnTo>
                    <a:pt x="1331595" y="394335"/>
                  </a:lnTo>
                  <a:close/>
                </a:path>
              </a:pathLst>
            </a:custGeom>
            <a:solidFill>
              <a:srgbClr val="DFF2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503170" y="308609"/>
            <a:ext cx="1331595" cy="394335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algn="ctr" marL="17145">
              <a:lnSpc>
                <a:spcPct val="100000"/>
              </a:lnSpc>
              <a:spcBef>
                <a:spcPts val="359"/>
              </a:spcBef>
            </a:pPr>
            <a:r>
              <a:rPr dirty="0" sz="900" spc="-120">
                <a:solidFill>
                  <a:srgbClr val="0C6262"/>
                </a:solidFill>
                <a:latin typeface="Arial MT"/>
                <a:cs typeface="Arial MT"/>
              </a:rPr>
              <a:t>suART</a:t>
            </a:r>
            <a:r>
              <a:rPr dirty="0" sz="900" spc="-20">
                <a:solidFill>
                  <a:srgbClr val="0C6262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9827C"/>
                </a:solidFill>
                <a:latin typeface="Arial MT"/>
                <a:cs typeface="Arial MT"/>
              </a:rPr>
              <a:t>nicRowAvz</a:t>
            </a:r>
            <a:endParaRPr sz="900">
              <a:latin typeface="Arial MT"/>
              <a:cs typeface="Arial MT"/>
            </a:endParaRPr>
          </a:p>
          <a:p>
            <a:pPr algn="ctr" marL="29845">
              <a:lnSpc>
                <a:spcPct val="100000"/>
              </a:lnSpc>
              <a:spcBef>
                <a:spcPts val="254"/>
              </a:spcBef>
            </a:pPr>
            <a:r>
              <a:rPr dirty="0" sz="600">
                <a:solidFill>
                  <a:srgbClr val="235E5D"/>
                </a:solidFill>
                <a:latin typeface="Arial MT"/>
                <a:cs typeface="Arial MT"/>
              </a:rPr>
              <a:t>Lo</a:t>
            </a:r>
            <a:r>
              <a:rPr dirty="0" sz="600" spc="-90">
                <a:solidFill>
                  <a:srgbClr val="235E5D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B5F2F2"/>
                </a:solidFill>
                <a:latin typeface="Arial MT"/>
                <a:cs typeface="Arial MT"/>
              </a:rPr>
              <a:t>oŁ</a:t>
            </a:r>
            <a:r>
              <a:rPr dirty="0" sz="600" spc="-85">
                <a:solidFill>
                  <a:srgbClr val="B5F2F2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77B8AF"/>
                </a:solidFill>
                <a:latin typeface="Arial MT"/>
                <a:cs typeface="Arial MT"/>
              </a:rPr>
              <a:t>s</a:t>
            </a:r>
            <a:r>
              <a:rPr dirty="0" sz="600" spc="325">
                <a:solidFill>
                  <a:srgbClr val="77B8A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55454"/>
                </a:solidFill>
                <a:latin typeface="Arial MT"/>
                <a:cs typeface="Arial MT"/>
              </a:rPr>
              <a:t>recog</a:t>
            </a:r>
            <a:r>
              <a:rPr dirty="0" sz="600" spc="-90">
                <a:solidFill>
                  <a:srgbClr val="155454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3A7270"/>
                </a:solidFill>
                <a:latin typeface="Arial MT"/>
                <a:cs typeface="Arial MT"/>
              </a:rPr>
              <a:t>ta‹</a:t>
            </a:r>
            <a:r>
              <a:rPr dirty="0" sz="600" spc="-20">
                <a:solidFill>
                  <a:srgbClr val="60BFC3"/>
                </a:solidFill>
                <a:latin typeface="Arial MT"/>
                <a:cs typeface="Arial MT"/>
              </a:rPr>
              <a:t>Yes,</a:t>
            </a:r>
            <a:r>
              <a:rPr dirty="0" sz="600" spc="-20">
                <a:solidFill>
                  <a:srgbClr val="186059"/>
                </a:solidFill>
                <a:latin typeface="Arial MT"/>
                <a:cs typeface="Arial MT"/>
              </a:rPr>
              <a:t>dec</a:t>
            </a:r>
            <a:r>
              <a:rPr dirty="0" sz="600" spc="-85">
                <a:solidFill>
                  <a:srgbClr val="186059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67A09E"/>
                </a:solidFill>
                <a:latin typeface="Arial MT"/>
                <a:cs typeface="Arial MT"/>
              </a:rPr>
              <a:t>i</a:t>
            </a:r>
            <a:r>
              <a:rPr dirty="0" sz="600">
                <a:solidFill>
                  <a:srgbClr val="366E6E"/>
                </a:solidFill>
                <a:latin typeface="Arial MT"/>
                <a:cs typeface="Arial MT"/>
              </a:rPr>
              <a:t>de</a:t>
            </a:r>
            <a:r>
              <a:rPr dirty="0" sz="600" spc="-95">
                <a:solidFill>
                  <a:srgbClr val="366E6E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2D837E"/>
                </a:solidFill>
                <a:latin typeface="Arial MT"/>
                <a:cs typeface="Arial MT"/>
              </a:rPr>
              <a:t>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29275" y="2417445"/>
            <a:ext cx="320040" cy="317500"/>
            <a:chOff x="5629275" y="2417445"/>
            <a:chExt cx="320040" cy="31750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49289" y="2531745"/>
              <a:ext cx="80010" cy="8001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29275" y="2417445"/>
              <a:ext cx="85725" cy="914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49289" y="2531745"/>
              <a:ext cx="80010" cy="8001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63590" y="2417445"/>
              <a:ext cx="85725" cy="914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29275" y="2486025"/>
              <a:ext cx="320039" cy="248602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8006715" y="2971800"/>
            <a:ext cx="760095" cy="388620"/>
            <a:chOff x="8006715" y="2971800"/>
            <a:chExt cx="760095" cy="388620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21015" y="3074670"/>
              <a:ext cx="222884" cy="17716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35340" y="3240404"/>
              <a:ext cx="57150" cy="5143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35340" y="3040380"/>
              <a:ext cx="57150" cy="5143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21015" y="3074670"/>
              <a:ext cx="222884" cy="17716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06715" y="2971800"/>
              <a:ext cx="531495" cy="10572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06715" y="3077527"/>
              <a:ext cx="760095" cy="282892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189220" y="2411729"/>
            <a:ext cx="274320" cy="27431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189220" y="2988945"/>
            <a:ext cx="274320" cy="27431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72150" y="4034790"/>
            <a:ext cx="371475" cy="20574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931795" y="3971925"/>
            <a:ext cx="1034415" cy="33146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058150" y="2434589"/>
            <a:ext cx="702945" cy="280035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148248" y="347662"/>
            <a:ext cx="1003935" cy="29400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00" spc="-110">
                <a:solidFill>
                  <a:srgbClr val="111111"/>
                </a:solidFill>
                <a:latin typeface="Arial MT"/>
                <a:cs typeface="Arial MT"/>
              </a:rPr>
              <a:t>ORDINARY</a:t>
            </a:r>
            <a:r>
              <a:rPr dirty="0" sz="8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90">
                <a:solidFill>
                  <a:srgbClr val="0F0F0F"/>
                </a:solidFill>
                <a:latin typeface="Arial MT"/>
                <a:cs typeface="Arial MT"/>
              </a:rPr>
              <a:t>kIICROWAVS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spc="-105">
                <a:solidFill>
                  <a:srgbClr val="383838"/>
                </a:solidFill>
                <a:latin typeface="Arial MT"/>
                <a:cs typeface="Arial MT"/>
              </a:rPr>
              <a:t>Uses</a:t>
            </a:r>
            <a:r>
              <a:rPr dirty="0" sz="80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3B3B3B"/>
                </a:solidFill>
                <a:latin typeface="Arial MT"/>
                <a:cs typeface="Arial MT"/>
              </a:rPr>
              <a:t>fixad </a:t>
            </a:r>
            <a:r>
              <a:rPr dirty="0" sz="800" spc="-55">
                <a:solidFill>
                  <a:srgbClr val="383838"/>
                </a:solidFill>
                <a:latin typeface="Arial MT"/>
                <a:cs typeface="Arial MT"/>
              </a:rPr>
              <a:t>time </a:t>
            </a:r>
            <a:r>
              <a:rPr dirty="0" sz="800" spc="-55">
                <a:solidFill>
                  <a:srgbClr val="6E6E6E"/>
                </a:solidFill>
                <a:latin typeface="Arial MT"/>
                <a:cs typeface="Arial MT"/>
              </a:rPr>
              <a:t>&amp;</a:t>
            </a:r>
            <a:r>
              <a:rPr dirty="0" sz="800" spc="-4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Arial MT"/>
                <a:cs typeface="Arial MT"/>
              </a:rPr>
              <a:t>power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41841" y="3889592"/>
            <a:ext cx="1036319" cy="4254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00" spc="-40">
                <a:solidFill>
                  <a:srgbClr val="1A5B59"/>
                </a:solidFill>
                <a:latin typeface="Arial MT"/>
                <a:cs typeface="Arial MT"/>
              </a:rPr>
              <a:t>Information</a:t>
            </a:r>
            <a:r>
              <a:rPr dirty="0" sz="1200" spc="-20">
                <a:solidFill>
                  <a:srgbClr val="1A5B59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2F645B"/>
                </a:solidFill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250"/>
              </a:spcBef>
            </a:pPr>
            <a:r>
              <a:rPr dirty="0" sz="950" spc="-45">
                <a:solidFill>
                  <a:srgbClr val="333333"/>
                </a:solidFill>
                <a:latin typeface="Arial MT"/>
                <a:cs typeface="Arial MT"/>
              </a:rPr>
              <a:t>AI</a:t>
            </a:r>
            <a:r>
              <a:rPr dirty="0" sz="95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950" spc="-45">
                <a:solidFill>
                  <a:srgbClr val="161616"/>
                </a:solidFill>
                <a:latin typeface="Arial MT"/>
                <a:cs typeface="Arial MT"/>
              </a:rPr>
              <a:t>looks</a:t>
            </a:r>
            <a:r>
              <a:rPr dirty="0" sz="950" spc="-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2A2A"/>
                </a:solidFill>
                <a:latin typeface="Arial MT"/>
                <a:cs typeface="Arial MT"/>
              </a:rPr>
              <a:t>at</a:t>
            </a:r>
            <a:r>
              <a:rPr dirty="0" sz="950" spc="-4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95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D2D2D"/>
                </a:solidFill>
                <a:latin typeface="Arial MT"/>
                <a:cs typeface="Arial MT"/>
              </a:rPr>
              <a:t>input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93677" y="62229"/>
            <a:ext cx="8750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75">
                <a:solidFill>
                  <a:srgbClr val="0C605B"/>
                </a:solidFill>
                <a:latin typeface="Arial Black"/>
                <a:cs typeface="Arial Black"/>
              </a:rPr>
              <a:t>A</a:t>
            </a:r>
            <a:r>
              <a:rPr dirty="0" sz="1300" spc="-195">
                <a:solidFill>
                  <a:srgbClr val="0C605B"/>
                </a:solidFill>
                <a:latin typeface="Arial Black"/>
                <a:cs typeface="Arial Black"/>
              </a:rPr>
              <a:t> </a:t>
            </a:r>
            <a:r>
              <a:rPr dirty="0" sz="1300" spc="-295">
                <a:solidFill>
                  <a:srgbClr val="166D69"/>
                </a:solidFill>
                <a:latin typeface="Arial Black"/>
                <a:cs typeface="Arial Black"/>
              </a:rPr>
              <a:t>N</a:t>
            </a:r>
            <a:r>
              <a:rPr dirty="0" sz="1300" spc="-145">
                <a:solidFill>
                  <a:srgbClr val="166D69"/>
                </a:solidFill>
                <a:latin typeface="Arial Black"/>
                <a:cs typeface="Arial Black"/>
              </a:rPr>
              <a:t> </a:t>
            </a:r>
            <a:r>
              <a:rPr dirty="0" sz="1300" spc="-275">
                <a:solidFill>
                  <a:srgbClr val="015250"/>
                </a:solidFill>
                <a:latin typeface="Arial Black"/>
                <a:cs typeface="Arial Black"/>
              </a:rPr>
              <a:t>A</a:t>
            </a:r>
            <a:r>
              <a:rPr dirty="0" sz="1300" spc="-195">
                <a:solidFill>
                  <a:srgbClr val="015250"/>
                </a:solidFill>
                <a:latin typeface="Arial Black"/>
                <a:cs typeface="Arial Black"/>
              </a:rPr>
              <a:t> </a:t>
            </a:r>
            <a:r>
              <a:rPr dirty="0" sz="1300" spc="-145">
                <a:solidFill>
                  <a:srgbClr val="1F6967"/>
                </a:solidFill>
                <a:latin typeface="Arial Black"/>
                <a:cs typeface="Arial Black"/>
              </a:rPr>
              <a:t>LO</a:t>
            </a:r>
            <a:r>
              <a:rPr dirty="0" sz="1300" spc="-225">
                <a:solidFill>
                  <a:srgbClr val="1F6967"/>
                </a:solidFill>
                <a:latin typeface="Arial Black"/>
                <a:cs typeface="Arial Black"/>
              </a:rPr>
              <a:t> </a:t>
            </a:r>
            <a:r>
              <a:rPr dirty="0" sz="1300" spc="-245">
                <a:solidFill>
                  <a:srgbClr val="135B59"/>
                </a:solidFill>
                <a:latin typeface="Arial Black"/>
                <a:cs typeface="Arial Black"/>
              </a:rPr>
              <a:t>G</a:t>
            </a:r>
            <a:r>
              <a:rPr dirty="0" sz="1300" spc="-195">
                <a:solidFill>
                  <a:srgbClr val="135B59"/>
                </a:solidFill>
                <a:latin typeface="Arial Black"/>
                <a:cs typeface="Arial Black"/>
              </a:rPr>
              <a:t> </a:t>
            </a:r>
            <a:r>
              <a:rPr dirty="0" sz="1300" spc="-415">
                <a:solidFill>
                  <a:srgbClr val="18645D"/>
                </a:solidFill>
                <a:latin typeface="Arial Black"/>
                <a:cs typeface="Arial Black"/>
              </a:rPr>
              <a:t>Y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68578" y="203200"/>
            <a:ext cx="191198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765">
                <a:solidFill>
                  <a:srgbClr val="181818"/>
                </a:solidFill>
                <a:latin typeface="Arial Black"/>
                <a:cs typeface="Arial Black"/>
              </a:rPr>
              <a:t>The</a:t>
            </a:r>
            <a:r>
              <a:rPr dirty="0" sz="3700" spc="-30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3700" spc="-720">
                <a:solidFill>
                  <a:srgbClr val="111111"/>
                </a:solidFill>
                <a:latin typeface="Arial Black"/>
                <a:cs typeface="Arial Black"/>
              </a:rPr>
              <a:t>Smart</a:t>
            </a:r>
            <a:endParaRPr sz="37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85967" y="414077"/>
            <a:ext cx="3818890" cy="1218565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4150" spc="-740">
                <a:solidFill>
                  <a:srgbClr val="016B64"/>
                </a:solidFill>
                <a:latin typeface="Arial Black"/>
                <a:cs typeface="Arial Black"/>
              </a:rPr>
              <a:t>Kitchen</a:t>
            </a:r>
            <a:r>
              <a:rPr dirty="0" sz="4150" spc="-120">
                <a:solidFill>
                  <a:srgbClr val="016B64"/>
                </a:solidFill>
                <a:latin typeface="Arial Black"/>
                <a:cs typeface="Arial Black"/>
              </a:rPr>
              <a:t> </a:t>
            </a:r>
            <a:r>
              <a:rPr dirty="0" sz="4150" spc="-745">
                <a:solidFill>
                  <a:srgbClr val="036769"/>
                </a:solidFill>
                <a:latin typeface="Arial Black"/>
                <a:cs typeface="Arial Black"/>
              </a:rPr>
              <a:t>Appliance</a:t>
            </a:r>
            <a:endParaRPr sz="4150">
              <a:latin typeface="Arial Black"/>
              <a:cs typeface="Arial Black"/>
            </a:endParaRPr>
          </a:p>
          <a:p>
            <a:pPr marL="40005">
              <a:lnSpc>
                <a:spcPct val="100000"/>
              </a:lnSpc>
              <a:spcBef>
                <a:spcPts val="365"/>
              </a:spcBef>
            </a:pPr>
            <a:r>
              <a:rPr dirty="0" sz="1100" spc="-85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dirty="0" sz="1100" spc="-1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282828"/>
                </a:solidFill>
                <a:latin typeface="Arial MT"/>
                <a:cs typeface="Arial MT"/>
              </a:rPr>
              <a:t>normal</a:t>
            </a:r>
            <a:r>
              <a:rPr dirty="0" sz="1100" spc="-4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1F1F1F"/>
                </a:solidFill>
                <a:latin typeface="Arial MT"/>
                <a:cs typeface="Arial MT"/>
              </a:rPr>
              <a:t>microwave</a:t>
            </a:r>
            <a:r>
              <a:rPr dirty="0" sz="1100" spc="-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161616"/>
                </a:solidFill>
                <a:latin typeface="Arial MT"/>
                <a:cs typeface="Arial MT"/>
              </a:rPr>
              <a:t>follows</a:t>
            </a:r>
            <a:r>
              <a:rPr dirty="0" sz="1100" spc="-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242424"/>
                </a:solidFill>
                <a:latin typeface="Arial MT"/>
                <a:cs typeface="Arial MT"/>
              </a:rPr>
              <a:t>fixed</a:t>
            </a:r>
            <a:r>
              <a:rPr dirty="0" sz="11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232323"/>
                </a:solidFill>
                <a:latin typeface="Arial MT"/>
                <a:cs typeface="Arial MT"/>
              </a:rPr>
              <a:t>rules.</a:t>
            </a:r>
            <a:endParaRPr sz="11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30"/>
              </a:spcBef>
            </a:pPr>
            <a:r>
              <a:rPr dirty="0" sz="1100" spc="-90">
                <a:solidFill>
                  <a:srgbClr val="343434"/>
                </a:solidFill>
                <a:latin typeface="Arial MT"/>
                <a:cs typeface="Arial MT"/>
              </a:rPr>
              <a:t>A</a:t>
            </a:r>
            <a:r>
              <a:rPr dirty="0" sz="1100" spc="-1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0F0F0F"/>
                </a:solidFill>
                <a:latin typeface="Arial MT"/>
                <a:cs typeface="Arial MT"/>
              </a:rPr>
              <a:t>smart</a:t>
            </a:r>
            <a:r>
              <a:rPr dirty="0" sz="11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2F2F2F"/>
                </a:solidFill>
                <a:latin typeface="Arial MT"/>
                <a:cs typeface="Arial MT"/>
              </a:rPr>
              <a:t>one</a:t>
            </a:r>
            <a:r>
              <a:rPr dirty="0" sz="1100" spc="-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1100" spc="-60">
                <a:solidFill>
                  <a:srgbClr val="282828"/>
                </a:solidFill>
                <a:latin typeface="Arial MT"/>
                <a:cs typeface="Arial MT"/>
              </a:rPr>
              <a:t>can</a:t>
            </a:r>
            <a:r>
              <a:rPr dirty="0" sz="1100" spc="-8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1D1D1D"/>
                </a:solidFill>
                <a:latin typeface="Arial MT"/>
                <a:cs typeface="Arial MT"/>
              </a:rPr>
              <a:t>|ook,</a:t>
            </a:r>
            <a:r>
              <a:rPr dirty="0" sz="1100" spc="-7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131313"/>
                </a:solidFill>
                <a:latin typeface="Arial MT"/>
                <a:cs typeface="Arial MT"/>
              </a:rPr>
              <a:t>recognize,</a:t>
            </a:r>
            <a:r>
              <a:rPr dirty="0" sz="1100" spc="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1F1F1F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11111"/>
                </a:solidFill>
                <a:latin typeface="Arial MT"/>
                <a:cs typeface="Arial MT"/>
              </a:rPr>
              <a:t>decide</a:t>
            </a:r>
            <a:r>
              <a:rPr dirty="0" sz="110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61616"/>
                </a:solidFill>
                <a:latin typeface="Arial MT"/>
                <a:cs typeface="Arial MT"/>
              </a:rPr>
              <a:t>what</a:t>
            </a:r>
            <a:r>
              <a:rPr dirty="0" sz="1100" spc="-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dirty="0" sz="1100" spc="-6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51515"/>
                </a:solidFill>
                <a:latin typeface="Arial MT"/>
                <a:cs typeface="Arial MT"/>
              </a:rPr>
              <a:t>do.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57268" y="1516062"/>
            <a:ext cx="74104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200">
                <a:solidFill>
                  <a:srgbClr val="00706D"/>
                </a:solidFill>
                <a:latin typeface="Times New Roman"/>
                <a:cs typeface="Times New Roman"/>
              </a:rPr>
              <a:t>o</a:t>
            </a:r>
            <a:r>
              <a:rPr dirty="0" sz="4500" spc="-125">
                <a:solidFill>
                  <a:srgbClr val="00706D"/>
                </a:solidFill>
                <a:latin typeface="Times New Roman"/>
                <a:cs typeface="Times New Roman"/>
              </a:rPr>
              <a:t> </a:t>
            </a:r>
            <a:r>
              <a:rPr dirty="0" sz="4500" spc="100">
                <a:solidFill>
                  <a:srgbClr val="1F5656"/>
                </a:solidFill>
                <a:latin typeface="Times New Roman"/>
                <a:cs typeface="Times New Roman"/>
              </a:rPr>
              <a:t>a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36391" y="3506787"/>
            <a:ext cx="2324735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90">
                <a:solidFill>
                  <a:srgbClr val="006467"/>
                </a:solidFill>
                <a:latin typeface="Arial Black"/>
                <a:cs typeface="Arial Black"/>
              </a:rPr>
              <a:t>Working</a:t>
            </a:r>
            <a:r>
              <a:rPr dirty="0" sz="1650" spc="-20">
                <a:solidFill>
                  <a:srgbClr val="006467"/>
                </a:solidFill>
                <a:latin typeface="Arial Black"/>
                <a:cs typeface="Arial Black"/>
              </a:rPr>
              <a:t> </a:t>
            </a:r>
            <a:r>
              <a:rPr dirty="0" sz="1650" spc="-295">
                <a:solidFill>
                  <a:srgbClr val="006760"/>
                </a:solidFill>
                <a:latin typeface="Arial Black"/>
                <a:cs typeface="Arial Black"/>
              </a:rPr>
              <a:t>with</a:t>
            </a:r>
            <a:r>
              <a:rPr dirty="0" sz="1650" spc="-90">
                <a:solidFill>
                  <a:srgbClr val="006760"/>
                </a:solidFill>
                <a:latin typeface="Arial Black"/>
                <a:cs typeface="Arial Black"/>
              </a:rPr>
              <a:t> </a:t>
            </a:r>
            <a:r>
              <a:rPr dirty="0" sz="1650" spc="-285">
                <a:solidFill>
                  <a:srgbClr val="086464"/>
                </a:solidFill>
                <a:latin typeface="Arial Black"/>
                <a:cs typeface="Arial Black"/>
              </a:rPr>
              <a:t>AI</a:t>
            </a:r>
            <a:r>
              <a:rPr dirty="0" sz="1650" spc="-175">
                <a:solidFill>
                  <a:srgbClr val="086464"/>
                </a:solidFill>
                <a:latin typeface="Arial Black"/>
                <a:cs typeface="Arial Black"/>
              </a:rPr>
              <a:t> </a:t>
            </a:r>
            <a:r>
              <a:rPr dirty="0" sz="1650" spc="-280">
                <a:solidFill>
                  <a:srgbClr val="0F6660"/>
                </a:solidFill>
                <a:latin typeface="Arial Black"/>
                <a:cs typeface="Arial Black"/>
              </a:rPr>
              <a:t>is</a:t>
            </a:r>
            <a:r>
              <a:rPr dirty="0" sz="1650" spc="-200">
                <a:solidFill>
                  <a:srgbClr val="0F6660"/>
                </a:solidFill>
                <a:latin typeface="Arial Black"/>
                <a:cs typeface="Arial Black"/>
              </a:rPr>
              <a:t> </a:t>
            </a:r>
            <a:r>
              <a:rPr dirty="0" sz="1650" spc="-300">
                <a:solidFill>
                  <a:srgbClr val="1F6E67"/>
                </a:solidFill>
                <a:latin typeface="Arial Black"/>
                <a:cs typeface="Arial Black"/>
              </a:rPr>
              <a:t>the</a:t>
            </a:r>
            <a:r>
              <a:rPr dirty="0" sz="1650" spc="-95">
                <a:solidFill>
                  <a:srgbClr val="1F6E67"/>
                </a:solidFill>
                <a:latin typeface="Arial Black"/>
                <a:cs typeface="Arial Black"/>
              </a:rPr>
              <a:t> </a:t>
            </a:r>
            <a:r>
              <a:rPr dirty="0" sz="1650" spc="-440">
                <a:solidFill>
                  <a:srgbClr val="0C645E"/>
                </a:solidFill>
                <a:latin typeface="Arial Black"/>
                <a:cs typeface="Arial Black"/>
              </a:rPr>
              <a:t>same</a:t>
            </a:r>
            <a:endParaRPr sz="1650">
              <a:latin typeface="Arial Black"/>
              <a:cs typeface="Arial Black"/>
            </a:endParaRPr>
          </a:p>
          <a:p>
            <a:pPr marL="903605">
              <a:lnSpc>
                <a:spcPct val="100000"/>
              </a:lnSpc>
              <a:spcBef>
                <a:spcPts val="1350"/>
              </a:spcBef>
            </a:pPr>
            <a:r>
              <a:rPr dirty="0" sz="1200" spc="-100">
                <a:solidFill>
                  <a:srgbClr val="2F6064"/>
                </a:solidFill>
                <a:latin typeface="Arial MT"/>
                <a:cs typeface="Arial MT"/>
              </a:rPr>
              <a:t>PaNern</a:t>
            </a:r>
            <a:r>
              <a:rPr dirty="0" sz="1200" spc="-35">
                <a:solidFill>
                  <a:srgbClr val="2F6064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8645E"/>
                </a:solidFill>
                <a:latin typeface="Arial MT"/>
                <a:cs typeface="Arial MT"/>
              </a:rPr>
              <a:t>recognition</a:t>
            </a:r>
            <a:endParaRPr sz="1200">
              <a:latin typeface="Arial MT"/>
              <a:cs typeface="Arial MT"/>
            </a:endParaRPr>
          </a:p>
          <a:p>
            <a:pPr marL="903605">
              <a:lnSpc>
                <a:spcPct val="100000"/>
              </a:lnSpc>
              <a:spcBef>
                <a:spcPts val="200"/>
              </a:spcBef>
            </a:pPr>
            <a:r>
              <a:rPr dirty="0" sz="1000">
                <a:solidFill>
                  <a:srgbClr val="3A3A3A"/>
                </a:solidFill>
                <a:latin typeface="Arial MT"/>
                <a:cs typeface="Arial MT"/>
              </a:rPr>
              <a:t>It</a:t>
            </a:r>
            <a:r>
              <a:rPr dirty="0" sz="1000" spc="-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232323"/>
                </a:solidFill>
                <a:latin typeface="Arial MT"/>
                <a:cs typeface="Arial MT"/>
              </a:rPr>
              <a:t>figures</a:t>
            </a:r>
            <a:r>
              <a:rPr dirty="0" sz="1000" spc="-1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62626"/>
                </a:solidFill>
                <a:latin typeface="Arial MT"/>
                <a:cs typeface="Arial MT"/>
              </a:rPr>
              <a:t>out</a:t>
            </a:r>
            <a:r>
              <a:rPr dirty="0" sz="1000" spc="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000" spc="-65">
                <a:solidFill>
                  <a:srgbClr val="1F1F1F"/>
                </a:solidFill>
                <a:latin typeface="Arial MT"/>
                <a:cs typeface="Arial MT"/>
              </a:rPr>
              <a:t>what</a:t>
            </a:r>
            <a:r>
              <a:rPr dirty="0" sz="100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13131"/>
                </a:solidFill>
                <a:latin typeface="Arial MT"/>
                <a:cs typeface="Arial MT"/>
              </a:rPr>
              <a:t>it</a:t>
            </a:r>
            <a:r>
              <a:rPr dirty="0" sz="1000" spc="4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313131"/>
                </a:solidFill>
                <a:latin typeface="Arial MT"/>
                <a:cs typeface="Arial MT"/>
              </a:rPr>
              <a:t>is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09342" y="1755006"/>
            <a:ext cx="1012825" cy="38544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50" spc="-240">
                <a:solidFill>
                  <a:srgbClr val="2A7066"/>
                </a:solidFill>
                <a:latin typeface="Arial Black"/>
                <a:cs typeface="Arial Black"/>
              </a:rPr>
              <a:t>Input</a:t>
            </a:r>
            <a:r>
              <a:rPr dirty="0" sz="1250" spc="-30">
                <a:solidFill>
                  <a:srgbClr val="2A7066"/>
                </a:solidFill>
                <a:latin typeface="Arial Black"/>
                <a:cs typeface="Arial Black"/>
              </a:rPr>
              <a:t> </a:t>
            </a:r>
            <a:r>
              <a:rPr dirty="0" sz="1250" spc="-20">
                <a:solidFill>
                  <a:srgbClr val="005D4D"/>
                </a:solidFill>
                <a:latin typeface="Arial Black"/>
                <a:cs typeface="Arial Black"/>
              </a:rPr>
              <a:t>food</a:t>
            </a:r>
            <a:endParaRPr sz="1250">
              <a:latin typeface="Arial Black"/>
              <a:cs typeface="Arial Black"/>
            </a:endParaRPr>
          </a:p>
          <a:p>
            <a:pPr marL="19050">
              <a:lnSpc>
                <a:spcPct val="100000"/>
              </a:lnSpc>
              <a:spcBef>
                <a:spcPts val="85"/>
              </a:spcBef>
            </a:pPr>
            <a:r>
              <a:rPr dirty="0" sz="950" spc="-130">
                <a:solidFill>
                  <a:srgbClr val="383838"/>
                </a:solidFill>
                <a:latin typeface="Arial MT"/>
                <a:cs typeface="Arial MT"/>
              </a:rPr>
              <a:t>You</a:t>
            </a:r>
            <a:r>
              <a:rPr dirty="0" sz="9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950" spc="-80">
                <a:solidFill>
                  <a:srgbClr val="313131"/>
                </a:solidFill>
                <a:latin typeface="Arial MT"/>
                <a:cs typeface="Arial MT"/>
              </a:rPr>
              <a:t>place</a:t>
            </a:r>
            <a:r>
              <a:rPr dirty="0" sz="950" spc="1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950" spc="-50">
                <a:solidFill>
                  <a:srgbClr val="2D2D2D"/>
                </a:solidFill>
                <a:latin typeface="Arial MT"/>
                <a:cs typeface="Arial MT"/>
              </a:rPr>
              <a:t>food</a:t>
            </a:r>
            <a:r>
              <a:rPr dirty="0" sz="950" spc="-6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950" spc="-45">
                <a:solidFill>
                  <a:srgbClr val="1F1F1F"/>
                </a:solidFill>
                <a:latin typeface="Arial MT"/>
                <a:cs typeface="Arial MT"/>
              </a:rPr>
              <a:t>inside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02116" y="2337593"/>
            <a:ext cx="1560830" cy="105600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95"/>
              </a:spcBef>
            </a:pPr>
            <a:r>
              <a:rPr dirty="0" sz="1200" spc="-130">
                <a:solidFill>
                  <a:srgbClr val="166B5E"/>
                </a:solidFill>
                <a:latin typeface="Arial MT"/>
                <a:cs typeface="Arial MT"/>
              </a:rPr>
              <a:t>Reads</a:t>
            </a:r>
            <a:r>
              <a:rPr dirty="0" sz="1200" spc="15">
                <a:solidFill>
                  <a:srgbClr val="166B5E"/>
                </a:solidFill>
                <a:latin typeface="Arial MT"/>
                <a:cs typeface="Arial MT"/>
              </a:rPr>
              <a:t> </a:t>
            </a:r>
            <a:r>
              <a:rPr dirty="0" sz="1200" spc="-70">
                <a:solidFill>
                  <a:srgbClr val="1F746D"/>
                </a:solidFill>
                <a:latin typeface="Arial MT"/>
                <a:cs typeface="Arial MT"/>
              </a:rPr>
              <a:t>what</a:t>
            </a:r>
            <a:r>
              <a:rPr dirty="0" sz="1200" spc="-60">
                <a:solidFill>
                  <a:srgbClr val="1F746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625E"/>
                </a:solidFill>
                <a:latin typeface="Arial MT"/>
                <a:cs typeface="Arial MT"/>
              </a:rPr>
              <a:t>it</a:t>
            </a:r>
            <a:r>
              <a:rPr dirty="0" sz="1200" spc="110">
                <a:solidFill>
                  <a:srgbClr val="3A625E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35450"/>
                </a:solidFill>
                <a:latin typeface="Arial MT"/>
                <a:cs typeface="Arial MT"/>
              </a:rPr>
              <a:t>sees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195"/>
              </a:spcBef>
            </a:pPr>
            <a:r>
              <a:rPr dirty="0" sz="800">
                <a:solidFill>
                  <a:srgbClr val="1F1F1F"/>
                </a:solidFill>
                <a:latin typeface="Arial MT"/>
                <a:cs typeface="Arial MT"/>
              </a:rPr>
              <a:t>Figures</a:t>
            </a:r>
            <a:r>
              <a:rPr dirty="0" sz="800" spc="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F2F2F"/>
                </a:solidFill>
                <a:latin typeface="Arial MT"/>
                <a:cs typeface="Arial MT"/>
              </a:rPr>
              <a:t>out</a:t>
            </a:r>
            <a:r>
              <a:rPr dirty="0" sz="800" spc="18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32323"/>
                </a:solidFill>
                <a:latin typeface="Arial MT"/>
                <a:cs typeface="Arial MT"/>
              </a:rPr>
              <a:t>what</a:t>
            </a:r>
            <a:r>
              <a:rPr dirty="0" sz="800" spc="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343434"/>
                </a:solidFill>
                <a:latin typeface="Arial MT"/>
                <a:cs typeface="Arial MT"/>
              </a:rPr>
              <a:t>the </a:t>
            </a:r>
            <a:r>
              <a:rPr dirty="0" sz="800">
                <a:solidFill>
                  <a:srgbClr val="2F2F2F"/>
                </a:solidFill>
                <a:latin typeface="Arial MT"/>
                <a:cs typeface="Arial MT"/>
              </a:rPr>
              <a:t>food</a:t>
            </a:r>
            <a:r>
              <a:rPr dirty="0" sz="800" spc="-2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8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dirty="0" sz="1150" spc="-90">
                <a:solidFill>
                  <a:srgbClr val="1C695D"/>
                </a:solidFill>
                <a:latin typeface="Arial MT"/>
                <a:cs typeface="Arial MT"/>
              </a:rPr>
              <a:t>Chooses</a:t>
            </a:r>
            <a:r>
              <a:rPr dirty="0" sz="1150" spc="10">
                <a:solidFill>
                  <a:srgbClr val="1C695D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8665B"/>
                </a:solidFill>
                <a:latin typeface="Arial MT"/>
                <a:cs typeface="Arial MT"/>
              </a:rPr>
              <a:t>the</a:t>
            </a:r>
            <a:r>
              <a:rPr dirty="0" sz="1150" spc="-85">
                <a:solidFill>
                  <a:srgbClr val="28665B"/>
                </a:solidFill>
                <a:latin typeface="Arial MT"/>
                <a:cs typeface="Arial MT"/>
              </a:rPr>
              <a:t> </a:t>
            </a:r>
            <a:r>
              <a:rPr dirty="0" sz="1150" spc="-45">
                <a:solidFill>
                  <a:srgbClr val="18595D"/>
                </a:solidFill>
                <a:latin typeface="Arial MT"/>
                <a:cs typeface="Arial MT"/>
              </a:rPr>
              <a:t>best</a:t>
            </a:r>
            <a:r>
              <a:rPr dirty="0" sz="1150" spc="10">
                <a:solidFill>
                  <a:srgbClr val="18595D"/>
                </a:solidFill>
                <a:latin typeface="Arial MT"/>
                <a:cs typeface="Arial MT"/>
              </a:rPr>
              <a:t> </a:t>
            </a:r>
            <a:r>
              <a:rPr dirty="0" sz="1150" spc="-30">
                <a:solidFill>
                  <a:srgbClr val="245954"/>
                </a:solidFill>
                <a:latin typeface="Arial MT"/>
                <a:cs typeface="Arial MT"/>
              </a:rPr>
              <a:t>settings</a:t>
            </a:r>
            <a:endParaRPr sz="1150">
              <a:latin typeface="Arial MT"/>
              <a:cs typeface="Arial MT"/>
            </a:endParaRPr>
          </a:p>
          <a:p>
            <a:pPr marL="17145" marR="377825" indent="-5080">
              <a:lnSpc>
                <a:spcPts val="1040"/>
              </a:lnSpc>
              <a:spcBef>
                <a:spcPts val="110"/>
              </a:spcBef>
            </a:pPr>
            <a:r>
              <a:rPr dirty="0" sz="900" spc="-70">
                <a:solidFill>
                  <a:srgbClr val="363636"/>
                </a:solidFill>
                <a:latin typeface="Arial MT"/>
                <a:cs typeface="Arial MT"/>
              </a:rPr>
              <a:t>Picks</a:t>
            </a:r>
            <a:r>
              <a:rPr dirty="0" sz="900" spc="-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900" spc="-30">
                <a:solidFill>
                  <a:srgbClr val="1F1F1F"/>
                </a:solidFill>
                <a:latin typeface="Arial MT"/>
                <a:cs typeface="Arial MT"/>
              </a:rPr>
              <a:t>time</a:t>
            </a:r>
            <a:r>
              <a:rPr dirty="0" sz="900" spc="-1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Arial MT"/>
                <a:cs typeface="Arial MT"/>
              </a:rPr>
              <a:t>&amp;</a:t>
            </a:r>
            <a:r>
              <a:rPr dirty="0" sz="900" spc="-3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262626"/>
                </a:solidFill>
                <a:latin typeface="Arial MT"/>
                <a:cs typeface="Arial MT"/>
              </a:rPr>
              <a:t>temperature </a:t>
            </a:r>
            <a:r>
              <a:rPr dirty="0" sz="900" spc="-10">
                <a:solidFill>
                  <a:srgbClr val="131313"/>
                </a:solidFill>
                <a:latin typeface="Arial MT"/>
                <a:cs typeface="Arial MT"/>
              </a:rPr>
              <a:t>automatically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96921" y="3882090"/>
            <a:ext cx="1084580" cy="43434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150" spc="-10">
                <a:solidFill>
                  <a:srgbClr val="135D59"/>
                </a:solidFill>
                <a:latin typeface="Arial MT"/>
                <a:cs typeface="Arial MT"/>
              </a:rPr>
              <a:t>Decision</a:t>
            </a:r>
            <a:endParaRPr sz="11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30"/>
              </a:spcBef>
            </a:pPr>
            <a:r>
              <a:rPr dirty="0" sz="900">
                <a:solidFill>
                  <a:srgbClr val="343434"/>
                </a:solidFill>
                <a:latin typeface="Arial MT"/>
                <a:cs typeface="Arial MT"/>
              </a:rPr>
              <a:t>|t</a:t>
            </a:r>
            <a:r>
              <a:rPr dirty="0" sz="900" spc="2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82828"/>
                </a:solidFill>
                <a:latin typeface="Arial MT"/>
                <a:cs typeface="Arial MT"/>
              </a:rPr>
              <a:t>chooses</a:t>
            </a:r>
            <a:r>
              <a:rPr dirty="0" sz="90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62626"/>
                </a:solidFill>
                <a:latin typeface="Arial MT"/>
                <a:cs typeface="Arial MT"/>
              </a:rPr>
              <a:t>what</a:t>
            </a:r>
            <a:r>
              <a:rPr dirty="0" sz="900" spc="-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D3D3D"/>
                </a:solidFill>
                <a:latin typeface="Arial MT"/>
                <a:cs typeface="Arial MT"/>
              </a:rPr>
              <a:t>to</a:t>
            </a:r>
            <a:r>
              <a:rPr dirty="0" sz="900" spc="-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1F1F1F"/>
                </a:solidFill>
                <a:latin typeface="Arial MT"/>
                <a:cs typeface="Arial MT"/>
              </a:rPr>
              <a:t>do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104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Breaking</a:t>
            </a:r>
            <a:r>
              <a:rPr dirty="0" sz="2800" spc="-45"/>
              <a:t> </a:t>
            </a:r>
            <a:r>
              <a:rPr dirty="0" sz="2800"/>
              <a:t>Down</a:t>
            </a:r>
            <a:r>
              <a:rPr dirty="0" sz="2800" spc="-40"/>
              <a:t> </a:t>
            </a:r>
            <a:r>
              <a:rPr dirty="0" sz="2800" spc="-10"/>
              <a:t>"Artificial</a:t>
            </a:r>
            <a:r>
              <a:rPr dirty="0" sz="2800" spc="-45"/>
              <a:t> </a:t>
            </a:r>
            <a:r>
              <a:rPr dirty="0" sz="2800" spc="-10"/>
              <a:t>Intelligence"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655320" y="1087120"/>
            <a:ext cx="3810000" cy="1524000"/>
            <a:chOff x="655320" y="1087120"/>
            <a:chExt cx="3810000" cy="152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" y="1087120"/>
              <a:ext cx="3810000" cy="152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188720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36575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1371599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1520" y="1188720"/>
              <a:ext cx="3657600" cy="45720"/>
            </a:xfrm>
            <a:custGeom>
              <a:avLst/>
              <a:gdLst/>
              <a:ahLst/>
              <a:cxnLst/>
              <a:rect l="l" t="t" r="r" b="b"/>
              <a:pathLst>
                <a:path w="3657600" h="45719">
                  <a:moveTo>
                    <a:pt x="3657599" y="45719"/>
                  </a:moveTo>
                  <a:lnTo>
                    <a:pt x="0" y="4571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45719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31519" y="1255776"/>
            <a:ext cx="3657600" cy="121412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15"/>
              </a:spcBef>
            </a:pPr>
            <a:r>
              <a:rPr dirty="0" sz="1400" spc="-10" b="1">
                <a:solidFill>
                  <a:srgbClr val="475568"/>
                </a:solidFill>
                <a:latin typeface="Consolas"/>
                <a:cs typeface="Consolas"/>
              </a:rPr>
              <a:t>Artificial</a:t>
            </a:r>
            <a:endParaRPr sz="1400">
              <a:latin typeface="Consolas"/>
              <a:cs typeface="Consolas"/>
            </a:endParaRPr>
          </a:p>
          <a:p>
            <a:pPr marL="314325" marR="980440">
              <a:lnSpc>
                <a:spcPct val="130000"/>
              </a:lnSpc>
              <a:spcBef>
                <a:spcPts val="310"/>
              </a:spcBef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Made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by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humans,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not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by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nature.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plastic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flower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is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artificial.</a:t>
            </a:r>
            <a:endParaRPr sz="1400">
              <a:latin typeface="Calibri"/>
              <a:cs typeface="Calibri"/>
            </a:endParaRPr>
          </a:p>
          <a:p>
            <a:pPr marL="314325">
              <a:lnSpc>
                <a:spcPct val="100000"/>
              </a:lnSpc>
              <a:spcBef>
                <a:spcPts val="505"/>
              </a:spcBef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is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intelligence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built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from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software.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8680" y="1087120"/>
            <a:ext cx="3810000" cy="1524000"/>
            <a:chOff x="4678680" y="1087120"/>
            <a:chExt cx="3810000" cy="1524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8680" y="1087120"/>
              <a:ext cx="3810000" cy="1524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54880" y="1188720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36575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1371599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54880" y="1188720"/>
              <a:ext cx="3657600" cy="45720"/>
            </a:xfrm>
            <a:custGeom>
              <a:avLst/>
              <a:gdLst/>
              <a:ahLst/>
              <a:cxnLst/>
              <a:rect l="l" t="t" r="r" b="b"/>
              <a:pathLst>
                <a:path w="3657600" h="45719">
                  <a:moveTo>
                    <a:pt x="3657599" y="45719"/>
                  </a:moveTo>
                  <a:lnTo>
                    <a:pt x="0" y="4571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4571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056505" y="1336588"/>
            <a:ext cx="2469515" cy="127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3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F766E"/>
                </a:solidFill>
                <a:latin typeface="Consolas"/>
                <a:cs typeface="Consolas"/>
              </a:rPr>
              <a:t>Intelligence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30"/>
              </a:lnSpc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400" spc="-5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ability</a:t>
            </a:r>
            <a:r>
              <a:rPr dirty="0" sz="1400" spc="-5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400" spc="-5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learn,</a:t>
            </a:r>
            <a:r>
              <a:rPr dirty="0" sz="1400" spc="-5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understand,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400" spc="-5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make</a:t>
            </a:r>
            <a:r>
              <a:rPr dirty="0" sz="1400" spc="-5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decisions.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0000"/>
              </a:lnSpc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Humans</a:t>
            </a:r>
            <a:r>
              <a:rPr dirty="0" sz="1400" spc="-6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have</a:t>
            </a:r>
            <a:r>
              <a:rPr dirty="0" sz="1400" spc="-6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natural</a:t>
            </a:r>
            <a:r>
              <a:rPr dirty="0" sz="1400" spc="-6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intelligence.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has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version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built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from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545" y="2979420"/>
            <a:ext cx="41408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F46E4"/>
                </a:solidFill>
                <a:latin typeface="Georgia"/>
                <a:cs typeface="Georgia"/>
              </a:rPr>
              <a:t>Everyday</a:t>
            </a:r>
            <a:r>
              <a:rPr dirty="0" sz="2000" spc="-55">
                <a:solidFill>
                  <a:srgbClr val="4F46E4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4F46E4"/>
                </a:solidFill>
                <a:latin typeface="Georgia"/>
                <a:cs typeface="Georgia"/>
              </a:rPr>
              <a:t>Examples</a:t>
            </a:r>
            <a:r>
              <a:rPr dirty="0" sz="2000" spc="-50">
                <a:solidFill>
                  <a:srgbClr val="4F46E4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4F46E4"/>
                </a:solidFill>
                <a:latin typeface="Georgia"/>
                <a:cs typeface="Georgia"/>
              </a:rPr>
              <a:t>You</a:t>
            </a:r>
            <a:r>
              <a:rPr dirty="0" sz="2000" spc="-55">
                <a:solidFill>
                  <a:srgbClr val="4F46E4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4F46E4"/>
                </a:solidFill>
                <a:latin typeface="Georgia"/>
                <a:cs typeface="Georgia"/>
              </a:rPr>
              <a:t>Already</a:t>
            </a:r>
            <a:r>
              <a:rPr dirty="0" sz="2000" spc="-50">
                <a:solidFill>
                  <a:srgbClr val="4F46E4"/>
                </a:solidFill>
                <a:latin typeface="Georgia"/>
                <a:cs typeface="Georgia"/>
              </a:rPr>
              <a:t> </a:t>
            </a:r>
            <a:r>
              <a:rPr dirty="0" sz="2000" spc="-25">
                <a:solidFill>
                  <a:srgbClr val="4F46E4"/>
                </a:solidFill>
                <a:latin typeface="Georgia"/>
                <a:cs typeface="Georgia"/>
              </a:rPr>
              <a:t>Use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5320" y="3418840"/>
            <a:ext cx="2026920" cy="1341120"/>
            <a:chOff x="655320" y="3418840"/>
            <a:chExt cx="2026920" cy="134112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20" y="3418840"/>
              <a:ext cx="2026920" cy="13411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1520" y="3520440"/>
              <a:ext cx="1874520" cy="1188720"/>
            </a:xfrm>
            <a:custGeom>
              <a:avLst/>
              <a:gdLst/>
              <a:ahLst/>
              <a:cxnLst/>
              <a:rect l="l" t="t" r="r" b="b"/>
              <a:pathLst>
                <a:path w="1874520" h="1188720">
                  <a:moveTo>
                    <a:pt x="187451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1188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1520" y="3520440"/>
              <a:ext cx="1874520" cy="36830"/>
            </a:xfrm>
            <a:custGeom>
              <a:avLst/>
              <a:gdLst/>
              <a:ahLst/>
              <a:cxnLst/>
              <a:rect l="l" t="t" r="r" b="b"/>
              <a:pathLst>
                <a:path w="1874520" h="36829">
                  <a:moveTo>
                    <a:pt x="187451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365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31519" y="3684523"/>
            <a:ext cx="1874520" cy="65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D9488"/>
                </a:solidFill>
                <a:latin typeface="Calibri"/>
                <a:cs typeface="Calibri"/>
              </a:rPr>
              <a:t>Voice</a:t>
            </a:r>
            <a:r>
              <a:rPr dirty="0" sz="1200" spc="-60" b="1">
                <a:solidFill>
                  <a:srgbClr val="0D948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9488"/>
                </a:solidFill>
                <a:latin typeface="Calibri"/>
                <a:cs typeface="Calibri"/>
              </a:rPr>
              <a:t>Assistant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Calibri"/>
              <a:cs typeface="Calibri"/>
            </a:endParaRPr>
          </a:p>
          <a:p>
            <a:pPr marL="22288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Alexa,</a:t>
            </a:r>
            <a:r>
              <a:rPr dirty="0" sz="11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Siri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12720" y="3418840"/>
            <a:ext cx="2026920" cy="1341120"/>
            <a:chOff x="2712720" y="3418840"/>
            <a:chExt cx="2026920" cy="134112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2720" y="3418840"/>
              <a:ext cx="2026920" cy="13411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88919" y="3520440"/>
              <a:ext cx="1874520" cy="1188720"/>
            </a:xfrm>
            <a:custGeom>
              <a:avLst/>
              <a:gdLst/>
              <a:ahLst/>
              <a:cxnLst/>
              <a:rect l="l" t="t" r="r" b="b"/>
              <a:pathLst>
                <a:path w="1874520" h="1188720">
                  <a:moveTo>
                    <a:pt x="187451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1188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88919" y="3520440"/>
              <a:ext cx="1874520" cy="36830"/>
            </a:xfrm>
            <a:custGeom>
              <a:avLst/>
              <a:gdLst/>
              <a:ahLst/>
              <a:cxnLst/>
              <a:rect l="l" t="t" r="r" b="b"/>
              <a:pathLst>
                <a:path w="1874520" h="36829">
                  <a:moveTo>
                    <a:pt x="187451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36575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788920" y="3684523"/>
            <a:ext cx="1874520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spc="-30" b="1">
                <a:solidFill>
                  <a:srgbClr val="F97316"/>
                </a:solidFill>
                <a:latin typeface="Calibri"/>
                <a:cs typeface="Calibri"/>
              </a:rPr>
              <a:t>YouTube</a:t>
            </a:r>
            <a:r>
              <a:rPr dirty="0" sz="1200" spc="-25" b="1">
                <a:solidFill>
                  <a:srgbClr val="F9731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97316"/>
                </a:solidFill>
                <a:latin typeface="Calibri"/>
                <a:cs typeface="Calibri"/>
              </a:rPr>
              <a:t>Recs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Calibri"/>
              <a:cs typeface="Calibri"/>
            </a:endParaRPr>
          </a:p>
          <a:p>
            <a:pPr marL="222885" marR="370205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Spots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patterns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in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what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you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like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70120" y="3418840"/>
            <a:ext cx="2026920" cy="1341120"/>
            <a:chOff x="4770120" y="3418840"/>
            <a:chExt cx="2026920" cy="134112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0120" y="3418840"/>
              <a:ext cx="2026920" cy="134112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846319" y="3520440"/>
              <a:ext cx="1874520" cy="1188720"/>
            </a:xfrm>
            <a:custGeom>
              <a:avLst/>
              <a:gdLst/>
              <a:ahLst/>
              <a:cxnLst/>
              <a:rect l="l" t="t" r="r" b="b"/>
              <a:pathLst>
                <a:path w="1874520" h="1188720">
                  <a:moveTo>
                    <a:pt x="187451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1188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46319" y="3520440"/>
              <a:ext cx="1874520" cy="36830"/>
            </a:xfrm>
            <a:custGeom>
              <a:avLst/>
              <a:gdLst/>
              <a:ahLst/>
              <a:cxnLst/>
              <a:rect l="l" t="t" r="r" b="b"/>
              <a:pathLst>
                <a:path w="1874520" h="36829">
                  <a:moveTo>
                    <a:pt x="187451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36575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846320" y="3684523"/>
            <a:ext cx="1874520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4F46E4"/>
                </a:solidFill>
                <a:latin typeface="Calibri"/>
                <a:cs typeface="Calibri"/>
              </a:rPr>
              <a:t>Auto-</a:t>
            </a:r>
            <a:r>
              <a:rPr dirty="0" sz="1200" spc="-10" b="1">
                <a:solidFill>
                  <a:srgbClr val="4F46E4"/>
                </a:solidFill>
                <a:latin typeface="Calibri"/>
                <a:cs typeface="Calibri"/>
              </a:rPr>
              <a:t>correct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Calibri"/>
              <a:cs typeface="Calibri"/>
            </a:endParaRPr>
          </a:p>
          <a:p>
            <a:pPr marL="222885" marR="404495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Predicts</a:t>
            </a:r>
            <a:r>
              <a:rPr dirty="0" sz="11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the</a:t>
            </a:r>
            <a:r>
              <a:rPr dirty="0" sz="11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word</a:t>
            </a:r>
            <a:r>
              <a:rPr dirty="0" sz="11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you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meant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27520" y="3418840"/>
            <a:ext cx="2026920" cy="1341120"/>
            <a:chOff x="6827520" y="3418840"/>
            <a:chExt cx="2026920" cy="134112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7520" y="3418840"/>
              <a:ext cx="2026920" cy="13411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03720" y="3520440"/>
              <a:ext cx="1874520" cy="1188720"/>
            </a:xfrm>
            <a:custGeom>
              <a:avLst/>
              <a:gdLst/>
              <a:ahLst/>
              <a:cxnLst/>
              <a:rect l="l" t="t" r="r" b="b"/>
              <a:pathLst>
                <a:path w="1874520" h="1188720">
                  <a:moveTo>
                    <a:pt x="187451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1188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903720" y="3520440"/>
              <a:ext cx="1874520" cy="36830"/>
            </a:xfrm>
            <a:custGeom>
              <a:avLst/>
              <a:gdLst/>
              <a:ahLst/>
              <a:cxnLst/>
              <a:rect l="l" t="t" r="r" b="b"/>
              <a:pathLst>
                <a:path w="1874520" h="36829">
                  <a:moveTo>
                    <a:pt x="187451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874519" y="0"/>
                  </a:lnTo>
                  <a:lnTo>
                    <a:pt x="1874519" y="36575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903719" y="3684523"/>
            <a:ext cx="1874520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E11C48"/>
                </a:solidFill>
                <a:latin typeface="Calibri"/>
                <a:cs typeface="Calibri"/>
              </a:rPr>
              <a:t>ChatGPT</a:t>
            </a:r>
            <a:r>
              <a:rPr dirty="0" sz="1200" spc="-5" b="1">
                <a:solidFill>
                  <a:srgbClr val="E11C48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11C48"/>
                </a:solidFill>
                <a:latin typeface="Calibri"/>
                <a:cs typeface="Calibri"/>
              </a:rPr>
              <a:t>/ </a:t>
            </a:r>
            <a:r>
              <a:rPr dirty="0" sz="1200" spc="-10" b="1">
                <a:solidFill>
                  <a:srgbClr val="E11C48"/>
                </a:solidFill>
                <a:latin typeface="Calibri"/>
                <a:cs typeface="Calibri"/>
              </a:rPr>
              <a:t>Claude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Calibri"/>
              <a:cs typeface="Calibri"/>
            </a:endParaRPr>
          </a:p>
          <a:p>
            <a:pPr marL="222885" marR="47307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Writes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answers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from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questions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6F7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70280" y="566420"/>
            <a:ext cx="7203440" cy="3911600"/>
            <a:chOff x="970280" y="566420"/>
            <a:chExt cx="7203440" cy="391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280" y="566420"/>
              <a:ext cx="7203440" cy="3911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7279" y="786384"/>
              <a:ext cx="6949440" cy="3602990"/>
            </a:xfrm>
            <a:custGeom>
              <a:avLst/>
              <a:gdLst/>
              <a:ahLst/>
              <a:cxnLst/>
              <a:rect l="l" t="t" r="r" b="b"/>
              <a:pathLst>
                <a:path w="6949440" h="3602990">
                  <a:moveTo>
                    <a:pt x="0" y="3602735"/>
                  </a:moveTo>
                  <a:lnTo>
                    <a:pt x="6949439" y="3602735"/>
                  </a:lnTo>
                  <a:lnTo>
                    <a:pt x="6949439" y="0"/>
                  </a:lnTo>
                  <a:lnTo>
                    <a:pt x="0" y="0"/>
                  </a:lnTo>
                  <a:lnTo>
                    <a:pt x="0" y="3602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7279" y="731520"/>
              <a:ext cx="6949440" cy="55244"/>
            </a:xfrm>
            <a:custGeom>
              <a:avLst/>
              <a:gdLst/>
              <a:ahLst/>
              <a:cxnLst/>
              <a:rect l="l" t="t" r="r" b="b"/>
              <a:pathLst>
                <a:path w="6949440" h="55245">
                  <a:moveTo>
                    <a:pt x="6949439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6949439" y="0"/>
                  </a:lnTo>
                  <a:lnTo>
                    <a:pt x="6949439" y="54863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44625" y="1063752"/>
            <a:ext cx="9461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11C48"/>
                </a:solidFill>
                <a:latin typeface="Consolas"/>
                <a:cs typeface="Consolas"/>
              </a:rPr>
              <a:t>KEY</a:t>
            </a:r>
            <a:r>
              <a:rPr dirty="0" sz="1100" spc="-25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E11C48"/>
                </a:solidFill>
                <a:latin typeface="Consolas"/>
                <a:cs typeface="Consolas"/>
              </a:rPr>
              <a:t>TAKEAWAY</a:t>
            </a:r>
            <a:endParaRPr sz="1100">
              <a:latin typeface="Consolas"/>
              <a:cs typeface="Consola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6240" y="1463040"/>
            <a:ext cx="731519" cy="7315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69090" y="2171700"/>
            <a:ext cx="5203825" cy="178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1905">
              <a:lnSpc>
                <a:spcPct val="130000"/>
              </a:lnSpc>
              <a:spcBef>
                <a:spcPts val="100"/>
              </a:spcBef>
            </a:pP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AI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is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software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that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can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learn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from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data</a:t>
            </a:r>
            <a:r>
              <a:rPr dirty="0" sz="20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 spc="-25">
                <a:solidFill>
                  <a:srgbClr val="1E293B"/>
                </a:solidFill>
                <a:latin typeface="Georgia"/>
                <a:cs typeface="Georgia"/>
              </a:rPr>
              <a:t>and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make</a:t>
            </a:r>
            <a:r>
              <a:rPr dirty="0" sz="20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E293B"/>
                </a:solidFill>
                <a:latin typeface="Georgia"/>
                <a:cs typeface="Georgia"/>
              </a:rPr>
              <a:t>decisions</a:t>
            </a:r>
            <a:r>
              <a:rPr dirty="0" sz="2000" spc="-3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on</a:t>
            </a:r>
            <a:r>
              <a:rPr dirty="0" sz="20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its</a:t>
            </a:r>
            <a:r>
              <a:rPr dirty="0" sz="20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own</a:t>
            </a:r>
            <a:r>
              <a:rPr dirty="0" sz="2000" spc="-3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—</a:t>
            </a:r>
            <a:r>
              <a:rPr dirty="0" sz="20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without</a:t>
            </a:r>
            <a:r>
              <a:rPr dirty="0" sz="2000" spc="-3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a</a:t>
            </a:r>
            <a:r>
              <a:rPr dirty="0" sz="20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E293B"/>
                </a:solidFill>
                <a:latin typeface="Georgia"/>
                <a:cs typeface="Georgia"/>
              </a:rPr>
              <a:t>human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giving</a:t>
            </a:r>
            <a:r>
              <a:rPr dirty="0" sz="2000" spc="-2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it</a:t>
            </a:r>
            <a:r>
              <a:rPr dirty="0" sz="2000" spc="-2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E293B"/>
                </a:solidFill>
                <a:latin typeface="Georgia"/>
                <a:cs typeface="Georgia"/>
              </a:rPr>
              <a:t>step-by-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step</a:t>
            </a:r>
            <a:r>
              <a:rPr dirty="0" sz="2000" spc="-1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E293B"/>
                </a:solidFill>
                <a:latin typeface="Georgia"/>
                <a:cs typeface="Georgia"/>
              </a:rPr>
              <a:t>instructions</a:t>
            </a:r>
            <a:r>
              <a:rPr dirty="0" sz="2000" spc="-2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E293B"/>
                </a:solidFill>
                <a:latin typeface="Georgia"/>
                <a:cs typeface="Georgia"/>
              </a:rPr>
              <a:t>every</a:t>
            </a:r>
            <a:r>
              <a:rPr dirty="0" sz="2000" spc="-2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E293B"/>
                </a:solidFill>
                <a:latin typeface="Georgia"/>
                <a:cs typeface="Georgia"/>
              </a:rPr>
              <a:t>time.</a:t>
            </a:r>
            <a:endParaRPr sz="2000">
              <a:latin typeface="Georgia"/>
              <a:cs typeface="Georgia"/>
            </a:endParaRPr>
          </a:p>
          <a:p>
            <a:pPr algn="ctr" marL="635">
              <a:lnSpc>
                <a:spcPct val="100000"/>
              </a:lnSpc>
              <a:spcBef>
                <a:spcPts val="610"/>
              </a:spcBef>
            </a:pP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It's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not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magic.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It's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math,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data,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clever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programming.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it's</a:t>
            </a:r>
            <a:r>
              <a:rPr dirty="0" sz="14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already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everywhere</a:t>
            </a:r>
            <a:r>
              <a:rPr dirty="0" sz="14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in</a:t>
            </a:r>
            <a:r>
              <a:rPr dirty="0" sz="14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your</a:t>
            </a:r>
            <a:r>
              <a:rPr dirty="0" sz="14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daily</a:t>
            </a:r>
            <a:r>
              <a:rPr dirty="0" sz="14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94A3B8"/>
                </a:solidFill>
                <a:latin typeface="Calibri"/>
                <a:cs typeface="Calibri"/>
              </a:rPr>
              <a:t>life.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116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02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446405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What</a:t>
            </a:r>
            <a:r>
              <a:rPr dirty="0" sz="4000" spc="-3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is</a:t>
            </a:r>
            <a:r>
              <a:rPr dirty="0" sz="4000" spc="-2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Agentic</a:t>
            </a:r>
            <a:r>
              <a:rPr dirty="0" sz="4000" spc="-20">
                <a:solidFill>
                  <a:srgbClr val="FFFFFF"/>
                </a:solidFill>
              </a:rPr>
              <a:t> </a:t>
            </a:r>
            <a:r>
              <a:rPr dirty="0" sz="4000" spc="-25">
                <a:solidFill>
                  <a:srgbClr val="FFFFFF"/>
                </a:solidFill>
              </a:rPr>
              <a:t>AI?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540" y="2588895"/>
            <a:ext cx="622935" cy="61722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23672" y="1418844"/>
            <a:ext cx="3801110" cy="0"/>
          </a:xfrm>
          <a:custGeom>
            <a:avLst/>
            <a:gdLst/>
            <a:ahLst/>
            <a:cxnLst/>
            <a:rect l="l" t="t" r="r" b="b"/>
            <a:pathLst>
              <a:path w="3801110" h="0">
                <a:moveTo>
                  <a:pt x="0" y="0"/>
                </a:moveTo>
                <a:lnTo>
                  <a:pt x="3800855" y="0"/>
                </a:lnTo>
              </a:path>
            </a:pathLst>
          </a:custGeom>
          <a:ln w="24384">
            <a:solidFill>
              <a:srgbClr val="3F77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16423" y="1418844"/>
            <a:ext cx="3801110" cy="0"/>
          </a:xfrm>
          <a:custGeom>
            <a:avLst/>
            <a:gdLst/>
            <a:ahLst/>
            <a:cxnLst/>
            <a:rect l="l" t="t" r="r" b="b"/>
            <a:pathLst>
              <a:path w="3801109" h="0">
                <a:moveTo>
                  <a:pt x="0" y="0"/>
                </a:moveTo>
                <a:lnTo>
                  <a:pt x="3800855" y="0"/>
                </a:lnTo>
              </a:path>
            </a:pathLst>
          </a:custGeom>
          <a:ln w="24384">
            <a:solidFill>
              <a:srgbClr val="239C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066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dirty="0" sz="2600" spc="190">
                <a:solidFill>
                  <a:srgbClr val="0F0F0F"/>
                </a:solidFill>
                <a:latin typeface="Cambria"/>
                <a:cs typeface="Cambria"/>
              </a:rPr>
              <a:t>Normal</a:t>
            </a:r>
            <a:r>
              <a:rPr dirty="0" sz="2600" spc="3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600" spc="165">
                <a:solidFill>
                  <a:srgbClr val="131313"/>
                </a:solidFill>
                <a:latin typeface="Cambria"/>
                <a:cs typeface="Cambria"/>
              </a:rPr>
              <a:t>AI</a:t>
            </a:r>
            <a:r>
              <a:rPr dirty="0" sz="2600" spc="90">
                <a:solidFill>
                  <a:srgbClr val="131313"/>
                </a:solidFill>
                <a:latin typeface="Cambria"/>
                <a:cs typeface="Cambria"/>
              </a:rPr>
              <a:t>  </a:t>
            </a:r>
            <a:r>
              <a:rPr dirty="0" sz="2600" spc="165">
                <a:solidFill>
                  <a:srgbClr val="0F0F0F"/>
                </a:solidFill>
                <a:latin typeface="Cambria"/>
                <a:cs typeface="Cambria"/>
              </a:rPr>
              <a:t>vs</a:t>
            </a:r>
            <a:r>
              <a:rPr dirty="0" sz="2600" spc="46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600" spc="114">
                <a:solidFill>
                  <a:srgbClr val="111111"/>
                </a:solidFill>
                <a:latin typeface="Cambria"/>
                <a:cs typeface="Cambria"/>
              </a:rPr>
              <a:t>Agentic</a:t>
            </a:r>
            <a:r>
              <a:rPr dirty="0" sz="2600" spc="9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600" spc="105">
                <a:solidFill>
                  <a:srgbClr val="131313"/>
                </a:solidFill>
                <a:latin typeface="Cambria"/>
                <a:cs typeface="Cambria"/>
              </a:rPr>
              <a:t>AI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587" y="878522"/>
            <a:ext cx="32086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8370B1"/>
                </a:solidFill>
                <a:latin typeface="Calibri"/>
                <a:cs typeface="Calibri"/>
              </a:rPr>
              <a:t>Both</a:t>
            </a:r>
            <a:r>
              <a:rPr dirty="0" sz="1150" spc="55" i="1">
                <a:solidFill>
                  <a:srgbClr val="8370B1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79679E"/>
                </a:solidFill>
                <a:latin typeface="Calibri"/>
                <a:cs typeface="Calibri"/>
              </a:rPr>
              <a:t>ore</a:t>
            </a:r>
            <a:r>
              <a:rPr dirty="0" sz="1150" spc="75" i="1">
                <a:solidFill>
                  <a:srgbClr val="79679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977EB5"/>
                </a:solidFill>
                <a:latin typeface="Calibri"/>
                <a:cs typeface="Calibri"/>
              </a:rPr>
              <a:t>smart</a:t>
            </a:r>
            <a:r>
              <a:rPr dirty="0" sz="1150" spc="110" i="1">
                <a:solidFill>
                  <a:srgbClr val="977EB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9A7CBF"/>
                </a:solidFill>
                <a:latin typeface="Calibri"/>
                <a:cs typeface="Calibri"/>
              </a:rPr>
              <a:t>—</a:t>
            </a:r>
            <a:r>
              <a:rPr dirty="0" sz="1150" spc="95" i="1">
                <a:solidFill>
                  <a:srgbClr val="9A7CBF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756795"/>
                </a:solidFill>
                <a:latin typeface="Calibri"/>
                <a:cs typeface="Calibri"/>
              </a:rPr>
              <a:t>but</a:t>
            </a:r>
            <a:r>
              <a:rPr dirty="0" sz="1150" spc="45" i="1">
                <a:solidFill>
                  <a:srgbClr val="75679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7464A3"/>
                </a:solidFill>
                <a:latin typeface="Calibri"/>
                <a:cs typeface="Calibri"/>
              </a:rPr>
              <a:t>only</a:t>
            </a:r>
            <a:r>
              <a:rPr dirty="0" sz="1150" spc="85" i="1">
                <a:solidFill>
                  <a:srgbClr val="7464A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8979AC"/>
                </a:solidFill>
                <a:latin typeface="Calibri"/>
                <a:cs typeface="Calibri"/>
              </a:rPr>
              <a:t>one</a:t>
            </a:r>
            <a:r>
              <a:rPr dirty="0" sz="1150" spc="45" i="1">
                <a:solidFill>
                  <a:srgbClr val="8979AC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95499"/>
                </a:solidFill>
                <a:latin typeface="Calibri"/>
                <a:cs typeface="Calibri"/>
              </a:rPr>
              <a:t>does</a:t>
            </a:r>
            <a:r>
              <a:rPr dirty="0" sz="1150" spc="75" i="1">
                <a:solidFill>
                  <a:srgbClr val="69549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952A5"/>
                </a:solidFill>
                <a:latin typeface="Calibri"/>
                <a:cs typeface="Calibri"/>
              </a:rPr>
              <a:t>the</a:t>
            </a:r>
            <a:r>
              <a:rPr dirty="0" sz="1150" spc="55" i="1">
                <a:solidFill>
                  <a:srgbClr val="6952A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705D85"/>
                </a:solidFill>
                <a:latin typeface="Calibri"/>
                <a:cs typeface="Calibri"/>
              </a:rPr>
              <a:t>job</a:t>
            </a:r>
            <a:r>
              <a:rPr dirty="0" sz="1150" spc="95" i="1">
                <a:solidFill>
                  <a:srgbClr val="705D8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05479"/>
                </a:solidFill>
                <a:latin typeface="Calibri"/>
                <a:cs typeface="Calibri"/>
              </a:rPr>
              <a:t>for</a:t>
            </a:r>
            <a:r>
              <a:rPr dirty="0" sz="1150" spc="35" i="1">
                <a:solidFill>
                  <a:srgbClr val="605479"/>
                </a:solidFill>
                <a:latin typeface="Calibri"/>
                <a:cs typeface="Calibri"/>
              </a:rPr>
              <a:t> </a:t>
            </a:r>
            <a:r>
              <a:rPr dirty="0" sz="1150" spc="-20" i="1">
                <a:solidFill>
                  <a:srgbClr val="6E5B9A"/>
                </a:solidFill>
                <a:latin typeface="Calibri"/>
                <a:cs typeface="Calibri"/>
              </a:rPr>
              <a:t>you.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252" y="1680527"/>
            <a:ext cx="2914015" cy="224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1450" spc="-215">
                <a:solidFill>
                  <a:srgbClr val="3F7EB3"/>
                </a:solidFill>
                <a:latin typeface="Arial Black"/>
                <a:cs typeface="Arial Black"/>
              </a:rPr>
              <a:t>Normal</a:t>
            </a:r>
            <a:r>
              <a:rPr dirty="0" sz="1450" spc="95">
                <a:solidFill>
                  <a:srgbClr val="3F7EB3"/>
                </a:solidFill>
                <a:latin typeface="Arial Black"/>
                <a:cs typeface="Arial Black"/>
              </a:rPr>
              <a:t> </a:t>
            </a:r>
            <a:r>
              <a:rPr dirty="0" sz="1450" spc="-285">
                <a:solidFill>
                  <a:srgbClr val="4680BA"/>
                </a:solidFill>
                <a:latin typeface="Arial Black"/>
                <a:cs typeface="Arial Black"/>
              </a:rPr>
              <a:t>AI</a:t>
            </a:r>
            <a:endParaRPr sz="14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450">
              <a:latin typeface="Arial Black"/>
              <a:cs typeface="Arial Black"/>
            </a:endParaRPr>
          </a:p>
          <a:p>
            <a:pPr marL="18415">
              <a:lnSpc>
                <a:spcPct val="100000"/>
              </a:lnSpc>
            </a:pPr>
            <a:r>
              <a:rPr dirty="0" sz="1150" spc="-240">
                <a:solidFill>
                  <a:srgbClr val="0E0E0E"/>
                </a:solidFill>
                <a:latin typeface="Arial Black"/>
                <a:cs typeface="Arial Black"/>
              </a:rPr>
              <a:t>You</a:t>
            </a:r>
            <a:r>
              <a:rPr dirty="0" sz="1150" spc="-80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1150" spc="-125">
                <a:solidFill>
                  <a:srgbClr val="111111"/>
                </a:solidFill>
                <a:latin typeface="Arial Black"/>
                <a:cs typeface="Arial Black"/>
              </a:rPr>
              <a:t>ask:</a:t>
            </a:r>
            <a:r>
              <a:rPr dirty="0" sz="1150" spc="155">
                <a:solidFill>
                  <a:srgbClr val="111111"/>
                </a:solidFill>
                <a:latin typeface="Arial Black"/>
                <a:cs typeface="Arial Black"/>
              </a:rPr>
              <a:t> </a:t>
            </a:r>
            <a:r>
              <a:rPr dirty="0" sz="1150" spc="-190">
                <a:solidFill>
                  <a:srgbClr val="131313"/>
                </a:solidFill>
                <a:latin typeface="Arial Black"/>
                <a:cs typeface="Arial Black"/>
              </a:rPr>
              <a:t>"How</a:t>
            </a:r>
            <a:r>
              <a:rPr dirty="0" sz="1150" spc="-45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1150" spc="-145">
                <a:solidFill>
                  <a:srgbClr val="111111"/>
                </a:solidFill>
                <a:latin typeface="Arial Black"/>
                <a:cs typeface="Arial Black"/>
              </a:rPr>
              <a:t>do</a:t>
            </a:r>
            <a:r>
              <a:rPr dirty="0" sz="1150" spc="-75">
                <a:solidFill>
                  <a:srgbClr val="111111"/>
                </a:solidFill>
                <a:latin typeface="Arial Black"/>
                <a:cs typeface="Arial Black"/>
              </a:rPr>
              <a:t> </a:t>
            </a:r>
            <a:r>
              <a:rPr dirty="0" sz="1150" spc="-225">
                <a:solidFill>
                  <a:srgbClr val="0E0E0E"/>
                </a:solidFill>
                <a:latin typeface="Arial Black"/>
                <a:cs typeface="Arial Black"/>
              </a:rPr>
              <a:t>I</a:t>
            </a:r>
            <a:r>
              <a:rPr dirty="0" sz="1150" spc="-5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1150" spc="-225">
                <a:solidFill>
                  <a:srgbClr val="0F0F0F"/>
                </a:solidFill>
                <a:latin typeface="Arial Black"/>
                <a:cs typeface="Arial Black"/>
              </a:rPr>
              <a:t>make</a:t>
            </a:r>
            <a:r>
              <a:rPr dirty="0" sz="1150" spc="-1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150" spc="-235">
                <a:solidFill>
                  <a:srgbClr val="131313"/>
                </a:solidFill>
                <a:latin typeface="Arial Black"/>
                <a:cs typeface="Arial Black"/>
              </a:rPr>
              <a:t>a</a:t>
            </a:r>
            <a:r>
              <a:rPr dirty="0" sz="1150" spc="-1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1150" spc="-85">
                <a:solidFill>
                  <a:srgbClr val="0E0E0E"/>
                </a:solidFill>
                <a:latin typeface="Arial Black"/>
                <a:cs typeface="Arial Black"/>
              </a:rPr>
              <a:t>sandwich?"</a:t>
            </a:r>
            <a:endParaRPr sz="11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50">
              <a:latin typeface="Arial Black"/>
              <a:cs typeface="Arial Black"/>
            </a:endParaRPr>
          </a:p>
          <a:p>
            <a:pPr marL="16510" marR="1106170" indent="-3175">
              <a:lnSpc>
                <a:spcPct val="121400"/>
              </a:lnSpc>
            </a:pPr>
            <a:r>
              <a:rPr dirty="0" sz="1050" spc="-150">
                <a:solidFill>
                  <a:srgbClr val="3B3B3B"/>
                </a:solidFill>
                <a:latin typeface="Arial Black"/>
                <a:cs typeface="Arial Black"/>
              </a:rPr>
              <a:t>It</a:t>
            </a:r>
            <a:r>
              <a:rPr dirty="0" sz="1050" spc="-2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1050" spc="-150">
                <a:solidFill>
                  <a:srgbClr val="3D3D3D"/>
                </a:solidFill>
                <a:latin typeface="Arial Black"/>
                <a:cs typeface="Arial Black"/>
              </a:rPr>
              <a:t>tells</a:t>
            </a:r>
            <a:r>
              <a:rPr dirty="0" sz="1050" spc="5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1050" spc="-175">
                <a:solidFill>
                  <a:srgbClr val="343434"/>
                </a:solidFill>
                <a:latin typeface="Arial Black"/>
                <a:cs typeface="Arial Black"/>
              </a:rPr>
              <a:t>you</a:t>
            </a:r>
            <a:r>
              <a:rPr dirty="0" sz="1050" spc="-1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1050" spc="-145">
                <a:solidFill>
                  <a:srgbClr val="3B3B3B"/>
                </a:solidFill>
                <a:latin typeface="Arial Black"/>
                <a:cs typeface="Arial Black"/>
              </a:rPr>
              <a:t>the</a:t>
            </a:r>
            <a:r>
              <a:rPr dirty="0" sz="1050" spc="6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1050" spc="-195">
                <a:solidFill>
                  <a:srgbClr val="3A3A3A"/>
                </a:solidFill>
                <a:latin typeface="Arial Black"/>
                <a:cs typeface="Arial Black"/>
              </a:rPr>
              <a:t>steps</a:t>
            </a:r>
            <a:r>
              <a:rPr dirty="0" sz="1050" spc="5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1050" spc="-150">
                <a:solidFill>
                  <a:srgbClr val="414141"/>
                </a:solidFill>
                <a:latin typeface="Arial Black"/>
                <a:cs typeface="Arial Black"/>
              </a:rPr>
              <a:t>to</a:t>
            </a:r>
            <a:r>
              <a:rPr dirty="0" sz="1050" spc="-3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1050" spc="-120">
                <a:solidFill>
                  <a:srgbClr val="3B3B3B"/>
                </a:solidFill>
                <a:latin typeface="Arial Black"/>
                <a:cs typeface="Arial Black"/>
              </a:rPr>
              <a:t>follow... </a:t>
            </a:r>
            <a:r>
              <a:rPr dirty="0" sz="1050" spc="-140">
                <a:solidFill>
                  <a:srgbClr val="4479AC"/>
                </a:solidFill>
                <a:latin typeface="Arial Black"/>
                <a:cs typeface="Arial Black"/>
              </a:rPr>
              <a:t>but</a:t>
            </a:r>
            <a:r>
              <a:rPr dirty="0" sz="1050" spc="50">
                <a:solidFill>
                  <a:srgbClr val="4479AC"/>
                </a:solidFill>
                <a:latin typeface="Arial Black"/>
                <a:cs typeface="Arial Black"/>
              </a:rPr>
              <a:t> </a:t>
            </a:r>
            <a:r>
              <a:rPr dirty="0" sz="1050" spc="-229">
                <a:solidFill>
                  <a:srgbClr val="5080A7"/>
                </a:solidFill>
                <a:latin typeface="Arial Black"/>
                <a:cs typeface="Arial Black"/>
              </a:rPr>
              <a:t>YOU</a:t>
            </a:r>
            <a:r>
              <a:rPr dirty="0" sz="1050" spc="25">
                <a:solidFill>
                  <a:srgbClr val="5080A7"/>
                </a:solidFill>
                <a:latin typeface="Arial Black"/>
                <a:cs typeface="Arial Black"/>
              </a:rPr>
              <a:t> </a:t>
            </a:r>
            <a:r>
              <a:rPr dirty="0" sz="1050" spc="-155">
                <a:solidFill>
                  <a:srgbClr val="3F79AF"/>
                </a:solidFill>
                <a:latin typeface="Arial Black"/>
                <a:cs typeface="Arial Black"/>
              </a:rPr>
              <a:t>do</a:t>
            </a:r>
            <a:r>
              <a:rPr dirty="0" sz="1050" spc="40">
                <a:solidFill>
                  <a:srgbClr val="3F79AF"/>
                </a:solidFill>
                <a:latin typeface="Arial Black"/>
                <a:cs typeface="Arial Black"/>
              </a:rPr>
              <a:t> </a:t>
            </a:r>
            <a:r>
              <a:rPr dirty="0" sz="1050" spc="-140">
                <a:solidFill>
                  <a:srgbClr val="3D75A3"/>
                </a:solidFill>
                <a:latin typeface="Arial Black"/>
                <a:cs typeface="Arial Black"/>
              </a:rPr>
              <a:t>all</a:t>
            </a:r>
            <a:r>
              <a:rPr dirty="0" sz="1050" spc="-20">
                <a:solidFill>
                  <a:srgbClr val="3D75A3"/>
                </a:solidFill>
                <a:latin typeface="Arial Black"/>
                <a:cs typeface="Arial Black"/>
              </a:rPr>
              <a:t> </a:t>
            </a:r>
            <a:r>
              <a:rPr dirty="0" sz="1050" spc="-135">
                <a:solidFill>
                  <a:srgbClr val="3B80BA"/>
                </a:solidFill>
                <a:latin typeface="Arial Black"/>
                <a:cs typeface="Arial Black"/>
              </a:rPr>
              <a:t>the</a:t>
            </a:r>
            <a:r>
              <a:rPr dirty="0" sz="1050">
                <a:solidFill>
                  <a:srgbClr val="3B80BA"/>
                </a:solidFill>
                <a:latin typeface="Arial Black"/>
                <a:cs typeface="Arial Black"/>
              </a:rPr>
              <a:t> </a:t>
            </a:r>
            <a:r>
              <a:rPr dirty="0" sz="1050" spc="-10">
                <a:solidFill>
                  <a:srgbClr val="597995"/>
                </a:solidFill>
                <a:latin typeface="Arial Black"/>
                <a:cs typeface="Arial Black"/>
              </a:rPr>
              <a:t>work!</a:t>
            </a:r>
            <a:endParaRPr sz="10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0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50">
              <a:latin typeface="Arial Black"/>
              <a:cs typeface="Arial Black"/>
            </a:endParaRPr>
          </a:p>
          <a:p>
            <a:pPr marL="17780">
              <a:lnSpc>
                <a:spcPct val="100000"/>
              </a:lnSpc>
            </a:pPr>
            <a:r>
              <a:rPr dirty="0" sz="1050" spc="-30" i="1">
                <a:solidFill>
                  <a:srgbClr val="3F3F3F"/>
                </a:solidFill>
                <a:latin typeface="Calibri"/>
                <a:cs typeface="Calibri"/>
              </a:rPr>
              <a:t>You</a:t>
            </a:r>
            <a:r>
              <a:rPr dirty="0" sz="1050" spc="-5" i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D3D3D"/>
                </a:solidFill>
                <a:latin typeface="Calibri"/>
                <a:cs typeface="Calibri"/>
              </a:rPr>
              <a:t>get</a:t>
            </a:r>
            <a:r>
              <a:rPr dirty="0" sz="1050" spc="-10" i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dirty="0" sz="1050" spc="-10" i="1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13131"/>
                </a:solidFill>
                <a:latin typeface="Calibri"/>
                <a:cs typeface="Calibri"/>
              </a:rPr>
              <a:t>bread,</a:t>
            </a:r>
            <a:r>
              <a:rPr dirty="0" sz="1050" spc="15" i="1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F3F3F"/>
                </a:solidFill>
                <a:latin typeface="Calibri"/>
                <a:cs typeface="Calibri"/>
              </a:rPr>
              <a:t>add </a:t>
            </a:r>
            <a:r>
              <a:rPr dirty="0" sz="1050" i="1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dirty="0" sz="1050" spc="25" i="1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343434"/>
                </a:solidFill>
                <a:latin typeface="Calibri"/>
                <a:cs typeface="Calibri"/>
              </a:rPr>
              <a:t>filling,</a:t>
            </a:r>
            <a:r>
              <a:rPr dirty="0" sz="1050" spc="40" i="1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dirty="0" sz="1050" spc="-55" i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B3B3B"/>
                </a:solidFill>
                <a:latin typeface="Calibri"/>
                <a:cs typeface="Calibri"/>
              </a:rPr>
              <a:t>build</a:t>
            </a:r>
            <a:r>
              <a:rPr dirty="0" sz="1050" spc="5" i="1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050" spc="-55" i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3D3D3D"/>
                </a:solidFill>
                <a:latin typeface="Calibri"/>
                <a:cs typeface="Calibri"/>
              </a:rPr>
              <a:t>whole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i="1">
                <a:solidFill>
                  <a:srgbClr val="383838"/>
                </a:solidFill>
                <a:latin typeface="Calibri"/>
                <a:cs typeface="Calibri"/>
              </a:rPr>
              <a:t>sandwich</a:t>
            </a:r>
            <a:r>
              <a:rPr dirty="0" sz="1000" spc="200" i="1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3D3D3D"/>
                </a:solidFill>
                <a:latin typeface="Calibri"/>
                <a:cs typeface="Calibri"/>
              </a:rPr>
              <a:t>yourself.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6333" y="1680527"/>
            <a:ext cx="81343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40">
                <a:solidFill>
                  <a:srgbClr val="21A095"/>
                </a:solidFill>
                <a:latin typeface="Arial Black"/>
                <a:cs typeface="Arial Black"/>
              </a:rPr>
              <a:t>Agentic</a:t>
            </a:r>
            <a:r>
              <a:rPr dirty="0" sz="1450" spc="45">
                <a:solidFill>
                  <a:srgbClr val="21A095"/>
                </a:solidFill>
                <a:latin typeface="Arial Black"/>
                <a:cs typeface="Arial Black"/>
              </a:rPr>
              <a:t> </a:t>
            </a:r>
            <a:r>
              <a:rPr dirty="0" sz="1450" spc="-165">
                <a:solidFill>
                  <a:srgbClr val="26A39C"/>
                </a:solidFill>
                <a:latin typeface="Arial Black"/>
                <a:cs typeface="Arial Black"/>
              </a:rPr>
              <a:t>Al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30250" y="2272982"/>
            <a:ext cx="3180715" cy="1656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150" spc="-245">
                <a:solidFill>
                  <a:srgbClr val="111111"/>
                </a:solidFill>
                <a:latin typeface="Arial Black"/>
                <a:cs typeface="Arial Black"/>
              </a:rPr>
              <a:t>You</a:t>
            </a:r>
            <a:r>
              <a:rPr dirty="0" sz="1150" spc="-20">
                <a:solidFill>
                  <a:srgbClr val="111111"/>
                </a:solidFill>
                <a:latin typeface="Arial Black"/>
                <a:cs typeface="Arial Black"/>
              </a:rPr>
              <a:t> </a:t>
            </a:r>
            <a:r>
              <a:rPr dirty="0" sz="1150" spc="-130">
                <a:latin typeface="Arial Black"/>
                <a:cs typeface="Arial Black"/>
              </a:rPr>
              <a:t>say:</a:t>
            </a:r>
            <a:r>
              <a:rPr dirty="0" sz="1150" spc="204">
                <a:latin typeface="Arial Black"/>
                <a:cs typeface="Arial Black"/>
              </a:rPr>
              <a:t> </a:t>
            </a:r>
            <a:r>
              <a:rPr dirty="0" sz="1150" spc="-190">
                <a:solidFill>
                  <a:srgbClr val="0F0F0F"/>
                </a:solidFill>
                <a:latin typeface="Arial Black"/>
                <a:cs typeface="Arial Black"/>
              </a:rPr>
              <a:t>"Please</a:t>
            </a:r>
            <a:r>
              <a:rPr dirty="0" sz="1150" spc="-10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150" spc="-210">
                <a:solidFill>
                  <a:srgbClr val="0F0F0F"/>
                </a:solidFill>
                <a:latin typeface="Arial Black"/>
                <a:cs typeface="Arial Black"/>
              </a:rPr>
              <a:t>make</a:t>
            </a:r>
            <a:r>
              <a:rPr dirty="0" sz="1150" spc="10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150" spc="-220">
                <a:solidFill>
                  <a:srgbClr val="0F0F0F"/>
                </a:solidFill>
                <a:latin typeface="Arial Black"/>
                <a:cs typeface="Arial Black"/>
              </a:rPr>
              <a:t>me</a:t>
            </a:r>
            <a:r>
              <a:rPr dirty="0" sz="1150" spc="-50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150" spc="-235">
                <a:solidFill>
                  <a:srgbClr val="181818"/>
                </a:solidFill>
                <a:latin typeface="Arial Black"/>
                <a:cs typeface="Arial Black"/>
              </a:rPr>
              <a:t>a</a:t>
            </a:r>
            <a:r>
              <a:rPr dirty="0" sz="1150" spc="-5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1150" spc="-75">
                <a:solidFill>
                  <a:srgbClr val="0E0E0E"/>
                </a:solidFill>
                <a:latin typeface="Arial Black"/>
                <a:cs typeface="Arial Black"/>
              </a:rPr>
              <a:t>sandwich."</a:t>
            </a:r>
            <a:endParaRPr sz="11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150">
              <a:latin typeface="Arial Black"/>
              <a:cs typeface="Arial Black"/>
            </a:endParaRPr>
          </a:p>
          <a:p>
            <a:pPr marL="14604" marR="1054100" indent="-2540">
              <a:lnSpc>
                <a:spcPct val="110900"/>
              </a:lnSpc>
            </a:pPr>
            <a:r>
              <a:rPr dirty="0" sz="1150" spc="-195">
                <a:solidFill>
                  <a:srgbClr val="363636"/>
                </a:solidFill>
                <a:latin typeface="Arial Black"/>
                <a:cs typeface="Arial Black"/>
              </a:rPr>
              <a:t>It</a:t>
            </a:r>
            <a:r>
              <a:rPr dirty="0" sz="1150" spc="-5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150" spc="-280">
                <a:solidFill>
                  <a:srgbClr val="3F3F3F"/>
                </a:solidFill>
                <a:latin typeface="Arial Black"/>
                <a:cs typeface="Arial Black"/>
              </a:rPr>
              <a:t>makes</a:t>
            </a:r>
            <a:r>
              <a:rPr dirty="0" sz="1150" spc="3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150" spc="-330">
                <a:solidFill>
                  <a:srgbClr val="444444"/>
                </a:solidFill>
                <a:latin typeface="Arial Black"/>
                <a:cs typeface="Arial Black"/>
              </a:rPr>
              <a:t>a</a:t>
            </a:r>
            <a:r>
              <a:rPr dirty="0" sz="1150" spc="-2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1150" spc="-220">
                <a:solidFill>
                  <a:srgbClr val="3D3D3D"/>
                </a:solidFill>
                <a:latin typeface="Arial Black"/>
                <a:cs typeface="Arial Black"/>
              </a:rPr>
              <a:t>plan</a:t>
            </a:r>
            <a:r>
              <a:rPr dirty="0" sz="1150" spc="2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1150" spc="-240">
                <a:solidFill>
                  <a:srgbClr val="3F3F3F"/>
                </a:solidFill>
                <a:latin typeface="Arial Black"/>
                <a:cs typeface="Arial Black"/>
              </a:rPr>
              <a:t>and</a:t>
            </a:r>
            <a:r>
              <a:rPr dirty="0" sz="1150" spc="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150" spc="-245">
                <a:solidFill>
                  <a:srgbClr val="3F3F3F"/>
                </a:solidFill>
                <a:latin typeface="Arial Black"/>
                <a:cs typeface="Arial Black"/>
              </a:rPr>
              <a:t>does</a:t>
            </a:r>
            <a:r>
              <a:rPr dirty="0" sz="1150" spc="-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150" spc="-265">
                <a:solidFill>
                  <a:srgbClr val="3F3F3F"/>
                </a:solidFill>
                <a:latin typeface="Arial Black"/>
                <a:cs typeface="Arial Black"/>
              </a:rPr>
              <a:t>each</a:t>
            </a:r>
            <a:r>
              <a:rPr dirty="0" sz="1150" spc="6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150" spc="-180">
                <a:solidFill>
                  <a:srgbClr val="3D3D3D"/>
                </a:solidFill>
                <a:latin typeface="Arial Black"/>
                <a:cs typeface="Arial Black"/>
              </a:rPr>
              <a:t>step... </a:t>
            </a:r>
            <a:r>
              <a:rPr dirty="0" sz="1150" spc="-210">
                <a:solidFill>
                  <a:srgbClr val="2AA58C"/>
                </a:solidFill>
                <a:latin typeface="Arial Black"/>
                <a:cs typeface="Arial Black"/>
              </a:rPr>
              <a:t>the</a:t>
            </a:r>
            <a:r>
              <a:rPr dirty="0" sz="1150" spc="20">
                <a:solidFill>
                  <a:srgbClr val="2AA58C"/>
                </a:solidFill>
                <a:latin typeface="Arial Black"/>
                <a:cs typeface="Arial Black"/>
              </a:rPr>
              <a:t> </a:t>
            </a:r>
            <a:r>
              <a:rPr dirty="0" sz="1150" spc="-215">
                <a:solidFill>
                  <a:srgbClr val="1F9C89"/>
                </a:solidFill>
                <a:latin typeface="Arial Black"/>
                <a:cs typeface="Arial Black"/>
              </a:rPr>
              <a:t>whole</a:t>
            </a:r>
            <a:r>
              <a:rPr dirty="0" sz="1150" spc="60">
                <a:solidFill>
                  <a:srgbClr val="1F9C89"/>
                </a:solidFill>
                <a:latin typeface="Arial Black"/>
                <a:cs typeface="Arial Black"/>
              </a:rPr>
              <a:t> </a:t>
            </a:r>
            <a:r>
              <a:rPr dirty="0" sz="1150" spc="-160">
                <a:solidFill>
                  <a:srgbClr val="2F9A90"/>
                </a:solidFill>
                <a:latin typeface="Arial Black"/>
                <a:cs typeface="Arial Black"/>
              </a:rPr>
              <a:t>job,</a:t>
            </a:r>
            <a:r>
              <a:rPr dirty="0" sz="1150" spc="-70">
                <a:solidFill>
                  <a:srgbClr val="2F9A90"/>
                </a:solidFill>
                <a:latin typeface="Arial Black"/>
                <a:cs typeface="Arial Black"/>
              </a:rPr>
              <a:t> </a:t>
            </a:r>
            <a:r>
              <a:rPr dirty="0" sz="1150" spc="-175">
                <a:solidFill>
                  <a:srgbClr val="2AA18E"/>
                </a:solidFill>
                <a:latin typeface="Arial Black"/>
                <a:cs typeface="Arial Black"/>
              </a:rPr>
              <a:t>all</a:t>
            </a:r>
            <a:r>
              <a:rPr dirty="0" sz="1150" spc="-45">
                <a:solidFill>
                  <a:srgbClr val="2AA18E"/>
                </a:solidFill>
                <a:latin typeface="Arial Black"/>
                <a:cs typeface="Arial Black"/>
              </a:rPr>
              <a:t> </a:t>
            </a:r>
            <a:r>
              <a:rPr dirty="0" sz="1150" spc="-215">
                <a:solidFill>
                  <a:srgbClr val="23A79C"/>
                </a:solidFill>
                <a:latin typeface="Arial Black"/>
                <a:cs typeface="Arial Black"/>
              </a:rPr>
              <a:t>by</a:t>
            </a:r>
            <a:r>
              <a:rPr dirty="0" sz="1150" spc="-30">
                <a:solidFill>
                  <a:srgbClr val="23A79C"/>
                </a:solidFill>
                <a:latin typeface="Arial Black"/>
                <a:cs typeface="Arial Black"/>
              </a:rPr>
              <a:t> </a:t>
            </a:r>
            <a:r>
              <a:rPr dirty="0" sz="1150" spc="-25">
                <a:solidFill>
                  <a:srgbClr val="449585"/>
                </a:solidFill>
                <a:latin typeface="Arial Black"/>
                <a:cs typeface="Arial Black"/>
              </a:rPr>
              <a:t>itself!</a:t>
            </a:r>
            <a:endParaRPr sz="11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150">
              <a:latin typeface="Arial Black"/>
              <a:cs typeface="Arial Black"/>
            </a:endParaRPr>
          </a:p>
          <a:p>
            <a:pPr marL="13335" marR="5080" indent="-635">
              <a:lnSpc>
                <a:spcPct val="112500"/>
              </a:lnSpc>
            </a:pPr>
            <a:r>
              <a:rPr dirty="0" sz="1100" i="1">
                <a:solidFill>
                  <a:srgbClr val="424242"/>
                </a:solidFill>
                <a:latin typeface="Calibri"/>
                <a:cs typeface="Calibri"/>
              </a:rPr>
              <a:t>It</a:t>
            </a:r>
            <a:r>
              <a:rPr dirty="0" sz="1100" spc="-65" i="1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3A3A3A"/>
                </a:solidFill>
                <a:latin typeface="Calibri"/>
                <a:cs typeface="Calibri"/>
              </a:rPr>
              <a:t>goes</a:t>
            </a:r>
            <a:r>
              <a:rPr dirty="0" sz="1100" spc="-30" i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444444"/>
                </a:solidFill>
                <a:latin typeface="Arial Black"/>
                <a:cs typeface="Arial Black"/>
              </a:rPr>
              <a:t>to</a:t>
            </a:r>
            <a:r>
              <a:rPr dirty="0" sz="1100" spc="-5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1100" spc="-35" i="1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dirty="0" sz="1100" spc="-30" i="1">
                <a:solidFill>
                  <a:srgbClr val="3B3B3B"/>
                </a:solidFill>
                <a:latin typeface="Calibri"/>
                <a:cs typeface="Calibri"/>
              </a:rPr>
              <a:t> kitchen,</a:t>
            </a:r>
            <a:r>
              <a:rPr dirty="0" sz="1100" spc="40" i="1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3F3F3F"/>
                </a:solidFill>
                <a:latin typeface="Calibri"/>
                <a:cs typeface="Calibri"/>
              </a:rPr>
              <a:t>gets</a:t>
            </a:r>
            <a:r>
              <a:rPr dirty="0" sz="1100" spc="15" i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100" spc="-35" i="1">
                <a:solidFill>
                  <a:srgbClr val="3A3A3A"/>
                </a:solidFill>
                <a:latin typeface="Calibri"/>
                <a:cs typeface="Calibri"/>
              </a:rPr>
              <a:t>the</a:t>
            </a:r>
            <a:r>
              <a:rPr dirty="0" sz="1100" spc="-25" i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3D3D3D"/>
                </a:solidFill>
                <a:latin typeface="Calibri"/>
                <a:cs typeface="Calibri"/>
              </a:rPr>
              <a:t>bread,</a:t>
            </a:r>
            <a:r>
              <a:rPr dirty="0" sz="1100" spc="20" i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100" spc="-40" i="1">
                <a:solidFill>
                  <a:srgbClr val="3B3B3B"/>
                </a:solidFill>
                <a:latin typeface="Calibri"/>
                <a:cs typeface="Calibri"/>
              </a:rPr>
              <a:t>makes</a:t>
            </a:r>
            <a:r>
              <a:rPr dirty="0" sz="1100" spc="-5" i="1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3A3A3A"/>
                </a:solidFill>
                <a:latin typeface="Calibri"/>
                <a:cs typeface="Calibri"/>
              </a:rPr>
              <a:t>the</a:t>
            </a:r>
            <a:r>
              <a:rPr dirty="0" sz="1100" spc="-15" i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383838"/>
                </a:solidFill>
                <a:latin typeface="Calibri"/>
                <a:cs typeface="Calibri"/>
              </a:rPr>
              <a:t>sandwich, </a:t>
            </a:r>
            <a:r>
              <a:rPr dirty="0" sz="1100" spc="-10" i="1">
                <a:solidFill>
                  <a:srgbClr val="424242"/>
                </a:solidFill>
                <a:latin typeface="Calibri"/>
                <a:cs typeface="Calibri"/>
              </a:rPr>
              <a:t>and</a:t>
            </a:r>
            <a:r>
              <a:rPr dirty="0" sz="1100" spc="-25" i="1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100" spc="-30" i="1">
                <a:solidFill>
                  <a:srgbClr val="3B3B3B"/>
                </a:solidFill>
                <a:latin typeface="Calibri"/>
                <a:cs typeface="Calibri"/>
              </a:rPr>
              <a:t>brings</a:t>
            </a:r>
            <a:r>
              <a:rPr dirty="0" sz="1100" spc="20" i="1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3A3A3A"/>
                </a:solidFill>
                <a:latin typeface="Calibri"/>
                <a:cs typeface="Calibri"/>
              </a:rPr>
              <a:t>it</a:t>
            </a:r>
            <a:r>
              <a:rPr dirty="0" sz="1100" spc="-35" i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1100" spc="-40" i="1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1100" spc="-20" i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3D3D3D"/>
                </a:solidFill>
                <a:latin typeface="Calibri"/>
                <a:cs typeface="Calibri"/>
              </a:rPr>
              <a:t>you.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700" y="3034664"/>
            <a:ext cx="354329" cy="3543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790" y="1383030"/>
            <a:ext cx="337184" cy="3371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3672" y="4088892"/>
            <a:ext cx="8293734" cy="0"/>
          </a:xfrm>
          <a:custGeom>
            <a:avLst/>
            <a:gdLst/>
            <a:ahLst/>
            <a:cxnLst/>
            <a:rect l="l" t="t" r="r" b="b"/>
            <a:pathLst>
              <a:path w="8293734" h="0">
                <a:moveTo>
                  <a:pt x="0" y="0"/>
                </a:moveTo>
                <a:lnTo>
                  <a:pt x="8293608" y="0"/>
                </a:lnTo>
              </a:path>
            </a:pathLst>
          </a:custGeom>
          <a:ln w="24384">
            <a:solidFill>
              <a:srgbClr val="774F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39439" y="2833116"/>
            <a:ext cx="2624455" cy="0"/>
          </a:xfrm>
          <a:custGeom>
            <a:avLst/>
            <a:gdLst/>
            <a:ahLst/>
            <a:cxnLst/>
            <a:rect l="l" t="t" r="r" b="b"/>
            <a:pathLst>
              <a:path w="2624454" h="0">
                <a:moveTo>
                  <a:pt x="0" y="0"/>
                </a:moveTo>
                <a:lnTo>
                  <a:pt x="2624328" y="0"/>
                </a:lnTo>
              </a:path>
            </a:pathLst>
          </a:custGeom>
          <a:ln w="24384">
            <a:solidFill>
              <a:srgbClr val="2F8C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58255" y="2833116"/>
            <a:ext cx="2618740" cy="0"/>
          </a:xfrm>
          <a:custGeom>
            <a:avLst/>
            <a:gdLst/>
            <a:ahLst/>
            <a:cxnLst/>
            <a:rect l="l" t="t" r="r" b="b"/>
            <a:pathLst>
              <a:path w="2618740" h="0">
                <a:moveTo>
                  <a:pt x="0" y="0"/>
                </a:moveTo>
                <a:lnTo>
                  <a:pt x="2618232" y="0"/>
                </a:lnTo>
              </a:path>
            </a:pathLst>
          </a:custGeom>
          <a:ln w="24384">
            <a:solidFill>
              <a:srgbClr val="2F8C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3672" y="2833116"/>
            <a:ext cx="2618740" cy="0"/>
          </a:xfrm>
          <a:custGeom>
            <a:avLst/>
            <a:gdLst/>
            <a:ahLst/>
            <a:cxnLst/>
            <a:rect l="l" t="t" r="r" b="b"/>
            <a:pathLst>
              <a:path w="2618740" h="0">
                <a:moveTo>
                  <a:pt x="0" y="0"/>
                </a:moveTo>
                <a:lnTo>
                  <a:pt x="2618232" y="0"/>
                </a:lnTo>
              </a:path>
            </a:pathLst>
          </a:custGeom>
          <a:ln w="24384">
            <a:solidFill>
              <a:srgbClr val="2F8C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672" y="1175003"/>
            <a:ext cx="8293734" cy="0"/>
          </a:xfrm>
          <a:custGeom>
            <a:avLst/>
            <a:gdLst/>
            <a:ahLst/>
            <a:cxnLst/>
            <a:rect l="l" t="t" r="r" b="b"/>
            <a:pathLst>
              <a:path w="8293734" h="0">
                <a:moveTo>
                  <a:pt x="0" y="0"/>
                </a:moveTo>
                <a:lnTo>
                  <a:pt x="8293608" y="0"/>
                </a:lnTo>
              </a:path>
            </a:pathLst>
          </a:custGeom>
          <a:ln w="24384">
            <a:solidFill>
              <a:srgbClr val="1F9C9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1009" y="422909"/>
            <a:ext cx="845820" cy="58293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446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z="2300" spc="155">
                <a:solidFill>
                  <a:srgbClr val="0C0C0C"/>
                </a:solidFill>
                <a:latin typeface="Cambria"/>
                <a:cs typeface="Cambria"/>
              </a:rPr>
              <a:t>Game:</a:t>
            </a:r>
            <a:r>
              <a:rPr dirty="0" sz="2300" spc="4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dirty="0" sz="2300" spc="130">
                <a:solidFill>
                  <a:srgbClr val="161616"/>
                </a:solidFill>
                <a:latin typeface="Cambria"/>
                <a:cs typeface="Cambria"/>
              </a:rPr>
              <a:t>"Get</a:t>
            </a:r>
            <a:r>
              <a:rPr dirty="0" sz="2300" spc="8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2300" spc="105">
                <a:solidFill>
                  <a:srgbClr val="0C0C0C"/>
                </a:solidFill>
                <a:latin typeface="Cambria"/>
                <a:cs typeface="Cambria"/>
              </a:rPr>
              <a:t>Ready</a:t>
            </a:r>
            <a:r>
              <a:rPr dirty="0" sz="2300" spc="-1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300" spc="8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dirty="0" sz="2300" spc="17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300" spc="90">
                <a:solidFill>
                  <a:srgbClr val="131313"/>
                </a:solidFill>
                <a:latin typeface="Cambria"/>
                <a:cs typeface="Cambria"/>
              </a:rPr>
              <a:t>the</a:t>
            </a:r>
            <a:r>
              <a:rPr dirty="0" sz="2300" spc="-3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2300" spc="90">
                <a:solidFill>
                  <a:srgbClr val="000000"/>
                </a:solidFill>
                <a:latin typeface="Cambria"/>
                <a:cs typeface="Cambria"/>
              </a:rPr>
              <a:t>Playground!"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469" y="851852"/>
            <a:ext cx="29470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595682"/>
                </a:solidFill>
                <a:latin typeface="Cambria"/>
                <a:cs typeface="Cambria"/>
              </a:rPr>
              <a:t>It's</a:t>
            </a:r>
            <a:r>
              <a:rPr dirty="0" sz="1000" spc="135" i="1">
                <a:solidFill>
                  <a:srgbClr val="595682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7C6DAE"/>
                </a:solidFill>
                <a:latin typeface="Cambria"/>
                <a:cs typeface="Cambria"/>
              </a:rPr>
              <a:t>a</a:t>
            </a:r>
            <a:r>
              <a:rPr dirty="0" sz="1000" spc="70" i="1">
                <a:solidFill>
                  <a:srgbClr val="7C6DAE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605985"/>
                </a:solidFill>
                <a:latin typeface="Cambria"/>
                <a:cs typeface="Cambria"/>
              </a:rPr>
              <a:t>holida</a:t>
            </a:r>
            <a:r>
              <a:rPr dirty="0" sz="1000" spc="245" i="1">
                <a:solidFill>
                  <a:srgbClr val="605985"/>
                </a:solidFill>
                <a:latin typeface="Cambria"/>
                <a:cs typeface="Cambria"/>
              </a:rPr>
              <a:t>  </a:t>
            </a:r>
            <a:r>
              <a:rPr dirty="0" sz="1000" spc="-35" i="1">
                <a:solidFill>
                  <a:srgbClr val="605D7B"/>
                </a:solidFill>
                <a:latin typeface="Cambria"/>
                <a:cs typeface="Cambria"/>
              </a:rPr>
              <a:t>—</a:t>
            </a:r>
            <a:r>
              <a:rPr dirty="0" sz="1000" spc="140" i="1">
                <a:solidFill>
                  <a:srgbClr val="605D7B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857CAA"/>
                </a:solidFill>
                <a:latin typeface="Cambria"/>
                <a:cs typeface="Cambria"/>
              </a:rPr>
              <a:t>the</a:t>
            </a:r>
            <a:r>
              <a:rPr dirty="0" sz="1000" spc="105" i="1">
                <a:solidFill>
                  <a:srgbClr val="857CAA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8A7EC8"/>
                </a:solidFill>
                <a:latin typeface="Cambria"/>
                <a:cs typeface="Cambria"/>
              </a:rPr>
              <a:t>class</a:t>
            </a:r>
            <a:r>
              <a:rPr dirty="0" sz="1000" spc="150" i="1">
                <a:solidFill>
                  <a:srgbClr val="8A7EC8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6B6490"/>
                </a:solidFill>
                <a:latin typeface="Cambria"/>
                <a:cs typeface="Cambria"/>
              </a:rPr>
              <a:t>is</a:t>
            </a:r>
            <a:r>
              <a:rPr dirty="0" sz="1000" spc="165" i="1">
                <a:solidFill>
                  <a:srgbClr val="6B6490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6B62A1"/>
                </a:solidFill>
                <a:latin typeface="Cambria"/>
                <a:cs typeface="Cambria"/>
              </a:rPr>
              <a:t>free</a:t>
            </a:r>
            <a:r>
              <a:rPr dirty="0" sz="1000" spc="100" i="1">
                <a:solidFill>
                  <a:srgbClr val="6B62A1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857CAC"/>
                </a:solidFill>
                <a:latin typeface="Cambria"/>
                <a:cs typeface="Cambria"/>
              </a:rPr>
              <a:t>to</a:t>
            </a:r>
            <a:r>
              <a:rPr dirty="0" sz="1000" spc="80" i="1">
                <a:solidFill>
                  <a:srgbClr val="857CAC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645797"/>
                </a:solidFill>
                <a:latin typeface="Cambria"/>
                <a:cs typeface="Cambria"/>
              </a:rPr>
              <a:t>go</a:t>
            </a:r>
            <a:r>
              <a:rPr dirty="0" sz="1000" spc="135">
                <a:solidFill>
                  <a:srgbClr val="645797"/>
                </a:solidFill>
                <a:latin typeface="Cambria"/>
                <a:cs typeface="Cambria"/>
              </a:rPr>
              <a:t> </a:t>
            </a:r>
            <a:r>
              <a:rPr dirty="0" sz="1000" spc="-20" i="1">
                <a:solidFill>
                  <a:srgbClr val="6E5E95"/>
                </a:solidFill>
                <a:latin typeface="Cambria"/>
                <a:cs typeface="Cambria"/>
              </a:rPr>
              <a:t>p/oy</a:t>
            </a:r>
            <a:r>
              <a:rPr dirty="0" sz="1000" spc="95" i="1">
                <a:solidFill>
                  <a:srgbClr val="6E5E95"/>
                </a:solidFill>
                <a:latin typeface="Cambria"/>
                <a:cs typeface="Cambria"/>
              </a:rPr>
              <a:t> </a:t>
            </a:r>
            <a:r>
              <a:rPr dirty="0" sz="1000" spc="-10">
                <a:solidFill>
                  <a:srgbClr val="7460A3"/>
                </a:solidFill>
                <a:latin typeface="Cambria"/>
                <a:cs typeface="Cambria"/>
              </a:rPr>
              <a:t>outside!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7460" y="1449070"/>
            <a:ext cx="4855210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69590"/>
                </a:solidFill>
                <a:latin typeface="Cambria"/>
                <a:cs typeface="Cambria"/>
              </a:rPr>
              <a:t>The</a:t>
            </a:r>
            <a:r>
              <a:rPr dirty="0" sz="1000" spc="-5">
                <a:solidFill>
                  <a:srgbClr val="469590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3DA89A"/>
                </a:solidFill>
                <a:latin typeface="Cambria"/>
                <a:cs typeface="Cambria"/>
              </a:rPr>
              <a:t>Goal</a:t>
            </a:r>
            <a:r>
              <a:rPr dirty="0" sz="1000" spc="30">
                <a:solidFill>
                  <a:srgbClr val="3DA89A"/>
                </a:solidFill>
                <a:latin typeface="Cambria"/>
                <a:cs typeface="Cambria"/>
              </a:rPr>
              <a:t> </a:t>
            </a:r>
            <a:r>
              <a:rPr dirty="0" sz="1000" spc="-30">
                <a:solidFill>
                  <a:srgbClr val="3F9590"/>
                </a:solidFill>
                <a:latin typeface="Cambria"/>
                <a:cs typeface="Cambria"/>
              </a:rPr>
              <a:t>You</a:t>
            </a:r>
            <a:r>
              <a:rPr dirty="0" sz="1000" spc="45">
                <a:solidFill>
                  <a:srgbClr val="3F9590"/>
                </a:solidFill>
                <a:latin typeface="Cambria"/>
                <a:cs typeface="Cambria"/>
              </a:rPr>
              <a:t> </a:t>
            </a:r>
            <a:r>
              <a:rPr dirty="0" sz="1000" spc="-20">
                <a:solidFill>
                  <a:srgbClr val="31AA97"/>
                </a:solidFill>
                <a:latin typeface="Cambria"/>
                <a:cs typeface="Cambria"/>
              </a:rPr>
              <a:t>Give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Cambria"/>
              <a:cs typeface="Cambria"/>
            </a:endParaRPr>
          </a:p>
          <a:p>
            <a:pPr marL="23495">
              <a:lnSpc>
                <a:spcPct val="100000"/>
              </a:lnSpc>
            </a:pPr>
            <a:r>
              <a:rPr dirty="0" sz="950" spc="-195">
                <a:solidFill>
                  <a:srgbClr val="363636"/>
                </a:solidFill>
                <a:latin typeface="Arial Black"/>
                <a:cs typeface="Arial Black"/>
              </a:rPr>
              <a:t>"Get</a:t>
            </a:r>
            <a:r>
              <a:rPr dirty="0" sz="950" spc="2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90">
                <a:solidFill>
                  <a:srgbClr val="363636"/>
                </a:solidFill>
                <a:latin typeface="Arial Black"/>
                <a:cs typeface="Arial Black"/>
              </a:rPr>
              <a:t>everyone</a:t>
            </a:r>
            <a:r>
              <a:rPr dirty="0" sz="950" spc="9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80">
                <a:solidFill>
                  <a:srgbClr val="363636"/>
                </a:solidFill>
                <a:latin typeface="Arial Black"/>
                <a:cs typeface="Arial Black"/>
              </a:rPr>
              <a:t>ready</a:t>
            </a:r>
            <a:r>
              <a:rPr dirty="0" sz="950" spc="-3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50">
                <a:solidFill>
                  <a:srgbClr val="484848"/>
                </a:solidFill>
                <a:latin typeface="Arial Black"/>
                <a:cs typeface="Arial Black"/>
              </a:rPr>
              <a:t>to</a:t>
            </a:r>
            <a:r>
              <a:rPr dirty="0" sz="950" spc="-70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950" spc="-215">
                <a:solidFill>
                  <a:srgbClr val="505050"/>
                </a:solidFill>
                <a:latin typeface="Arial Black"/>
                <a:cs typeface="Arial Black"/>
              </a:rPr>
              <a:t>go</a:t>
            </a:r>
            <a:r>
              <a:rPr dirty="0" sz="950" spc="2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950" spc="-195">
                <a:solidFill>
                  <a:srgbClr val="3D3D3D"/>
                </a:solidFill>
                <a:latin typeface="Arial Black"/>
                <a:cs typeface="Arial Black"/>
              </a:rPr>
              <a:t>play</a:t>
            </a:r>
            <a:r>
              <a:rPr dirty="0" sz="950" spc="2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60">
                <a:solidFill>
                  <a:srgbClr val="3B3B3B"/>
                </a:solidFill>
                <a:latin typeface="Arial Black"/>
                <a:cs typeface="Arial Black"/>
              </a:rPr>
              <a:t>in</a:t>
            </a:r>
            <a:r>
              <a:rPr dirty="0" sz="95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950" spc="-185">
                <a:solidFill>
                  <a:srgbClr val="2F2F2F"/>
                </a:solidFill>
                <a:latin typeface="Arial Black"/>
                <a:cs typeface="Arial Black"/>
              </a:rPr>
              <a:t>the</a:t>
            </a:r>
            <a:r>
              <a:rPr dirty="0" sz="950" spc="2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950" spc="-45">
                <a:solidFill>
                  <a:srgbClr val="363636"/>
                </a:solidFill>
                <a:latin typeface="Arial Black"/>
                <a:cs typeface="Arial Black"/>
              </a:rPr>
              <a:t>playground.</a:t>
            </a:r>
            <a:r>
              <a:rPr dirty="0" sz="950" spc="-45">
                <a:solidFill>
                  <a:srgbClr val="707070"/>
                </a:solidFill>
                <a:latin typeface="Arial Black"/>
                <a:cs typeface="Arial Black"/>
              </a:rPr>
              <a:t>"</a:t>
            </a:r>
            <a:endParaRPr sz="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185">
                <a:solidFill>
                  <a:srgbClr val="2F2F2F"/>
                </a:solidFill>
                <a:latin typeface="Arial Black"/>
                <a:cs typeface="Arial Black"/>
              </a:rPr>
              <a:t>That’s</a:t>
            </a:r>
            <a:r>
              <a:rPr dirty="0" sz="950" spc="1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950" spc="-155">
                <a:solidFill>
                  <a:srgbClr val="4D4D4D"/>
                </a:solidFill>
                <a:latin typeface="Arial Black"/>
                <a:cs typeface="Arial Black"/>
              </a:rPr>
              <a:t>it</a:t>
            </a:r>
            <a:r>
              <a:rPr dirty="0" sz="950" spc="11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950" spc="-305">
                <a:solidFill>
                  <a:srgbClr val="565656"/>
                </a:solidFill>
                <a:latin typeface="Arial Black"/>
                <a:cs typeface="Arial Black"/>
              </a:rPr>
              <a:t>—</a:t>
            </a:r>
            <a:r>
              <a:rPr dirty="0" sz="950" spc="45">
                <a:solidFill>
                  <a:srgbClr val="565656"/>
                </a:solidFill>
                <a:latin typeface="Arial Black"/>
                <a:cs typeface="Arial Black"/>
              </a:rPr>
              <a:t> </a:t>
            </a:r>
            <a:r>
              <a:rPr dirty="0" sz="950" spc="-160">
                <a:solidFill>
                  <a:srgbClr val="3A3A3A"/>
                </a:solidFill>
                <a:latin typeface="Arial Black"/>
                <a:cs typeface="Arial Black"/>
              </a:rPr>
              <a:t>just</a:t>
            </a:r>
            <a:r>
              <a:rPr dirty="0" sz="950" spc="-4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950" spc="-170">
                <a:solidFill>
                  <a:srgbClr val="3D3D3D"/>
                </a:solidFill>
                <a:latin typeface="Arial Black"/>
                <a:cs typeface="Arial Black"/>
              </a:rPr>
              <a:t>the</a:t>
            </a:r>
            <a:r>
              <a:rPr dirty="0" sz="950" spc="-3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75">
                <a:solidFill>
                  <a:srgbClr val="343434"/>
                </a:solidFill>
                <a:latin typeface="Arial Black"/>
                <a:cs typeface="Arial Black"/>
              </a:rPr>
              <a:t>goal,</a:t>
            </a:r>
            <a:r>
              <a:rPr dirty="0" sz="950" spc="3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950" spc="-165">
                <a:solidFill>
                  <a:srgbClr val="3B3B3B"/>
                </a:solidFill>
                <a:latin typeface="Arial Black"/>
                <a:cs typeface="Arial Black"/>
              </a:rPr>
              <a:t>nothing</a:t>
            </a:r>
            <a:r>
              <a:rPr dirty="0" sz="950" spc="1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950" spc="-175">
                <a:solidFill>
                  <a:srgbClr val="363636"/>
                </a:solidFill>
                <a:latin typeface="Arial Black"/>
                <a:cs typeface="Arial Black"/>
              </a:rPr>
              <a:t>more.</a:t>
            </a:r>
            <a:r>
              <a:rPr dirty="0" sz="950" spc="1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55">
                <a:solidFill>
                  <a:srgbClr val="363636"/>
                </a:solidFill>
                <a:latin typeface="Arial Black"/>
                <a:cs typeface="Arial Black"/>
              </a:rPr>
              <a:t>Don't</a:t>
            </a:r>
            <a:r>
              <a:rPr dirty="0" sz="950" spc="1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35">
                <a:solidFill>
                  <a:srgbClr val="3B3B3B"/>
                </a:solidFill>
                <a:latin typeface="Arial Black"/>
                <a:cs typeface="Arial Black"/>
              </a:rPr>
              <a:t>tell</a:t>
            </a:r>
            <a:r>
              <a:rPr dirty="0" sz="95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950" spc="-185">
                <a:solidFill>
                  <a:srgbClr val="313131"/>
                </a:solidFill>
                <a:latin typeface="Arial Black"/>
                <a:cs typeface="Arial Black"/>
              </a:rPr>
              <a:t>them</a:t>
            </a:r>
            <a:r>
              <a:rPr dirty="0" sz="950" spc="1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950" spc="-185">
                <a:solidFill>
                  <a:srgbClr val="3B3B3B"/>
                </a:solidFill>
                <a:latin typeface="Arial Black"/>
                <a:cs typeface="Arial Black"/>
              </a:rPr>
              <a:t>the</a:t>
            </a:r>
            <a:r>
              <a:rPr dirty="0" sz="950" spc="1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950" spc="-180">
                <a:solidFill>
                  <a:srgbClr val="363636"/>
                </a:solidFill>
                <a:latin typeface="Arial Black"/>
                <a:cs typeface="Arial Black"/>
              </a:rPr>
              <a:t>steps;</a:t>
            </a:r>
            <a:r>
              <a:rPr dirty="0" sz="950" spc="1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75">
                <a:solidFill>
                  <a:srgbClr val="3D3D3D"/>
                </a:solidFill>
                <a:latin typeface="Arial Black"/>
                <a:cs typeface="Arial Black"/>
              </a:rPr>
              <a:t>the</a:t>
            </a:r>
            <a:r>
              <a:rPr dirty="0" sz="950" spc="-1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200">
                <a:solidFill>
                  <a:srgbClr val="424242"/>
                </a:solidFill>
                <a:latin typeface="Arial Black"/>
                <a:cs typeface="Arial Black"/>
              </a:rPr>
              <a:t>kids</a:t>
            </a:r>
            <a:r>
              <a:rPr dirty="0" sz="950" spc="1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950" spc="-165">
                <a:solidFill>
                  <a:srgbClr val="363636"/>
                </a:solidFill>
                <a:latin typeface="Arial Black"/>
                <a:cs typeface="Arial Black"/>
              </a:rPr>
              <a:t>figure</a:t>
            </a:r>
            <a:r>
              <a:rPr dirty="0" sz="950" spc="4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50">
                <a:solidFill>
                  <a:srgbClr val="343434"/>
                </a:solidFill>
                <a:latin typeface="Arial Black"/>
                <a:cs typeface="Arial Black"/>
              </a:rPr>
              <a:t>it</a:t>
            </a:r>
            <a:r>
              <a:rPr dirty="0" sz="950" spc="1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950" spc="-165">
                <a:solidFill>
                  <a:srgbClr val="3A3A3A"/>
                </a:solidFill>
                <a:latin typeface="Arial Black"/>
                <a:cs typeface="Arial Black"/>
              </a:rPr>
              <a:t>out</a:t>
            </a:r>
            <a:r>
              <a:rPr dirty="0" sz="950" spc="-4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950" spc="-180">
                <a:solidFill>
                  <a:srgbClr val="333333"/>
                </a:solidFill>
                <a:latin typeface="Arial Black"/>
                <a:cs typeface="Arial Black"/>
              </a:rPr>
              <a:t>on</a:t>
            </a:r>
            <a:r>
              <a:rPr dirty="0" sz="950" spc="-1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950" spc="-165">
                <a:solidFill>
                  <a:srgbClr val="363636"/>
                </a:solidFill>
                <a:latin typeface="Arial Black"/>
                <a:cs typeface="Arial Black"/>
              </a:rPr>
              <a:t>their</a:t>
            </a:r>
            <a:r>
              <a:rPr dirty="0" sz="950" spc="3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20">
                <a:solidFill>
                  <a:srgbClr val="343434"/>
                </a:solidFill>
                <a:latin typeface="Arial Black"/>
                <a:cs typeface="Arial Black"/>
              </a:rPr>
              <a:t>own!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585" y="2493962"/>
            <a:ext cx="35236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>
                <a:solidFill>
                  <a:srgbClr val="7757A3"/>
                </a:solidFill>
                <a:latin typeface="Cambria"/>
                <a:cs typeface="Cambria"/>
              </a:rPr>
              <a:t>What</a:t>
            </a:r>
            <a:r>
              <a:rPr dirty="0" sz="1300" spc="125">
                <a:solidFill>
                  <a:srgbClr val="7757A3"/>
                </a:solidFill>
                <a:latin typeface="Cambria"/>
                <a:cs typeface="Cambria"/>
              </a:rPr>
              <a:t> </a:t>
            </a:r>
            <a:r>
              <a:rPr dirty="0" sz="1300" spc="95">
                <a:solidFill>
                  <a:srgbClr val="7754A5"/>
                </a:solidFill>
                <a:latin typeface="Cambria"/>
                <a:cs typeface="Cambria"/>
              </a:rPr>
              <a:t>the</a:t>
            </a:r>
            <a:r>
              <a:rPr dirty="0" sz="1300" spc="45">
                <a:solidFill>
                  <a:srgbClr val="7754A5"/>
                </a:solidFill>
                <a:latin typeface="Cambria"/>
                <a:cs typeface="Cambria"/>
              </a:rPr>
              <a:t> </a:t>
            </a:r>
            <a:r>
              <a:rPr dirty="0" sz="1300" spc="125">
                <a:solidFill>
                  <a:srgbClr val="7957B5"/>
                </a:solidFill>
                <a:latin typeface="Cambria"/>
                <a:cs typeface="Cambria"/>
              </a:rPr>
              <a:t>Kids</a:t>
            </a:r>
            <a:r>
              <a:rPr dirty="0" sz="1300" spc="5">
                <a:solidFill>
                  <a:srgbClr val="7957B5"/>
                </a:solidFill>
                <a:latin typeface="Cambria"/>
                <a:cs typeface="Cambria"/>
              </a:rPr>
              <a:t> </a:t>
            </a:r>
            <a:r>
              <a:rPr dirty="0" sz="1300" spc="110">
                <a:solidFill>
                  <a:srgbClr val="7554B8"/>
                </a:solidFill>
                <a:latin typeface="Cambria"/>
                <a:cs typeface="Cambria"/>
              </a:rPr>
              <a:t>Might</a:t>
            </a:r>
            <a:r>
              <a:rPr dirty="0" sz="1300" spc="105">
                <a:solidFill>
                  <a:srgbClr val="7554B8"/>
                </a:solidFill>
                <a:latin typeface="Cambria"/>
                <a:cs typeface="Cambria"/>
              </a:rPr>
              <a:t> </a:t>
            </a:r>
            <a:r>
              <a:rPr dirty="0" sz="1300" spc="135">
                <a:solidFill>
                  <a:srgbClr val="7C56B1"/>
                </a:solidFill>
                <a:latin typeface="Cambria"/>
                <a:cs typeface="Cambria"/>
              </a:rPr>
              <a:t>Do</a:t>
            </a:r>
            <a:r>
              <a:rPr dirty="0" sz="1300" spc="420">
                <a:solidFill>
                  <a:srgbClr val="7C56B1"/>
                </a:solidFill>
                <a:latin typeface="Cambria"/>
                <a:cs typeface="Cambria"/>
              </a:rPr>
              <a:t> </a:t>
            </a:r>
            <a:r>
              <a:rPr dirty="0" sz="1300" spc="95">
                <a:solidFill>
                  <a:srgbClr val="7552BA"/>
                </a:solidFill>
                <a:latin typeface="Cambria"/>
                <a:cs typeface="Cambria"/>
              </a:rPr>
              <a:t>(their</a:t>
            </a:r>
            <a:r>
              <a:rPr dirty="0" sz="1300" spc="70">
                <a:solidFill>
                  <a:srgbClr val="7552BA"/>
                </a:solidFill>
                <a:latin typeface="Cambria"/>
                <a:cs typeface="Cambria"/>
              </a:rPr>
              <a:t> </a:t>
            </a:r>
            <a:r>
              <a:rPr dirty="0" sz="1300" spc="140">
                <a:solidFill>
                  <a:srgbClr val="7B4FB1"/>
                </a:solidFill>
                <a:latin typeface="Cambria"/>
                <a:cs typeface="Cambria"/>
              </a:rPr>
              <a:t>own</a:t>
            </a:r>
            <a:r>
              <a:rPr dirty="0" sz="1300" spc="-85">
                <a:solidFill>
                  <a:srgbClr val="7B4FB1"/>
                </a:solidFill>
                <a:latin typeface="Cambria"/>
                <a:cs typeface="Cambria"/>
              </a:rPr>
              <a:t> </a:t>
            </a:r>
            <a:r>
              <a:rPr dirty="0" sz="1300" spc="95">
                <a:solidFill>
                  <a:srgbClr val="7557AC"/>
                </a:solidFill>
                <a:latin typeface="Cambria"/>
                <a:cs typeface="Cambria"/>
              </a:rPr>
              <a:t>plan!)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4639" y="3109277"/>
            <a:ext cx="6553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44709A"/>
                </a:solidFill>
                <a:latin typeface="Cambria"/>
                <a:cs typeface="Cambria"/>
              </a:rPr>
              <a:t>Wear</a:t>
            </a:r>
            <a:r>
              <a:rPr dirty="0" sz="1000" spc="-5">
                <a:solidFill>
                  <a:srgbClr val="44709A"/>
                </a:solidFill>
                <a:latin typeface="Cambria"/>
                <a:cs typeface="Cambria"/>
              </a:rPr>
              <a:t> </a:t>
            </a:r>
            <a:r>
              <a:rPr dirty="0" sz="1000" spc="-10">
                <a:solidFill>
                  <a:srgbClr val="6082A8"/>
                </a:solidFill>
                <a:latin typeface="Cambria"/>
                <a:cs typeface="Cambria"/>
              </a:rPr>
              <a:t>shoes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907" y="3487737"/>
            <a:ext cx="1975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43434"/>
                </a:solidFill>
                <a:latin typeface="Cambria"/>
                <a:cs typeface="Cambria"/>
              </a:rPr>
              <a:t>Put</a:t>
            </a:r>
            <a:r>
              <a:rPr dirty="0" sz="900" spc="3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3A3A3A"/>
                </a:solidFill>
                <a:latin typeface="Cambria"/>
                <a:cs typeface="Cambria"/>
              </a:rPr>
              <a:t>on</a:t>
            </a:r>
            <a:r>
              <a:rPr dirty="0" sz="900" spc="40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dirty="0" sz="900" spc="-20">
                <a:solidFill>
                  <a:srgbClr val="383838"/>
                </a:solidFill>
                <a:latin typeface="Cambria"/>
                <a:cs typeface="Cambria"/>
              </a:rPr>
              <a:t>sports</a:t>
            </a:r>
            <a:r>
              <a:rPr dirty="0" sz="900" spc="2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363636"/>
                </a:solidFill>
                <a:latin typeface="Cambria"/>
                <a:cs typeface="Cambria"/>
              </a:rPr>
              <a:t>shoes</a:t>
            </a:r>
            <a:r>
              <a:rPr dirty="0" sz="900" spc="1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63636"/>
                </a:solidFill>
                <a:latin typeface="Cambria"/>
                <a:cs typeface="Cambria"/>
              </a:rPr>
              <a:t>and</a:t>
            </a:r>
            <a:r>
              <a:rPr dirty="0" sz="900" spc="1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63636"/>
                </a:solidFill>
                <a:latin typeface="Cambria"/>
                <a:cs typeface="Cambria"/>
              </a:rPr>
              <a:t>caps</a:t>
            </a:r>
            <a:r>
              <a:rPr dirty="0" sz="900" spc="-2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3B3B3B"/>
                </a:solidFill>
                <a:latin typeface="Cambria"/>
                <a:cs typeface="Cambria"/>
              </a:rPr>
              <a:t>for </a:t>
            </a:r>
            <a:r>
              <a:rPr dirty="0" sz="90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dirty="0" sz="900" spc="5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900" spc="-25">
                <a:solidFill>
                  <a:srgbClr val="3B3B3B"/>
                </a:solidFill>
                <a:latin typeface="Cambria"/>
                <a:cs typeface="Cambria"/>
              </a:rPr>
              <a:t>sun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63250" y="3109277"/>
            <a:ext cx="7308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D6E89"/>
                </a:solidFill>
                <a:latin typeface="Cambria"/>
                <a:cs typeface="Cambria"/>
              </a:rPr>
              <a:t>Grab</a:t>
            </a:r>
            <a:r>
              <a:rPr dirty="0" sz="1000" spc="50">
                <a:solidFill>
                  <a:srgbClr val="CD6E89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BC6E87"/>
                </a:solidFill>
                <a:latin typeface="Cambria"/>
                <a:cs typeface="Cambria"/>
              </a:rPr>
              <a:t>the</a:t>
            </a:r>
            <a:r>
              <a:rPr dirty="0" sz="1000" spc="105">
                <a:solidFill>
                  <a:srgbClr val="BC6E87"/>
                </a:solidFill>
                <a:latin typeface="Cambria"/>
                <a:cs typeface="Cambria"/>
              </a:rPr>
              <a:t> </a:t>
            </a:r>
            <a:r>
              <a:rPr dirty="0" sz="1000" spc="-20">
                <a:solidFill>
                  <a:srgbClr val="C86082"/>
                </a:solidFill>
                <a:latin typeface="Cambria"/>
                <a:cs typeface="Cambria"/>
              </a:rPr>
              <a:t>ball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89532" y="3487737"/>
            <a:ext cx="20840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333333"/>
                </a:solidFill>
                <a:latin typeface="Cambria"/>
                <a:cs typeface="Cambria"/>
              </a:rPr>
              <a:t>Pick</a:t>
            </a:r>
            <a:r>
              <a:rPr dirty="0" sz="90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646464"/>
                </a:solidFill>
                <a:latin typeface="Cambria"/>
                <a:cs typeface="Cambria"/>
              </a:rPr>
              <a:t>a</a:t>
            </a:r>
            <a:r>
              <a:rPr dirty="0" sz="900" spc="55">
                <a:solidFill>
                  <a:srgbClr val="646464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83838"/>
                </a:solidFill>
                <a:latin typeface="Cambria"/>
                <a:cs typeface="Cambria"/>
              </a:rPr>
              <a:t>ball,</a:t>
            </a:r>
            <a:r>
              <a:rPr dirty="0" sz="90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900" spc="-30">
                <a:solidFill>
                  <a:srgbClr val="363636"/>
                </a:solidFill>
                <a:latin typeface="Cambria"/>
                <a:cs typeface="Cambria"/>
              </a:rPr>
              <a:t>skipping</a:t>
            </a:r>
            <a:r>
              <a:rPr dirty="0" sz="900" spc="9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2D2D2D"/>
                </a:solidFill>
                <a:latin typeface="Cambria"/>
                <a:cs typeface="Cambria"/>
              </a:rPr>
              <a:t>rope,</a:t>
            </a:r>
            <a:r>
              <a:rPr dirty="0" sz="900" spc="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343434"/>
                </a:solidFill>
                <a:latin typeface="Cambria"/>
                <a:cs typeface="Cambria"/>
              </a:rPr>
              <a:t>or</a:t>
            </a:r>
            <a:r>
              <a:rPr dirty="0" sz="900" spc="-5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43434"/>
                </a:solidFill>
                <a:latin typeface="Cambria"/>
                <a:cs typeface="Cambria"/>
              </a:rPr>
              <a:t>favorite</a:t>
            </a:r>
            <a:r>
              <a:rPr dirty="0" sz="900" spc="1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83838"/>
                </a:solidFill>
                <a:latin typeface="Cambria"/>
                <a:cs typeface="Cambria"/>
              </a:rPr>
              <a:t>game.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4380" y="3109277"/>
            <a:ext cx="1998980" cy="541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  <a:tabLst>
                <a:tab pos="491490" algn="l"/>
              </a:tabLst>
            </a:pPr>
            <a:r>
              <a:rPr dirty="0" sz="1000" spc="-50" i="1">
                <a:solidFill>
                  <a:srgbClr val="FB6064"/>
                </a:solidFill>
                <a:latin typeface="Cambria"/>
                <a:cs typeface="Cambria"/>
              </a:rPr>
              <a:t>@</a:t>
            </a:r>
            <a:r>
              <a:rPr dirty="0" sz="1000" i="1">
                <a:solidFill>
                  <a:srgbClr val="FB6064"/>
                </a:solidFill>
                <a:latin typeface="Cambria"/>
                <a:cs typeface="Cambria"/>
              </a:rPr>
              <a:t>	</a:t>
            </a:r>
            <a:r>
              <a:rPr dirty="0" sz="1000" spc="-20">
                <a:solidFill>
                  <a:srgbClr val="2FA18A"/>
                </a:solidFill>
                <a:latin typeface="Cambria"/>
                <a:cs typeface="Cambria"/>
              </a:rPr>
              <a:t>Line</a:t>
            </a:r>
            <a:r>
              <a:rPr dirty="0" sz="1000" spc="15">
                <a:solidFill>
                  <a:srgbClr val="2FA18A"/>
                </a:solidFill>
                <a:latin typeface="Cambria"/>
                <a:cs typeface="Cambria"/>
              </a:rPr>
              <a:t> </a:t>
            </a:r>
            <a:r>
              <a:rPr dirty="0" sz="1000" spc="-35">
                <a:solidFill>
                  <a:srgbClr val="469E8E"/>
                </a:solidFill>
                <a:latin typeface="Cambria"/>
                <a:cs typeface="Cambria"/>
              </a:rPr>
              <a:t>up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363636"/>
                </a:solidFill>
                <a:latin typeface="Cambria"/>
                <a:cs typeface="Cambria"/>
              </a:rPr>
              <a:t>Make</a:t>
            </a:r>
            <a:r>
              <a:rPr dirty="0" sz="900" spc="-15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424242"/>
                </a:solidFill>
                <a:latin typeface="Cambria"/>
                <a:cs typeface="Cambria"/>
              </a:rPr>
              <a:t>a</a:t>
            </a:r>
            <a:r>
              <a:rPr dirty="0" sz="900" spc="95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dirty="0" sz="900" spc="-25">
                <a:solidFill>
                  <a:srgbClr val="333333"/>
                </a:solidFill>
                <a:latin typeface="Cambria"/>
                <a:cs typeface="Cambria"/>
              </a:rPr>
              <a:t>line</a:t>
            </a:r>
            <a:r>
              <a:rPr dirty="0" sz="900" spc="25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63636"/>
                </a:solidFill>
                <a:latin typeface="Cambria"/>
                <a:cs typeface="Cambria"/>
              </a:rPr>
              <a:t>and</a:t>
            </a:r>
            <a:r>
              <a:rPr dirty="0" sz="900" spc="55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 spc="-65">
                <a:solidFill>
                  <a:srgbClr val="363636"/>
                </a:solidFill>
                <a:latin typeface="Cambria"/>
                <a:cs typeface="Cambria"/>
              </a:rPr>
              <a:t>wal</a:t>
            </a:r>
            <a:r>
              <a:rPr dirty="0" sz="900" spc="-5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00" spc="-165">
                <a:solidFill>
                  <a:srgbClr val="383838"/>
                </a:solidFill>
                <a:latin typeface="Cambria"/>
                <a:cs typeface="Cambria"/>
              </a:rPr>
              <a:t>k</a:t>
            </a:r>
            <a:r>
              <a:rPr dirty="0" sz="900" spc="45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383838"/>
                </a:solidFill>
                <a:latin typeface="Cambria"/>
                <a:cs typeface="Cambria"/>
              </a:rPr>
              <a:t>out</a:t>
            </a:r>
            <a:r>
              <a:rPr dirty="0" sz="900" spc="75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43434"/>
                </a:solidFill>
                <a:latin typeface="Cambria"/>
                <a:cs typeface="Cambria"/>
              </a:rPr>
              <a:t>together</a:t>
            </a:r>
            <a:r>
              <a:rPr dirty="0" sz="900" spc="25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13131"/>
                </a:solidFill>
                <a:latin typeface="Cambria"/>
                <a:cs typeface="Cambria"/>
              </a:rPr>
              <a:t>safely.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0023" y="4326572"/>
            <a:ext cx="748728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135" algn="l"/>
              </a:tabLst>
            </a:pPr>
            <a:r>
              <a:rPr dirty="0" sz="1000" spc="-50">
                <a:solidFill>
                  <a:srgbClr val="5072A0"/>
                </a:solidFill>
                <a:latin typeface="Arial Black"/>
                <a:cs typeface="Arial Black"/>
              </a:rPr>
              <a:t>¿</a:t>
            </a:r>
            <a:r>
              <a:rPr dirty="0" sz="1000">
                <a:solidFill>
                  <a:srgbClr val="5072A0"/>
                </a:solidFill>
                <a:latin typeface="Arial Black"/>
                <a:cs typeface="Arial Black"/>
              </a:rPr>
              <a:t>	</a:t>
            </a:r>
            <a:r>
              <a:rPr dirty="0" sz="1000" spc="-200">
                <a:solidFill>
                  <a:srgbClr val="111111"/>
                </a:solidFill>
                <a:latin typeface="Arial Black"/>
                <a:cs typeface="Arial Black"/>
              </a:rPr>
              <a:t>"You</a:t>
            </a:r>
            <a:r>
              <a:rPr dirty="0" sz="1000" spc="75">
                <a:solidFill>
                  <a:srgbClr val="111111"/>
                </a:solidFill>
                <a:latin typeface="Arial Black"/>
                <a:cs typeface="Arial Black"/>
              </a:rPr>
              <a:t> </a:t>
            </a:r>
            <a:r>
              <a:rPr dirty="0" sz="1000" spc="-160">
                <a:solidFill>
                  <a:srgbClr val="0F0F0F"/>
                </a:solidFill>
                <a:latin typeface="Arial Black"/>
                <a:cs typeface="Arial Black"/>
              </a:rPr>
              <a:t>just</a:t>
            </a:r>
            <a:r>
              <a:rPr dirty="0" sz="1000" spc="-80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000" spc="-190">
                <a:solidFill>
                  <a:srgbClr val="0F0F0F"/>
                </a:solidFill>
                <a:latin typeface="Arial Black"/>
                <a:cs typeface="Arial Black"/>
              </a:rPr>
              <a:t>acted</a:t>
            </a:r>
            <a:r>
              <a:rPr dirty="0" sz="1000" spc="1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000" spc="-165">
                <a:solidFill>
                  <a:srgbClr val="131313"/>
                </a:solidFill>
                <a:latin typeface="Arial Black"/>
                <a:cs typeface="Arial Black"/>
              </a:rPr>
              <a:t>like</a:t>
            </a:r>
            <a:r>
              <a:rPr dirty="0" sz="1000" spc="5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181818"/>
                </a:solidFill>
                <a:latin typeface="Arial Black"/>
                <a:cs typeface="Arial Black"/>
              </a:rPr>
              <a:t>an</a:t>
            </a:r>
            <a:r>
              <a:rPr dirty="0" sz="1000" spc="-50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1000" spc="-200">
                <a:solidFill>
                  <a:srgbClr val="0E0E0E"/>
                </a:solidFill>
                <a:latin typeface="Arial Black"/>
                <a:cs typeface="Arial Black"/>
              </a:rPr>
              <a:t>AGENT!</a:t>
            </a:r>
            <a:r>
              <a:rPr dirty="0" sz="1000" spc="45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313131"/>
                </a:solidFill>
                <a:latin typeface="Arial Black"/>
                <a:cs typeface="Arial Black"/>
              </a:rPr>
              <a:t>Nobody</a:t>
            </a:r>
            <a:r>
              <a:rPr dirty="0" sz="1000" spc="4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1000" spc="-155">
                <a:solidFill>
                  <a:srgbClr val="363636"/>
                </a:solidFill>
                <a:latin typeface="Arial Black"/>
                <a:cs typeface="Arial Black"/>
              </a:rPr>
              <a:t>told</a:t>
            </a:r>
            <a:r>
              <a:rPr dirty="0" sz="100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000" spc="-170">
                <a:solidFill>
                  <a:srgbClr val="313131"/>
                </a:solidFill>
                <a:latin typeface="Arial Black"/>
                <a:cs typeface="Arial Black"/>
              </a:rPr>
              <a:t>you</a:t>
            </a:r>
            <a:r>
              <a:rPr dirty="0" sz="1000" spc="-4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1000" spc="-210">
                <a:solidFill>
                  <a:srgbClr val="313131"/>
                </a:solidFill>
                <a:latin typeface="Arial Black"/>
                <a:cs typeface="Arial Black"/>
              </a:rPr>
              <a:t>each</a:t>
            </a:r>
            <a:r>
              <a:rPr dirty="0" sz="1000" spc="4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1000" spc="-190">
                <a:solidFill>
                  <a:srgbClr val="363636"/>
                </a:solidFill>
                <a:latin typeface="Arial Black"/>
                <a:cs typeface="Arial Black"/>
              </a:rPr>
              <a:t>step</a:t>
            </a:r>
            <a:r>
              <a:rPr dirty="0" sz="1000" spc="3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000" spc="-260">
                <a:solidFill>
                  <a:srgbClr val="3B3B3B"/>
                </a:solidFill>
                <a:latin typeface="Arial Black"/>
                <a:cs typeface="Arial Black"/>
              </a:rPr>
              <a:t>—</a:t>
            </a:r>
            <a:r>
              <a:rPr dirty="0" sz="1000" spc="7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1000" spc="-190">
                <a:solidFill>
                  <a:srgbClr val="2F2F2F"/>
                </a:solidFill>
                <a:latin typeface="Arial Black"/>
                <a:cs typeface="Arial Black"/>
              </a:rPr>
              <a:t>you</a:t>
            </a:r>
            <a:r>
              <a:rPr dirty="0" sz="1000" spc="-1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363636"/>
                </a:solidFill>
                <a:latin typeface="Arial Black"/>
                <a:cs typeface="Arial Black"/>
              </a:rPr>
              <a:t>had</a:t>
            </a:r>
            <a:r>
              <a:rPr dirty="0" sz="1000" spc="2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000" spc="-280">
                <a:solidFill>
                  <a:srgbClr val="333333"/>
                </a:solidFill>
                <a:latin typeface="Arial Black"/>
                <a:cs typeface="Arial Black"/>
              </a:rPr>
              <a:t>a</a:t>
            </a:r>
            <a:r>
              <a:rPr dirty="0" sz="1000" spc="-3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1000" spc="-175">
                <a:solidFill>
                  <a:srgbClr val="363636"/>
                </a:solidFill>
                <a:latin typeface="Arial Black"/>
                <a:cs typeface="Arial Black"/>
              </a:rPr>
              <a:t>goal</a:t>
            </a:r>
            <a:r>
              <a:rPr dirty="0" sz="1000" spc="1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000" spc="-204">
                <a:solidFill>
                  <a:srgbClr val="3D3D3D"/>
                </a:solidFill>
                <a:latin typeface="Arial Black"/>
                <a:cs typeface="Arial Black"/>
              </a:rPr>
              <a:t>and</a:t>
            </a:r>
            <a:r>
              <a:rPr dirty="0" sz="1000" spc="4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1000" spc="-204">
                <a:solidFill>
                  <a:srgbClr val="383838"/>
                </a:solidFill>
                <a:latin typeface="Arial Black"/>
                <a:cs typeface="Arial Black"/>
              </a:rPr>
              <a:t>made</a:t>
            </a:r>
            <a:r>
              <a:rPr dirty="0" sz="1000" spc="5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1000" spc="-170">
                <a:solidFill>
                  <a:srgbClr val="3B3B3B"/>
                </a:solidFill>
                <a:latin typeface="Arial Black"/>
                <a:cs typeface="Arial Black"/>
              </a:rPr>
              <a:t>your</a:t>
            </a:r>
            <a:r>
              <a:rPr dirty="0" sz="1000" spc="3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1000" spc="-210">
                <a:solidFill>
                  <a:srgbClr val="363636"/>
                </a:solidFill>
                <a:latin typeface="Arial Black"/>
                <a:cs typeface="Arial Black"/>
              </a:rPr>
              <a:t>own</a:t>
            </a:r>
            <a:r>
              <a:rPr dirty="0" sz="1000" spc="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000" spc="-155">
                <a:solidFill>
                  <a:srgbClr val="333333"/>
                </a:solidFill>
                <a:latin typeface="Arial Black"/>
                <a:cs typeface="Arial Black"/>
              </a:rPr>
              <a:t>plan.</a:t>
            </a:r>
            <a:r>
              <a:rPr dirty="0" sz="1000" spc="1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1000" spc="-180">
                <a:solidFill>
                  <a:srgbClr val="3A3A3A"/>
                </a:solidFill>
                <a:latin typeface="Arial Black"/>
                <a:cs typeface="Arial Black"/>
              </a:rPr>
              <a:t>That</a:t>
            </a:r>
            <a:r>
              <a:rPr dirty="0" sz="1000" spc="-4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1000" spc="-195">
                <a:solidFill>
                  <a:srgbClr val="3A3A3A"/>
                </a:solidFill>
                <a:latin typeface="Arial Black"/>
                <a:cs typeface="Arial Black"/>
              </a:rPr>
              <a:t>is</a:t>
            </a:r>
            <a:r>
              <a:rPr dirty="0" sz="1000" spc="-1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1000" spc="-204">
                <a:solidFill>
                  <a:srgbClr val="313131"/>
                </a:solidFill>
                <a:latin typeface="Arial Black"/>
                <a:cs typeface="Arial Black"/>
              </a:rPr>
              <a:t>exactly</a:t>
            </a:r>
            <a:r>
              <a:rPr dirty="0" sz="1000" spc="7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1000" spc="-200">
                <a:solidFill>
                  <a:srgbClr val="2D2D2D"/>
                </a:solidFill>
                <a:latin typeface="Arial Black"/>
                <a:cs typeface="Arial Black"/>
              </a:rPr>
              <a:t>what</a:t>
            </a:r>
            <a:r>
              <a:rPr dirty="0" sz="1000" spc="10">
                <a:solidFill>
                  <a:srgbClr val="2D2D2D"/>
                </a:solidFill>
                <a:latin typeface="Arial Black"/>
                <a:cs typeface="Arial Black"/>
              </a:rPr>
              <a:t> </a:t>
            </a:r>
            <a:r>
              <a:rPr dirty="0" sz="1000" spc="-195">
                <a:solidFill>
                  <a:srgbClr val="313131"/>
                </a:solidFill>
                <a:latin typeface="Arial Black"/>
                <a:cs typeface="Arial Black"/>
              </a:rPr>
              <a:t>agentic</a:t>
            </a:r>
            <a:r>
              <a:rPr dirty="0" sz="1000" spc="9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1000" spc="-215">
                <a:solidFill>
                  <a:srgbClr val="414141"/>
                </a:solidFill>
                <a:latin typeface="Arial Black"/>
                <a:cs typeface="Arial Black"/>
              </a:rPr>
              <a:t>AI</a:t>
            </a:r>
            <a:r>
              <a:rPr dirty="0" sz="1000" spc="-25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3A3A3A"/>
                </a:solidFill>
                <a:latin typeface="Arial Black"/>
                <a:cs typeface="Arial Black"/>
              </a:rPr>
              <a:t>does!"</a:t>
            </a:r>
            <a:endParaRPr sz="1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3672" y="3403091"/>
            <a:ext cx="2618740" cy="0"/>
          </a:xfrm>
          <a:custGeom>
            <a:avLst/>
            <a:gdLst/>
            <a:ahLst/>
            <a:cxnLst/>
            <a:rect l="l" t="t" r="r" b="b"/>
            <a:pathLst>
              <a:path w="2618740" h="0">
                <a:moveTo>
                  <a:pt x="0" y="0"/>
                </a:moveTo>
                <a:lnTo>
                  <a:pt x="2618232" y="0"/>
                </a:lnTo>
              </a:path>
            </a:pathLst>
          </a:custGeom>
          <a:ln w="24384">
            <a:solidFill>
              <a:srgbClr val="23A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33927" y="3400044"/>
            <a:ext cx="2682240" cy="0"/>
          </a:xfrm>
          <a:custGeom>
            <a:avLst/>
            <a:gdLst/>
            <a:ahLst/>
            <a:cxnLst/>
            <a:rect l="l" t="t" r="r" b="b"/>
            <a:pathLst>
              <a:path w="2682240" h="0">
                <a:moveTo>
                  <a:pt x="0" y="0"/>
                </a:moveTo>
                <a:lnTo>
                  <a:pt x="2682240" y="0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9047" y="3403091"/>
            <a:ext cx="2618740" cy="0"/>
          </a:xfrm>
          <a:custGeom>
            <a:avLst/>
            <a:gdLst/>
            <a:ahLst/>
            <a:cxnLst/>
            <a:rect l="l" t="t" r="r" b="b"/>
            <a:pathLst>
              <a:path w="2618740" h="0">
                <a:moveTo>
                  <a:pt x="0" y="0"/>
                </a:moveTo>
                <a:lnTo>
                  <a:pt x="2618232" y="0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3672" y="1107947"/>
            <a:ext cx="4041775" cy="0"/>
          </a:xfrm>
          <a:custGeom>
            <a:avLst/>
            <a:gdLst/>
            <a:ahLst/>
            <a:cxnLst/>
            <a:rect l="l" t="t" r="r" b="b"/>
            <a:pathLst>
              <a:path w="4041775" h="0">
                <a:moveTo>
                  <a:pt x="0" y="0"/>
                </a:moveTo>
                <a:lnTo>
                  <a:pt x="4041648" y="0"/>
                </a:lnTo>
              </a:path>
            </a:pathLst>
          </a:custGeom>
          <a:ln w="24384">
            <a:solidFill>
              <a:srgbClr val="3F77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75632" y="1107947"/>
            <a:ext cx="4041775" cy="0"/>
          </a:xfrm>
          <a:custGeom>
            <a:avLst/>
            <a:gdLst/>
            <a:ahLst/>
            <a:cxnLst/>
            <a:rect l="l" t="t" r="r" b="b"/>
            <a:pathLst>
              <a:path w="4041775" h="0">
                <a:moveTo>
                  <a:pt x="0" y="0"/>
                </a:moveTo>
                <a:lnTo>
                  <a:pt x="4041648" y="0"/>
                </a:lnTo>
              </a:path>
            </a:pathLst>
          </a:custGeom>
          <a:ln w="24384">
            <a:solidFill>
              <a:srgbClr val="23A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716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100"/>
              </a:spcBef>
            </a:pPr>
            <a:r>
              <a:rPr dirty="0" sz="2650" spc="114">
                <a:solidFill>
                  <a:srgbClr val="131313"/>
                </a:solidFill>
                <a:latin typeface="Cambria"/>
                <a:cs typeface="Cambria"/>
              </a:rPr>
              <a:t>What</a:t>
            </a:r>
            <a:r>
              <a:rPr dirty="0" sz="2650" spc="12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2650" spc="70">
                <a:solidFill>
                  <a:srgbClr val="131313"/>
                </a:solidFill>
                <a:latin typeface="Cambria"/>
                <a:cs typeface="Cambria"/>
              </a:rPr>
              <a:t>is</a:t>
            </a:r>
            <a:r>
              <a:rPr dirty="0" sz="2650" spc="8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2650" spc="114">
                <a:solidFill>
                  <a:srgbClr val="111111"/>
                </a:solidFill>
                <a:latin typeface="Cambria"/>
                <a:cs typeface="Cambria"/>
              </a:rPr>
              <a:t>"Agentic</a:t>
            </a:r>
            <a:r>
              <a:rPr dirty="0" sz="265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650" spc="170">
                <a:solidFill>
                  <a:srgbClr val="131313"/>
                </a:solidFill>
                <a:latin typeface="Cambria"/>
                <a:cs typeface="Cambria"/>
              </a:rPr>
              <a:t>AI”?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224" y="1279207"/>
            <a:ext cx="196850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65">
                <a:solidFill>
                  <a:srgbClr val="3F7EB3"/>
                </a:solidFill>
                <a:latin typeface="Arial Black"/>
                <a:cs typeface="Arial Black"/>
              </a:rPr>
              <a:t>Normal</a:t>
            </a:r>
            <a:r>
              <a:rPr dirty="0" sz="1100" spc="55">
                <a:solidFill>
                  <a:srgbClr val="3F7EB3"/>
                </a:solidFill>
                <a:latin typeface="Arial Black"/>
                <a:cs typeface="Arial Black"/>
              </a:rPr>
              <a:t> </a:t>
            </a:r>
            <a:r>
              <a:rPr dirty="0" sz="1100" spc="-25">
                <a:solidFill>
                  <a:srgbClr val="4882B3"/>
                </a:solidFill>
                <a:latin typeface="Arial Black"/>
                <a:cs typeface="Arial Black"/>
              </a:rPr>
              <a:t>AI</a:t>
            </a:r>
            <a:endParaRPr sz="1100">
              <a:latin typeface="Arial Black"/>
              <a:cs typeface="Arial Black"/>
            </a:endParaRPr>
          </a:p>
          <a:p>
            <a:pPr marL="17145">
              <a:lnSpc>
                <a:spcPct val="100000"/>
              </a:lnSpc>
              <a:spcBef>
                <a:spcPts val="990"/>
              </a:spcBef>
            </a:pPr>
            <a:r>
              <a:rPr dirty="0" sz="950" spc="-250">
                <a:solidFill>
                  <a:srgbClr val="3D3D3D"/>
                </a:solidFill>
                <a:latin typeface="Arial Black"/>
                <a:cs typeface="Arial Black"/>
              </a:rPr>
              <a:t>You</a:t>
            </a:r>
            <a:r>
              <a:rPr dirty="0" sz="950" spc="1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30">
                <a:solidFill>
                  <a:srgbClr val="313131"/>
                </a:solidFill>
                <a:latin typeface="Arial Black"/>
                <a:cs typeface="Arial Black"/>
              </a:rPr>
              <a:t>ask:</a:t>
            </a:r>
            <a:r>
              <a:rPr dirty="0" sz="950" spc="17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950" spc="-200">
                <a:solidFill>
                  <a:srgbClr val="565656"/>
                </a:solidFill>
                <a:latin typeface="Arial Black"/>
                <a:cs typeface="Arial Black"/>
              </a:rPr>
              <a:t>"How</a:t>
            </a:r>
            <a:r>
              <a:rPr dirty="0" sz="950" spc="30">
                <a:solidFill>
                  <a:srgbClr val="565656"/>
                </a:solidFill>
                <a:latin typeface="Arial Black"/>
                <a:cs typeface="Arial Black"/>
              </a:rPr>
              <a:t> </a:t>
            </a:r>
            <a:r>
              <a:rPr dirty="0" sz="950" spc="-190">
                <a:solidFill>
                  <a:srgbClr val="494949"/>
                </a:solidFill>
                <a:latin typeface="Arial Black"/>
                <a:cs typeface="Arial Black"/>
              </a:rPr>
              <a:t>do</a:t>
            </a:r>
            <a:r>
              <a:rPr dirty="0" sz="950" spc="-3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950" spc="-225">
                <a:solidFill>
                  <a:srgbClr val="424242"/>
                </a:solidFill>
                <a:latin typeface="Arial Black"/>
                <a:cs typeface="Arial Black"/>
              </a:rPr>
              <a:t>I</a:t>
            </a:r>
            <a:r>
              <a:rPr dirty="0" sz="950" spc="3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950" spc="-235">
                <a:solidFill>
                  <a:srgbClr val="3D3D3D"/>
                </a:solidFill>
                <a:latin typeface="Arial Black"/>
                <a:cs typeface="Arial Black"/>
              </a:rPr>
              <a:t>make</a:t>
            </a:r>
            <a:r>
              <a:rPr dirty="0" sz="950" spc="5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300">
                <a:solidFill>
                  <a:srgbClr val="414141"/>
                </a:solidFill>
                <a:latin typeface="Arial Black"/>
                <a:cs typeface="Arial Black"/>
              </a:rPr>
              <a:t>a</a:t>
            </a:r>
            <a:r>
              <a:rPr dirty="0" sz="950" spc="25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950" spc="-150">
                <a:solidFill>
                  <a:srgbClr val="3F3F3F"/>
                </a:solidFill>
                <a:latin typeface="Arial Black"/>
                <a:cs typeface="Arial Black"/>
              </a:rPr>
              <a:t>sandwich?"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2283" y="1881822"/>
            <a:ext cx="166243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25000"/>
              </a:lnSpc>
              <a:spcBef>
                <a:spcPts val="100"/>
              </a:spcBef>
            </a:pPr>
            <a:r>
              <a:rPr dirty="0" sz="900" spc="-130">
                <a:solidFill>
                  <a:srgbClr val="414141"/>
                </a:solidFill>
                <a:latin typeface="Arial Black"/>
                <a:cs typeface="Arial Black"/>
              </a:rPr>
              <a:t>It</a:t>
            </a:r>
            <a:r>
              <a:rPr dirty="0" sz="900" spc="-25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900" spc="-130">
                <a:solidFill>
                  <a:srgbClr val="383838"/>
                </a:solidFill>
                <a:latin typeface="Arial Black"/>
                <a:cs typeface="Arial Black"/>
              </a:rPr>
              <a:t>tells</a:t>
            </a:r>
            <a:r>
              <a:rPr dirty="0" sz="900" spc="1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900" spc="-120">
                <a:solidFill>
                  <a:srgbClr val="3F3F3F"/>
                </a:solidFill>
                <a:latin typeface="Arial Black"/>
                <a:cs typeface="Arial Black"/>
              </a:rPr>
              <a:t>you</a:t>
            </a:r>
            <a:r>
              <a:rPr dirty="0" sz="900" spc="-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414141"/>
                </a:solidFill>
                <a:latin typeface="Arial Black"/>
                <a:cs typeface="Arial Black"/>
              </a:rPr>
              <a:t>the</a:t>
            </a:r>
            <a:r>
              <a:rPr dirty="0" sz="900" spc="1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900" spc="-165">
                <a:solidFill>
                  <a:srgbClr val="383838"/>
                </a:solidFill>
                <a:latin typeface="Arial Black"/>
                <a:cs typeface="Arial Black"/>
              </a:rPr>
              <a:t>steps</a:t>
            </a:r>
            <a:r>
              <a:rPr dirty="0" sz="900" spc="3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3D3D3D"/>
                </a:solidFill>
                <a:latin typeface="Arial Black"/>
                <a:cs typeface="Arial Black"/>
              </a:rPr>
              <a:t>to</a:t>
            </a:r>
            <a:r>
              <a:rPr dirty="0" sz="900" spc="2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363636"/>
                </a:solidFill>
                <a:latin typeface="Arial Black"/>
                <a:cs typeface="Arial Black"/>
              </a:rPr>
              <a:t>follow... </a:t>
            </a:r>
            <a:r>
              <a:rPr dirty="0" sz="900" spc="-130">
                <a:solidFill>
                  <a:srgbClr val="3F3F3F"/>
                </a:solidFill>
                <a:latin typeface="Arial Black"/>
                <a:cs typeface="Arial Black"/>
              </a:rPr>
              <a:t>but</a:t>
            </a:r>
            <a:r>
              <a:rPr dirty="0" sz="900" spc="5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00" spc="-220">
                <a:solidFill>
                  <a:srgbClr val="3A3A3A"/>
                </a:solidFill>
                <a:latin typeface="Arial Black"/>
                <a:cs typeface="Arial Black"/>
              </a:rPr>
              <a:t>YOU</a:t>
            </a:r>
            <a:r>
              <a:rPr dirty="0" sz="900" spc="9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900" spc="-150">
                <a:solidFill>
                  <a:srgbClr val="383838"/>
                </a:solidFill>
                <a:latin typeface="Arial Black"/>
                <a:cs typeface="Arial Black"/>
              </a:rPr>
              <a:t>do</a:t>
            </a:r>
            <a:r>
              <a:rPr dirty="0" sz="900" spc="6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900" spc="-145">
                <a:solidFill>
                  <a:srgbClr val="3F3F3F"/>
                </a:solidFill>
                <a:latin typeface="Arial Black"/>
                <a:cs typeface="Arial Black"/>
              </a:rPr>
              <a:t>all</a:t>
            </a:r>
            <a:r>
              <a:rPr dirty="0" sz="900" spc="4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00" spc="-130">
                <a:solidFill>
                  <a:srgbClr val="444444"/>
                </a:solidFill>
                <a:latin typeface="Arial Black"/>
                <a:cs typeface="Arial Black"/>
              </a:rPr>
              <a:t>the</a:t>
            </a:r>
            <a:r>
              <a:rPr dirty="0" sz="900" spc="4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900" spc="-160">
                <a:solidFill>
                  <a:srgbClr val="3D3D3D"/>
                </a:solidFill>
                <a:latin typeface="Arial Black"/>
                <a:cs typeface="Arial Black"/>
              </a:rPr>
              <a:t>work</a:t>
            </a:r>
            <a:r>
              <a:rPr dirty="0" sz="900" spc="4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3B3B3B"/>
                </a:solidFill>
                <a:latin typeface="Arial Black"/>
                <a:cs typeface="Arial Black"/>
              </a:rPr>
              <a:t>yourself.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781" y="2922270"/>
            <a:ext cx="233362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</a:tabLst>
            </a:pPr>
            <a:r>
              <a:rPr dirty="0" sz="1550" spc="-25">
                <a:solidFill>
                  <a:srgbClr val="7754A7"/>
                </a:solidFill>
                <a:latin typeface="Cambria"/>
                <a:cs typeface="Cambria"/>
              </a:rPr>
              <a:t>An</a:t>
            </a:r>
            <a:r>
              <a:rPr dirty="0" sz="1550">
                <a:solidFill>
                  <a:srgbClr val="7754A7"/>
                </a:solidFill>
                <a:latin typeface="Cambria"/>
                <a:cs typeface="Cambria"/>
              </a:rPr>
              <a:t>	</a:t>
            </a:r>
            <a:r>
              <a:rPr dirty="0" sz="1550" spc="100">
                <a:solidFill>
                  <a:srgbClr val="7E4FBF"/>
                </a:solidFill>
                <a:latin typeface="Cambria"/>
                <a:cs typeface="Cambria"/>
              </a:rPr>
              <a:t>Agent</a:t>
            </a:r>
            <a:r>
              <a:rPr dirty="0" sz="1550" spc="160">
                <a:solidFill>
                  <a:srgbClr val="7E4FBF"/>
                </a:solidFill>
                <a:latin typeface="Cambria"/>
                <a:cs typeface="Cambria"/>
              </a:rPr>
              <a:t> </a:t>
            </a:r>
            <a:r>
              <a:rPr dirty="0" sz="1550" spc="125">
                <a:solidFill>
                  <a:srgbClr val="794DBA"/>
                </a:solidFill>
                <a:latin typeface="Cambria"/>
                <a:cs typeface="Cambria"/>
              </a:rPr>
              <a:t>Does</a:t>
            </a:r>
            <a:r>
              <a:rPr dirty="0" sz="1550" spc="45">
                <a:solidFill>
                  <a:srgbClr val="794DBA"/>
                </a:solidFill>
                <a:latin typeface="Cambria"/>
                <a:cs typeface="Cambria"/>
              </a:rPr>
              <a:t> </a:t>
            </a:r>
            <a:r>
              <a:rPr dirty="0" sz="1550" spc="125">
                <a:solidFill>
                  <a:srgbClr val="794BB8"/>
                </a:solidFill>
                <a:latin typeface="Cambria"/>
                <a:cs typeface="Cambria"/>
              </a:rPr>
              <a:t>3</a:t>
            </a:r>
            <a:r>
              <a:rPr dirty="0" sz="1550" spc="-70">
                <a:solidFill>
                  <a:srgbClr val="794BB8"/>
                </a:solidFill>
                <a:latin typeface="Cambria"/>
                <a:cs typeface="Cambria"/>
              </a:rPr>
              <a:t> </a:t>
            </a:r>
            <a:r>
              <a:rPr dirty="0" sz="1550" spc="105">
                <a:solidFill>
                  <a:srgbClr val="695795"/>
                </a:solidFill>
                <a:latin typeface="Cambria"/>
                <a:cs typeface="Cambria"/>
              </a:rPr>
              <a:t>'things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267" y="3576637"/>
            <a:ext cx="159004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0">
                <a:solidFill>
                  <a:srgbClr val="2DA191"/>
                </a:solidFill>
                <a:latin typeface="Arial Black"/>
                <a:cs typeface="Arial Black"/>
              </a:rPr>
              <a:t>1.</a:t>
            </a:r>
            <a:r>
              <a:rPr dirty="0" sz="1100" spc="35">
                <a:solidFill>
                  <a:srgbClr val="2DA191"/>
                </a:solidFill>
                <a:latin typeface="Arial Black"/>
                <a:cs typeface="Arial Black"/>
              </a:rPr>
              <a:t> </a:t>
            </a:r>
            <a:r>
              <a:rPr dirty="0" sz="1100" spc="-45">
                <a:solidFill>
                  <a:srgbClr val="31A890"/>
                </a:solidFill>
                <a:latin typeface="Arial Black"/>
                <a:cs typeface="Arial Black"/>
              </a:rPr>
              <a:t>THINK</a:t>
            </a:r>
            <a:endParaRPr sz="1100">
              <a:latin typeface="Arial Black"/>
              <a:cs typeface="Arial Black"/>
            </a:endParaRPr>
          </a:p>
          <a:p>
            <a:pPr marL="15240">
              <a:lnSpc>
                <a:spcPct val="100000"/>
              </a:lnSpc>
              <a:spcBef>
                <a:spcPts val="990"/>
              </a:spcBef>
            </a:pPr>
            <a:r>
              <a:rPr dirty="0" sz="950" spc="-210">
                <a:solidFill>
                  <a:srgbClr val="444444"/>
                </a:solidFill>
                <a:latin typeface="Arial Black"/>
                <a:cs typeface="Arial Black"/>
              </a:rPr>
              <a:t>Makes</a:t>
            </a:r>
            <a:r>
              <a:rPr dirty="0" sz="950" spc="10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950" spc="-300">
                <a:solidFill>
                  <a:srgbClr val="3D3D3D"/>
                </a:solidFill>
                <a:latin typeface="Arial Black"/>
                <a:cs typeface="Arial Black"/>
              </a:rPr>
              <a:t>a</a:t>
            </a:r>
            <a:r>
              <a:rPr dirty="0" sz="950" spc="6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80">
                <a:solidFill>
                  <a:srgbClr val="3D3D3D"/>
                </a:solidFill>
                <a:latin typeface="Arial Black"/>
                <a:cs typeface="Arial Black"/>
              </a:rPr>
              <a:t>plan</a:t>
            </a:r>
            <a:r>
              <a:rPr dirty="0" sz="950" spc="6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50">
                <a:solidFill>
                  <a:srgbClr val="575757"/>
                </a:solidFill>
                <a:latin typeface="Arial Black"/>
                <a:cs typeface="Arial Black"/>
              </a:rPr>
              <a:t>to</a:t>
            </a:r>
            <a:r>
              <a:rPr dirty="0" sz="950" spc="-40">
                <a:solidFill>
                  <a:srgbClr val="575757"/>
                </a:solidFill>
                <a:latin typeface="Arial Black"/>
                <a:cs typeface="Arial Black"/>
              </a:rPr>
              <a:t> </a:t>
            </a:r>
            <a:r>
              <a:rPr dirty="0" sz="950" spc="-190">
                <a:solidFill>
                  <a:srgbClr val="525252"/>
                </a:solidFill>
                <a:latin typeface="Arial Black"/>
                <a:cs typeface="Arial Black"/>
              </a:rPr>
              <a:t>reach</a:t>
            </a:r>
            <a:r>
              <a:rPr dirty="0" sz="950" spc="25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950" spc="-160">
                <a:solidFill>
                  <a:srgbClr val="363636"/>
                </a:solidFill>
                <a:latin typeface="Arial Black"/>
                <a:cs typeface="Arial Black"/>
              </a:rPr>
              <a:t>the</a:t>
            </a:r>
            <a:r>
              <a:rPr dirty="0" sz="950" spc="1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05">
                <a:solidFill>
                  <a:srgbClr val="363636"/>
                </a:solidFill>
                <a:latin typeface="Arial Black"/>
                <a:cs typeface="Arial Black"/>
              </a:rPr>
              <a:t>goal.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8832" y="4207192"/>
            <a:ext cx="161099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75">
                <a:solidFill>
                  <a:srgbClr val="363636"/>
                </a:solidFill>
                <a:latin typeface="Arial Black"/>
                <a:cs typeface="Arial Black"/>
              </a:rPr>
              <a:t>"First</a:t>
            </a:r>
            <a:r>
              <a:rPr dirty="0" sz="950" spc="4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225">
                <a:solidFill>
                  <a:srgbClr val="444444"/>
                </a:solidFill>
                <a:latin typeface="Arial Black"/>
                <a:cs typeface="Arial Black"/>
              </a:rPr>
              <a:t>I</a:t>
            </a:r>
            <a:r>
              <a:rPr dirty="0" sz="950" spc="7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950" spc="-185">
                <a:solidFill>
                  <a:srgbClr val="424242"/>
                </a:solidFill>
                <a:latin typeface="Arial Black"/>
                <a:cs typeface="Arial Black"/>
              </a:rPr>
              <a:t>need</a:t>
            </a:r>
            <a:r>
              <a:rPr dirty="0" sz="950" spc="4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950" spc="-150">
                <a:solidFill>
                  <a:srgbClr val="3D3D3D"/>
                </a:solidFill>
                <a:latin typeface="Arial Black"/>
                <a:cs typeface="Arial Black"/>
              </a:rPr>
              <a:t>bread,</a:t>
            </a:r>
            <a:r>
              <a:rPr dirty="0" sz="950" spc="3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55">
                <a:solidFill>
                  <a:srgbClr val="3F3F3F"/>
                </a:solidFill>
                <a:latin typeface="Arial Black"/>
                <a:cs typeface="Arial Black"/>
              </a:rPr>
              <a:t>then</a:t>
            </a:r>
            <a:r>
              <a:rPr dirty="0" sz="950" spc="4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50" spc="-100">
                <a:solidFill>
                  <a:srgbClr val="3B3B3B"/>
                </a:solidFill>
                <a:latin typeface="Arial Black"/>
                <a:cs typeface="Arial Black"/>
              </a:rPr>
              <a:t>filling."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04758" y="3876357"/>
            <a:ext cx="1207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3B3B3B"/>
                </a:solidFill>
                <a:latin typeface="Arial Black"/>
                <a:cs typeface="Arial Black"/>
              </a:rPr>
              <a:t>Actua|ly</a:t>
            </a:r>
            <a:r>
              <a:rPr dirty="0" sz="900" spc="3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900" spc="-135">
                <a:solidFill>
                  <a:srgbClr val="565656"/>
                </a:solidFill>
                <a:latin typeface="Arial Black"/>
                <a:cs typeface="Arial Black"/>
              </a:rPr>
              <a:t>does</a:t>
            </a:r>
            <a:r>
              <a:rPr dirty="0" sz="900" spc="-10">
                <a:solidFill>
                  <a:srgbClr val="565656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3A3A3A"/>
                </a:solidFill>
                <a:latin typeface="Arial Black"/>
                <a:cs typeface="Arial Black"/>
              </a:rPr>
              <a:t>the</a:t>
            </a:r>
            <a:r>
              <a:rPr dirty="0" sz="900" spc="2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383838"/>
                </a:solidFill>
                <a:latin typeface="Arial Black"/>
                <a:cs typeface="Arial Black"/>
              </a:rPr>
              <a:t>steps.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7767" y="1279207"/>
            <a:ext cx="1995170" cy="46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10">
                <a:solidFill>
                  <a:srgbClr val="3FA597"/>
                </a:solidFill>
                <a:latin typeface="Arial Black"/>
                <a:cs typeface="Arial Black"/>
              </a:rPr>
              <a:t>Agentic</a:t>
            </a:r>
            <a:r>
              <a:rPr dirty="0" sz="1100" spc="114">
                <a:solidFill>
                  <a:srgbClr val="3FA597"/>
                </a:solidFill>
                <a:latin typeface="Arial Black"/>
                <a:cs typeface="Arial Black"/>
              </a:rPr>
              <a:t> </a:t>
            </a:r>
            <a:r>
              <a:rPr dirty="0" sz="1100" spc="-25">
                <a:solidFill>
                  <a:srgbClr val="21A191"/>
                </a:solidFill>
                <a:latin typeface="Arial Black"/>
                <a:cs typeface="Arial Black"/>
              </a:rPr>
              <a:t>AI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00" spc="-204">
                <a:solidFill>
                  <a:srgbClr val="3D3D3D"/>
                </a:solidFill>
                <a:latin typeface="Arial Black"/>
                <a:cs typeface="Arial Black"/>
              </a:rPr>
              <a:t>You</a:t>
            </a:r>
            <a:r>
              <a:rPr dirty="0" sz="900" spc="3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3D3D3D"/>
                </a:solidFill>
                <a:latin typeface="Arial Black"/>
                <a:cs typeface="Arial Black"/>
              </a:rPr>
              <a:t>say:</a:t>
            </a:r>
            <a:r>
              <a:rPr dirty="0" sz="900" spc="20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00" spc="-145">
                <a:solidFill>
                  <a:srgbClr val="494949"/>
                </a:solidFill>
                <a:latin typeface="Arial Black"/>
                <a:cs typeface="Arial Black"/>
              </a:rPr>
              <a:t>"Please</a:t>
            </a:r>
            <a:r>
              <a:rPr dirty="0" sz="900" spc="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900" spc="-180">
                <a:solidFill>
                  <a:srgbClr val="505050"/>
                </a:solidFill>
                <a:latin typeface="Arial Black"/>
                <a:cs typeface="Arial Black"/>
              </a:rPr>
              <a:t>make</a:t>
            </a:r>
            <a:r>
              <a:rPr dirty="0" sz="900" spc="60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900" spc="-175">
                <a:solidFill>
                  <a:srgbClr val="575757"/>
                </a:solidFill>
                <a:latin typeface="Arial Black"/>
                <a:cs typeface="Arial Black"/>
              </a:rPr>
              <a:t>me</a:t>
            </a:r>
            <a:r>
              <a:rPr dirty="0" sz="900" spc="50">
                <a:solidFill>
                  <a:srgbClr val="575757"/>
                </a:solidFill>
                <a:latin typeface="Arial Black"/>
                <a:cs typeface="Arial Black"/>
              </a:rPr>
              <a:t> </a:t>
            </a:r>
            <a:r>
              <a:rPr dirty="0" sz="900" spc="-260">
                <a:solidFill>
                  <a:srgbClr val="757575"/>
                </a:solidFill>
                <a:latin typeface="Arial Black"/>
                <a:cs typeface="Arial Black"/>
              </a:rPr>
              <a:t>a</a:t>
            </a:r>
            <a:r>
              <a:rPr dirty="0" sz="900" spc="40">
                <a:solidFill>
                  <a:srgbClr val="757575"/>
                </a:solidFill>
                <a:latin typeface="Arial Black"/>
                <a:cs typeface="Arial Black"/>
              </a:rPr>
              <a:t> </a:t>
            </a:r>
            <a:r>
              <a:rPr dirty="0" sz="900" spc="-125">
                <a:solidFill>
                  <a:srgbClr val="2D2D2D"/>
                </a:solidFill>
                <a:latin typeface="Arial Black"/>
                <a:cs typeface="Arial Black"/>
              </a:rPr>
              <a:t>sandwich."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3723" y="1883092"/>
            <a:ext cx="1859914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 marR="5080" indent="-1270">
              <a:lnSpc>
                <a:spcPct val="118400"/>
              </a:lnSpc>
              <a:spcBef>
                <a:spcPts val="100"/>
              </a:spcBef>
            </a:pPr>
            <a:r>
              <a:rPr dirty="0" sz="950" spc="-160">
                <a:solidFill>
                  <a:srgbClr val="414141"/>
                </a:solidFill>
                <a:latin typeface="Arial Black"/>
                <a:cs typeface="Arial Black"/>
              </a:rPr>
              <a:t>It</a:t>
            </a:r>
            <a:r>
              <a:rPr dirty="0" sz="950" spc="-2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950" spc="-220">
                <a:solidFill>
                  <a:srgbClr val="3F3F3F"/>
                </a:solidFill>
                <a:latin typeface="Arial Black"/>
                <a:cs typeface="Arial Black"/>
              </a:rPr>
              <a:t>makes</a:t>
            </a:r>
            <a:r>
              <a:rPr dirty="0" sz="950" spc="4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50" spc="-254">
                <a:solidFill>
                  <a:srgbClr val="444444"/>
                </a:solidFill>
                <a:latin typeface="Arial Black"/>
                <a:cs typeface="Arial Black"/>
              </a:rPr>
              <a:t>a</a:t>
            </a:r>
            <a:r>
              <a:rPr dirty="0" sz="950" spc="1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950" spc="-165">
                <a:solidFill>
                  <a:srgbClr val="444444"/>
                </a:solidFill>
                <a:latin typeface="Arial Black"/>
                <a:cs typeface="Arial Black"/>
              </a:rPr>
              <a:t>plan</a:t>
            </a:r>
            <a:r>
              <a:rPr dirty="0" sz="950" spc="5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950" spc="-190">
                <a:solidFill>
                  <a:srgbClr val="3F3F3F"/>
                </a:solidFill>
                <a:latin typeface="Arial Black"/>
                <a:cs typeface="Arial Black"/>
              </a:rPr>
              <a:t>and</a:t>
            </a:r>
            <a:r>
              <a:rPr dirty="0" sz="950" spc="2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50" spc="-185">
                <a:solidFill>
                  <a:srgbClr val="424242"/>
                </a:solidFill>
                <a:latin typeface="Arial Black"/>
                <a:cs typeface="Arial Black"/>
              </a:rPr>
              <a:t>does</a:t>
            </a:r>
            <a:r>
              <a:rPr dirty="0" sz="950" spc="5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950" spc="-220">
                <a:solidFill>
                  <a:srgbClr val="383838"/>
                </a:solidFill>
                <a:latin typeface="Arial Black"/>
                <a:cs typeface="Arial Black"/>
              </a:rPr>
              <a:t>each</a:t>
            </a:r>
            <a:r>
              <a:rPr dirty="0" sz="950" spc="6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950" spc="-114">
                <a:solidFill>
                  <a:srgbClr val="383838"/>
                </a:solidFill>
                <a:latin typeface="Arial Black"/>
                <a:cs typeface="Arial Black"/>
              </a:rPr>
              <a:t>step...</a:t>
            </a:r>
            <a:r>
              <a:rPr dirty="0" sz="950" spc="50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950" spc="-160">
                <a:solidFill>
                  <a:srgbClr val="464646"/>
                </a:solidFill>
                <a:latin typeface="Arial Black"/>
                <a:cs typeface="Arial Black"/>
              </a:rPr>
              <a:t>the</a:t>
            </a:r>
            <a:r>
              <a:rPr dirty="0" sz="950" spc="-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950" spc="-175">
                <a:solidFill>
                  <a:srgbClr val="343434"/>
                </a:solidFill>
                <a:latin typeface="Arial Black"/>
                <a:cs typeface="Arial Black"/>
              </a:rPr>
              <a:t>whole</a:t>
            </a:r>
            <a:r>
              <a:rPr dirty="0" sz="950" spc="8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950" spc="-130">
                <a:solidFill>
                  <a:srgbClr val="414141"/>
                </a:solidFill>
                <a:latin typeface="Arial Black"/>
                <a:cs typeface="Arial Black"/>
              </a:rPr>
              <a:t>job,</a:t>
            </a:r>
            <a:r>
              <a:rPr dirty="0" sz="950" spc="2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950" spc="-165">
                <a:solidFill>
                  <a:srgbClr val="3D3D3D"/>
                </a:solidFill>
                <a:latin typeface="Arial Black"/>
                <a:cs typeface="Arial Black"/>
              </a:rPr>
              <a:t>all</a:t>
            </a:r>
            <a:r>
              <a:rPr dirty="0" sz="950" spc="1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80">
                <a:solidFill>
                  <a:srgbClr val="494949"/>
                </a:solidFill>
                <a:latin typeface="Arial Black"/>
                <a:cs typeface="Arial Black"/>
              </a:rPr>
              <a:t>by</a:t>
            </a:r>
            <a:r>
              <a:rPr dirty="0" sz="950" spc="4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950" spc="-10">
                <a:solidFill>
                  <a:srgbClr val="3B3B3B"/>
                </a:solidFill>
                <a:latin typeface="Arial Black"/>
                <a:cs typeface="Arial Black"/>
              </a:rPr>
              <a:t>itself!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05046" y="4207192"/>
            <a:ext cx="15462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95">
                <a:solidFill>
                  <a:srgbClr val="2F2F2F"/>
                </a:solidFill>
                <a:latin typeface="Arial Black"/>
                <a:cs typeface="Arial Black"/>
              </a:rPr>
              <a:t>Goes</a:t>
            </a:r>
            <a:r>
              <a:rPr dirty="0" sz="950" spc="2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950" spc="-175">
                <a:solidFill>
                  <a:srgbClr val="3D3D3D"/>
                </a:solidFill>
                <a:latin typeface="Arial Black"/>
                <a:cs typeface="Arial Black"/>
              </a:rPr>
              <a:t>and</a:t>
            </a:r>
            <a:r>
              <a:rPr dirty="0" sz="950" spc="1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55">
                <a:solidFill>
                  <a:srgbClr val="3F3F3F"/>
                </a:solidFill>
                <a:latin typeface="Arial Black"/>
                <a:cs typeface="Arial Black"/>
              </a:rPr>
              <a:t>builds</a:t>
            </a:r>
            <a:r>
              <a:rPr dirty="0" sz="950" spc="7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950" spc="-160">
                <a:solidFill>
                  <a:srgbClr val="2F2F2F"/>
                </a:solidFill>
                <a:latin typeface="Arial Black"/>
                <a:cs typeface="Arial Black"/>
              </a:rPr>
              <a:t>the</a:t>
            </a:r>
            <a:r>
              <a:rPr dirty="0" sz="950" spc="2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950" spc="-150">
                <a:solidFill>
                  <a:srgbClr val="2F2F2F"/>
                </a:solidFill>
                <a:latin typeface="Arial Black"/>
                <a:cs typeface="Arial Black"/>
              </a:rPr>
              <a:t>sandwich.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41262" y="3576637"/>
            <a:ext cx="872490" cy="46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1100" spc="-75">
                <a:solidFill>
                  <a:srgbClr val="CF567B"/>
                </a:solidFill>
                <a:latin typeface="Arial Black"/>
                <a:cs typeface="Arial Black"/>
              </a:rPr>
              <a:t>3.</a:t>
            </a:r>
            <a:r>
              <a:rPr dirty="0" sz="1100" spc="10">
                <a:solidFill>
                  <a:srgbClr val="CF567B"/>
                </a:solidFill>
                <a:latin typeface="Arial Black"/>
                <a:cs typeface="Arial Black"/>
              </a:rPr>
              <a:t> </a:t>
            </a:r>
            <a:r>
              <a:rPr dirty="0" sz="1100" spc="-80">
                <a:solidFill>
                  <a:srgbClr val="CF577B"/>
                </a:solidFill>
                <a:latin typeface="Arial Black"/>
                <a:cs typeface="Arial Black"/>
              </a:rPr>
              <a:t>CHECIf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00" spc="-185">
                <a:solidFill>
                  <a:srgbClr val="444444"/>
                </a:solidFill>
                <a:latin typeface="Arial Black"/>
                <a:cs typeface="Arial Black"/>
              </a:rPr>
              <a:t>Sees</a:t>
            </a:r>
            <a:r>
              <a:rPr dirty="0" sz="900" spc="5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3D3D3D"/>
                </a:solidFill>
                <a:latin typeface="Arial Black"/>
                <a:cs typeface="Arial Black"/>
              </a:rPr>
              <a:t>if</a:t>
            </a:r>
            <a:r>
              <a:rPr dirty="0" sz="900" spc="1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424242"/>
                </a:solidFill>
                <a:latin typeface="Arial Black"/>
                <a:cs typeface="Arial Black"/>
              </a:rPr>
              <a:t>it</a:t>
            </a:r>
            <a:r>
              <a:rPr dirty="0" sz="900" spc="-1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343434"/>
                </a:solidFill>
                <a:latin typeface="Arial Black"/>
                <a:cs typeface="Arial Black"/>
              </a:rPr>
              <a:t>worked.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42456" y="4207192"/>
            <a:ext cx="16865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90">
                <a:solidFill>
                  <a:srgbClr val="3A3A3A"/>
                </a:solidFill>
                <a:latin typeface="Arial Black"/>
                <a:cs typeface="Arial Black"/>
              </a:rPr>
              <a:t>Tries</a:t>
            </a:r>
            <a:r>
              <a:rPr dirty="0" sz="950" spc="8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950" spc="-190">
                <a:solidFill>
                  <a:srgbClr val="363636"/>
                </a:solidFill>
                <a:latin typeface="Arial Black"/>
                <a:cs typeface="Arial Black"/>
              </a:rPr>
              <a:t>again</a:t>
            </a:r>
            <a:r>
              <a:rPr dirty="0" sz="950" spc="3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950" spc="-105">
                <a:solidFill>
                  <a:srgbClr val="424242"/>
                </a:solidFill>
                <a:latin typeface="Arial Black"/>
                <a:cs typeface="Arial Black"/>
              </a:rPr>
              <a:t>if</a:t>
            </a:r>
            <a:r>
              <a:rPr dirty="0" sz="950" spc="-4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950" spc="-170">
                <a:solidFill>
                  <a:srgbClr val="383838"/>
                </a:solidFill>
                <a:latin typeface="Arial Black"/>
                <a:cs typeface="Arial Black"/>
              </a:rPr>
              <a:t>something</a:t>
            </a:r>
            <a:r>
              <a:rPr dirty="0" sz="950" spc="114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950" spc="-215">
                <a:solidFill>
                  <a:srgbClr val="3B3B3B"/>
                </a:solidFill>
                <a:latin typeface="Arial Black"/>
                <a:cs typeface="Arial Black"/>
              </a:rPr>
              <a:t>is</a:t>
            </a:r>
            <a:r>
              <a:rPr dirty="0" sz="950" spc="6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950" spc="-125">
                <a:solidFill>
                  <a:srgbClr val="383838"/>
                </a:solidFill>
                <a:latin typeface="Arial Black"/>
                <a:cs typeface="Arial Black"/>
              </a:rPr>
              <a:t>wrong.</a:t>
            </a:r>
            <a:endParaRPr sz="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0948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4629150"/>
            <a:ext cx="331469" cy="3257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9320" y="4606290"/>
            <a:ext cx="388620" cy="3771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9594" y="4852035"/>
            <a:ext cx="188595" cy="1257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490" y="3417570"/>
            <a:ext cx="777240" cy="971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0" y="3560445"/>
            <a:ext cx="1611629" cy="7429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490" y="2177414"/>
            <a:ext cx="760095" cy="9944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9315" y="2366010"/>
            <a:ext cx="605789" cy="5543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2919" y="1120139"/>
            <a:ext cx="737235" cy="7372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8634" y="817244"/>
            <a:ext cx="742950" cy="21717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35015" y="982980"/>
            <a:ext cx="560070" cy="54864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8040623" y="3589020"/>
            <a:ext cx="527685" cy="0"/>
          </a:xfrm>
          <a:custGeom>
            <a:avLst/>
            <a:gdLst/>
            <a:ahLst/>
            <a:cxnLst/>
            <a:rect l="l" t="t" r="r" b="b"/>
            <a:pathLst>
              <a:path w="527684" h="0">
                <a:moveTo>
                  <a:pt x="0" y="0"/>
                </a:moveTo>
                <a:lnTo>
                  <a:pt x="527304" y="0"/>
                </a:lnTo>
              </a:path>
            </a:pathLst>
          </a:custGeom>
          <a:ln w="12192">
            <a:solidFill>
              <a:srgbClr val="3F8C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37119" y="2741676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 h="0">
                <a:moveTo>
                  <a:pt x="0" y="0"/>
                </a:moveTo>
                <a:lnTo>
                  <a:pt x="207264" y="0"/>
                </a:lnTo>
              </a:path>
            </a:pathLst>
          </a:custGeom>
          <a:ln w="12192">
            <a:solidFill>
              <a:srgbClr val="23549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7437119" y="2564892"/>
            <a:ext cx="207645" cy="182880"/>
            <a:chOff x="7437119" y="2564892"/>
            <a:chExt cx="207645" cy="182880"/>
          </a:xfrm>
        </p:grpSpPr>
        <p:sp>
          <p:nvSpPr>
            <p:cNvPr id="15" name="object 15"/>
            <p:cNvSpPr/>
            <p:nvPr/>
          </p:nvSpPr>
          <p:spPr>
            <a:xfrm>
              <a:off x="7437119" y="2564892"/>
              <a:ext cx="207645" cy="182880"/>
            </a:xfrm>
            <a:custGeom>
              <a:avLst/>
              <a:gdLst/>
              <a:ahLst/>
              <a:cxnLst/>
              <a:rect l="l" t="t" r="r" b="b"/>
              <a:pathLst>
                <a:path w="207645" h="182880">
                  <a:moveTo>
                    <a:pt x="0" y="6096"/>
                  </a:moveTo>
                  <a:lnTo>
                    <a:pt x="207264" y="6096"/>
                  </a:lnTo>
                </a:path>
                <a:path w="207645" h="182880">
                  <a:moveTo>
                    <a:pt x="6096" y="182880"/>
                  </a:moveTo>
                  <a:lnTo>
                    <a:pt x="6096" y="0"/>
                  </a:lnTo>
                </a:path>
              </a:pathLst>
            </a:custGeom>
            <a:ln w="12192">
              <a:solidFill>
                <a:srgbClr val="235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38287" y="256489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80">
                  <a:moveTo>
                    <a:pt x="0" y="18288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2354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14800" y="885825"/>
            <a:ext cx="211454" cy="1714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109084" y="1251585"/>
            <a:ext cx="211454" cy="19431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137659" y="1628775"/>
            <a:ext cx="165735" cy="188595"/>
            <a:chOff x="4137659" y="1628775"/>
            <a:chExt cx="165735" cy="188595"/>
          </a:xfrm>
        </p:grpSpPr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71949" y="1628775"/>
              <a:ext cx="91439" cy="971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37659" y="1737360"/>
              <a:ext cx="165735" cy="80010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63290" y="4629150"/>
            <a:ext cx="297179" cy="2914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32120" y="2834639"/>
            <a:ext cx="274320" cy="6858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69505" y="4149090"/>
            <a:ext cx="57150" cy="5143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092440" y="3743325"/>
            <a:ext cx="160020" cy="8000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097779" y="1223010"/>
            <a:ext cx="508635" cy="19431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514975" y="2343150"/>
            <a:ext cx="297179" cy="7429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80859" y="1623060"/>
            <a:ext cx="731520" cy="22288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389370" y="3611879"/>
            <a:ext cx="1211579" cy="24574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429500" y="4029075"/>
            <a:ext cx="114300" cy="6286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486150" y="3566159"/>
            <a:ext cx="988695" cy="245745"/>
          </a:xfrm>
          <a:prstGeom prst="rect">
            <a:avLst/>
          </a:prstGeom>
        </p:spPr>
      </p:pic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2174031" y="-19050"/>
            <a:ext cx="4842510" cy="718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50">
                <a:solidFill>
                  <a:srgbClr val="011631"/>
                </a:solidFill>
                <a:latin typeface="Arial MT"/>
                <a:cs typeface="Arial MT"/>
              </a:rPr>
              <a:t>Three</a:t>
            </a:r>
            <a:r>
              <a:rPr dirty="0" sz="4550" spc="204">
                <a:solidFill>
                  <a:srgbClr val="011631"/>
                </a:solidFill>
                <a:latin typeface="Arial MT"/>
                <a:cs typeface="Arial MT"/>
              </a:rPr>
              <a:t> </a:t>
            </a:r>
            <a:r>
              <a:rPr dirty="0" sz="4550">
                <a:solidFill>
                  <a:srgbClr val="011838"/>
                </a:solidFill>
                <a:latin typeface="Arial MT"/>
                <a:cs typeface="Arial MT"/>
              </a:rPr>
              <a:t>Levels</a:t>
            </a:r>
            <a:r>
              <a:rPr dirty="0" sz="4550" spc="195">
                <a:solidFill>
                  <a:srgbClr val="011838"/>
                </a:solidFill>
                <a:latin typeface="Arial MT"/>
                <a:cs typeface="Arial MT"/>
              </a:rPr>
              <a:t> </a:t>
            </a:r>
            <a:r>
              <a:rPr dirty="0" sz="4550" spc="90">
                <a:solidFill>
                  <a:srgbClr val="01162F"/>
                </a:solidFill>
                <a:latin typeface="Arial MT"/>
                <a:cs typeface="Arial MT"/>
              </a:rPr>
              <a:t>of</a:t>
            </a:r>
            <a:r>
              <a:rPr dirty="0" sz="4550" spc="395">
                <a:solidFill>
                  <a:srgbClr val="01162F"/>
                </a:solidFill>
                <a:latin typeface="Arial MT"/>
                <a:cs typeface="Arial MT"/>
              </a:rPr>
              <a:t> </a:t>
            </a:r>
            <a:r>
              <a:rPr dirty="0" sz="4550" spc="-25">
                <a:solidFill>
                  <a:srgbClr val="086B70"/>
                </a:solidFill>
                <a:latin typeface="Arial MT"/>
                <a:cs typeface="Arial MT"/>
              </a:rPr>
              <a:t>AI</a:t>
            </a:r>
            <a:endParaRPr sz="45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90471" y="811876"/>
            <a:ext cx="1795780" cy="44323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60"/>
              </a:spcBef>
            </a:pPr>
            <a:r>
              <a:rPr dirty="0" sz="1400" spc="-25">
                <a:solidFill>
                  <a:srgbClr val="185B59"/>
                </a:solidFill>
                <a:latin typeface="Arial MT"/>
                <a:cs typeface="Arial MT"/>
              </a:rPr>
              <a:t>Level</a:t>
            </a:r>
            <a:r>
              <a:rPr dirty="0" sz="1400" spc="-120">
                <a:solidFill>
                  <a:srgbClr val="185B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A6B66"/>
                </a:solidFill>
                <a:latin typeface="Arial MT"/>
                <a:cs typeface="Arial MT"/>
              </a:rPr>
              <a:t>1</a:t>
            </a:r>
            <a:r>
              <a:rPr dirty="0" sz="1400" spc="5">
                <a:solidFill>
                  <a:srgbClr val="1A6B66"/>
                </a:solidFill>
                <a:latin typeface="Arial MT"/>
                <a:cs typeface="Arial MT"/>
              </a:rPr>
              <a:t> </a:t>
            </a:r>
            <a:r>
              <a:rPr dirty="0" sz="1400" spc="-395">
                <a:solidFill>
                  <a:srgbClr val="4B6E6E"/>
                </a:solidFill>
                <a:latin typeface="Arial MT"/>
                <a:cs typeface="Arial MT"/>
              </a:rPr>
              <a:t>—</a:t>
            </a:r>
            <a:r>
              <a:rPr dirty="0" sz="1400" spc="25">
                <a:solidFill>
                  <a:srgbClr val="4B6E6E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E645E"/>
                </a:solidFill>
                <a:latin typeface="Arial MT"/>
                <a:cs typeface="Arial MT"/>
              </a:rPr>
              <a:t>Predictive</a:t>
            </a:r>
            <a:r>
              <a:rPr dirty="0" sz="1400" spc="75">
                <a:solidFill>
                  <a:srgbClr val="0E645E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0A6059"/>
                </a:solidFill>
                <a:latin typeface="Arial MT"/>
                <a:cs typeface="Arial MT"/>
              </a:rPr>
              <a:t>AI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40">
                <a:latin typeface="Arial MT"/>
                <a:cs typeface="Arial MT"/>
              </a:rPr>
              <a:t>(The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Smart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Filter)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92916" y="1368742"/>
            <a:ext cx="190753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 MT"/>
                <a:cs typeface="Arial MT"/>
              </a:rPr>
              <a:t>You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give</a:t>
            </a:r>
            <a:r>
              <a:rPr dirty="0" sz="800" spc="7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10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data.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70"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gives</a:t>
            </a:r>
            <a:r>
              <a:rPr dirty="0" sz="800" spc="7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one</a:t>
            </a:r>
            <a:r>
              <a:rPr dirty="0" sz="80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prediction.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91429" y="1547812"/>
            <a:ext cx="2066289" cy="32258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9"/>
              </a:spcBef>
            </a:pPr>
            <a:r>
              <a:rPr dirty="0" sz="800" spc="-30">
                <a:solidFill>
                  <a:srgbClr val="759390"/>
                </a:solidFill>
                <a:latin typeface="Arial MT"/>
                <a:cs typeface="Arial MT"/>
              </a:rPr>
              <a:t>Spam</a:t>
            </a:r>
            <a:r>
              <a:rPr dirty="0" sz="800" spc="10">
                <a:solidFill>
                  <a:srgbClr val="75939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27E7C"/>
                </a:solidFill>
                <a:latin typeface="Arial MT"/>
                <a:cs typeface="Arial MT"/>
              </a:rPr>
              <a:t>or</a:t>
            </a:r>
            <a:r>
              <a:rPr dirty="0" sz="800" spc="-25">
                <a:solidFill>
                  <a:srgbClr val="627E7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2625E"/>
                </a:solidFill>
                <a:latin typeface="Arial MT"/>
                <a:cs typeface="Arial MT"/>
              </a:rPr>
              <a:t>not</a:t>
            </a:r>
            <a:r>
              <a:rPr dirty="0" sz="800" spc="-15">
                <a:solidFill>
                  <a:srgbClr val="42625E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343434"/>
                </a:solidFill>
                <a:latin typeface="Arial MT"/>
                <a:cs typeface="Arial MT"/>
              </a:rPr>
              <a:t>spam?</a:t>
            </a:r>
            <a:r>
              <a:rPr dirty="0" sz="80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2D504D"/>
                </a:solidFill>
                <a:latin typeface="Arial MT"/>
                <a:cs typeface="Arial MT"/>
              </a:rPr>
              <a:t>What</a:t>
            </a:r>
            <a:r>
              <a:rPr dirty="0" sz="800" spc="-15">
                <a:solidFill>
                  <a:srgbClr val="2D504D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52706B"/>
                </a:solidFill>
                <a:latin typeface="Arial MT"/>
                <a:cs typeface="Arial MT"/>
              </a:rPr>
              <a:t>product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800">
                <a:solidFill>
                  <a:srgbClr val="607977"/>
                </a:solidFill>
                <a:latin typeface="Arial MT"/>
                <a:cs typeface="Arial MT"/>
              </a:rPr>
              <a:t>to </a:t>
            </a:r>
            <a:r>
              <a:rPr dirty="0" sz="800" spc="-10">
                <a:solidFill>
                  <a:srgbClr val="7E979A"/>
                </a:solidFill>
                <a:latin typeface="Arial MT"/>
                <a:cs typeface="Arial MT"/>
              </a:rPr>
              <a:t>recommend?</a:t>
            </a:r>
            <a:r>
              <a:rPr dirty="0" sz="800" spc="70">
                <a:solidFill>
                  <a:srgbClr val="7E979A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23504F"/>
                </a:solidFill>
                <a:latin typeface="Arial MT"/>
                <a:cs typeface="Arial MT"/>
              </a:rPr>
              <a:t>No </a:t>
            </a:r>
            <a:r>
              <a:rPr dirty="0" sz="800" spc="-20">
                <a:solidFill>
                  <a:srgbClr val="446260"/>
                </a:solidFill>
                <a:latin typeface="Arial MT"/>
                <a:cs typeface="Arial MT"/>
              </a:rPr>
              <a:t>conversation,</a:t>
            </a:r>
            <a:r>
              <a:rPr dirty="0" sz="800" spc="30">
                <a:solidFill>
                  <a:srgbClr val="446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97974"/>
                </a:solidFill>
                <a:latin typeface="Arial MT"/>
                <a:cs typeface="Arial MT"/>
              </a:rPr>
              <a:t>no</a:t>
            </a:r>
            <a:r>
              <a:rPr dirty="0" sz="800" spc="-35">
                <a:solidFill>
                  <a:srgbClr val="59797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707070"/>
                </a:solidFill>
                <a:latin typeface="Arial MT"/>
                <a:cs typeface="Arial MT"/>
              </a:rPr>
              <a:t>memory.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88154" y="2201227"/>
            <a:ext cx="2047875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1552A5"/>
                </a:solidFill>
                <a:latin typeface="Arial MT"/>
                <a:cs typeface="Arial MT"/>
              </a:rPr>
              <a:t>Level</a:t>
            </a:r>
            <a:r>
              <a:rPr dirty="0" sz="1400" spc="-110">
                <a:solidFill>
                  <a:srgbClr val="1552A5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A4FAF"/>
                </a:solidFill>
                <a:latin typeface="Arial MT"/>
                <a:cs typeface="Arial MT"/>
              </a:rPr>
              <a:t>2</a:t>
            </a:r>
            <a:r>
              <a:rPr dirty="0" sz="1400" spc="-90">
                <a:solidFill>
                  <a:srgbClr val="1A4FAF"/>
                </a:solidFill>
                <a:latin typeface="Arial MT"/>
                <a:cs typeface="Arial MT"/>
              </a:rPr>
              <a:t> </a:t>
            </a:r>
            <a:r>
              <a:rPr dirty="0" sz="1400" spc="-350">
                <a:solidFill>
                  <a:srgbClr val="425DAA"/>
                </a:solidFill>
                <a:latin typeface="Arial MT"/>
                <a:cs typeface="Arial MT"/>
              </a:rPr>
              <a:t>—</a:t>
            </a:r>
            <a:r>
              <a:rPr dirty="0" sz="1400" spc="15">
                <a:solidFill>
                  <a:srgbClr val="425DAA"/>
                </a:solidFill>
                <a:latin typeface="Arial MT"/>
                <a:cs typeface="Arial MT"/>
              </a:rPr>
              <a:t> </a:t>
            </a:r>
            <a:r>
              <a:rPr dirty="0" sz="1400" spc="-30">
                <a:solidFill>
                  <a:srgbClr val="0C49A3"/>
                </a:solidFill>
                <a:latin typeface="Arial MT"/>
                <a:cs typeface="Arial MT"/>
              </a:rPr>
              <a:t>Generative</a:t>
            </a:r>
            <a:r>
              <a:rPr dirty="0" sz="1400" spc="90">
                <a:solidFill>
                  <a:srgbClr val="0C49A3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003FAC"/>
                </a:solidFill>
                <a:latin typeface="Arial MT"/>
                <a:cs typeface="Arial MT"/>
              </a:rPr>
              <a:t>AI</a:t>
            </a:r>
            <a:endParaRPr sz="14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60"/>
              </a:spcBef>
            </a:pPr>
            <a:r>
              <a:rPr dirty="0" sz="1100" spc="-95">
                <a:latin typeface="Arial MT"/>
                <a:cs typeface="Arial MT"/>
              </a:rPr>
              <a:t>(The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Chat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Partner)</a:t>
            </a:r>
            <a:endParaRPr sz="1100">
              <a:latin typeface="Arial MT"/>
              <a:cs typeface="Arial MT"/>
            </a:endParaRPr>
          </a:p>
          <a:p>
            <a:pPr marL="12700" marR="5080" indent="4445">
              <a:lnSpc>
                <a:spcPct val="147700"/>
              </a:lnSpc>
              <a:spcBef>
                <a:spcPts val="500"/>
              </a:spcBef>
            </a:pPr>
            <a:r>
              <a:rPr dirty="0" sz="800" spc="-80">
                <a:solidFill>
                  <a:srgbClr val="2F2F2F"/>
                </a:solidFill>
                <a:latin typeface="Arial MT"/>
                <a:cs typeface="Arial MT"/>
              </a:rPr>
              <a:t>You</a:t>
            </a:r>
            <a:r>
              <a:rPr dirty="0" sz="800" spc="-2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800" spc="-55">
                <a:latin typeface="Arial MT"/>
                <a:cs typeface="Arial MT"/>
              </a:rPr>
              <a:t>have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dirty="0" sz="800" spc="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latin typeface="Arial MT"/>
                <a:cs typeface="Arial MT"/>
              </a:rPr>
              <a:t>conversation.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3A3A3A"/>
                </a:solidFill>
                <a:latin typeface="Arial MT"/>
                <a:cs typeface="Arial MT"/>
              </a:rPr>
              <a:t>It</a:t>
            </a:r>
            <a:r>
              <a:rPr dirty="0" sz="800" spc="-5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latin typeface="Arial MT"/>
                <a:cs typeface="Arial MT"/>
              </a:rPr>
              <a:t>remembers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MT"/>
                <a:cs typeface="Arial MT"/>
              </a:rPr>
              <a:t>context. </a:t>
            </a:r>
            <a:r>
              <a:rPr dirty="0" sz="800" spc="-10">
                <a:solidFill>
                  <a:srgbClr val="677CA3"/>
                </a:solidFill>
                <a:latin typeface="Arial MT"/>
                <a:cs typeface="Arial MT"/>
              </a:rPr>
              <a:t>Creates</a:t>
            </a:r>
            <a:r>
              <a:rPr dirty="0" sz="800" spc="10">
                <a:solidFill>
                  <a:srgbClr val="677CA3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65B9E"/>
                </a:solidFill>
                <a:latin typeface="Arial MT"/>
                <a:cs typeface="Arial MT"/>
              </a:rPr>
              <a:t>text,</a:t>
            </a:r>
            <a:r>
              <a:rPr dirty="0" sz="800" spc="-35">
                <a:solidFill>
                  <a:srgbClr val="465B9E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728EB5"/>
                </a:solidFill>
                <a:latin typeface="Arial MT"/>
                <a:cs typeface="Arial MT"/>
              </a:rPr>
              <a:t>images,</a:t>
            </a:r>
            <a:r>
              <a:rPr dirty="0" sz="800">
                <a:solidFill>
                  <a:srgbClr val="728EB5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597BA8"/>
                </a:solidFill>
                <a:latin typeface="Arial MT"/>
                <a:cs typeface="Arial MT"/>
              </a:rPr>
              <a:t>and</a:t>
            </a:r>
            <a:r>
              <a:rPr dirty="0" sz="800" spc="-5">
                <a:solidFill>
                  <a:srgbClr val="597BA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7990C1"/>
                </a:solidFill>
                <a:latin typeface="Arial MT"/>
                <a:cs typeface="Arial MT"/>
              </a:rPr>
              <a:t>code.</a:t>
            </a:r>
            <a:endParaRPr sz="8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145"/>
              </a:spcBef>
            </a:pPr>
            <a:r>
              <a:rPr dirty="0" sz="800" spc="-10">
                <a:solidFill>
                  <a:srgbClr val="1C3B6D"/>
                </a:solidFill>
                <a:latin typeface="Arial MT"/>
                <a:cs typeface="Arial MT"/>
              </a:rPr>
              <a:t>Still</a:t>
            </a:r>
            <a:r>
              <a:rPr dirty="0" sz="800" spc="-40">
                <a:solidFill>
                  <a:srgbClr val="1C3B6D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284F85"/>
                </a:solidFill>
                <a:latin typeface="Arial MT"/>
                <a:cs typeface="Arial MT"/>
              </a:rPr>
              <a:t>waits</a:t>
            </a:r>
            <a:r>
              <a:rPr dirty="0" sz="800" spc="-20">
                <a:solidFill>
                  <a:srgbClr val="284F85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85B82"/>
                </a:solidFill>
                <a:latin typeface="Arial MT"/>
                <a:cs typeface="Arial MT"/>
              </a:rPr>
              <a:t>for</a:t>
            </a:r>
            <a:r>
              <a:rPr dirty="0" sz="800" spc="-35">
                <a:solidFill>
                  <a:srgbClr val="485B82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D62A1"/>
                </a:solidFill>
                <a:latin typeface="Arial MT"/>
                <a:cs typeface="Arial MT"/>
              </a:rPr>
              <a:t>your</a:t>
            </a:r>
            <a:r>
              <a:rPr dirty="0" sz="800" spc="-20">
                <a:solidFill>
                  <a:srgbClr val="4D62A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25B64"/>
                </a:solidFill>
                <a:latin typeface="Arial MT"/>
                <a:cs typeface="Arial MT"/>
              </a:rPr>
              <a:t>next</a:t>
            </a:r>
            <a:r>
              <a:rPr dirty="0" sz="800" spc="5">
                <a:solidFill>
                  <a:srgbClr val="425B6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3F5B85"/>
                </a:solidFill>
                <a:latin typeface="Arial MT"/>
                <a:cs typeface="Arial MT"/>
              </a:rPr>
              <a:t>instruction.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89454" y="3466147"/>
            <a:ext cx="1519555" cy="947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875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18692B"/>
                </a:solidFill>
                <a:latin typeface="Arial MT"/>
                <a:cs typeface="Arial MT"/>
              </a:rPr>
              <a:t>Level</a:t>
            </a:r>
            <a:r>
              <a:rPr dirty="0" sz="1250" spc="-55">
                <a:solidFill>
                  <a:srgbClr val="18692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5541A"/>
                </a:solidFill>
                <a:latin typeface="Arial MT"/>
                <a:cs typeface="Arial MT"/>
              </a:rPr>
              <a:t>3</a:t>
            </a:r>
            <a:r>
              <a:rPr dirty="0" sz="1250" spc="45">
                <a:solidFill>
                  <a:srgbClr val="15541A"/>
                </a:solidFill>
                <a:latin typeface="Arial MT"/>
                <a:cs typeface="Arial MT"/>
              </a:rPr>
              <a:t> </a:t>
            </a:r>
            <a:r>
              <a:rPr dirty="0" sz="1250" spc="-240">
                <a:solidFill>
                  <a:srgbClr val="363636"/>
                </a:solidFill>
                <a:latin typeface="Arial MT"/>
                <a:cs typeface="Arial MT"/>
              </a:rPr>
              <a:t>—</a:t>
            </a:r>
            <a:r>
              <a:rPr dirty="0" sz="1250" spc="8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054D16"/>
                </a:solidFill>
                <a:latin typeface="Arial MT"/>
                <a:cs typeface="Arial MT"/>
              </a:rPr>
              <a:t>Agentic</a:t>
            </a:r>
            <a:r>
              <a:rPr dirty="0" sz="1250" spc="145">
                <a:solidFill>
                  <a:srgbClr val="054D16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21602F"/>
                </a:solidFill>
                <a:latin typeface="Arial MT"/>
                <a:cs typeface="Arial MT"/>
              </a:rPr>
              <a:t>Al</a:t>
            </a:r>
            <a:endParaRPr sz="1250">
              <a:latin typeface="Arial MT"/>
              <a:cs typeface="Arial MT"/>
            </a:endParaRPr>
          </a:p>
          <a:p>
            <a:pPr algn="just" marL="14604">
              <a:lnSpc>
                <a:spcPct val="100000"/>
              </a:lnSpc>
              <a:spcBef>
                <a:spcPts val="15"/>
              </a:spcBef>
            </a:pPr>
            <a:r>
              <a:rPr dirty="0" sz="950" spc="-30">
                <a:latin typeface="Arial MT"/>
                <a:cs typeface="Arial MT"/>
              </a:rPr>
              <a:t>(The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Worker)</a:t>
            </a:r>
            <a:endParaRPr sz="950">
              <a:latin typeface="Arial MT"/>
              <a:cs typeface="Arial MT"/>
            </a:endParaRPr>
          </a:p>
          <a:p>
            <a:pPr algn="just" marL="12700" indent="3175">
              <a:lnSpc>
                <a:spcPct val="100000"/>
              </a:lnSpc>
              <a:spcBef>
                <a:spcPts val="405"/>
              </a:spcBef>
            </a:pPr>
            <a:r>
              <a:rPr dirty="0" sz="800" spc="-9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dirty="0" sz="800" spc="-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latin typeface="Arial MT"/>
                <a:cs typeface="Arial MT"/>
              </a:rPr>
              <a:t>give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31313"/>
                </a:solidFill>
                <a:latin typeface="Arial MT"/>
                <a:cs typeface="Arial MT"/>
              </a:rPr>
              <a:t>it</a:t>
            </a:r>
            <a:r>
              <a:rPr dirty="0" sz="80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00" spc="-10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dirty="0" sz="800" spc="1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0E0E0E"/>
                </a:solidFill>
                <a:latin typeface="Arial MT"/>
                <a:cs typeface="Arial MT"/>
              </a:rPr>
              <a:t>goal.</a:t>
            </a:r>
            <a:r>
              <a:rPr dirty="0" sz="80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31313"/>
                </a:solidFill>
                <a:latin typeface="Arial MT"/>
                <a:cs typeface="Arial MT"/>
              </a:rPr>
              <a:t>It</a:t>
            </a:r>
            <a:r>
              <a:rPr dirty="0" sz="800" spc="-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2D2D2D"/>
                </a:solidFill>
                <a:latin typeface="Arial MT"/>
                <a:cs typeface="Arial MT"/>
              </a:rPr>
              <a:t>does</a:t>
            </a:r>
            <a:r>
              <a:rPr dirty="0" sz="800" spc="5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dirty="0" sz="800" spc="-1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work.</a:t>
            </a:r>
            <a:endParaRPr sz="800">
              <a:latin typeface="Arial MT"/>
              <a:cs typeface="Arial MT"/>
            </a:endParaRPr>
          </a:p>
          <a:p>
            <a:pPr algn="just" marL="12700" marR="40005" indent="-635">
              <a:lnSpc>
                <a:spcPct val="103099"/>
              </a:lnSpc>
              <a:spcBef>
                <a:spcPts val="270"/>
              </a:spcBef>
            </a:pPr>
            <a:r>
              <a:rPr dirty="0" sz="800" spc="-15">
                <a:solidFill>
                  <a:srgbClr val="708C6E"/>
                </a:solidFill>
                <a:latin typeface="Arial MT"/>
                <a:cs typeface="Arial MT"/>
              </a:rPr>
              <a:t>It</a:t>
            </a:r>
            <a:r>
              <a:rPr dirty="0" sz="800" spc="-5">
                <a:solidFill>
                  <a:srgbClr val="708C6E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4F774B"/>
                </a:solidFill>
                <a:latin typeface="Arial MT"/>
                <a:cs typeface="Arial MT"/>
              </a:rPr>
              <a:t>plans,</a:t>
            </a:r>
            <a:r>
              <a:rPr dirty="0" sz="800" spc="-25">
                <a:solidFill>
                  <a:srgbClr val="4F774B"/>
                </a:solidFill>
                <a:latin typeface="Arial MT"/>
                <a:cs typeface="Arial MT"/>
              </a:rPr>
              <a:t> </a:t>
            </a:r>
            <a:r>
              <a:rPr dirty="0" sz="800" spc="-60">
                <a:solidFill>
                  <a:srgbClr val="447244"/>
                </a:solidFill>
                <a:latin typeface="Arial MT"/>
                <a:cs typeface="Arial MT"/>
              </a:rPr>
              <a:t>uses</a:t>
            </a:r>
            <a:r>
              <a:rPr dirty="0" sz="800" spc="35">
                <a:solidFill>
                  <a:srgbClr val="447244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3D6744"/>
                </a:solidFill>
                <a:latin typeface="Arial MT"/>
                <a:cs typeface="Arial MT"/>
              </a:rPr>
              <a:t>tools,</a:t>
            </a:r>
            <a:r>
              <a:rPr dirty="0" sz="800" spc="50">
                <a:solidFill>
                  <a:srgbClr val="3D6744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366036"/>
                </a:solidFill>
                <a:latin typeface="Arial MT"/>
                <a:cs typeface="Arial MT"/>
              </a:rPr>
              <a:t>fixes</a:t>
            </a:r>
            <a:r>
              <a:rPr dirty="0" sz="800" spc="-10">
                <a:solidFill>
                  <a:srgbClr val="366036"/>
                </a:solidFill>
                <a:latin typeface="Arial MT"/>
                <a:cs typeface="Arial MT"/>
              </a:rPr>
              <a:t> </a:t>
            </a:r>
            <a:r>
              <a:rPr dirty="0" sz="800" spc="-55">
                <a:solidFill>
                  <a:srgbClr val="62805D"/>
                </a:solidFill>
                <a:latin typeface="Arial MT"/>
                <a:cs typeface="Arial MT"/>
              </a:rPr>
              <a:t>mistakes,</a:t>
            </a:r>
            <a:r>
              <a:rPr dirty="0" sz="800" spc="-35">
                <a:solidFill>
                  <a:srgbClr val="62805D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184816"/>
                </a:solidFill>
                <a:latin typeface="Arial MT"/>
                <a:cs typeface="Arial MT"/>
              </a:rPr>
              <a:t>and</a:t>
            </a:r>
            <a:r>
              <a:rPr dirty="0" sz="800" spc="15">
                <a:solidFill>
                  <a:srgbClr val="184816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386736"/>
                </a:solidFill>
                <a:latin typeface="Arial MT"/>
                <a:cs typeface="Arial MT"/>
              </a:rPr>
              <a:t>finishes</a:t>
            </a:r>
            <a:r>
              <a:rPr dirty="0" sz="800" spc="45">
                <a:solidFill>
                  <a:srgbClr val="386736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315E34"/>
                </a:solidFill>
                <a:latin typeface="Arial MT"/>
                <a:cs typeface="Arial MT"/>
              </a:rPr>
              <a:t>the</a:t>
            </a:r>
            <a:r>
              <a:rPr dirty="0" sz="800" spc="30">
                <a:solidFill>
                  <a:srgbClr val="315E34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667964"/>
                </a:solidFill>
                <a:latin typeface="Arial MT"/>
                <a:cs typeface="Arial MT"/>
              </a:rPr>
              <a:t>job</a:t>
            </a:r>
            <a:r>
              <a:rPr dirty="0" sz="800" spc="30">
                <a:solidFill>
                  <a:srgbClr val="667964"/>
                </a:solidFill>
                <a:latin typeface="Arial MT"/>
                <a:cs typeface="Arial MT"/>
              </a:rPr>
              <a:t> </a:t>
            </a:r>
            <a:r>
              <a:rPr dirty="0" sz="800" spc="-235">
                <a:solidFill>
                  <a:srgbClr val="808E7E"/>
                </a:solidFill>
                <a:latin typeface="Arial MT"/>
                <a:cs typeface="Arial MT"/>
              </a:rPr>
              <a:t>—</a:t>
            </a:r>
            <a:r>
              <a:rPr dirty="0" sz="800" spc="60">
                <a:solidFill>
                  <a:srgbClr val="808E7E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447546"/>
                </a:solidFill>
                <a:latin typeface="Arial MT"/>
                <a:cs typeface="Arial MT"/>
              </a:rPr>
              <a:t>without</a:t>
            </a:r>
            <a:r>
              <a:rPr dirty="0" sz="800" spc="85">
                <a:solidFill>
                  <a:srgbClr val="447546"/>
                </a:solidFill>
                <a:latin typeface="Arial MT"/>
                <a:cs typeface="Arial MT"/>
              </a:rPr>
              <a:t> </a:t>
            </a:r>
            <a:r>
              <a:rPr dirty="0" sz="800" spc="-55">
                <a:solidFill>
                  <a:srgbClr val="3D8342"/>
                </a:solidFill>
                <a:latin typeface="Arial MT"/>
                <a:cs typeface="Arial MT"/>
              </a:rPr>
              <a:t>you</a:t>
            </a:r>
            <a:r>
              <a:rPr dirty="0" sz="800" spc="-30">
                <a:solidFill>
                  <a:srgbClr val="3D8342"/>
                </a:solidFill>
                <a:latin typeface="Arial MT"/>
                <a:cs typeface="Arial MT"/>
              </a:rPr>
              <a:t> </a:t>
            </a:r>
            <a:r>
              <a:rPr dirty="0" sz="800" spc="-15">
                <a:solidFill>
                  <a:srgbClr val="487C4B"/>
                </a:solidFill>
                <a:latin typeface="Arial MT"/>
                <a:cs typeface="Arial MT"/>
              </a:rPr>
              <a:t>guid</a:t>
            </a:r>
            <a:r>
              <a:rPr dirty="0" sz="800" spc="-15">
                <a:solidFill>
                  <a:srgbClr val="64976E"/>
                </a:solidFill>
                <a:latin typeface="Arial MT"/>
                <a:cs typeface="Arial MT"/>
              </a:rPr>
              <a:t>ing</a:t>
            </a:r>
            <a:r>
              <a:rPr dirty="0" sz="800" spc="-10">
                <a:solidFill>
                  <a:srgbClr val="64976E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75A072"/>
                </a:solidFill>
                <a:latin typeface="Arial MT"/>
                <a:cs typeface="Arial MT"/>
              </a:rPr>
              <a:t>every</a:t>
            </a:r>
            <a:r>
              <a:rPr dirty="0" sz="800" spc="65">
                <a:solidFill>
                  <a:srgbClr val="75A072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6E9A6B"/>
                </a:solidFill>
                <a:latin typeface="Arial MT"/>
                <a:cs typeface="Arial MT"/>
              </a:rPr>
              <a:t>step.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55856" y="4597717"/>
            <a:ext cx="514350" cy="37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0">
                <a:solidFill>
                  <a:srgbClr val="246B66"/>
                </a:solidFill>
                <a:latin typeface="Arial MT"/>
                <a:cs typeface="Arial MT"/>
              </a:rPr>
              <a:t>Level</a:t>
            </a:r>
            <a:r>
              <a:rPr dirty="0" sz="1250" spc="-80">
                <a:solidFill>
                  <a:srgbClr val="246B66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1F706D"/>
                </a:solidFill>
                <a:latin typeface="Arial MT"/>
                <a:cs typeface="Arial MT"/>
              </a:rPr>
              <a:t>1</a:t>
            </a:r>
            <a:endParaRPr sz="12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30"/>
              </a:spcBef>
            </a:pPr>
            <a:r>
              <a:rPr dirty="0" sz="1000" spc="-10">
                <a:latin typeface="Arial MT"/>
                <a:cs typeface="Arial MT"/>
              </a:rPr>
              <a:t>predicts.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01182" y="2228850"/>
            <a:ext cx="1081405" cy="27305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1270">
              <a:lnSpc>
                <a:spcPct val="103099"/>
              </a:lnSpc>
              <a:spcBef>
                <a:spcPts val="70"/>
              </a:spcBef>
            </a:pPr>
            <a:r>
              <a:rPr dirty="0" sz="800" spc="-75">
                <a:solidFill>
                  <a:srgbClr val="242424"/>
                </a:solidFill>
                <a:latin typeface="Arial MT"/>
                <a:cs typeface="Arial MT"/>
              </a:rPr>
              <a:t>Can</a:t>
            </a:r>
            <a:r>
              <a:rPr dirty="0" sz="8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800" spc="-60">
                <a:solidFill>
                  <a:srgbClr val="242424"/>
                </a:solidFill>
                <a:latin typeface="Arial MT"/>
                <a:cs typeface="Arial MT"/>
              </a:rPr>
              <a:t>you</a:t>
            </a:r>
            <a:r>
              <a:rPr dirty="0" sz="80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181818"/>
                </a:solidFill>
                <a:latin typeface="Arial MT"/>
                <a:cs typeface="Arial MT"/>
              </a:rPr>
              <a:t>write</a:t>
            </a:r>
            <a:r>
              <a:rPr dirty="0" sz="800" spc="-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800" spc="-100">
                <a:solidFill>
                  <a:srgbClr val="313131"/>
                </a:solidFill>
                <a:latin typeface="Arial MT"/>
                <a:cs typeface="Arial MT"/>
              </a:rPr>
              <a:t>a</a:t>
            </a:r>
            <a:r>
              <a:rPr dirty="0" sz="800" spc="3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tag</a:t>
            </a:r>
            <a:r>
              <a:rPr dirty="0" sz="800" spc="-10">
                <a:solidFill>
                  <a:srgbClr val="131313"/>
                </a:solidFill>
                <a:latin typeface="Arial MT"/>
                <a:cs typeface="Arial MT"/>
              </a:rPr>
              <a:t>line</a:t>
            </a:r>
            <a:r>
              <a:rPr dirty="0" sz="800" spc="5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1D1D1D"/>
                </a:solidFill>
                <a:latin typeface="Arial MT"/>
                <a:cs typeface="Arial MT"/>
              </a:rPr>
              <a:t>for</a:t>
            </a:r>
            <a:r>
              <a:rPr dirty="0" sz="800" spc="-1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800" spc="-70">
                <a:solidFill>
                  <a:srgbClr val="181818"/>
                </a:solidFill>
                <a:latin typeface="Arial MT"/>
                <a:cs typeface="Arial MT"/>
              </a:rPr>
              <a:t>my</a:t>
            </a:r>
            <a:r>
              <a:rPr dirty="0" sz="800" spc="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800" spc="-55">
                <a:latin typeface="Arial MT"/>
                <a:cs typeface="Arial MT"/>
              </a:rPr>
              <a:t>ecp-</a:t>
            </a:r>
            <a:r>
              <a:rPr dirty="0" sz="800" spc="-35">
                <a:latin typeface="Arial MT"/>
                <a:cs typeface="Arial MT"/>
              </a:rPr>
              <a:t>friendly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60">
                <a:solidFill>
                  <a:srgbClr val="131313"/>
                </a:solidFill>
                <a:latin typeface="Arial MT"/>
                <a:cs typeface="Arial MT"/>
              </a:rPr>
              <a:t>brand?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31842" y="2730817"/>
            <a:ext cx="777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12500"/>
              </a:lnSpc>
              <a:spcBef>
                <a:spcPts val="100"/>
              </a:spcBef>
            </a:pPr>
            <a:r>
              <a:rPr dirty="0" sz="800" spc="-35">
                <a:latin typeface="Arial MT"/>
                <a:cs typeface="Arial MT"/>
              </a:rPr>
              <a:t>"Clean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131313"/>
                </a:solidFill>
                <a:latin typeface="Arial MT"/>
                <a:cs typeface="Arial MT"/>
              </a:rPr>
              <a:t>choices. </a:t>
            </a:r>
            <a:r>
              <a:rPr dirty="0" sz="800" spc="-20">
                <a:latin typeface="Arial MT"/>
                <a:cs typeface="Arial MT"/>
              </a:rPr>
              <a:t>Better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tomorrow.”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06170" y="3806190"/>
            <a:ext cx="752475" cy="393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3335" marR="5080" indent="-1270">
              <a:lnSpc>
                <a:spcPct val="100800"/>
              </a:lnSpc>
              <a:spcBef>
                <a:spcPts val="90"/>
              </a:spcBef>
            </a:pPr>
            <a:r>
              <a:rPr dirty="0" sz="800" spc="-90" i="1">
                <a:solidFill>
                  <a:srgbClr val="181818"/>
                </a:solidFill>
                <a:latin typeface="Arial"/>
                <a:cs typeface="Arial"/>
              </a:rPr>
              <a:t>Build</a:t>
            </a:r>
            <a:r>
              <a:rPr dirty="0" sz="800" spc="-15" i="1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800" spc="-95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dirty="0" sz="800" spc="-6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800" spc="-85">
                <a:solidFill>
                  <a:srgbClr val="1C1C1C"/>
                </a:solidFill>
                <a:latin typeface="Arial MT"/>
                <a:cs typeface="Arial MT"/>
              </a:rPr>
              <a:t>landing</a:t>
            </a:r>
            <a:r>
              <a:rPr dirty="0" sz="800" spc="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800" spc="-130" i="1">
                <a:solidFill>
                  <a:srgbClr val="282828"/>
                </a:solidFill>
                <a:latin typeface="Arial"/>
                <a:cs typeface="Arial"/>
              </a:rPr>
              <a:t>page</a:t>
            </a:r>
            <a:r>
              <a:rPr dirty="0" sz="800" spc="-70" i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800" spc="-70">
                <a:latin typeface="Arial MT"/>
                <a:cs typeface="Arial MT"/>
              </a:rPr>
              <a:t>for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95">
                <a:solidFill>
                  <a:srgbClr val="282828"/>
                </a:solidFill>
                <a:latin typeface="Arial MT"/>
                <a:cs typeface="Arial MT"/>
              </a:rPr>
              <a:t>our</a:t>
            </a:r>
            <a:r>
              <a:rPr dirty="0" sz="800" spc="-1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800" spc="-120">
                <a:latin typeface="Arial MT"/>
                <a:cs typeface="Arial MT"/>
              </a:rPr>
              <a:t>new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85">
                <a:solidFill>
                  <a:srgbClr val="232323"/>
                </a:solidFill>
                <a:latin typeface="Arial MT"/>
                <a:cs typeface="Arial MT"/>
              </a:rPr>
              <a:t>product</a:t>
            </a:r>
            <a:r>
              <a:rPr dirty="0" sz="8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800" spc="-114">
                <a:latin typeface="Arial MT"/>
                <a:cs typeface="Arial MT"/>
              </a:rPr>
              <a:t>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0">
                <a:solidFill>
                  <a:srgbClr val="0C0C0C"/>
                </a:solidFill>
                <a:latin typeface="Arial MT"/>
                <a:cs typeface="Arial MT"/>
              </a:rPr>
              <a:t>launch</a:t>
            </a:r>
            <a:r>
              <a:rPr dirty="0" sz="80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2D2D2D"/>
                </a:solidFill>
                <a:latin typeface="Arial MT"/>
                <a:cs typeface="Arial MT"/>
              </a:rPr>
              <a:t>it.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53311" y="4597717"/>
            <a:ext cx="1013460" cy="37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5">
                <a:solidFill>
                  <a:srgbClr val="16509A"/>
                </a:solidFill>
                <a:latin typeface="Arial MT"/>
                <a:cs typeface="Arial MT"/>
              </a:rPr>
              <a:t>Level</a:t>
            </a:r>
            <a:r>
              <a:rPr dirty="0" sz="1250">
                <a:solidFill>
                  <a:srgbClr val="16509A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0A44A7"/>
                </a:solidFill>
                <a:latin typeface="Arial MT"/>
                <a:cs typeface="Arial MT"/>
              </a:rPr>
              <a:t>2</a:t>
            </a:r>
            <a:endParaRPr sz="12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0"/>
              </a:spcBef>
            </a:pPr>
            <a:r>
              <a:rPr dirty="0" sz="1000" spc="-20">
                <a:latin typeface="Arial MT"/>
                <a:cs typeface="Arial MT"/>
              </a:rPr>
              <a:t>creates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and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chats.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30641" y="1590357"/>
            <a:ext cx="582295" cy="283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75"/>
              </a:lnSpc>
              <a:spcBef>
                <a:spcPts val="100"/>
              </a:spcBef>
            </a:pPr>
            <a:r>
              <a:rPr dirty="0" sz="900" spc="-110">
                <a:latin typeface="Arial MT"/>
                <a:cs typeface="Arial MT"/>
              </a:rPr>
              <a:t>PREDICTION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ts val="955"/>
              </a:lnSpc>
            </a:pPr>
            <a:r>
              <a:rPr dirty="0" sz="800" spc="-10">
                <a:latin typeface="Arial MT"/>
                <a:cs typeface="Arial MT"/>
              </a:rPr>
              <a:t>ENGINE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06249" y="900112"/>
            <a:ext cx="1885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215">
                <a:solidFill>
                  <a:srgbClr val="5B5B5B"/>
                </a:solidFill>
                <a:latin typeface="Arial MT"/>
                <a:cs typeface="Arial MT"/>
              </a:rPr>
              <a:t>-</a:t>
            </a:r>
            <a:r>
              <a:rPr dirty="0" sz="800" spc="295">
                <a:solidFill>
                  <a:srgbClr val="0C4D46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26560" y="900112"/>
            <a:ext cx="3016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 MT"/>
                <a:cs typeface="Arial MT"/>
              </a:rPr>
              <a:t>Spam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95550" y="1251902"/>
            <a:ext cx="3981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0">
                <a:solidFill>
                  <a:srgbClr val="748785"/>
                </a:solidFill>
                <a:latin typeface="Arial MT"/>
                <a:cs typeface="Arial MT"/>
              </a:rPr>
              <a:t>-</a:t>
            </a:r>
            <a:r>
              <a:rPr dirty="0" sz="1000" spc="-15">
                <a:solidFill>
                  <a:srgbClr val="484848"/>
                </a:solidFill>
                <a:latin typeface="Arial MT"/>
                <a:cs typeface="Arial MT"/>
              </a:rPr>
              <a:t>*,-</a:t>
            </a:r>
            <a:r>
              <a:rPr dirty="0" sz="1000" spc="-30">
                <a:solidFill>
                  <a:srgbClr val="627572"/>
                </a:solidFill>
                <a:latin typeface="Arial MT"/>
                <a:cs typeface="Arial MT"/>
              </a:rPr>
              <a:t>-</a:t>
            </a:r>
            <a:r>
              <a:rPr dirty="0" sz="1000" spc="-30">
                <a:solidFill>
                  <a:srgbClr val="565656"/>
                </a:solidFill>
                <a:latin typeface="Arial MT"/>
                <a:cs typeface="Arial MT"/>
              </a:rPr>
              <a:t>-</a:t>
            </a:r>
            <a:r>
              <a:rPr dirty="0" sz="1000" spc="-30">
                <a:solidFill>
                  <a:srgbClr val="566B69"/>
                </a:solidFill>
                <a:latin typeface="Arial MT"/>
                <a:cs typeface="Arial MT"/>
              </a:rPr>
              <a:t>-</a:t>
            </a:r>
            <a:r>
              <a:rPr dirty="0" sz="1000" spc="-30">
                <a:solidFill>
                  <a:srgbClr val="667977"/>
                </a:solidFill>
                <a:latin typeface="Arial MT"/>
                <a:cs typeface="Arial MT"/>
              </a:rPr>
              <a:t>-</a:t>
            </a:r>
            <a:r>
              <a:rPr dirty="0" sz="1000" spc="-50">
                <a:solidFill>
                  <a:srgbClr val="0C5452"/>
                </a:solidFill>
                <a:latin typeface="Arial MT"/>
                <a:cs typeface="Arial MT"/>
              </a:rPr>
              <a:t>*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21451" y="1251902"/>
            <a:ext cx="498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latin typeface="Arial MT"/>
                <a:cs typeface="Arial MT"/>
              </a:rPr>
              <a:t>Not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Spam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23139" y="1600200"/>
            <a:ext cx="645795" cy="27305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-635">
              <a:lnSpc>
                <a:spcPct val="103099"/>
              </a:lnSpc>
              <a:spcBef>
                <a:spcPts val="70"/>
              </a:spcBef>
            </a:pPr>
            <a:r>
              <a:rPr dirty="0" sz="800" spc="-60">
                <a:latin typeface="Arial MT"/>
                <a:cs typeface="Arial MT"/>
              </a:rPr>
              <a:t>Recommended</a:t>
            </a:r>
            <a:r>
              <a:rPr dirty="0" sz="800" spc="-10">
                <a:latin typeface="Arial MT"/>
                <a:cs typeface="Arial MT"/>
              </a:rPr>
              <a:t> Product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72404" y="2245042"/>
            <a:ext cx="3536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810" algn="l"/>
              </a:tabLst>
            </a:pPr>
            <a:r>
              <a:rPr dirty="0" sz="1100" spc="-50">
                <a:solidFill>
                  <a:srgbClr val="6B7983"/>
                </a:solidFill>
                <a:latin typeface="Arial MT"/>
                <a:cs typeface="Arial MT"/>
              </a:rPr>
              <a:t>*</a:t>
            </a:r>
            <a:r>
              <a:rPr dirty="0" sz="1100">
                <a:solidFill>
                  <a:srgbClr val="6B7983"/>
                </a:solidFill>
                <a:latin typeface="Arial MT"/>
                <a:cs typeface="Arial MT"/>
              </a:rPr>
              <a:t>	</a:t>
            </a:r>
            <a:r>
              <a:rPr dirty="0" sz="1100" spc="-50">
                <a:solidFill>
                  <a:srgbClr val="054493"/>
                </a:solidFill>
                <a:latin typeface="Arial MT"/>
                <a:cs typeface="Arial MT"/>
              </a:rPr>
              <a:t>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22731" y="2196464"/>
            <a:ext cx="2609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latin typeface="Arial MT"/>
                <a:cs typeface="Arial MT"/>
              </a:rPr>
              <a:t>T</a:t>
            </a:r>
            <a:r>
              <a:rPr dirty="0" sz="1100" spc="-35">
                <a:latin typeface="Arial MT"/>
                <a:cs typeface="Arial MT"/>
              </a:rPr>
              <a:t>ext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87795" y="2586037"/>
            <a:ext cx="3746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95D75"/>
                </a:solidFill>
                <a:latin typeface="Arial MT"/>
                <a:cs typeface="Arial MT"/>
              </a:rPr>
              <a:t>--</a:t>
            </a:r>
            <a:r>
              <a:rPr dirty="0" sz="800" spc="300">
                <a:solidFill>
                  <a:srgbClr val="495D75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95D75"/>
                </a:solidFill>
                <a:latin typeface="Arial MT"/>
                <a:cs typeface="Arial MT"/>
              </a:rPr>
              <a:t>----</a:t>
            </a:r>
            <a:r>
              <a:rPr dirty="0" sz="800" spc="-50">
                <a:solidFill>
                  <a:srgbClr val="495D75"/>
                </a:solidFill>
                <a:latin typeface="Arial MT"/>
                <a:cs typeface="Arial MT"/>
              </a:rPr>
              <a:t>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24378" y="2586037"/>
            <a:ext cx="3054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 MT"/>
                <a:cs typeface="Arial MT"/>
              </a:rPr>
              <a:t>image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63208" y="2914967"/>
            <a:ext cx="10242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" algn="l"/>
                <a:tab pos="453390" algn="l"/>
                <a:tab pos="774065" algn="l"/>
              </a:tabLst>
            </a:pPr>
            <a:r>
              <a:rPr dirty="0" sz="1000" spc="-50">
                <a:solidFill>
                  <a:srgbClr val="697990"/>
                </a:solidFill>
                <a:latin typeface="Arial MT"/>
                <a:cs typeface="Arial MT"/>
              </a:rPr>
              <a:t>'</a:t>
            </a:r>
            <a:r>
              <a:rPr dirty="0" sz="1000">
                <a:solidFill>
                  <a:srgbClr val="697990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697990"/>
                </a:solidFill>
                <a:latin typeface="Arial MT"/>
                <a:cs typeface="Arial MT"/>
              </a:rPr>
              <a:t>’+</a:t>
            </a:r>
            <a:r>
              <a:rPr dirty="0" sz="1000">
                <a:solidFill>
                  <a:srgbClr val="697990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0C3D82"/>
                </a:solidFill>
                <a:latin typeface="Arial MT"/>
                <a:cs typeface="Arial MT"/>
              </a:rPr>
              <a:t>&lt;/}</a:t>
            </a:r>
            <a:r>
              <a:rPr dirty="0" sz="1000">
                <a:solidFill>
                  <a:srgbClr val="0C3D82"/>
                </a:solidFill>
                <a:latin typeface="Arial MT"/>
                <a:cs typeface="Arial MT"/>
              </a:rPr>
              <a:t>	</a:t>
            </a:r>
            <a:r>
              <a:rPr dirty="0" sz="1000" spc="-120">
                <a:latin typeface="Arial MT"/>
                <a:cs typeface="Arial MT"/>
              </a:rPr>
              <a:t>Code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69227" y="3974782"/>
            <a:ext cx="2533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151515"/>
                </a:solidFill>
                <a:latin typeface="Arial MT"/>
                <a:cs typeface="Arial MT"/>
              </a:rPr>
              <a:t>BUILD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88638" y="3974782"/>
            <a:ext cx="2127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40">
                <a:solidFill>
                  <a:srgbClr val="0F0F0F"/>
                </a:solidFill>
                <a:latin typeface="Arial MT"/>
                <a:cs typeface="Arial MT"/>
              </a:rPr>
              <a:t>TEST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31241" y="4604067"/>
            <a:ext cx="1019810" cy="36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D8233"/>
                </a:solidFill>
                <a:latin typeface="Arial MT"/>
                <a:cs typeface="Arial MT"/>
              </a:rPr>
              <a:t>Level</a:t>
            </a:r>
            <a:r>
              <a:rPr dirty="0" sz="1200" spc="-75">
                <a:solidFill>
                  <a:srgbClr val="1D8233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2F7C31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40"/>
              </a:spcBef>
            </a:pPr>
            <a:r>
              <a:rPr dirty="0" sz="1000" spc="-25">
                <a:latin typeface="Arial MT"/>
                <a:cs typeface="Arial MT"/>
              </a:rPr>
              <a:t>plans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delivers.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13614" y="3980497"/>
            <a:ext cx="527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85">
                <a:solidFill>
                  <a:srgbClr val="038305"/>
                </a:solidFill>
                <a:latin typeface="Arial MT"/>
                <a:cs typeface="Arial MT"/>
              </a:rPr>
              <a:t>o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84972" y="4151947"/>
            <a:ext cx="8096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4D4D4D"/>
                </a:solidFill>
                <a:latin typeface="Arial MT"/>
                <a:cs typeface="Arial MT"/>
              </a:rPr>
              <a:t>LAUNCH</a:t>
            </a:r>
            <a:r>
              <a:rPr dirty="0" sz="800" spc="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800" spc="-135">
                <a:solidFill>
                  <a:srgbClr val="44704F"/>
                </a:solidFill>
                <a:latin typeface="Arial MT"/>
                <a:cs typeface="Arial MT"/>
              </a:rPr>
              <a:t>COMPLETE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6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2384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What</a:t>
            </a:r>
            <a:r>
              <a:rPr dirty="0" sz="2800" spc="-50"/>
              <a:t> </a:t>
            </a:r>
            <a:r>
              <a:rPr dirty="0" sz="2800"/>
              <a:t>Makes</a:t>
            </a:r>
            <a:r>
              <a:rPr dirty="0" sz="2800" spc="-45"/>
              <a:t> </a:t>
            </a:r>
            <a:r>
              <a:rPr dirty="0" sz="2800"/>
              <a:t>AI</a:t>
            </a:r>
            <a:r>
              <a:rPr dirty="0" sz="2800" spc="-45"/>
              <a:t> </a:t>
            </a:r>
            <a:r>
              <a:rPr dirty="0" sz="2800" spc="-10"/>
              <a:t>"Agentic"?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804545" y="879347"/>
            <a:ext cx="34042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Four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abilities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that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turn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chatbot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into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worker: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5320" y="1315720"/>
            <a:ext cx="3992879" cy="1524000"/>
            <a:chOff x="655320" y="1315720"/>
            <a:chExt cx="3992879" cy="1524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" y="1315720"/>
              <a:ext cx="3992880" cy="1524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31520" y="1417320"/>
              <a:ext cx="3840479" cy="1371600"/>
            </a:xfrm>
            <a:custGeom>
              <a:avLst/>
              <a:gdLst/>
              <a:ahLst/>
              <a:cxnLst/>
              <a:rect l="l" t="t" r="r" b="b"/>
              <a:pathLst>
                <a:path w="3840479" h="1371600">
                  <a:moveTo>
                    <a:pt x="384047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1371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520" y="1417320"/>
              <a:ext cx="45720" cy="1371600"/>
            </a:xfrm>
            <a:custGeom>
              <a:avLst/>
              <a:gdLst/>
              <a:ahLst/>
              <a:cxnLst/>
              <a:rect l="l" t="t" r="r" b="b"/>
              <a:pathLst>
                <a:path w="45720" h="1371600">
                  <a:moveTo>
                    <a:pt x="4571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37159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840" y="1737360"/>
              <a:ext cx="411479" cy="4114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7240" y="1640332"/>
            <a:ext cx="3794760" cy="88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296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97316"/>
                </a:solidFill>
                <a:latin typeface="Calibri"/>
                <a:cs typeface="Calibri"/>
              </a:rPr>
              <a:t>Planning</a:t>
            </a:r>
            <a:endParaRPr sz="1600">
              <a:latin typeface="Calibri"/>
              <a:cs typeface="Calibri"/>
            </a:endParaRPr>
          </a:p>
          <a:p>
            <a:pPr marL="862965" marR="412115">
              <a:lnSpc>
                <a:spcPct val="100000"/>
              </a:lnSpc>
              <a:spcBef>
                <a:spcPts val="1505"/>
              </a:spcBef>
            </a:pP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Breaks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big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goal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into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smaller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steps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decides</a:t>
            </a:r>
            <a:r>
              <a:rPr dirty="0" sz="14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order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70120" y="1315720"/>
            <a:ext cx="3992879" cy="1524000"/>
            <a:chOff x="4770120" y="1315720"/>
            <a:chExt cx="3992879" cy="1524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0120" y="1315720"/>
              <a:ext cx="3992880" cy="1524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846319" y="1417320"/>
              <a:ext cx="3840479" cy="1371600"/>
            </a:xfrm>
            <a:custGeom>
              <a:avLst/>
              <a:gdLst/>
              <a:ahLst/>
              <a:cxnLst/>
              <a:rect l="l" t="t" r="r" b="b"/>
              <a:pathLst>
                <a:path w="3840479" h="1371600">
                  <a:moveTo>
                    <a:pt x="384047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1371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319" y="1417320"/>
              <a:ext cx="45720" cy="1371600"/>
            </a:xfrm>
            <a:custGeom>
              <a:avLst/>
              <a:gdLst/>
              <a:ahLst/>
              <a:cxnLst/>
              <a:rect l="l" t="t" r="r" b="b"/>
              <a:pathLst>
                <a:path w="45720" h="1371600">
                  <a:moveTo>
                    <a:pt x="4571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371599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0640" y="1737360"/>
              <a:ext cx="411479" cy="41147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892040" y="1640332"/>
            <a:ext cx="3794760" cy="88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2965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4F46E4"/>
                </a:solidFill>
                <a:latin typeface="Calibri"/>
                <a:cs typeface="Calibri"/>
              </a:rPr>
              <a:t>Tool</a:t>
            </a:r>
            <a:r>
              <a:rPr dirty="0" sz="1600" spc="-65" b="1">
                <a:solidFill>
                  <a:srgbClr val="4F46E4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4F46E4"/>
                </a:solidFill>
                <a:latin typeface="Calibri"/>
                <a:cs typeface="Calibri"/>
              </a:rPr>
              <a:t>Use</a:t>
            </a:r>
            <a:endParaRPr sz="1600">
              <a:latin typeface="Calibri"/>
              <a:cs typeface="Calibri"/>
            </a:endParaRPr>
          </a:p>
          <a:p>
            <a:pPr marL="862965" marR="730250">
              <a:lnSpc>
                <a:spcPct val="100000"/>
              </a:lnSpc>
              <a:spcBef>
                <a:spcPts val="1505"/>
              </a:spcBef>
            </a:pP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Browses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web,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writes</a:t>
            </a:r>
            <a:r>
              <a:rPr dirty="0" sz="14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code,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reads</a:t>
            </a:r>
            <a:r>
              <a:rPr dirty="0" sz="1400" spc="-6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files,</a:t>
            </a:r>
            <a:r>
              <a:rPr dirty="0" sz="1400" spc="-6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sends</a:t>
            </a:r>
            <a:r>
              <a:rPr dirty="0" sz="1400" spc="-6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messages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55320" y="2961640"/>
            <a:ext cx="3992879" cy="1524000"/>
            <a:chOff x="655320" y="2961640"/>
            <a:chExt cx="3992879" cy="15240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" y="2961640"/>
              <a:ext cx="3992880" cy="1524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31520" y="3063240"/>
              <a:ext cx="3840479" cy="1371600"/>
            </a:xfrm>
            <a:custGeom>
              <a:avLst/>
              <a:gdLst/>
              <a:ahLst/>
              <a:cxnLst/>
              <a:rect l="l" t="t" r="r" b="b"/>
              <a:pathLst>
                <a:path w="3840479" h="1371600">
                  <a:moveTo>
                    <a:pt x="384047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1371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31520" y="3063240"/>
              <a:ext cx="45720" cy="1371600"/>
            </a:xfrm>
            <a:custGeom>
              <a:avLst/>
              <a:gdLst/>
              <a:ahLst/>
              <a:cxnLst/>
              <a:rect l="l" t="t" r="r" b="b"/>
              <a:pathLst>
                <a:path w="45720" h="1371600">
                  <a:moveTo>
                    <a:pt x="4571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3715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40" y="3383280"/>
              <a:ext cx="411479" cy="41147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77240" y="3286252"/>
            <a:ext cx="3794760" cy="88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2965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E11C48"/>
                </a:solidFill>
                <a:latin typeface="Calibri"/>
                <a:cs typeface="Calibri"/>
              </a:rPr>
              <a:t>Self-</a:t>
            </a:r>
            <a:r>
              <a:rPr dirty="0" sz="1600" spc="-10" b="1">
                <a:solidFill>
                  <a:srgbClr val="E11C48"/>
                </a:solidFill>
                <a:latin typeface="Calibri"/>
                <a:cs typeface="Calibri"/>
              </a:rPr>
              <a:t>Correction</a:t>
            </a:r>
            <a:endParaRPr sz="1600">
              <a:latin typeface="Calibri"/>
              <a:cs typeface="Calibri"/>
            </a:endParaRPr>
          </a:p>
          <a:p>
            <a:pPr marL="862965" marR="790575">
              <a:lnSpc>
                <a:spcPct val="100000"/>
              </a:lnSpc>
              <a:spcBef>
                <a:spcPts val="1505"/>
              </a:spcBef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Notices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mistakes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tries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75568"/>
                </a:solidFill>
                <a:latin typeface="Calibri"/>
                <a:cs typeface="Calibri"/>
              </a:rPr>
              <a:t>a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different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approach</a:t>
            </a:r>
            <a:r>
              <a:rPr dirty="0" sz="14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on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its</a:t>
            </a:r>
            <a:r>
              <a:rPr dirty="0" sz="14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75568"/>
                </a:solidFill>
                <a:latin typeface="Calibri"/>
                <a:cs typeface="Calibri"/>
              </a:rPr>
              <a:t>own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70120" y="2961640"/>
            <a:ext cx="3992879" cy="1524000"/>
            <a:chOff x="4770120" y="2961640"/>
            <a:chExt cx="3992879" cy="1524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0120" y="2961640"/>
              <a:ext cx="3992880" cy="15240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846319" y="3063240"/>
              <a:ext cx="3840479" cy="1371600"/>
            </a:xfrm>
            <a:custGeom>
              <a:avLst/>
              <a:gdLst/>
              <a:ahLst/>
              <a:cxnLst/>
              <a:rect l="l" t="t" r="r" b="b"/>
              <a:pathLst>
                <a:path w="3840479" h="1371600">
                  <a:moveTo>
                    <a:pt x="384047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1371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846319" y="3063240"/>
              <a:ext cx="45720" cy="1371600"/>
            </a:xfrm>
            <a:custGeom>
              <a:avLst/>
              <a:gdLst/>
              <a:ahLst/>
              <a:cxnLst/>
              <a:rect l="l" t="t" r="r" b="b"/>
              <a:pathLst>
                <a:path w="45720" h="1371600">
                  <a:moveTo>
                    <a:pt x="4571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371599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0640" y="3383280"/>
              <a:ext cx="411479" cy="41147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892040" y="3286252"/>
            <a:ext cx="3794760" cy="88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2965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A34A"/>
                </a:solidFill>
                <a:latin typeface="Calibri"/>
                <a:cs typeface="Calibri"/>
              </a:rPr>
              <a:t>Goal</a:t>
            </a:r>
            <a:r>
              <a:rPr dirty="0" sz="1600" spc="-20" b="1">
                <a:solidFill>
                  <a:srgbClr val="16A34A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6A34A"/>
                </a:solidFill>
                <a:latin typeface="Calibri"/>
                <a:cs typeface="Calibri"/>
              </a:rPr>
              <a:t>Completion</a:t>
            </a:r>
            <a:endParaRPr sz="1600">
              <a:latin typeface="Calibri"/>
              <a:cs typeface="Calibri"/>
            </a:endParaRPr>
          </a:p>
          <a:p>
            <a:pPr marL="862965" marR="357505">
              <a:lnSpc>
                <a:spcPct val="100000"/>
              </a:lnSpc>
              <a:spcBef>
                <a:spcPts val="1505"/>
              </a:spcBef>
            </a:pP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Works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until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job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is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done,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not</a:t>
            </a:r>
            <a:r>
              <a:rPr dirty="0" sz="14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just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one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answer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004" y="4191910"/>
            <a:ext cx="1115655" cy="8640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603" y="4394260"/>
            <a:ext cx="404698" cy="4101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4743" y="4399729"/>
            <a:ext cx="1175813" cy="6453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2464" y="1337144"/>
            <a:ext cx="4610282" cy="22914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1421" y="954322"/>
            <a:ext cx="322665" cy="322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97785" y="959791"/>
            <a:ext cx="322665" cy="3226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95" y="84767"/>
            <a:ext cx="847679" cy="60704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13287" y="1670748"/>
            <a:ext cx="1695450" cy="2417445"/>
            <a:chOff x="213287" y="1670748"/>
            <a:chExt cx="1695450" cy="2417445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071" y="2239512"/>
              <a:ext cx="1569573" cy="18484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2990" y="1670748"/>
              <a:ext cx="913306" cy="106096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3287" y="3109067"/>
              <a:ext cx="147660" cy="656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4234" y="2819217"/>
              <a:ext cx="32813" cy="1257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48488" y="2141073"/>
              <a:ext cx="5468" cy="185942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82091" y="3262198"/>
            <a:ext cx="289851" cy="26797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00885" y="2113728"/>
            <a:ext cx="5468" cy="27891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3928" y="1534025"/>
            <a:ext cx="574234" cy="23516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792990" y="1911379"/>
            <a:ext cx="552450" cy="645795"/>
            <a:chOff x="792990" y="1911379"/>
            <a:chExt cx="552450" cy="645795"/>
          </a:xfrm>
        </p:grpSpPr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2684" y="1911379"/>
              <a:ext cx="322665" cy="1859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990" y="2124666"/>
              <a:ext cx="525014" cy="432043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94569" y="2551240"/>
            <a:ext cx="486732" cy="18594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187559" y="3655959"/>
            <a:ext cx="574234" cy="289851"/>
          </a:xfrm>
          <a:prstGeom prst="rect">
            <a:avLst/>
          </a:prstGeom>
        </p:spPr>
      </p:pic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1829621" y="301760"/>
            <a:ext cx="5640070" cy="4851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000" spc="-75">
                <a:solidFill>
                  <a:srgbClr val="0A0A0A"/>
                </a:solidFill>
                <a:latin typeface="Arial MT"/>
                <a:cs typeface="Arial MT"/>
              </a:rPr>
              <a:t>Bakery</a:t>
            </a:r>
            <a:r>
              <a:rPr dirty="0" sz="3000" spc="-5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000" spc="-85">
                <a:solidFill>
                  <a:srgbClr val="050505"/>
                </a:solidFill>
                <a:latin typeface="Arial MT"/>
                <a:cs typeface="Arial MT"/>
              </a:rPr>
              <a:t>Email</a:t>
            </a:r>
            <a:r>
              <a:rPr dirty="0" sz="3000" spc="-25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3000" spc="-80">
                <a:solidFill>
                  <a:srgbClr val="0A0A0A"/>
                </a:solidFill>
                <a:latin typeface="Arial MT"/>
                <a:cs typeface="Arial MT"/>
              </a:rPr>
              <a:t>Marketing:</a:t>
            </a:r>
            <a:r>
              <a:rPr dirty="0" sz="3000" spc="-229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000" spc="-180">
                <a:solidFill>
                  <a:srgbClr val="0E0E0E"/>
                </a:solidFill>
                <a:latin typeface="Arial MT"/>
                <a:cs typeface="Arial MT"/>
              </a:rPr>
              <a:t>Two</a:t>
            </a:r>
            <a:r>
              <a:rPr dirty="0" sz="3000" spc="-1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000" spc="-75">
                <a:solidFill>
                  <a:srgbClr val="0F0F0F"/>
                </a:solidFill>
                <a:latin typeface="Arial MT"/>
                <a:cs typeface="Arial MT"/>
              </a:rPr>
              <a:t>Paths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76550" y="301760"/>
            <a:ext cx="690880" cy="4851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000" spc="-100">
                <a:solidFill>
                  <a:srgbClr val="182849"/>
                </a:solidFill>
                <a:latin typeface="Arial MT"/>
                <a:cs typeface="Arial MT"/>
              </a:rPr>
              <a:t>&amp;zzl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965" y="994487"/>
            <a:ext cx="68897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161154" algn="l"/>
              </a:tabLst>
            </a:pPr>
            <a:r>
              <a:rPr dirty="0" sz="1400" spc="70">
                <a:solidFill>
                  <a:srgbClr val="380FBA"/>
                </a:solidFill>
                <a:latin typeface="Arial MT"/>
                <a:cs typeface="Arial MT"/>
              </a:rPr>
              <a:t>Regutar</a:t>
            </a:r>
            <a:r>
              <a:rPr dirty="0" sz="1400" spc="110">
                <a:solidFill>
                  <a:srgbClr val="380FB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21CAF"/>
                </a:solidFill>
                <a:latin typeface="Arial MT"/>
                <a:cs typeface="Arial MT"/>
              </a:rPr>
              <a:t>AI:</a:t>
            </a:r>
            <a:r>
              <a:rPr dirty="0" sz="1400" spc="425">
                <a:solidFill>
                  <a:srgbClr val="421CAF"/>
                </a:solidFill>
                <a:latin typeface="Arial MT"/>
                <a:cs typeface="Arial MT"/>
              </a:rPr>
              <a:t> </a:t>
            </a:r>
            <a:r>
              <a:rPr dirty="0" sz="1400" spc="-8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70">
                <a:latin typeface="Arial MT"/>
                <a:cs typeface="Arial MT"/>
              </a:rPr>
              <a:t>Single-</a:t>
            </a:r>
            <a:r>
              <a:rPr dirty="0" sz="1400" spc="-60">
                <a:latin typeface="Arial MT"/>
                <a:cs typeface="Arial MT"/>
              </a:rPr>
              <a:t>Task</a:t>
            </a:r>
            <a:r>
              <a:rPr dirty="0" sz="1400" spc="6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Tool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350" spc="150">
                <a:solidFill>
                  <a:srgbClr val="057769"/>
                </a:solidFill>
                <a:latin typeface="Arial MT"/>
                <a:cs typeface="Arial MT"/>
              </a:rPr>
              <a:t>Agentic</a:t>
            </a:r>
            <a:r>
              <a:rPr dirty="0" sz="1350" spc="135">
                <a:solidFill>
                  <a:srgbClr val="057769"/>
                </a:solidFill>
                <a:latin typeface="Arial MT"/>
                <a:cs typeface="Arial MT"/>
              </a:rPr>
              <a:t> </a:t>
            </a:r>
            <a:r>
              <a:rPr dirty="0" sz="1350" spc="125">
                <a:solidFill>
                  <a:srgbClr val="058570"/>
                </a:solidFill>
                <a:latin typeface="Arial MT"/>
                <a:cs typeface="Arial MT"/>
              </a:rPr>
              <a:t>AI:</a:t>
            </a:r>
            <a:r>
              <a:rPr dirty="0" sz="1350" spc="320">
                <a:solidFill>
                  <a:srgbClr val="058570"/>
                </a:solidFill>
                <a:latin typeface="Arial MT"/>
                <a:cs typeface="Arial MT"/>
              </a:rPr>
              <a:t> </a:t>
            </a:r>
            <a:r>
              <a:rPr dirty="0" sz="1350" spc="-114">
                <a:latin typeface="Arial MT"/>
                <a:cs typeface="Arial MT"/>
              </a:rPr>
              <a:t>Your</a:t>
            </a:r>
            <a:r>
              <a:rPr dirty="0" sz="1350" spc="-50">
                <a:latin typeface="Arial MT"/>
                <a:cs typeface="Arial MT"/>
              </a:rPr>
              <a:t> </a:t>
            </a:r>
            <a:r>
              <a:rPr dirty="0" sz="1350" spc="-40">
                <a:latin typeface="Arial MT"/>
                <a:cs typeface="Arial MT"/>
              </a:rPr>
              <a:t>Intelligent</a:t>
            </a:r>
            <a:r>
              <a:rPr dirty="0" sz="1350" spc="35">
                <a:latin typeface="Arial MT"/>
                <a:cs typeface="Arial MT"/>
              </a:rPr>
              <a:t> </a:t>
            </a:r>
            <a:r>
              <a:rPr dirty="0" sz="1350" spc="-40">
                <a:latin typeface="Arial MT"/>
                <a:cs typeface="Arial MT"/>
              </a:rPr>
              <a:t>Partner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92630" y="1441722"/>
            <a:ext cx="1215390" cy="35750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4925" marR="5080" indent="-22860">
              <a:lnSpc>
                <a:spcPts val="1290"/>
              </a:lnSpc>
              <a:spcBef>
                <a:spcPts val="165"/>
              </a:spcBef>
            </a:pPr>
            <a:r>
              <a:rPr dirty="0" sz="1100" spc="-35">
                <a:latin typeface="Arial MT"/>
                <a:cs typeface="Arial MT"/>
              </a:rPr>
              <a:t>“Write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a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marketing </a:t>
            </a:r>
            <a:r>
              <a:rPr dirty="0" sz="1100" spc="-60">
                <a:latin typeface="Arial MT"/>
                <a:cs typeface="Arial MT"/>
              </a:rPr>
              <a:t>email</a:t>
            </a:r>
            <a:r>
              <a:rPr dirty="0" sz="1100" spc="-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for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my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bakery.”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94543" y="1605789"/>
            <a:ext cx="1098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756B9A"/>
                </a:solidFill>
                <a:latin typeface="Arial MT"/>
                <a:cs typeface="Arial MT"/>
              </a:rPr>
              <a:t>X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18205" y="1987396"/>
            <a:ext cx="180975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 spc="-95">
                <a:solidFill>
                  <a:srgbClr val="5B36C1"/>
                </a:solidFill>
                <a:latin typeface="Arial MT"/>
                <a:cs typeface="Arial MT"/>
              </a:rPr>
              <a:t>A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12099" y="2063657"/>
            <a:ext cx="1378585" cy="328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955">
              <a:lnSpc>
                <a:spcPts val="1190"/>
              </a:lnSpc>
              <a:spcBef>
                <a:spcPts val="105"/>
              </a:spcBef>
            </a:pPr>
            <a:r>
              <a:rPr dirty="0" sz="1000" spc="-45">
                <a:latin typeface="Arial MT"/>
                <a:cs typeface="Arial MT"/>
              </a:rPr>
              <a:t>Writes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ONE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generic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email.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90"/>
              </a:lnSpc>
            </a:pPr>
            <a:r>
              <a:rPr dirty="0" sz="1000" spc="-20" i="1">
                <a:solidFill>
                  <a:srgbClr val="4F2F97"/>
                </a:solidFill>
                <a:latin typeface="Arial"/>
                <a:cs typeface="Arial"/>
              </a:rPr>
              <a:t>Then</a:t>
            </a:r>
            <a:r>
              <a:rPr dirty="0" sz="1000" spc="-50" i="1">
                <a:solidFill>
                  <a:srgbClr val="4F2F97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D1FAE"/>
                </a:solidFill>
                <a:latin typeface="Arial"/>
                <a:cs typeface="Arial"/>
              </a:rPr>
              <a:t>it</a:t>
            </a:r>
            <a:r>
              <a:rPr dirty="0" sz="1000" spc="85" i="1">
                <a:solidFill>
                  <a:srgbClr val="3D1FAE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4B33AA"/>
                </a:solidFill>
                <a:latin typeface="Arial"/>
                <a:cs typeface="Arial"/>
              </a:rPr>
              <a:t>is</a:t>
            </a:r>
            <a:r>
              <a:rPr dirty="0" sz="1000" spc="-25" i="1">
                <a:solidFill>
                  <a:srgbClr val="4B33AA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2F1591"/>
                </a:solidFill>
                <a:latin typeface="Arial"/>
                <a:cs typeface="Arial"/>
              </a:rPr>
              <a:t>done.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69016" y="2544921"/>
            <a:ext cx="1506855" cy="10210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 spc="-10">
                <a:latin typeface="Arial MT"/>
                <a:cs typeface="Arial MT"/>
              </a:rPr>
              <a:t>Your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manual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tasks:</a:t>
            </a:r>
            <a:endParaRPr sz="1000">
              <a:latin typeface="Arial MT"/>
              <a:cs typeface="Arial MT"/>
            </a:endParaRPr>
          </a:p>
          <a:p>
            <a:pPr marL="668655">
              <a:lnSpc>
                <a:spcPts val="1140"/>
              </a:lnSpc>
              <a:spcBef>
                <a:spcPts val="650"/>
              </a:spcBef>
            </a:pPr>
            <a:r>
              <a:rPr dirty="0" sz="1000" spc="-100">
                <a:latin typeface="Arial MT"/>
                <a:cs typeface="Arial MT"/>
              </a:rPr>
              <a:t>Send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email</a:t>
            </a:r>
            <a:endParaRPr sz="1000">
              <a:latin typeface="Arial MT"/>
              <a:cs typeface="Arial MT"/>
            </a:endParaRPr>
          </a:p>
          <a:p>
            <a:pPr marL="429259">
              <a:lnSpc>
                <a:spcPts val="1140"/>
              </a:lnSpc>
              <a:tabLst>
                <a:tab pos="671195" algn="l"/>
              </a:tabLst>
            </a:pPr>
            <a:r>
              <a:rPr dirty="0" sz="1000" spc="-50">
                <a:solidFill>
                  <a:srgbClr val="6E46DB"/>
                </a:solidFill>
                <a:latin typeface="Arial MT"/>
                <a:cs typeface="Arial MT"/>
              </a:rPr>
              <a:t>”</a:t>
            </a:r>
            <a:r>
              <a:rPr dirty="0" sz="1000">
                <a:solidFill>
                  <a:srgbClr val="6E46DB"/>
                </a:solidFill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manually</a:t>
            </a:r>
            <a:endParaRPr sz="1000">
              <a:latin typeface="Arial MT"/>
              <a:cs typeface="Arial MT"/>
            </a:endParaRPr>
          </a:p>
          <a:p>
            <a:pPr marL="669290" marR="5080" indent="1905">
              <a:lnSpc>
                <a:spcPts val="1160"/>
              </a:lnSpc>
              <a:spcBef>
                <a:spcPts val="770"/>
              </a:spcBef>
            </a:pPr>
            <a:r>
              <a:rPr dirty="0" sz="1000" spc="-85">
                <a:latin typeface="Arial MT"/>
                <a:cs typeface="Arial MT"/>
              </a:rPr>
              <a:t>Track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opens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and </a:t>
            </a:r>
            <a:r>
              <a:rPr dirty="0" sz="1000" spc="-10">
                <a:latin typeface="Arial MT"/>
                <a:cs typeface="Arial MT"/>
              </a:rPr>
              <a:t>clicks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26129" y="3649638"/>
            <a:ext cx="1039494" cy="332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 marR="5080" indent="-2540">
              <a:lnSpc>
                <a:spcPct val="100000"/>
              </a:lnSpc>
              <a:spcBef>
                <a:spcPts val="105"/>
              </a:spcBef>
            </a:pPr>
            <a:r>
              <a:rPr dirty="0" sz="1000" spc="-70">
                <a:latin typeface="Arial MT"/>
                <a:cs typeface="Arial MT"/>
              </a:rPr>
              <a:t>Follow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up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with </a:t>
            </a:r>
            <a:r>
              <a:rPr dirty="0" sz="1000" spc="-75">
                <a:latin typeface="Arial MT"/>
                <a:cs typeface="Arial MT"/>
              </a:rPr>
              <a:t>interested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customers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97880" y="1437468"/>
            <a:ext cx="1271270" cy="359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9400"/>
              </a:lnSpc>
              <a:spcBef>
                <a:spcPts val="100"/>
              </a:spcBef>
            </a:pPr>
            <a:r>
              <a:rPr dirty="0" sz="1000" spc="-35">
                <a:latin typeface="Arial MT"/>
                <a:cs typeface="Arial MT"/>
              </a:rPr>
              <a:t>“Run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email </a:t>
            </a:r>
            <a:r>
              <a:rPr dirty="0" sz="1000" spc="-10">
                <a:latin typeface="Arial MT"/>
                <a:cs typeface="Arial MT"/>
              </a:rPr>
              <a:t>marketing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month.”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69891" y="2063657"/>
            <a:ext cx="92329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ts val="1170"/>
              </a:lnSpc>
              <a:spcBef>
                <a:spcPts val="105"/>
              </a:spcBef>
            </a:pPr>
            <a:r>
              <a:rPr dirty="0" sz="1000" spc="-80">
                <a:latin typeface="Arial MT"/>
                <a:cs typeface="Arial MT"/>
              </a:rPr>
              <a:t>Manages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70"/>
              </a:lnSpc>
            </a:pPr>
            <a:r>
              <a:rPr dirty="0" sz="1000" i="1">
                <a:solidFill>
                  <a:srgbClr val="1C4F46"/>
                </a:solidFill>
                <a:latin typeface="Arial"/>
                <a:cs typeface="Arial"/>
              </a:rPr>
              <a:t>entire</a:t>
            </a:r>
            <a:r>
              <a:rPr dirty="0" sz="1000" spc="55" i="1">
                <a:solidFill>
                  <a:srgbClr val="1C4F46"/>
                </a:solidFill>
                <a:latin typeface="Arial"/>
                <a:cs typeface="Arial"/>
              </a:rPr>
              <a:t> </a:t>
            </a:r>
            <a:r>
              <a:rPr dirty="0" sz="1000" spc="-40">
                <a:latin typeface="Arial MT"/>
                <a:cs typeface="Arial MT"/>
              </a:rPr>
              <a:t>campaign.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41495" y="3655107"/>
            <a:ext cx="654685" cy="32131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47320" marR="5080" indent="-135255">
              <a:lnSpc>
                <a:spcPts val="1120"/>
              </a:lnSpc>
              <a:spcBef>
                <a:spcPts val="204"/>
              </a:spcBef>
            </a:pPr>
            <a:r>
              <a:rPr dirty="0" sz="1000" spc="-10">
                <a:solidFill>
                  <a:srgbClr val="1C1C1C"/>
                </a:solidFill>
                <a:latin typeface="Arial MT"/>
                <a:cs typeface="Arial MT"/>
              </a:rPr>
              <a:t>1.</a:t>
            </a:r>
            <a:r>
              <a:rPr dirty="0" sz="1000" spc="-4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Segments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customers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52419" y="3655107"/>
            <a:ext cx="838200" cy="457834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8270" marR="5080" indent="-116205">
              <a:lnSpc>
                <a:spcPct val="91500"/>
              </a:lnSpc>
              <a:spcBef>
                <a:spcPts val="204"/>
              </a:spcBef>
            </a:pPr>
            <a:r>
              <a:rPr dirty="0" sz="1000" spc="-80">
                <a:solidFill>
                  <a:srgbClr val="3A7464"/>
                </a:solidFill>
                <a:latin typeface="Arial MT"/>
                <a:cs typeface="Arial MT"/>
              </a:rPr>
              <a:t>2.</a:t>
            </a:r>
            <a:r>
              <a:rPr dirty="0" sz="1000" spc="-25">
                <a:solidFill>
                  <a:srgbClr val="3A7464"/>
                </a:solidFill>
                <a:latin typeface="Arial MT"/>
                <a:cs typeface="Arial MT"/>
              </a:rPr>
              <a:t> </a:t>
            </a:r>
            <a:r>
              <a:rPr dirty="0" sz="1000" spc="-100">
                <a:latin typeface="Arial MT"/>
                <a:cs typeface="Arial MT"/>
              </a:rPr>
              <a:t>Writes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targeted</a:t>
            </a:r>
            <a:r>
              <a:rPr dirty="0" sz="1000" spc="-35">
                <a:latin typeface="Arial MT"/>
                <a:cs typeface="Arial MT"/>
              </a:rPr>
              <a:t> persona(ized </a:t>
            </a:r>
            <a:r>
              <a:rPr dirty="0" sz="1000" spc="-10">
                <a:latin typeface="Arial MT"/>
                <a:cs typeface="Arial MT"/>
              </a:rPr>
              <a:t>emaib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66325" y="1779275"/>
            <a:ext cx="6775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4820" algn="l"/>
              </a:tabLst>
            </a:pPr>
            <a:r>
              <a:rPr dirty="0" sz="1000" spc="-25">
                <a:solidFill>
                  <a:srgbClr val="111111"/>
                </a:solidFill>
                <a:latin typeface="Arial MT"/>
                <a:cs typeface="Arial MT"/>
              </a:rPr>
              <a:t>42%</a:t>
            </a:r>
            <a:r>
              <a:rPr dirty="0" sz="100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dirty="0" sz="1000" spc="-130">
                <a:solidFill>
                  <a:srgbClr val="0F0F0F"/>
                </a:solidFill>
                <a:latin typeface="Arial MT"/>
                <a:cs typeface="Arial MT"/>
              </a:rPr>
              <a:t>12%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86811" y="3655107"/>
            <a:ext cx="615315" cy="4521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8270" marR="5080" indent="-116205">
              <a:lnSpc>
                <a:spcPts val="1080"/>
              </a:lnSpc>
              <a:spcBef>
                <a:spcPts val="240"/>
              </a:spcBef>
            </a:pPr>
            <a:r>
              <a:rPr dirty="0" sz="1000" spc="-20">
                <a:solidFill>
                  <a:srgbClr val="262626"/>
                </a:solidFill>
                <a:latin typeface="Arial MT"/>
                <a:cs typeface="Arial MT"/>
              </a:rPr>
              <a:t>3.</a:t>
            </a:r>
            <a:r>
              <a:rPr dirty="0" sz="1000" spc="-4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000" spc="-125">
                <a:latin typeface="Arial MT"/>
                <a:cs typeface="Arial MT"/>
              </a:rPr>
              <a:t>Schedules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automatic</a:t>
            </a:r>
            <a:r>
              <a:rPr dirty="0" sz="1000" spc="-10">
                <a:latin typeface="Arial MT"/>
                <a:cs typeface="Arial MT"/>
              </a:rPr>
              <a:t> sending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61260" y="4323528"/>
            <a:ext cx="5610225" cy="65278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650" spc="90">
                <a:solidFill>
                  <a:srgbClr val="5634C6"/>
                </a:solidFill>
                <a:latin typeface="Arial MT"/>
                <a:cs typeface="Arial MT"/>
              </a:rPr>
              <a:t>Regular</a:t>
            </a:r>
            <a:r>
              <a:rPr dirty="0" sz="1650" spc="130">
                <a:solidFill>
                  <a:srgbClr val="5634C6"/>
                </a:solidFill>
                <a:latin typeface="Arial MT"/>
                <a:cs typeface="Arial MT"/>
              </a:rPr>
              <a:t> </a:t>
            </a:r>
            <a:r>
              <a:rPr dirty="0" sz="1650" spc="75">
                <a:solidFill>
                  <a:srgbClr val="5933DD"/>
                </a:solidFill>
                <a:latin typeface="Arial MT"/>
                <a:cs typeface="Arial MT"/>
              </a:rPr>
              <a:t>AI</a:t>
            </a:r>
            <a:r>
              <a:rPr dirty="0" sz="1650" spc="165">
                <a:solidFill>
                  <a:srgbClr val="5933DD"/>
                </a:solidFill>
                <a:latin typeface="Arial MT"/>
                <a:cs typeface="Arial MT"/>
              </a:rPr>
              <a:t> </a:t>
            </a:r>
            <a:r>
              <a:rPr dirty="0" sz="1650" spc="-125">
                <a:latin typeface="Arial MT"/>
                <a:cs typeface="Arial MT"/>
              </a:rPr>
              <a:t>helps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 spc="-55">
                <a:latin typeface="Arial MT"/>
                <a:cs typeface="Arial MT"/>
              </a:rPr>
              <a:t>with</a:t>
            </a:r>
            <a:r>
              <a:rPr dirty="0" sz="1650" spc="-135">
                <a:latin typeface="Arial MT"/>
                <a:cs typeface="Arial MT"/>
              </a:rPr>
              <a:t> </a:t>
            </a:r>
            <a:r>
              <a:rPr dirty="0" sz="1650" spc="-140">
                <a:latin typeface="Arial MT"/>
                <a:cs typeface="Arial MT"/>
              </a:rPr>
              <a:t>one</a:t>
            </a:r>
            <a:r>
              <a:rPr dirty="0" sz="1650" spc="-135">
                <a:latin typeface="Arial MT"/>
                <a:cs typeface="Arial MT"/>
              </a:rPr>
              <a:t> </a:t>
            </a:r>
            <a:r>
              <a:rPr dirty="0" sz="1650" spc="-65">
                <a:latin typeface="Arial MT"/>
                <a:cs typeface="Arial MT"/>
              </a:rPr>
              <a:t>task.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 spc="125">
                <a:solidFill>
                  <a:srgbClr val="0A7466"/>
                </a:solidFill>
                <a:latin typeface="Arial MT"/>
                <a:cs typeface="Arial MT"/>
              </a:rPr>
              <a:t>Agentic</a:t>
            </a:r>
            <a:r>
              <a:rPr dirty="0" sz="1650" spc="110">
                <a:solidFill>
                  <a:srgbClr val="0A7466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009077"/>
                </a:solidFill>
                <a:latin typeface="Arial MT"/>
                <a:cs typeface="Arial MT"/>
              </a:rPr>
              <a:t>AI</a:t>
            </a:r>
            <a:r>
              <a:rPr dirty="0" sz="1650" spc="35">
                <a:solidFill>
                  <a:srgbClr val="009077"/>
                </a:solidFill>
                <a:latin typeface="Arial MT"/>
                <a:cs typeface="Arial MT"/>
              </a:rPr>
              <a:t> </a:t>
            </a:r>
            <a:r>
              <a:rPr dirty="0" sz="1650" spc="-190">
                <a:latin typeface="Arial MT"/>
                <a:cs typeface="Arial MT"/>
              </a:rPr>
              <a:t>handles</a:t>
            </a:r>
            <a:r>
              <a:rPr dirty="0" sz="1650" spc="-110">
                <a:latin typeface="Arial MT"/>
                <a:cs typeface="Arial MT"/>
              </a:rPr>
              <a:t> </a:t>
            </a:r>
            <a:r>
              <a:rPr dirty="0" sz="1650" spc="-120">
                <a:latin typeface="Arial MT"/>
                <a:cs typeface="Arial MT"/>
              </a:rPr>
              <a:t>the</a:t>
            </a:r>
            <a:r>
              <a:rPr dirty="0" sz="1650" spc="-18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full</a:t>
            </a:r>
            <a:r>
              <a:rPr dirty="0" sz="1650" spc="-270">
                <a:latin typeface="Arial MT"/>
                <a:cs typeface="Arial MT"/>
              </a:rPr>
              <a:t> </a:t>
            </a:r>
            <a:r>
              <a:rPr dirty="0" sz="1650" spc="-90">
                <a:latin typeface="Arial MT"/>
                <a:cs typeface="Arial MT"/>
              </a:rPr>
              <a:t>goal.</a:t>
            </a:r>
            <a:endParaRPr sz="1650">
              <a:latin typeface="Arial MT"/>
              <a:cs typeface="Arial MT"/>
            </a:endParaRPr>
          </a:p>
          <a:p>
            <a:pPr marL="1075690">
              <a:lnSpc>
                <a:spcPct val="100000"/>
              </a:lnSpc>
              <a:spcBef>
                <a:spcPts val="620"/>
              </a:spcBef>
              <a:tabLst>
                <a:tab pos="2300605" algn="l"/>
                <a:tab pos="2495550" algn="l"/>
              </a:tabLst>
            </a:pPr>
            <a:r>
              <a:rPr dirty="0" sz="1200">
                <a:solidFill>
                  <a:srgbClr val="5B5B5B"/>
                </a:solidFill>
                <a:latin typeface="Arial MT"/>
                <a:cs typeface="Arial MT"/>
              </a:rPr>
              <a:t>Tool</a:t>
            </a:r>
            <a:r>
              <a:rPr dirty="0" sz="1200" spc="2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dirty="0" sz="1200" spc="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45454"/>
                </a:solidFill>
                <a:latin typeface="Arial MT"/>
                <a:cs typeface="Arial MT"/>
              </a:rPr>
              <a:t>one</a:t>
            </a:r>
            <a:r>
              <a:rPr dirty="0" sz="1200" spc="-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D4D4D"/>
                </a:solidFill>
                <a:latin typeface="Arial MT"/>
                <a:cs typeface="Arial MT"/>
              </a:rPr>
              <a:t>step</a:t>
            </a:r>
            <a:r>
              <a:rPr dirty="0" sz="1200">
                <a:solidFill>
                  <a:srgbClr val="4D4D4D"/>
                </a:solidFill>
                <a:latin typeface="Arial MT"/>
                <a:cs typeface="Arial MT"/>
              </a:rPr>
              <a:t>	</a:t>
            </a:r>
            <a:r>
              <a:rPr dirty="0" sz="1200" spc="-50">
                <a:solidFill>
                  <a:srgbClr val="444444"/>
                </a:solidFill>
                <a:latin typeface="Arial MT"/>
                <a:cs typeface="Arial MT"/>
              </a:rPr>
              <a:t>I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	Agent</a:t>
            </a:r>
            <a:r>
              <a:rPr dirty="0" sz="1200" spc="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D5D5D"/>
                </a:solidFill>
                <a:latin typeface="Arial MT"/>
                <a:cs typeface="Arial MT"/>
              </a:rPr>
              <a:t>=</a:t>
            </a:r>
            <a:r>
              <a:rPr dirty="0" sz="1200" spc="9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525252"/>
                </a:solidFill>
                <a:latin typeface="Arial MT"/>
                <a:cs typeface="Arial MT"/>
              </a:rPr>
              <a:t>end-</a:t>
            </a:r>
            <a:r>
              <a:rPr dirty="0" sz="1200" spc="-20">
                <a:solidFill>
                  <a:srgbClr val="525252"/>
                </a:solidFill>
                <a:latin typeface="Arial MT"/>
                <a:cs typeface="Arial MT"/>
              </a:rPr>
              <a:t>to-</a:t>
            </a:r>
            <a:r>
              <a:rPr dirty="0" sz="1200">
                <a:solidFill>
                  <a:srgbClr val="525252"/>
                </a:solidFill>
                <a:latin typeface="Arial MT"/>
                <a:cs typeface="Arial MT"/>
              </a:rPr>
              <a:t>end</a:t>
            </a:r>
            <a:r>
              <a:rPr dirty="0" sz="1200" spc="-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575757"/>
                </a:solidFill>
                <a:latin typeface="Arial MT"/>
                <a:cs typeface="Arial MT"/>
              </a:rPr>
              <a:t>work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29641" y="3655107"/>
            <a:ext cx="977265" cy="45783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9539" marR="5080" indent="-117475">
              <a:lnSpc>
                <a:spcPts val="1080"/>
              </a:lnSpc>
              <a:spcBef>
                <a:spcPts val="240"/>
              </a:spcBef>
            </a:pPr>
            <a:r>
              <a:rPr dirty="0" sz="1000" spc="-90">
                <a:solidFill>
                  <a:srgbClr val="1A6254"/>
                </a:solidFill>
                <a:latin typeface="Arial MT"/>
                <a:cs typeface="Arial MT"/>
              </a:rPr>
              <a:t>4.</a:t>
            </a:r>
            <a:r>
              <a:rPr dirty="0" sz="1000" spc="-35">
                <a:solidFill>
                  <a:srgbClr val="1A6254"/>
                </a:solidFill>
                <a:latin typeface="Arial MT"/>
                <a:cs typeface="Arial MT"/>
              </a:rPr>
              <a:t> </a:t>
            </a:r>
            <a:r>
              <a:rPr dirty="0" sz="1000" spc="-150">
                <a:latin typeface="Arial MT"/>
                <a:cs typeface="Arial MT"/>
              </a:rPr>
              <a:t>Tracks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30">
                <a:latin typeface="Arial MT"/>
                <a:cs typeface="Arial MT"/>
              </a:rPr>
              <a:t>performance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and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improves</a:t>
            </a:r>
            <a:endParaRPr sz="1000">
              <a:latin typeface="Arial MT"/>
              <a:cs typeface="Arial MT"/>
            </a:endParaRPr>
          </a:p>
          <a:p>
            <a:pPr marL="126364">
              <a:lnSpc>
                <a:spcPts val="1100"/>
              </a:lnSpc>
            </a:pPr>
            <a:r>
              <a:rPr dirty="0" sz="1000" spc="-70">
                <a:latin typeface="Arial MT"/>
                <a:cs typeface="Arial MT"/>
              </a:rPr>
              <a:t>the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next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batch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033" y="4487579"/>
            <a:ext cx="420880" cy="42634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4911" y="4306837"/>
            <a:ext cx="3055620" cy="0"/>
          </a:xfrm>
          <a:custGeom>
            <a:avLst/>
            <a:gdLst/>
            <a:ahLst/>
            <a:cxnLst/>
            <a:rect l="l" t="t" r="r" b="b"/>
            <a:pathLst>
              <a:path w="3055620" h="0">
                <a:moveTo>
                  <a:pt x="0" y="0"/>
                </a:moveTo>
                <a:lnTo>
                  <a:pt x="3055121" y="0"/>
                </a:lnTo>
              </a:path>
            </a:pathLst>
          </a:custGeom>
          <a:ln w="11660">
            <a:solidFill>
              <a:srgbClr val="5B80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11217" y="3989081"/>
            <a:ext cx="472440" cy="0"/>
          </a:xfrm>
          <a:custGeom>
            <a:avLst/>
            <a:gdLst/>
            <a:ahLst/>
            <a:cxnLst/>
            <a:rect l="l" t="t" r="r" b="b"/>
            <a:pathLst>
              <a:path w="472439" h="0">
                <a:moveTo>
                  <a:pt x="0" y="0"/>
                </a:moveTo>
                <a:lnTo>
                  <a:pt x="472261" y="0"/>
                </a:lnTo>
              </a:path>
            </a:pathLst>
          </a:custGeom>
          <a:ln w="11660">
            <a:solidFill>
              <a:srgbClr val="447C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4765" y="3994911"/>
            <a:ext cx="659130" cy="0"/>
          </a:xfrm>
          <a:custGeom>
            <a:avLst/>
            <a:gdLst/>
            <a:ahLst/>
            <a:cxnLst/>
            <a:rect l="l" t="t" r="r" b="b"/>
            <a:pathLst>
              <a:path w="659129" h="0">
                <a:moveTo>
                  <a:pt x="0" y="0"/>
                </a:moveTo>
                <a:lnTo>
                  <a:pt x="658833" y="0"/>
                </a:lnTo>
              </a:path>
            </a:pathLst>
          </a:custGeom>
          <a:ln w="11660">
            <a:solidFill>
              <a:srgbClr val="4877A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74022" y="3994911"/>
            <a:ext cx="236220" cy="0"/>
          </a:xfrm>
          <a:custGeom>
            <a:avLst/>
            <a:gdLst/>
            <a:ahLst/>
            <a:cxnLst/>
            <a:rect l="l" t="t" r="r" b="b"/>
            <a:pathLst>
              <a:path w="236220" h="0">
                <a:moveTo>
                  <a:pt x="0" y="0"/>
                </a:moveTo>
                <a:lnTo>
                  <a:pt x="236130" y="0"/>
                </a:lnTo>
              </a:path>
            </a:pathLst>
          </a:custGeom>
          <a:ln w="116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3763" y="2098940"/>
            <a:ext cx="71058" cy="76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2390" y="2672869"/>
            <a:ext cx="163979" cy="1639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71254" y="1240779"/>
            <a:ext cx="65591" cy="710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6118" y="3263197"/>
            <a:ext cx="415414" cy="7105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69642" y="3241333"/>
            <a:ext cx="109319" cy="1038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5457" y="1229847"/>
            <a:ext cx="475540" cy="7105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8481" y="2705666"/>
            <a:ext cx="38261" cy="3826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91702" y="1541410"/>
            <a:ext cx="453676" cy="4919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69209" y="2232858"/>
            <a:ext cx="584860" cy="1831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30948" y="2787656"/>
            <a:ext cx="322493" cy="4919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76837" y="1732719"/>
            <a:ext cx="486472" cy="14758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47896" y="2694734"/>
            <a:ext cx="426346" cy="601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47896" y="2886044"/>
            <a:ext cx="519268" cy="6559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96264" y="4607831"/>
            <a:ext cx="1076798" cy="25690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204444" y="2098940"/>
            <a:ext cx="180377" cy="18037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8891" y="1240779"/>
            <a:ext cx="513802" cy="6559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4357" y="2044280"/>
            <a:ext cx="508336" cy="9292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25992" y="1235313"/>
            <a:ext cx="1207982" cy="8198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361855" y="1842039"/>
            <a:ext cx="300629" cy="6559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30948" y="2880578"/>
            <a:ext cx="1754581" cy="25416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230948" y="3268663"/>
            <a:ext cx="617656" cy="10385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247896" y="2339445"/>
            <a:ext cx="601258" cy="60125"/>
          </a:xfrm>
          <a:prstGeom prst="rect">
            <a:avLst/>
          </a:prstGeom>
        </p:spPr>
      </p:pic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1288119" y="-856"/>
            <a:ext cx="683895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>
                <a:solidFill>
                  <a:srgbClr val="050C26"/>
                </a:solidFill>
                <a:latin typeface="Arial MT"/>
                <a:cs typeface="Arial MT"/>
              </a:rPr>
              <a:t>From</a:t>
            </a:r>
            <a:r>
              <a:rPr dirty="0" sz="3150" spc="-80">
                <a:solidFill>
                  <a:srgbClr val="050C26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031131"/>
                </a:solidFill>
                <a:latin typeface="Arial MT"/>
                <a:cs typeface="Arial MT"/>
              </a:rPr>
              <a:t>Browser</a:t>
            </a:r>
            <a:r>
              <a:rPr dirty="0" sz="3150" spc="65">
                <a:solidFill>
                  <a:srgbClr val="031131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0E0E0E"/>
                </a:solidFill>
                <a:latin typeface="Arial MT"/>
                <a:cs typeface="Arial MT"/>
              </a:rPr>
              <a:t>Chat</a:t>
            </a:r>
            <a:r>
              <a:rPr dirty="0" sz="3150" spc="-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150" spc="100">
                <a:solidFill>
                  <a:srgbClr val="007775"/>
                </a:solidFill>
                <a:latin typeface="Arial MT"/>
                <a:cs typeface="Arial MT"/>
              </a:rPr>
              <a:t>to</a:t>
            </a:r>
            <a:r>
              <a:rPr dirty="0" sz="3150" spc="-195">
                <a:solidFill>
                  <a:srgbClr val="007775"/>
                </a:solidFill>
                <a:latin typeface="Arial MT"/>
                <a:cs typeface="Arial MT"/>
              </a:rPr>
              <a:t> </a:t>
            </a:r>
            <a:r>
              <a:rPr dirty="0" sz="3150" spc="-10">
                <a:solidFill>
                  <a:srgbClr val="088080"/>
                </a:solidFill>
                <a:latin typeface="Arial MT"/>
                <a:cs typeface="Arial MT"/>
              </a:rPr>
              <a:t>General</a:t>
            </a:r>
            <a:r>
              <a:rPr dirty="0" sz="3150" spc="35">
                <a:solidFill>
                  <a:srgbClr val="088080"/>
                </a:solidFill>
                <a:latin typeface="Arial MT"/>
                <a:cs typeface="Arial MT"/>
              </a:rPr>
              <a:t> </a:t>
            </a:r>
            <a:r>
              <a:rPr dirty="0" sz="3150" spc="-10">
                <a:solidFill>
                  <a:srgbClr val="008E90"/>
                </a:solidFill>
                <a:latin typeface="Arial MT"/>
                <a:cs typeface="Arial MT"/>
              </a:rPr>
              <a:t>Agents</a:t>
            </a:r>
            <a:endParaRPr sz="31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2698" y="840906"/>
            <a:ext cx="13500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036DDF"/>
                </a:solidFill>
                <a:latin typeface="Arial MT"/>
                <a:cs typeface="Arial MT"/>
              </a:rPr>
              <a:t>1.</a:t>
            </a:r>
            <a:r>
              <a:rPr dirty="0" sz="1400" spc="60">
                <a:solidFill>
                  <a:srgbClr val="036DD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70D4"/>
                </a:solidFill>
                <a:latin typeface="Arial MT"/>
                <a:cs typeface="Arial MT"/>
              </a:rPr>
              <a:t>Browser</a:t>
            </a:r>
            <a:r>
              <a:rPr dirty="0" sz="1400" spc="220">
                <a:solidFill>
                  <a:srgbClr val="1670D4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0A62C3"/>
                </a:solidFill>
                <a:latin typeface="Arial MT"/>
                <a:cs typeface="Arial MT"/>
              </a:rPr>
              <a:t>Chat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4733" y="1529621"/>
            <a:ext cx="349250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>
                <a:solidFill>
                  <a:srgbClr val="2D5087"/>
                </a:solidFill>
                <a:latin typeface="Times New Roman"/>
                <a:cs typeface="Times New Roman"/>
              </a:rPr>
              <a:t>New</a:t>
            </a:r>
            <a:r>
              <a:rPr dirty="0" sz="550" spc="140">
                <a:solidFill>
                  <a:srgbClr val="2D5087"/>
                </a:solidFill>
                <a:latin typeface="Times New Roman"/>
                <a:cs typeface="Times New Roman"/>
              </a:rPr>
              <a:t> </a:t>
            </a:r>
            <a:r>
              <a:rPr dirty="0" sz="550" spc="-20">
                <a:solidFill>
                  <a:srgbClr val="507290"/>
                </a:solidFill>
                <a:latin typeface="Times New Roman"/>
                <a:cs typeface="Times New Roman"/>
              </a:rPr>
              <a:t>Chat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1957" y="1791988"/>
            <a:ext cx="256540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 spc="-100">
                <a:solidFill>
                  <a:srgbClr val="525252"/>
                </a:solidFill>
                <a:latin typeface="Times New Roman"/>
                <a:cs typeface="Times New Roman"/>
              </a:rPr>
              <a:t>I</a:t>
            </a:r>
            <a:r>
              <a:rPr dirty="0" sz="550" spc="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383838"/>
                </a:solidFill>
                <a:latin typeface="Times New Roman"/>
                <a:cs typeface="Times New Roman"/>
              </a:rPr>
              <a:t>list</a:t>
            </a:r>
            <a:r>
              <a:rPr dirty="0" sz="550" spc="-5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550" spc="-85">
                <a:solidFill>
                  <a:srgbClr val="666666"/>
                </a:solidFill>
                <a:latin typeface="Times New Roman"/>
                <a:cs typeface="Times New Roman"/>
              </a:rPr>
              <a:t>Of</a:t>
            </a:r>
            <a:r>
              <a:rPr dirty="0" sz="550" spc="-3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550" spc="-50">
                <a:solidFill>
                  <a:srgbClr val="464646"/>
                </a:solidFill>
                <a:latin typeface="Times New Roman"/>
                <a:cs typeface="Times New Roman"/>
              </a:rPr>
              <a:t>y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8458" y="2260848"/>
            <a:ext cx="29146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10">
                <a:solidFill>
                  <a:srgbClr val="181818"/>
                </a:solidFill>
                <a:latin typeface="Times New Roman"/>
                <a:cs typeface="Times New Roman"/>
              </a:rPr>
              <a:t>Set:ings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6324" y="1744009"/>
            <a:ext cx="182880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50">
                <a:solidFill>
                  <a:srgbClr val="0C8C8C"/>
                </a:solidFill>
                <a:latin typeface="Times New Roman"/>
                <a:cs typeface="Times New Roman"/>
              </a:rPr>
              <a:t>O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47381" y="1462813"/>
            <a:ext cx="790575" cy="22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 marR="5080" indent="-3810">
              <a:lnSpc>
                <a:spcPct val="102099"/>
              </a:lnSpc>
              <a:spcBef>
                <a:spcPts val="100"/>
              </a:spcBef>
            </a:pPr>
            <a:r>
              <a:rPr dirty="0" sz="650" spc="-35">
                <a:solidFill>
                  <a:srgbClr val="627C95"/>
                </a:solidFill>
                <a:latin typeface="Consolas"/>
                <a:cs typeface="Consolas"/>
              </a:rPr>
              <a:t>Canyouexp|ainvvhat </a:t>
            </a:r>
            <a:r>
              <a:rPr dirty="0" sz="650" spc="-10">
                <a:solidFill>
                  <a:srgbClr val="1D1D1D"/>
                </a:solidFill>
                <a:latin typeface="Consolas"/>
                <a:cs typeface="Consolas"/>
              </a:rPr>
              <a:t>APlmeums?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00768" y="1790166"/>
            <a:ext cx="1286510" cy="535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 marR="30480" indent="3810">
              <a:lnSpc>
                <a:spcPct val="101099"/>
              </a:lnSpc>
              <a:spcBef>
                <a:spcPts val="105"/>
              </a:spcBef>
            </a:pPr>
            <a:r>
              <a:rPr dirty="0" sz="650" spc="-10">
                <a:solidFill>
                  <a:srgbClr val="131313"/>
                </a:solidFill>
                <a:latin typeface="Arial MT"/>
                <a:cs typeface="Arial MT"/>
              </a:rPr>
              <a:t>An</a:t>
            </a:r>
            <a:r>
              <a:rPr dirty="0" sz="65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45">
                <a:latin typeface="Arial MT"/>
                <a:cs typeface="Arial MT"/>
              </a:rPr>
              <a:t>API</a:t>
            </a:r>
            <a:r>
              <a:rPr dirty="0" sz="65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(Application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Programmin</a:t>
            </a:r>
            <a:r>
              <a:rPr dirty="0" baseline="-11904" sz="1050" spc="-15">
                <a:solidFill>
                  <a:srgbClr val="2D2D2D"/>
                </a:solidFill>
                <a:latin typeface="Courier New"/>
                <a:cs typeface="Courier New"/>
              </a:rPr>
              <a:t>9 </a:t>
            </a:r>
            <a:r>
              <a:rPr dirty="0" sz="650">
                <a:latin typeface="Times New Roman"/>
                <a:cs typeface="Times New Roman"/>
              </a:rPr>
              <a:t>Interface)</a:t>
            </a:r>
            <a:r>
              <a:rPr dirty="0" sz="650" spc="12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is</a:t>
            </a:r>
            <a:r>
              <a:rPr dirty="0" sz="650" spc="40"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6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set</a:t>
            </a:r>
            <a:r>
              <a:rPr dirty="0" sz="650" spc="10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of</a:t>
            </a:r>
            <a:r>
              <a:rPr dirty="0" sz="650" spc="15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rules</a:t>
            </a:r>
            <a:r>
              <a:rPr dirty="0" sz="650" spc="50">
                <a:latin typeface="Times New Roman"/>
                <a:cs typeface="Times New Roman"/>
              </a:rPr>
              <a:t> </a:t>
            </a:r>
            <a:r>
              <a:rPr dirty="0" sz="650" spc="-25">
                <a:latin typeface="Times New Roman"/>
                <a:cs typeface="Times New Roman"/>
              </a:rPr>
              <a:t>and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0E0E0E"/>
                </a:solidFill>
                <a:latin typeface="Times New Roman"/>
                <a:cs typeface="Times New Roman"/>
              </a:rPr>
              <a:t>protocols</a:t>
            </a:r>
            <a:r>
              <a:rPr dirty="0" sz="650" spc="114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that</a:t>
            </a:r>
            <a:r>
              <a:rPr dirty="0" sz="650" spc="14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allows</a:t>
            </a:r>
            <a:r>
              <a:rPr dirty="0" sz="650" spc="130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different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software</a:t>
            </a:r>
            <a:r>
              <a:rPr dirty="0" sz="650" spc="229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applications</a:t>
            </a:r>
            <a:r>
              <a:rPr dirty="0" sz="650" spc="260">
                <a:latin typeface="Times New Roman"/>
                <a:cs typeface="Times New Roman"/>
              </a:rPr>
              <a:t> </a:t>
            </a:r>
            <a:r>
              <a:rPr dirty="0" sz="650" spc="-25">
                <a:latin typeface="Times New Roman"/>
                <a:cs typeface="Times New Roman"/>
              </a:rPr>
              <a:t>to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sz="650" spc="10">
                <a:latin typeface="Times New Roman"/>
                <a:cs typeface="Times New Roman"/>
              </a:rPr>
              <a:t>communicate</a:t>
            </a:r>
            <a:r>
              <a:rPr dirty="0" sz="650" spc="145">
                <a:latin typeface="Times New Roman"/>
                <a:cs typeface="Times New Roman"/>
              </a:rPr>
              <a:t> </a:t>
            </a:r>
            <a:r>
              <a:rPr dirty="0" sz="650" spc="10">
                <a:latin typeface="Times New Roman"/>
                <a:cs typeface="Times New Roman"/>
              </a:rPr>
              <a:t>with</a:t>
            </a:r>
            <a:r>
              <a:rPr dirty="0" sz="650" spc="160">
                <a:latin typeface="Times New Roman"/>
                <a:cs typeface="Times New Roman"/>
              </a:rPr>
              <a:t> </a:t>
            </a:r>
            <a:r>
              <a:rPr dirty="0" sz="650" spc="10">
                <a:latin typeface="Times New Roman"/>
                <a:cs typeface="Times New Roman"/>
              </a:rPr>
              <a:t>each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other.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08992" y="471040"/>
            <a:ext cx="382651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90">
                <a:solidFill>
                  <a:srgbClr val="1C1C1C"/>
                </a:solidFill>
                <a:latin typeface="Cambria"/>
                <a:cs typeface="Cambria"/>
              </a:rPr>
              <a:t>Hovr</a:t>
            </a:r>
            <a:r>
              <a:rPr dirty="0" sz="1300" spc="6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2D2D2D"/>
                </a:solidFill>
                <a:latin typeface="Cambria"/>
                <a:cs typeface="Cambria"/>
              </a:rPr>
              <a:t>most</a:t>
            </a:r>
            <a:r>
              <a:rPr dirty="0" sz="1300" spc="33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1F1F1F"/>
                </a:solidFill>
                <a:latin typeface="Cambria"/>
                <a:cs typeface="Cambria"/>
              </a:rPr>
              <a:t>eade</a:t>
            </a:r>
            <a:r>
              <a:rPr dirty="0" sz="1300" spc="7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1F1F1F"/>
                </a:solidFill>
                <a:latin typeface="Cambria"/>
                <a:cs typeface="Cambria"/>
              </a:rPr>
              <a:t>s</a:t>
            </a:r>
            <a:r>
              <a:rPr dirty="0" sz="1300" spc="-5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262626"/>
                </a:solidFill>
                <a:latin typeface="Cambria"/>
                <a:cs typeface="Cambria"/>
              </a:rPr>
              <a:t>first</a:t>
            </a:r>
            <a:r>
              <a:rPr dirty="0" sz="1300" spc="7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1300" spc="-25">
                <a:solidFill>
                  <a:srgbClr val="282828"/>
                </a:solidFill>
                <a:latin typeface="Cambria"/>
                <a:cs typeface="Cambria"/>
              </a:rPr>
              <a:t>meet</a:t>
            </a:r>
            <a:r>
              <a:rPr dirty="0" sz="1300" spc="8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1300" spc="-40">
                <a:solidFill>
                  <a:srgbClr val="2D2D2D"/>
                </a:solidFill>
                <a:latin typeface="Cambria"/>
                <a:cs typeface="Cambria"/>
              </a:rPr>
              <a:t>Al</a:t>
            </a:r>
            <a:r>
              <a:rPr dirty="0" sz="1300" spc="1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1D1D1D"/>
                </a:solidFill>
                <a:latin typeface="Cambria"/>
                <a:cs typeface="Cambria"/>
              </a:rPr>
              <a:t>—</a:t>
            </a:r>
            <a:r>
              <a:rPr dirty="0" sz="1300" spc="-25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dirty="0" sz="1300" spc="-20">
                <a:solidFill>
                  <a:srgbClr val="2F2F2F"/>
                </a:solidFill>
                <a:latin typeface="Cambria"/>
                <a:cs typeface="Cambria"/>
              </a:rPr>
              <a:t>and</a:t>
            </a:r>
            <a:r>
              <a:rPr dirty="0" sz="1300" spc="65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262626"/>
                </a:solidFill>
                <a:latin typeface="Cambria"/>
                <a:cs typeface="Cambria"/>
              </a:rPr>
              <a:t>mat</a:t>
            </a:r>
            <a:r>
              <a:rPr dirty="0" sz="1300" spc="465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1A1A1A"/>
                </a:solidFill>
                <a:latin typeface="Cambria"/>
                <a:cs typeface="Cambria"/>
              </a:rPr>
              <a:t>comes</a:t>
            </a:r>
            <a:r>
              <a:rPr dirty="0" sz="1300" spc="55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1300" spc="-20">
                <a:solidFill>
                  <a:srgbClr val="282828"/>
                </a:solidFill>
                <a:latin typeface="Cambria"/>
                <a:cs typeface="Cambria"/>
              </a:rPr>
              <a:t>next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46966" y="2419362"/>
            <a:ext cx="104711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5">
                <a:solidFill>
                  <a:srgbClr val="5D7590"/>
                </a:solidFill>
                <a:latin typeface="Arial MT"/>
                <a:cs typeface="Arial MT"/>
              </a:rPr>
              <a:t>Can</a:t>
            </a:r>
            <a:r>
              <a:rPr dirty="0" sz="650" spc="10">
                <a:solidFill>
                  <a:srgbClr val="5D7590"/>
                </a:solidFill>
                <a:latin typeface="Arial MT"/>
                <a:cs typeface="Arial MT"/>
              </a:rPr>
              <a:t> </a:t>
            </a:r>
            <a:r>
              <a:rPr dirty="0" sz="650" spc="-50">
                <a:solidFill>
                  <a:srgbClr val="213D54"/>
                </a:solidFill>
                <a:latin typeface="Arial MT"/>
                <a:cs typeface="Arial MT"/>
              </a:rPr>
              <a:t>you</a:t>
            </a:r>
            <a:r>
              <a:rPr dirty="0" sz="650" spc="-5">
                <a:solidFill>
                  <a:srgbClr val="213D54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00E1F"/>
                </a:solidFill>
                <a:latin typeface="Arial MT"/>
                <a:cs typeface="Arial MT"/>
              </a:rPr>
              <a:t>give</a:t>
            </a:r>
            <a:r>
              <a:rPr dirty="0" sz="650" spc="5">
                <a:solidFill>
                  <a:srgbClr val="000E1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F3A50"/>
                </a:solidFill>
                <a:latin typeface="Arial MT"/>
                <a:cs typeface="Arial MT"/>
              </a:rPr>
              <a:t>me</a:t>
            </a:r>
            <a:r>
              <a:rPr dirty="0" sz="650" spc="-35">
                <a:solidFill>
                  <a:srgbClr val="1F3A50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00315"/>
                </a:solidFill>
                <a:latin typeface="Arial MT"/>
                <a:cs typeface="Arial MT"/>
              </a:rPr>
              <a:t>an</a:t>
            </a:r>
            <a:r>
              <a:rPr dirty="0" sz="650" spc="-10">
                <a:solidFill>
                  <a:srgbClr val="000315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61616"/>
                </a:solidFill>
                <a:latin typeface="Arial MT"/>
                <a:cs typeface="Arial MT"/>
              </a:rPr>
              <a:t>example?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19249" y="2648934"/>
            <a:ext cx="1239520" cy="433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70">
              <a:lnSpc>
                <a:spcPct val="103000"/>
              </a:lnSpc>
              <a:spcBef>
                <a:spcPts val="95"/>
              </a:spcBef>
            </a:pPr>
            <a:r>
              <a:rPr dirty="0" sz="650" spc="-20">
                <a:latin typeface="Arial MT"/>
                <a:cs typeface="Arial MT"/>
              </a:rPr>
              <a:t>Sure!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6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example,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7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6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weather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app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might</a:t>
            </a:r>
            <a:r>
              <a:rPr dirty="0" sz="650" spc="-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use </a:t>
            </a:r>
            <a:r>
              <a:rPr dirty="0" sz="65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650" spc="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weather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API</a:t>
            </a:r>
            <a:r>
              <a:rPr dirty="0" sz="650">
                <a:latin typeface="Arial MT"/>
                <a:cs typeface="Arial MT"/>
              </a:rPr>
              <a:t> to</a:t>
            </a:r>
            <a:r>
              <a:rPr dirty="0" sz="650" spc="-30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11111"/>
                </a:solidFill>
                <a:latin typeface="Arial MT"/>
                <a:cs typeface="Arial MT"/>
              </a:rPr>
              <a:t>get</a:t>
            </a:r>
            <a:r>
              <a:rPr dirty="0" sz="6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real-</a:t>
            </a:r>
            <a:r>
              <a:rPr dirty="0" sz="650">
                <a:latin typeface="Arial MT"/>
                <a:cs typeface="Arial MT"/>
              </a:rPr>
              <a:t>time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data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from</a:t>
            </a:r>
            <a:r>
              <a:rPr dirty="0" sz="650" spc="-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weather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service.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0595" y="3481588"/>
            <a:ext cx="2698115" cy="69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1270">
              <a:lnSpc>
                <a:spcPct val="11210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Most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readers</a:t>
            </a:r>
            <a:r>
              <a:rPr dirty="0" sz="800" spc="10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first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meet</a:t>
            </a:r>
            <a:r>
              <a:rPr dirty="0" sz="800" spc="85"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C1C1C"/>
                </a:solidFill>
                <a:latin typeface="Arial MT"/>
                <a:cs typeface="Arial MT"/>
              </a:rPr>
              <a:t>AI</a:t>
            </a:r>
            <a:r>
              <a:rPr dirty="0" sz="800" spc="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through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browser-</a:t>
            </a:r>
            <a:r>
              <a:rPr dirty="0" sz="800">
                <a:latin typeface="Arial MT"/>
                <a:cs typeface="Arial MT"/>
              </a:rPr>
              <a:t>based</a:t>
            </a:r>
            <a:r>
              <a:rPr dirty="0" sz="800" spc="13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LLM.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log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into</a:t>
            </a:r>
            <a:r>
              <a:rPr dirty="0" sz="80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ChatGPT,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Claude,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Gemini,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another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model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start</a:t>
            </a:r>
            <a:r>
              <a:rPr dirty="0" sz="800" spc="8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typing</a:t>
            </a:r>
            <a:r>
              <a:rPr dirty="0" sz="800" spc="8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 a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chat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window.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tabLst>
                <a:tab pos="821055" algn="l"/>
                <a:tab pos="1477010" algn="l"/>
                <a:tab pos="2122170" algn="l"/>
              </a:tabLst>
            </a:pPr>
            <a:r>
              <a:rPr dirty="0" sz="800">
                <a:solidFill>
                  <a:srgbClr val="42726D"/>
                </a:solidFill>
                <a:latin typeface="Times New Roman"/>
                <a:cs typeface="Times New Roman"/>
              </a:rPr>
              <a:t>Cl</a:t>
            </a:r>
            <a:r>
              <a:rPr dirty="0" sz="800" spc="60">
                <a:solidFill>
                  <a:srgbClr val="42726D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42726D"/>
                </a:solidFill>
                <a:latin typeface="Times New Roman"/>
                <a:cs typeface="Times New Roman"/>
              </a:rPr>
              <a:t>at</a:t>
            </a:r>
            <a:r>
              <a:rPr dirty="0" sz="800" spc="-40">
                <a:solidFill>
                  <a:srgbClr val="42726D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42726D"/>
                </a:solidFill>
                <a:latin typeface="Times New Roman"/>
                <a:cs typeface="Times New Roman"/>
              </a:rPr>
              <a:t>CPT</a:t>
            </a:r>
            <a:r>
              <a:rPr dirty="0" sz="800">
                <a:solidFill>
                  <a:srgbClr val="42726D"/>
                </a:solidFill>
                <a:latin typeface="Times New Roman"/>
                <a:cs typeface="Times New Roman"/>
              </a:rPr>
              <a:t>	</a:t>
            </a:r>
            <a:r>
              <a:rPr dirty="0" sz="800" spc="-10">
                <a:latin typeface="Times New Roman"/>
                <a:cs typeface="Times New Roman"/>
              </a:rPr>
              <a:t>Claude</a:t>
            </a:r>
            <a:r>
              <a:rPr dirty="0" sz="800">
                <a:latin typeface="Times New Roman"/>
                <a:cs typeface="Times New Roman"/>
              </a:rPr>
              <a:t>	</a:t>
            </a:r>
            <a:r>
              <a:rPr dirty="0" sz="800" spc="-10">
                <a:solidFill>
                  <a:srgbClr val="364F77"/>
                </a:solidFill>
                <a:latin typeface="Times New Roman"/>
                <a:cs typeface="Times New Roman"/>
              </a:rPr>
              <a:t>Gemini</a:t>
            </a:r>
            <a:r>
              <a:rPr dirty="0" sz="800">
                <a:solidFill>
                  <a:srgbClr val="364F77"/>
                </a:solidFill>
                <a:latin typeface="Times New Roman"/>
                <a:cs typeface="Times New Roman"/>
              </a:rPr>
              <a:t>	</a:t>
            </a:r>
            <a:r>
              <a:rPr dirty="0" sz="800">
                <a:solidFill>
                  <a:srgbClr val="806BC3"/>
                </a:solidFill>
                <a:latin typeface="Times New Roman"/>
                <a:cs typeface="Times New Roman"/>
              </a:rPr>
              <a:t>Other</a:t>
            </a:r>
            <a:r>
              <a:rPr dirty="0" sz="800" spc="355">
                <a:solidFill>
                  <a:srgbClr val="806BC3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5D4B9E"/>
                </a:solidFill>
                <a:latin typeface="Times New Roman"/>
                <a:cs typeface="Times New Roman"/>
              </a:rPr>
              <a:t>LLMs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66328" y="905283"/>
            <a:ext cx="16319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03A19A"/>
                </a:solidFill>
                <a:latin typeface="Arial MT"/>
                <a:cs typeface="Arial MT"/>
              </a:rPr>
              <a:t>O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06394" y="828759"/>
            <a:ext cx="1497330" cy="48323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30">
                <a:solidFill>
                  <a:srgbClr val="037C72"/>
                </a:solidFill>
                <a:latin typeface="Arial MT"/>
                <a:cs typeface="Arial MT"/>
              </a:rPr>
              <a:t>2.</a:t>
            </a:r>
            <a:r>
              <a:rPr dirty="0" sz="1500" spc="-75">
                <a:solidFill>
                  <a:srgbClr val="037C72"/>
                </a:solidFill>
                <a:latin typeface="Arial MT"/>
                <a:cs typeface="Arial MT"/>
              </a:rPr>
              <a:t> </a:t>
            </a:r>
            <a:r>
              <a:rPr dirty="0" sz="1500" spc="-40">
                <a:solidFill>
                  <a:srgbClr val="0E9583"/>
                </a:solidFill>
                <a:latin typeface="Arial MT"/>
                <a:cs typeface="Arial MT"/>
              </a:rPr>
              <a:t>General </a:t>
            </a:r>
            <a:r>
              <a:rPr dirty="0" sz="1500" spc="-10">
                <a:solidFill>
                  <a:srgbClr val="008277"/>
                </a:solidFill>
                <a:latin typeface="Arial MT"/>
                <a:cs typeface="Arial MT"/>
              </a:rPr>
              <a:t>Agents</a:t>
            </a:r>
            <a:endParaRPr sz="1500">
              <a:latin typeface="Arial MT"/>
              <a:cs typeface="Arial MT"/>
            </a:endParaRPr>
          </a:p>
          <a:p>
            <a:pPr marL="496570">
              <a:lnSpc>
                <a:spcPct val="100000"/>
              </a:lnSpc>
              <a:spcBef>
                <a:spcPts val="985"/>
              </a:spcBef>
            </a:pPr>
            <a:r>
              <a:rPr dirty="0" sz="650" spc="-10">
                <a:latin typeface="Times New Roman"/>
                <a:cs typeface="Times New Roman"/>
              </a:rPr>
              <a:t>index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1A1A1A"/>
                </a:solidFill>
                <a:latin typeface="Times New Roman"/>
                <a:cs typeface="Times New Roman"/>
              </a:rPr>
              <a:t>py</a:t>
            </a:r>
            <a:r>
              <a:rPr dirty="0" sz="650" spc="2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650" spc="-50">
                <a:solidFill>
                  <a:srgbClr val="313131"/>
                </a:solidFill>
                <a:latin typeface="Times New Roman"/>
                <a:cs typeface="Times New Roman"/>
              </a:rPr>
              <a:t>x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91799" y="2212566"/>
            <a:ext cx="742950" cy="3054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24765">
              <a:lnSpc>
                <a:spcPts val="885"/>
              </a:lnSpc>
              <a:spcBef>
                <a:spcPts val="110"/>
              </a:spcBef>
            </a:pPr>
            <a:r>
              <a:rPr dirty="0" sz="800" spc="100">
                <a:solidFill>
                  <a:srgbClr val="18506E"/>
                </a:solidFill>
                <a:latin typeface="Times New Roman"/>
                <a:cs typeface="Times New Roman"/>
              </a:rPr>
              <a:t>Move</a:t>
            </a:r>
            <a:endParaRPr sz="800">
              <a:latin typeface="Times New Roman"/>
              <a:cs typeface="Times New Roman"/>
            </a:endParaRPr>
          </a:p>
          <a:p>
            <a:pPr algn="ctr">
              <a:lnSpc>
                <a:spcPts val="1305"/>
              </a:lnSpc>
            </a:pPr>
            <a:r>
              <a:rPr dirty="0" sz="1150" spc="-55">
                <a:solidFill>
                  <a:srgbClr val="052F44"/>
                </a:solidFill>
                <a:latin typeface="Times New Roman"/>
                <a:cs typeface="Times New Roman"/>
              </a:rPr>
              <a:t>Beyond</a:t>
            </a:r>
            <a:r>
              <a:rPr dirty="0" sz="1150" spc="25">
                <a:solidFill>
                  <a:srgbClr val="052F44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02836"/>
                </a:solidFill>
                <a:latin typeface="Times New Roman"/>
                <a:cs typeface="Times New Roman"/>
              </a:rPr>
              <a:t>Chat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83938" y="1902523"/>
            <a:ext cx="695960" cy="739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3189" marR="156845" indent="5715">
              <a:lnSpc>
                <a:spcPct val="155400"/>
              </a:lnSpc>
              <a:spcBef>
                <a:spcPts val="95"/>
              </a:spcBef>
            </a:pPr>
            <a:r>
              <a:rPr dirty="0" sz="600">
                <a:solidFill>
                  <a:srgbClr val="0079D4"/>
                </a:solidFill>
                <a:latin typeface="Consolas"/>
                <a:cs typeface="Consolas"/>
              </a:rPr>
              <a:t>w#</a:t>
            </a:r>
            <a:r>
              <a:rPr dirty="0" sz="600" spc="75">
                <a:solidFill>
                  <a:srgbClr val="0079D4"/>
                </a:solidFill>
                <a:latin typeface="Consolas"/>
                <a:cs typeface="Consolas"/>
              </a:rPr>
              <a:t> </a:t>
            </a:r>
            <a:r>
              <a:rPr dirty="0" sz="600" spc="-35">
                <a:latin typeface="Consolas"/>
                <a:cs typeface="Consolas"/>
              </a:rPr>
              <a:t>indexpy </a:t>
            </a:r>
            <a:r>
              <a:rPr dirty="0" sz="600">
                <a:solidFill>
                  <a:srgbClr val="0367DA"/>
                </a:solidFill>
                <a:latin typeface="Consolas"/>
                <a:cs typeface="Consolas"/>
              </a:rPr>
              <a:t>r#</a:t>
            </a:r>
            <a:r>
              <a:rPr dirty="0" sz="600" spc="135">
                <a:solidFill>
                  <a:srgbClr val="0367DA"/>
                </a:solidFill>
                <a:latin typeface="Consolas"/>
                <a:cs typeface="Consolas"/>
              </a:rPr>
              <a:t> </a:t>
            </a:r>
            <a:r>
              <a:rPr dirty="0" sz="600" spc="-40">
                <a:latin typeface="Consolas"/>
                <a:cs typeface="Consolas"/>
              </a:rPr>
              <a:t>utilspy</a:t>
            </a:r>
            <a:endParaRPr sz="600">
              <a:latin typeface="Consolas"/>
              <a:cs typeface="Consolas"/>
            </a:endParaRPr>
          </a:p>
          <a:p>
            <a:pPr algn="ctr" marR="142240">
              <a:lnSpc>
                <a:spcPts val="885"/>
              </a:lnSpc>
              <a:spcBef>
                <a:spcPts val="220"/>
              </a:spcBef>
            </a:pPr>
            <a:r>
              <a:rPr dirty="0" sz="800" spc="-10">
                <a:latin typeface="Times New Roman"/>
                <a:cs typeface="Times New Roman"/>
              </a:rPr>
              <a:t>tests</a:t>
            </a:r>
            <a:endParaRPr sz="800">
              <a:latin typeface="Times New Roman"/>
              <a:cs typeface="Times New Roman"/>
            </a:endParaRPr>
          </a:p>
          <a:p>
            <a:pPr algn="ctr" marR="167005">
              <a:lnSpc>
                <a:spcPts val="1305"/>
              </a:lnSpc>
            </a:pPr>
            <a:r>
              <a:rPr dirty="0" sz="1150">
                <a:solidFill>
                  <a:srgbClr val="494949"/>
                </a:solidFill>
                <a:latin typeface="Times New Roman"/>
                <a:cs typeface="Times New Roman"/>
              </a:rPr>
              <a:t>e</a:t>
            </a:r>
            <a:r>
              <a:rPr dirty="0" sz="1150" spc="37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150" spc="95">
                <a:solidFill>
                  <a:srgbClr val="0E0E0E"/>
                </a:solidFill>
                <a:latin typeface="Times New Roman"/>
                <a:cs typeface="Times New Roman"/>
              </a:rPr>
              <a:t>,t,«.</a:t>
            </a:r>
            <a:endParaRPr sz="115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  <a:spcBef>
                <a:spcPts val="245"/>
              </a:spcBef>
            </a:pPr>
            <a:r>
              <a:rPr dirty="0" sz="600">
                <a:solidFill>
                  <a:srgbClr val="262626"/>
                </a:solidFill>
                <a:latin typeface="Times New Roman"/>
                <a:cs typeface="Times New Roman"/>
              </a:rPr>
              <a:t>B</a:t>
            </a:r>
            <a:r>
              <a:rPr dirty="0" sz="600" spc="185">
                <a:solidFill>
                  <a:srgbClr val="262626"/>
                </a:solidFill>
                <a:latin typeface="Times New Roman"/>
                <a:cs typeface="Times New Roman"/>
              </a:rPr>
              <a:t>  </a:t>
            </a:r>
            <a:r>
              <a:rPr dirty="0" sz="600" spc="-10">
                <a:latin typeface="Times New Roman"/>
                <a:cs typeface="Times New Roman"/>
              </a:rPr>
              <a:t>r</a:t>
            </a:r>
            <a:r>
              <a:rPr dirty="0" baseline="-15873" sz="525" spc="-15">
                <a:latin typeface="Times New Roman"/>
                <a:cs typeface="Times New Roman"/>
              </a:rPr>
              <a:t>e</a:t>
            </a:r>
            <a:r>
              <a:rPr dirty="0" sz="600" spc="-10">
                <a:latin typeface="Times New Roman"/>
                <a:cs typeface="Times New Roman"/>
              </a:rPr>
              <a:t>quir</a:t>
            </a:r>
            <a:r>
              <a:rPr dirty="0" baseline="-15873" sz="525" spc="-15">
                <a:latin typeface="Times New Roman"/>
                <a:cs typeface="Times New Roman"/>
              </a:rPr>
              <a:t>e</a:t>
            </a:r>
            <a:r>
              <a:rPr dirty="0" sz="600" spc="-10">
                <a:latin typeface="Times New Roman"/>
                <a:cs typeface="Times New Roman"/>
              </a:rPr>
              <a:t>m</a:t>
            </a:r>
            <a:r>
              <a:rPr dirty="0" baseline="-9259" sz="900" spc="-15">
                <a:latin typeface="Times New Roman"/>
                <a:cs typeface="Times New Roman"/>
              </a:rPr>
              <a:t>e</a:t>
            </a:r>
            <a:r>
              <a:rPr dirty="0" sz="600" spc="-10">
                <a:latin typeface="Times New Roman"/>
                <a:cs typeface="Times New Roman"/>
              </a:rPr>
              <a:t>nts.‹.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34061" y="4428763"/>
            <a:ext cx="2266315" cy="467359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F75DA"/>
                </a:solidFill>
                <a:latin typeface="Arial Black"/>
                <a:cs typeface="Arial Black"/>
              </a:rPr>
              <a:t>Chat:</a:t>
            </a:r>
            <a:r>
              <a:rPr dirty="0" sz="1200" spc="325">
                <a:solidFill>
                  <a:srgbClr val="0F75DA"/>
                </a:solidFill>
                <a:latin typeface="Arial Black"/>
                <a:cs typeface="Arial Black"/>
              </a:rPr>
              <a:t> </a:t>
            </a:r>
            <a:r>
              <a:rPr dirty="0" sz="1200" spc="-245">
                <a:latin typeface="Arial Black"/>
                <a:cs typeface="Arial Black"/>
              </a:rPr>
              <a:t>conversation</a:t>
            </a:r>
            <a:r>
              <a:rPr dirty="0" sz="1200" spc="30">
                <a:latin typeface="Arial Black"/>
                <a:cs typeface="Arial Black"/>
              </a:rPr>
              <a:t> </a:t>
            </a:r>
            <a:r>
              <a:rPr dirty="0" sz="1200" spc="-229">
                <a:latin typeface="Arial Black"/>
                <a:cs typeface="Arial Black"/>
              </a:rPr>
              <a:t>in</a:t>
            </a:r>
            <a:r>
              <a:rPr dirty="0" sz="1200" spc="-95">
                <a:latin typeface="Arial Black"/>
                <a:cs typeface="Arial Black"/>
              </a:rPr>
              <a:t> </a:t>
            </a:r>
            <a:r>
              <a:rPr dirty="0" sz="1200" spc="-345">
                <a:latin typeface="Arial Black"/>
                <a:cs typeface="Arial Black"/>
              </a:rPr>
              <a:t>a</a:t>
            </a:r>
            <a:r>
              <a:rPr dirty="0" sz="1200" spc="-80">
                <a:latin typeface="Arial Black"/>
                <a:cs typeface="Arial Black"/>
              </a:rPr>
              <a:t> </a:t>
            </a:r>
            <a:r>
              <a:rPr dirty="0" sz="1200" spc="-275">
                <a:latin typeface="Arial Black"/>
                <a:cs typeface="Arial Black"/>
              </a:rPr>
              <a:t>browser</a:t>
            </a:r>
            <a:endParaRPr sz="1200">
              <a:latin typeface="Arial Black"/>
              <a:cs typeface="Arial Black"/>
            </a:endParaRPr>
          </a:p>
          <a:p>
            <a:pPr marL="13970">
              <a:lnSpc>
                <a:spcPct val="100000"/>
              </a:lnSpc>
              <a:spcBef>
                <a:spcPts val="365"/>
              </a:spcBef>
            </a:pPr>
            <a:r>
              <a:rPr dirty="0" sz="1050" spc="-265">
                <a:latin typeface="Arial Black"/>
                <a:cs typeface="Arial Black"/>
              </a:rPr>
              <a:t>Ask</a:t>
            </a:r>
            <a:r>
              <a:rPr dirty="0" sz="1050" spc="-25">
                <a:latin typeface="Arial Black"/>
                <a:cs typeface="Arial Black"/>
              </a:rPr>
              <a:t> </a:t>
            </a:r>
            <a:r>
              <a:rPr dirty="0" sz="1050" spc="-210">
                <a:latin typeface="Arial Black"/>
                <a:cs typeface="Arial Black"/>
              </a:rPr>
              <a:t>questions.</a:t>
            </a:r>
            <a:r>
              <a:rPr dirty="0" sz="1050" spc="85">
                <a:latin typeface="Arial Black"/>
                <a:cs typeface="Arial Black"/>
              </a:rPr>
              <a:t> </a:t>
            </a:r>
            <a:r>
              <a:rPr dirty="0" sz="1050" spc="-240">
                <a:latin typeface="Arial Black"/>
                <a:cs typeface="Arial Black"/>
              </a:rPr>
              <a:t>Get</a:t>
            </a:r>
            <a:r>
              <a:rPr dirty="0" sz="1050" spc="-30">
                <a:latin typeface="Arial Black"/>
                <a:cs typeface="Arial Black"/>
              </a:rPr>
              <a:t> </a:t>
            </a:r>
            <a:r>
              <a:rPr dirty="0" sz="1050" spc="-240">
                <a:latin typeface="Arial Black"/>
                <a:cs typeface="Arial Black"/>
              </a:rPr>
              <a:t>answers.</a:t>
            </a:r>
            <a:r>
              <a:rPr dirty="0" sz="1050" spc="50">
                <a:latin typeface="Arial Black"/>
                <a:cs typeface="Arial Black"/>
              </a:rPr>
              <a:t> </a:t>
            </a:r>
            <a:r>
              <a:rPr dirty="0" sz="1050" spc="-235">
                <a:latin typeface="Arial Black"/>
                <a:cs typeface="Arial Black"/>
              </a:rPr>
              <a:t>Stay</a:t>
            </a:r>
            <a:r>
              <a:rPr dirty="0" sz="1050" spc="-20">
                <a:latin typeface="Arial Black"/>
                <a:cs typeface="Arial Black"/>
              </a:rPr>
              <a:t> </a:t>
            </a:r>
            <a:r>
              <a:rPr dirty="0" sz="1050" spc="-200">
                <a:latin typeface="Arial Black"/>
                <a:cs typeface="Arial Black"/>
              </a:rPr>
              <a:t>in</a:t>
            </a:r>
            <a:r>
              <a:rPr dirty="0" sz="1050" spc="-100">
                <a:latin typeface="Arial Black"/>
                <a:cs typeface="Arial Black"/>
              </a:rPr>
              <a:t> </a:t>
            </a:r>
            <a:r>
              <a:rPr dirty="0" sz="1050" spc="-210">
                <a:latin typeface="Arial Black"/>
                <a:cs typeface="Arial Black"/>
              </a:rPr>
              <a:t>the</a:t>
            </a:r>
            <a:r>
              <a:rPr dirty="0" sz="1050" spc="-40">
                <a:latin typeface="Arial Black"/>
                <a:cs typeface="Arial Black"/>
              </a:rPr>
              <a:t> </a:t>
            </a:r>
            <a:r>
              <a:rPr dirty="0" sz="1050" spc="-180">
                <a:latin typeface="Arial Black"/>
                <a:cs typeface="Arial Black"/>
              </a:rPr>
              <a:t>chat.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73709" y="1339524"/>
            <a:ext cx="598805" cy="44132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600">
                <a:solidFill>
                  <a:srgbClr val="565656"/>
                </a:solidFill>
                <a:latin typeface="Times New Roman"/>
                <a:cs typeface="Times New Roman"/>
              </a:rPr>
              <a:t>G</a:t>
            </a:r>
            <a:r>
              <a:rPr dirty="0" sz="600" spc="39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600" spc="-20">
                <a:latin typeface="Times New Roman"/>
                <a:cs typeface="Times New Roman"/>
              </a:rPr>
              <a:t>my-</a:t>
            </a:r>
            <a:r>
              <a:rPr dirty="0" sz="600" spc="-10">
                <a:latin typeface="Times New Roman"/>
                <a:cs typeface="Times New Roman"/>
              </a:rPr>
              <a:t>project</a:t>
            </a:r>
            <a:endParaRPr sz="6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355"/>
              </a:spcBef>
            </a:pPr>
            <a:r>
              <a:rPr dirty="0" sz="600" spc="-10">
                <a:latin typeface="Times New Roman"/>
                <a:cs typeface="Times New Roman"/>
              </a:rPr>
              <a:t>PL</a:t>
            </a:r>
            <a:r>
              <a:rPr dirty="0" sz="600" spc="95">
                <a:latin typeface="Times New Roman"/>
                <a:cs typeface="Times New Roman"/>
              </a:rPr>
              <a:t> </a:t>
            </a:r>
            <a:r>
              <a:rPr dirty="0" sz="600" spc="-40">
                <a:latin typeface="Times New Roman"/>
                <a:cs typeface="Times New Roman"/>
              </a:rPr>
              <a:t>README.md</a:t>
            </a:r>
            <a:endParaRPr sz="6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400"/>
              </a:spcBef>
            </a:pPr>
            <a:r>
              <a:rPr dirty="0" sz="600">
                <a:latin typeface="Times New Roman"/>
                <a:cs typeface="Times New Roman"/>
              </a:rPr>
              <a:t>{</a:t>
            </a:r>
            <a:r>
              <a:rPr dirty="0" sz="600" spc="-35"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111111"/>
                </a:solidFill>
                <a:latin typeface="Times New Roman"/>
                <a:cs typeface="Times New Roman"/>
              </a:rPr>
              <a:t>)</a:t>
            </a:r>
            <a:r>
              <a:rPr dirty="0" sz="60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600" spc="-10">
                <a:solidFill>
                  <a:srgbClr val="0C0C0C"/>
                </a:solidFill>
                <a:latin typeface="Times New Roman"/>
                <a:cs typeface="Times New Roman"/>
              </a:rPr>
              <a:t>package.json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58852" y="1381431"/>
            <a:ext cx="721995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4625" algn="l"/>
              </a:tabLst>
            </a:pPr>
            <a:r>
              <a:rPr dirty="0" sz="600" spc="-50">
                <a:solidFill>
                  <a:srgbClr val="676767"/>
                </a:solidFill>
                <a:latin typeface="Times New Roman"/>
                <a:cs typeface="Times New Roman"/>
              </a:rPr>
              <a:t>'</a:t>
            </a:r>
            <a:r>
              <a:rPr dirty="0" sz="600">
                <a:solidFill>
                  <a:srgbClr val="676767"/>
                </a:solidFill>
                <a:latin typeface="Times New Roman"/>
                <a:cs typeface="Times New Roman"/>
              </a:rPr>
              <a:t>	</a:t>
            </a:r>
            <a:r>
              <a:rPr dirty="0" sz="600">
                <a:solidFill>
                  <a:srgbClr val="696EA5"/>
                </a:solidFill>
                <a:latin typeface="Times New Roman"/>
                <a:cs typeface="Times New Roman"/>
              </a:rPr>
              <a:t>‹let</a:t>
            </a:r>
            <a:r>
              <a:rPr dirty="0" sz="600" spc="415">
                <a:solidFill>
                  <a:srgbClr val="696EA5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add(a,</a:t>
            </a:r>
            <a:r>
              <a:rPr dirty="0" sz="600" spc="425">
                <a:latin typeface="Times New Roman"/>
                <a:cs typeface="Times New Roman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Times New Roman"/>
                <a:cs typeface="Times New Roman"/>
              </a:rPr>
              <a:t>b):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21367" y="1705746"/>
            <a:ext cx="1170305" cy="3740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600" spc="-30">
                <a:solidFill>
                  <a:srgbClr val="5D66A3"/>
                </a:solidFill>
                <a:latin typeface="Times New Roman"/>
                <a:cs typeface="Times New Roman"/>
              </a:rPr>
              <a:t>‹.c</a:t>
            </a:r>
            <a:r>
              <a:rPr dirty="0" sz="600" spc="-40">
                <a:solidFill>
                  <a:srgbClr val="5D66A3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D59BF"/>
                </a:solidFill>
                <a:latin typeface="Times New Roman"/>
                <a:cs typeface="Times New Roman"/>
              </a:rPr>
              <a:t>I</a:t>
            </a:r>
            <a:r>
              <a:rPr dirty="0" sz="600" spc="355">
                <a:solidFill>
                  <a:srgbClr val="4D59BF"/>
                </a:solidFill>
                <a:latin typeface="Times New Roman"/>
                <a:cs typeface="Times New Roman"/>
              </a:rPr>
              <a:t> </a:t>
            </a:r>
            <a:r>
              <a:rPr dirty="0" sz="600" spc="-40">
                <a:latin typeface="Times New Roman"/>
                <a:cs typeface="Times New Roman"/>
              </a:rPr>
              <a:t>mat</a:t>
            </a:r>
            <a:r>
              <a:rPr dirty="0" sz="600" spc="-50">
                <a:latin typeface="Times New Roman"/>
                <a:cs typeface="Times New Roman"/>
              </a:rPr>
              <a:t> </a:t>
            </a:r>
            <a:r>
              <a:rPr dirty="0" sz="600" spc="-95">
                <a:latin typeface="Times New Roman"/>
                <a:cs typeface="Times New Roman"/>
              </a:rPr>
              <a:t>n</a:t>
            </a:r>
            <a:r>
              <a:rPr dirty="0" sz="600" spc="-40">
                <a:latin typeface="Times New Roman"/>
                <a:cs typeface="Times New Roman"/>
              </a:rPr>
              <a:t> </a:t>
            </a:r>
            <a:r>
              <a:rPr dirty="0" sz="600" spc="-50">
                <a:latin typeface="Times New Roman"/>
                <a:cs typeface="Times New Roman"/>
              </a:rPr>
              <a:t>(</a:t>
            </a:r>
            <a:r>
              <a:rPr dirty="0" sz="600" spc="5">
                <a:latin typeface="Times New Roman"/>
                <a:cs typeface="Times New Roman"/>
              </a:rPr>
              <a:t> </a:t>
            </a:r>
            <a:r>
              <a:rPr dirty="0" sz="600" spc="-55">
                <a:solidFill>
                  <a:srgbClr val="0F0F0F"/>
                </a:solidFill>
                <a:latin typeface="Times New Roman"/>
                <a:cs typeface="Times New Roman"/>
              </a:rPr>
              <a:t>)</a:t>
            </a:r>
            <a:r>
              <a:rPr dirty="0" sz="60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 spc="-50">
                <a:latin typeface="Times New Roman"/>
                <a:cs typeface="Times New Roman"/>
              </a:rPr>
              <a:t>:</a:t>
            </a:r>
            <a:endParaRPr sz="600">
              <a:latin typeface="Times New Roman"/>
              <a:cs typeface="Times New Roman"/>
            </a:endParaRPr>
          </a:p>
          <a:p>
            <a:pPr marL="169545">
              <a:lnSpc>
                <a:spcPct val="100000"/>
              </a:lnSpc>
              <a:spcBef>
                <a:spcPts val="204"/>
              </a:spcBef>
            </a:pPr>
            <a:r>
              <a:rPr dirty="0" sz="600" spc="55">
                <a:latin typeface="Times New Roman"/>
                <a:cs typeface="Times New Roman"/>
              </a:rPr>
              <a:t>result</a:t>
            </a:r>
            <a:r>
              <a:rPr dirty="0" sz="600" spc="370"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707070"/>
                </a:solidFill>
                <a:latin typeface="Times New Roman"/>
                <a:cs typeface="Times New Roman"/>
              </a:rPr>
              <a:t>=</a:t>
            </a:r>
            <a:r>
              <a:rPr dirty="0" sz="600" spc="330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111111"/>
                </a:solidFill>
                <a:latin typeface="Times New Roman"/>
                <a:cs typeface="Times New Roman"/>
              </a:rPr>
              <a:t>add(2,</a:t>
            </a:r>
            <a:r>
              <a:rPr dirty="0" sz="60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600" spc="-25">
                <a:solidFill>
                  <a:srgbClr val="232323"/>
                </a:solidFill>
                <a:latin typeface="Times New Roman"/>
                <a:cs typeface="Times New Roman"/>
              </a:rPr>
              <a:t>3)</a:t>
            </a:r>
            <a:endParaRPr sz="6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35"/>
              </a:spcBef>
              <a:tabLst>
                <a:tab pos="777240" algn="l"/>
              </a:tabLst>
            </a:pPr>
            <a:r>
              <a:rPr dirty="0" sz="550" spc="65">
                <a:latin typeface="Times New Roman"/>
                <a:cs typeface="Times New Roman"/>
              </a:rPr>
              <a:t>print</a:t>
            </a:r>
            <a:r>
              <a:rPr dirty="0" sz="550" spc="-20"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1F1F1F"/>
                </a:solidFill>
                <a:latin typeface="Times New Roman"/>
                <a:cs typeface="Times New Roman"/>
              </a:rPr>
              <a:t>(</a:t>
            </a:r>
            <a:r>
              <a:rPr dirty="0" sz="550">
                <a:solidFill>
                  <a:srgbClr val="89745E"/>
                </a:solidFill>
                <a:latin typeface="Times New Roman"/>
                <a:cs typeface="Times New Roman"/>
              </a:rPr>
              <a:t>'</a:t>
            </a:r>
            <a:r>
              <a:rPr dirty="0" sz="550" spc="320">
                <a:solidFill>
                  <a:srgbClr val="89745E"/>
                </a:solidFill>
                <a:latin typeface="Times New Roman"/>
                <a:cs typeface="Times New Roman"/>
              </a:rPr>
              <a:t> </a:t>
            </a:r>
            <a:r>
              <a:rPr dirty="0" sz="550" spc="-30">
                <a:solidFill>
                  <a:srgbClr val="825B3A"/>
                </a:solidFill>
                <a:latin typeface="Times New Roman"/>
                <a:cs typeface="Times New Roman"/>
              </a:rPr>
              <a:t>'</a:t>
            </a:r>
            <a:r>
              <a:rPr dirty="0" sz="550" spc="-45">
                <a:solidFill>
                  <a:srgbClr val="825B3A"/>
                </a:solidFill>
                <a:latin typeface="Times New Roman"/>
                <a:cs typeface="Times New Roman"/>
              </a:rPr>
              <a:t> </a:t>
            </a:r>
            <a:r>
              <a:rPr dirty="0" sz="550" spc="-50">
                <a:solidFill>
                  <a:srgbClr val="B3693D"/>
                </a:solidFill>
                <a:latin typeface="Times New Roman"/>
                <a:cs typeface="Times New Roman"/>
              </a:rPr>
              <a:t>'</a:t>
            </a:r>
            <a:r>
              <a:rPr dirty="0" sz="550">
                <a:solidFill>
                  <a:srgbClr val="B3693D"/>
                </a:solidFill>
                <a:latin typeface="Times New Roman"/>
                <a:cs typeface="Times New Roman"/>
              </a:rPr>
              <a:t>	</a:t>
            </a:r>
            <a:r>
              <a:rPr dirty="0" sz="550">
                <a:solidFill>
                  <a:srgbClr val="6E5950"/>
                </a:solidFill>
                <a:latin typeface="Times New Roman"/>
                <a:cs typeface="Times New Roman"/>
              </a:rPr>
              <a:t>{</a:t>
            </a:r>
            <a:r>
              <a:rPr dirty="0" sz="550" spc="-25">
                <a:solidFill>
                  <a:srgbClr val="6E5950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2F2F2F"/>
                </a:solidFill>
                <a:latin typeface="Times New Roman"/>
                <a:cs typeface="Times New Roman"/>
              </a:rPr>
              <a:t>resu</a:t>
            </a:r>
            <a:r>
              <a:rPr dirty="0" sz="550" spc="-1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49496D"/>
                </a:solidFill>
                <a:latin typeface="Times New Roman"/>
                <a:cs typeface="Times New Roman"/>
              </a:rPr>
              <a:t>£t</a:t>
            </a:r>
            <a:r>
              <a:rPr dirty="0" sz="550" spc="40">
                <a:solidFill>
                  <a:srgbClr val="49496D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906956"/>
                </a:solidFill>
                <a:latin typeface="Times New Roman"/>
                <a:cs typeface="Times New Roman"/>
              </a:rPr>
              <a:t>i</a:t>
            </a:r>
            <a:r>
              <a:rPr dirty="0" sz="550" spc="80">
                <a:solidFill>
                  <a:srgbClr val="906956"/>
                </a:solidFill>
                <a:latin typeface="Times New Roman"/>
                <a:cs typeface="Times New Roman"/>
              </a:rPr>
              <a:t> </a:t>
            </a:r>
            <a:r>
              <a:rPr dirty="0" sz="550" spc="-65">
                <a:solidFill>
                  <a:srgbClr val="97754B"/>
                </a:solidFill>
                <a:latin typeface="Times New Roman"/>
                <a:cs typeface="Times New Roman"/>
              </a:rPr>
              <a:t>”</a:t>
            </a:r>
            <a:r>
              <a:rPr dirty="0" sz="550" spc="30">
                <a:solidFill>
                  <a:srgbClr val="97754B"/>
                </a:solidFill>
                <a:latin typeface="Times New Roman"/>
                <a:cs typeface="Times New Roman"/>
              </a:rPr>
              <a:t> </a:t>
            </a:r>
            <a:r>
              <a:rPr dirty="0" sz="550" spc="-50">
                <a:solidFill>
                  <a:srgbClr val="161616"/>
                </a:solidFill>
                <a:latin typeface="Times New Roman"/>
                <a:cs typeface="Times New Roman"/>
              </a:rPr>
              <a:t>)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13693" y="2484954"/>
            <a:ext cx="646430" cy="2863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dirty="0" sz="650" spc="-10">
                <a:latin typeface="Times New Roman"/>
                <a:cs typeface="Times New Roman"/>
              </a:rPr>
              <a:t>T</a:t>
            </a:r>
            <a:r>
              <a:rPr dirty="0" sz="600" spc="-10">
                <a:latin typeface="Times New Roman"/>
                <a:cs typeface="Times New Roman"/>
              </a:rPr>
              <a:t>erminal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550" spc="1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dirty="0" sz="550" spc="2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550" spc="10">
                <a:latin typeface="Times New Roman"/>
                <a:cs typeface="Times New Roman"/>
              </a:rPr>
              <a:t>python</a:t>
            </a:r>
            <a:r>
              <a:rPr dirty="0" sz="550" spc="285">
                <a:latin typeface="Times New Roman"/>
                <a:cs typeface="Times New Roman"/>
              </a:rPr>
              <a:t> </a:t>
            </a:r>
            <a:r>
              <a:rPr dirty="0" sz="550" spc="10">
                <a:latin typeface="Times New Roman"/>
                <a:cs typeface="Times New Roman"/>
              </a:rPr>
              <a:t>index</a:t>
            </a:r>
            <a:r>
              <a:rPr dirty="0" sz="550" spc="-20">
                <a:latin typeface="Times New Roman"/>
                <a:cs typeface="Times New Roman"/>
              </a:rPr>
              <a:t> </a:t>
            </a:r>
            <a:r>
              <a:rPr dirty="0" sz="550" spc="10">
                <a:latin typeface="Times New Roman"/>
                <a:cs typeface="Times New Roman"/>
              </a:rPr>
              <a:t>.</a:t>
            </a:r>
            <a:r>
              <a:rPr dirty="0" sz="550" spc="-15">
                <a:latin typeface="Times New Roman"/>
                <a:cs typeface="Times New Roman"/>
              </a:rPr>
              <a:t> </a:t>
            </a:r>
            <a:r>
              <a:rPr dirty="0" sz="550" spc="-25">
                <a:latin typeface="Times New Roman"/>
                <a:cs typeface="Times New Roman"/>
              </a:rPr>
              <a:t>py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31439" y="3196141"/>
            <a:ext cx="367665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solidFill>
                  <a:srgbClr val="3F3F3F"/>
                </a:solidFill>
                <a:latin typeface="Times New Roman"/>
                <a:cs typeface="Times New Roman"/>
              </a:rPr>
              <a:t>:â</a:t>
            </a:r>
            <a:r>
              <a:rPr dirty="0" sz="600" spc="39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Outline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26358" y="2485561"/>
            <a:ext cx="16002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20">
                <a:latin typeface="Times New Roman"/>
                <a:cs typeface="Times New Roman"/>
              </a:rPr>
              <a:t>hash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66739" y="1184048"/>
            <a:ext cx="6921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80">
                <a:solidFill>
                  <a:srgbClr val="181818"/>
                </a:solidFill>
                <a:latin typeface="Times New Roman"/>
                <a:cs typeface="Times New Roman"/>
              </a:rPr>
              <a:t>X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72863" y="1184048"/>
            <a:ext cx="734060" cy="468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20"/>
              </a:spcBef>
            </a:pPr>
            <a:r>
              <a:rPr dirty="0" sz="650">
                <a:latin typeface="Times New Roman"/>
                <a:cs typeface="Times New Roman"/>
              </a:rPr>
              <a:t>Project</a:t>
            </a:r>
            <a:r>
              <a:rPr dirty="0" sz="650" spc="8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Board</a:t>
            </a:r>
            <a:r>
              <a:rPr dirty="0" sz="650" spc="235">
                <a:latin typeface="Times New Roman"/>
                <a:cs typeface="Times New Roman"/>
              </a:rPr>
              <a:t>  </a:t>
            </a:r>
            <a:r>
              <a:rPr dirty="0" sz="650" spc="-50">
                <a:solidFill>
                  <a:srgbClr val="313131"/>
                </a:solidFill>
                <a:latin typeface="Times New Roman"/>
                <a:cs typeface="Times New Roman"/>
              </a:rPr>
              <a:t>+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614045" algn="l"/>
              </a:tabLst>
            </a:pPr>
            <a:r>
              <a:rPr dirty="0" baseline="5050" sz="825">
                <a:latin typeface="Times New Roman"/>
                <a:cs typeface="Times New Roman"/>
              </a:rPr>
              <a:t>To</a:t>
            </a:r>
            <a:r>
              <a:rPr dirty="0" baseline="5050" sz="825" spc="82">
                <a:latin typeface="Times New Roman"/>
                <a:cs typeface="Times New Roman"/>
              </a:rPr>
              <a:t> </a:t>
            </a:r>
            <a:r>
              <a:rPr dirty="0" baseline="5050" sz="825" spc="-37">
                <a:latin typeface="Times New Roman"/>
                <a:cs typeface="Times New Roman"/>
              </a:rPr>
              <a:t>On</a:t>
            </a:r>
            <a:r>
              <a:rPr dirty="0" baseline="5050" sz="825">
                <a:latin typeface="Times New Roman"/>
                <a:cs typeface="Times New Roman"/>
              </a:rPr>
              <a:t>	</a:t>
            </a:r>
            <a:r>
              <a:rPr dirty="0" sz="600" spc="-50">
                <a:solidFill>
                  <a:srgbClr val="232323"/>
                </a:solidFill>
                <a:latin typeface="Courier New"/>
                <a:cs typeface="Courier New"/>
              </a:rPr>
              <a:t>3</a:t>
            </a:r>
            <a:endParaRPr sz="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50">
              <a:latin typeface="Courier New"/>
              <a:cs typeface="Courier New"/>
            </a:endParaRPr>
          </a:p>
          <a:p>
            <a:pPr marL="74295">
              <a:lnSpc>
                <a:spcPct val="100000"/>
              </a:lnSpc>
            </a:pPr>
            <a:r>
              <a:rPr dirty="0" sz="500">
                <a:solidFill>
                  <a:srgbClr val="161616"/>
                </a:solidFill>
                <a:latin typeface="Times New Roman"/>
                <a:cs typeface="Times New Roman"/>
              </a:rPr>
              <a:t>Add</a:t>
            </a:r>
            <a:r>
              <a:rPr dirty="0" sz="500" spc="5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usar</a:t>
            </a:r>
            <a:r>
              <a:rPr dirty="0" sz="500" spc="3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authentication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78267" y="1913151"/>
            <a:ext cx="39052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-8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70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Progress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79836" y="1913151"/>
            <a:ext cx="5651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-55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32384" y="2098083"/>
            <a:ext cx="599440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 spc="-10">
                <a:solidFill>
                  <a:srgbClr val="0F0F0F"/>
                </a:solidFill>
                <a:latin typeface="Times New Roman"/>
                <a:cs typeface="Times New Roman"/>
              </a:rPr>
              <a:t>fiefactor</a:t>
            </a:r>
            <a:r>
              <a:rPr dirty="0" sz="5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utils</a:t>
            </a:r>
            <a:r>
              <a:rPr dirty="0" sz="550" spc="-25">
                <a:latin typeface="Times New Roman"/>
                <a:cs typeface="Times New Roman"/>
              </a:rPr>
              <a:t> </a:t>
            </a:r>
            <a:r>
              <a:rPr dirty="0" sz="550" spc="-10">
                <a:solidFill>
                  <a:srgbClr val="262626"/>
                </a:solidFill>
                <a:latin typeface="Times New Roman"/>
                <a:cs typeface="Times New Roman"/>
              </a:rPr>
              <a:t>module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77875" y="2482828"/>
            <a:ext cx="191135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20">
                <a:latin typeface="Times New Roman"/>
                <a:cs typeface="Times New Roman"/>
              </a:rPr>
              <a:t>oone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381143" y="3475513"/>
            <a:ext cx="2901950" cy="7162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1270">
              <a:lnSpc>
                <a:spcPct val="98600"/>
              </a:lnSpc>
              <a:spcBef>
                <a:spcPts val="120"/>
              </a:spcBef>
            </a:pPr>
            <a:r>
              <a:rPr dirty="0" sz="1000" spc="-50">
                <a:latin typeface="Times New Roman"/>
                <a:cs typeface="Times New Roman"/>
              </a:rPr>
              <a:t>General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agents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move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spc="-30">
                <a:latin typeface="Times New Roman"/>
                <a:cs typeface="Times New Roman"/>
              </a:rPr>
              <a:t>beyond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ordinary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chat.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45">
                <a:latin typeface="Times New Roman"/>
                <a:cs typeface="Times New Roman"/>
              </a:rPr>
              <a:t>They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work</a:t>
            </a:r>
            <a:r>
              <a:rPr dirty="0" sz="1000" spc="-30">
                <a:latin typeface="Times New Roman"/>
                <a:cs typeface="Times New Roman"/>
              </a:rPr>
              <a:t> inside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environment.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files,</a:t>
            </a:r>
            <a:r>
              <a:rPr dirty="0" sz="1000">
                <a:latin typeface="Times New Roman"/>
                <a:cs typeface="Times New Roman"/>
              </a:rPr>
              <a:t> codebases, </a:t>
            </a:r>
            <a:r>
              <a:rPr dirty="0" sz="1000" spc="-10">
                <a:latin typeface="Times New Roman"/>
                <a:cs typeface="Times New Roman"/>
              </a:rPr>
              <a:t>tools,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commands, </a:t>
            </a:r>
            <a:r>
              <a:rPr dirty="0" sz="1000" spc="-50">
                <a:latin typeface="Times New Roman"/>
                <a:cs typeface="Times New Roman"/>
              </a:rPr>
              <a:t>workflows,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projects.</a:t>
            </a:r>
            <a:endParaRPr sz="10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845"/>
              </a:spcBef>
              <a:tabLst>
                <a:tab pos="1091565" algn="l"/>
                <a:tab pos="1949450" algn="l"/>
              </a:tabLst>
            </a:pPr>
            <a:r>
              <a:rPr dirty="0" sz="850">
                <a:solidFill>
                  <a:srgbClr val="164D48"/>
                </a:solidFill>
                <a:latin typeface="Times New Roman"/>
                <a:cs typeface="Times New Roman"/>
              </a:rPr>
              <a:t>Claude</a:t>
            </a:r>
            <a:r>
              <a:rPr dirty="0" sz="850" spc="100">
                <a:solidFill>
                  <a:srgbClr val="164D48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214849"/>
                </a:solidFill>
                <a:latin typeface="Times New Roman"/>
                <a:cs typeface="Times New Roman"/>
              </a:rPr>
              <a:t>Code</a:t>
            </a:r>
            <a:r>
              <a:rPr dirty="0" sz="850">
                <a:solidFill>
                  <a:srgbClr val="214849"/>
                </a:solidFill>
                <a:latin typeface="Times New Roman"/>
                <a:cs typeface="Times New Roman"/>
              </a:rPr>
              <a:t>	</a:t>
            </a:r>
            <a:r>
              <a:rPr dirty="0" sz="850" spc="-10">
                <a:solidFill>
                  <a:srgbClr val="2A70AF"/>
                </a:solidFill>
                <a:latin typeface="Times New Roman"/>
                <a:cs typeface="Times New Roman"/>
              </a:rPr>
              <a:t>OpenCode</a:t>
            </a:r>
            <a:r>
              <a:rPr dirty="0" sz="850">
                <a:solidFill>
                  <a:srgbClr val="2A70AF"/>
                </a:solidFill>
                <a:latin typeface="Times New Roman"/>
                <a:cs typeface="Times New Roman"/>
              </a:rPr>
              <a:t>	</a:t>
            </a:r>
            <a:r>
              <a:rPr dirty="0" sz="850">
                <a:solidFill>
                  <a:srgbClr val="44348E"/>
                </a:solidFill>
                <a:latin typeface="Times New Roman"/>
                <a:cs typeface="Times New Roman"/>
              </a:rPr>
              <a:t>Claude</a:t>
            </a:r>
            <a:r>
              <a:rPr dirty="0" sz="850" spc="100">
                <a:solidFill>
                  <a:srgbClr val="44348E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F3BA7"/>
                </a:solidFill>
                <a:latin typeface="Times New Roman"/>
                <a:cs typeface="Times New Roman"/>
              </a:rPr>
              <a:t>Cowork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344383" y="1258143"/>
            <a:ext cx="33718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>
                <a:solidFill>
                  <a:srgbClr val="427CBA"/>
                </a:solidFill>
                <a:latin typeface="Times New Roman"/>
                <a:cs typeface="Times New Roman"/>
              </a:rPr>
              <a:t>,.</a:t>
            </a:r>
            <a:r>
              <a:rPr dirty="0" sz="850" spc="335">
                <a:solidFill>
                  <a:srgbClr val="427CBA"/>
                </a:solidFill>
                <a:latin typeface="Times New Roman"/>
                <a:cs typeface="Times New Roman"/>
              </a:rPr>
              <a:t> </a:t>
            </a:r>
            <a:r>
              <a:rPr dirty="0" sz="850" spc="-30">
                <a:latin typeface="Times New Roman"/>
                <a:cs typeface="Times New Roman"/>
              </a:rPr>
              <a:t>Files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91599" y="1691171"/>
            <a:ext cx="697230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solidFill>
                  <a:srgbClr val="3382BF"/>
                </a:solidFill>
                <a:latin typeface="Times New Roman"/>
                <a:cs typeface="Times New Roman"/>
              </a:rPr>
              <a:t>/«/?,</a:t>
            </a:r>
            <a:r>
              <a:rPr dirty="0" sz="750" spc="185">
                <a:solidFill>
                  <a:srgbClr val="3382BF"/>
                </a:solidFill>
                <a:latin typeface="Times New Roman"/>
                <a:cs typeface="Times New Roman"/>
              </a:rPr>
              <a:t>  </a:t>
            </a:r>
            <a:r>
              <a:rPr dirty="0" sz="750" spc="-10">
                <a:latin typeface="Times New Roman"/>
                <a:cs typeface="Times New Roman"/>
              </a:rPr>
              <a:t>Codebases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450984" y="2105979"/>
            <a:ext cx="230504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40">
                <a:latin typeface="Times New Roman"/>
                <a:cs typeface="Times New Roman"/>
              </a:rPr>
              <a:t>Tools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89625" y="2537793"/>
            <a:ext cx="71501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8765" algn="l"/>
              </a:tabLst>
            </a:pPr>
            <a:r>
              <a:rPr dirty="0" sz="800">
                <a:solidFill>
                  <a:srgbClr val="3487C8"/>
                </a:solidFill>
                <a:latin typeface="Times New Roman"/>
                <a:cs typeface="Times New Roman"/>
              </a:rPr>
              <a:t>E-	</a:t>
            </a:r>
            <a:r>
              <a:rPr dirty="0" sz="800" spc="-40">
                <a:latin typeface="Times New Roman"/>
                <a:cs typeface="Times New Roman"/>
              </a:rPr>
              <a:t>Commands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62749" y="4038207"/>
            <a:ext cx="49339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333333"/>
                </a:solidFill>
                <a:latin typeface="Times New Roman"/>
                <a:cs typeface="Times New Roman"/>
              </a:rPr>
              <a:t>OpenWork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452829" y="2964747"/>
            <a:ext cx="432434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0">
                <a:latin typeface="Times New Roman"/>
                <a:cs typeface="Times New Roman"/>
              </a:rPr>
              <a:t>Workflows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458064" y="3391702"/>
            <a:ext cx="33655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Times New Roman"/>
                <a:cs typeface="Times New Roman"/>
              </a:rPr>
              <a:t>Projects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537751" y="4435330"/>
            <a:ext cx="2696210" cy="45974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585"/>
              </a:spcBef>
            </a:pPr>
            <a:r>
              <a:rPr dirty="0" sz="1050" spc="65">
                <a:solidFill>
                  <a:srgbClr val="1C7270"/>
                </a:solidFill>
                <a:latin typeface="Arial MT"/>
                <a:cs typeface="Arial MT"/>
              </a:rPr>
              <a:t>General</a:t>
            </a:r>
            <a:r>
              <a:rPr dirty="0" sz="1050" spc="114">
                <a:solidFill>
                  <a:srgbClr val="1C7270"/>
                </a:solidFill>
                <a:latin typeface="Arial MT"/>
                <a:cs typeface="Arial MT"/>
              </a:rPr>
              <a:t> </a:t>
            </a:r>
            <a:r>
              <a:rPr dirty="0" sz="1050" spc="70">
                <a:solidFill>
                  <a:srgbClr val="03675D"/>
                </a:solidFill>
                <a:latin typeface="Arial MT"/>
                <a:cs typeface="Arial MT"/>
              </a:rPr>
              <a:t>agents:</a:t>
            </a:r>
            <a:r>
              <a:rPr dirty="0" sz="1050" spc="360">
                <a:solidFill>
                  <a:srgbClr val="03675D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latin typeface="Arial MT"/>
                <a:cs typeface="Arial MT"/>
              </a:rPr>
              <a:t>work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 spc="-40">
                <a:latin typeface="Arial MT"/>
                <a:cs typeface="Arial MT"/>
              </a:rPr>
              <a:t>inside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-65">
                <a:latin typeface="Arial MT"/>
                <a:cs typeface="Arial MT"/>
              </a:rPr>
              <a:t>an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-40">
                <a:latin typeface="Arial MT"/>
                <a:cs typeface="Arial MT"/>
              </a:rPr>
              <a:t>environment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00" spc="-105">
                <a:latin typeface="Arial MT"/>
                <a:cs typeface="Arial MT"/>
              </a:rPr>
              <a:t>Take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actions.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95">
                <a:solidFill>
                  <a:srgbClr val="181818"/>
                </a:solidFill>
                <a:latin typeface="Arial MT"/>
                <a:cs typeface="Arial MT"/>
              </a:rPr>
              <a:t>Use</a:t>
            </a:r>
            <a:r>
              <a:rPr dirty="0" sz="1000" spc="1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tools.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Complete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real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work.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03782" y="0"/>
            <a:ext cx="3040380" cy="4046854"/>
          </a:xfrm>
          <a:custGeom>
            <a:avLst/>
            <a:gdLst/>
            <a:ahLst/>
            <a:cxnLst/>
            <a:rect l="l" t="t" r="r" b="b"/>
            <a:pathLst>
              <a:path w="3040379" h="4046854">
                <a:moveTo>
                  <a:pt x="2606099" y="4046339"/>
                </a:moveTo>
                <a:lnTo>
                  <a:pt x="2557688" y="4045899"/>
                </a:lnTo>
                <a:lnTo>
                  <a:pt x="2509490" y="4044582"/>
                </a:lnTo>
                <a:lnTo>
                  <a:pt x="2461514" y="4042397"/>
                </a:lnTo>
                <a:lnTo>
                  <a:pt x="2413768" y="4039350"/>
                </a:lnTo>
                <a:lnTo>
                  <a:pt x="2366258" y="4035450"/>
                </a:lnTo>
                <a:lnTo>
                  <a:pt x="2318993" y="4030705"/>
                </a:lnTo>
                <a:lnTo>
                  <a:pt x="2271980" y="4025121"/>
                </a:lnTo>
                <a:lnTo>
                  <a:pt x="2225226" y="4018707"/>
                </a:lnTo>
                <a:lnTo>
                  <a:pt x="2178740" y="4011469"/>
                </a:lnTo>
                <a:lnTo>
                  <a:pt x="2132529" y="4003417"/>
                </a:lnTo>
                <a:lnTo>
                  <a:pt x="2086600" y="3994557"/>
                </a:lnTo>
                <a:lnTo>
                  <a:pt x="2040962" y="3984896"/>
                </a:lnTo>
                <a:lnTo>
                  <a:pt x="1995621" y="3974444"/>
                </a:lnTo>
                <a:lnTo>
                  <a:pt x="1950585" y="3963206"/>
                </a:lnTo>
                <a:lnTo>
                  <a:pt x="1905863" y="3951191"/>
                </a:lnTo>
                <a:lnTo>
                  <a:pt x="1861461" y="3938406"/>
                </a:lnTo>
                <a:lnTo>
                  <a:pt x="1817388" y="3924860"/>
                </a:lnTo>
                <a:lnTo>
                  <a:pt x="1773650" y="3910559"/>
                </a:lnTo>
                <a:lnTo>
                  <a:pt x="1730256" y="3895511"/>
                </a:lnTo>
                <a:lnTo>
                  <a:pt x="1687212" y="3879724"/>
                </a:lnTo>
                <a:lnTo>
                  <a:pt x="1644528" y="3863205"/>
                </a:lnTo>
                <a:lnTo>
                  <a:pt x="1602209" y="3845962"/>
                </a:lnTo>
                <a:lnTo>
                  <a:pt x="1560265" y="3828003"/>
                </a:lnTo>
                <a:lnTo>
                  <a:pt x="1518702" y="3809335"/>
                </a:lnTo>
                <a:lnTo>
                  <a:pt x="1477528" y="3789966"/>
                </a:lnTo>
                <a:lnTo>
                  <a:pt x="1436750" y="3769904"/>
                </a:lnTo>
                <a:lnTo>
                  <a:pt x="1396377" y="3749155"/>
                </a:lnTo>
                <a:lnTo>
                  <a:pt x="1356416" y="3727728"/>
                </a:lnTo>
                <a:lnTo>
                  <a:pt x="1316875" y="3705631"/>
                </a:lnTo>
                <a:lnTo>
                  <a:pt x="1277761" y="3682870"/>
                </a:lnTo>
                <a:lnTo>
                  <a:pt x="1239081" y="3659454"/>
                </a:lnTo>
                <a:lnTo>
                  <a:pt x="1200844" y="3635390"/>
                </a:lnTo>
                <a:lnTo>
                  <a:pt x="1163057" y="3610686"/>
                </a:lnTo>
                <a:lnTo>
                  <a:pt x="1125727" y="3585349"/>
                </a:lnTo>
                <a:lnTo>
                  <a:pt x="1088863" y="3559387"/>
                </a:lnTo>
                <a:lnTo>
                  <a:pt x="1052471" y="3532808"/>
                </a:lnTo>
                <a:lnTo>
                  <a:pt x="1016560" y="3505619"/>
                </a:lnTo>
                <a:lnTo>
                  <a:pt x="981137" y="3477827"/>
                </a:lnTo>
                <a:lnTo>
                  <a:pt x="946210" y="3449442"/>
                </a:lnTo>
                <a:lnTo>
                  <a:pt x="911785" y="3420469"/>
                </a:lnTo>
                <a:lnTo>
                  <a:pt x="877872" y="3390916"/>
                </a:lnTo>
                <a:lnTo>
                  <a:pt x="844477" y="3360792"/>
                </a:lnTo>
                <a:lnTo>
                  <a:pt x="811609" y="3330104"/>
                </a:lnTo>
                <a:lnTo>
                  <a:pt x="779273" y="3298859"/>
                </a:lnTo>
                <a:lnTo>
                  <a:pt x="747480" y="3267065"/>
                </a:lnTo>
                <a:lnTo>
                  <a:pt x="716235" y="3234730"/>
                </a:lnTo>
                <a:lnTo>
                  <a:pt x="685547" y="3201862"/>
                </a:lnTo>
                <a:lnTo>
                  <a:pt x="655423" y="3168467"/>
                </a:lnTo>
                <a:lnTo>
                  <a:pt x="625870" y="3134554"/>
                </a:lnTo>
                <a:lnTo>
                  <a:pt x="596897" y="3100129"/>
                </a:lnTo>
                <a:lnTo>
                  <a:pt x="568511" y="3065202"/>
                </a:lnTo>
                <a:lnTo>
                  <a:pt x="540720" y="3029779"/>
                </a:lnTo>
                <a:lnTo>
                  <a:pt x="513531" y="2993868"/>
                </a:lnTo>
                <a:lnTo>
                  <a:pt x="486952" y="2957476"/>
                </a:lnTo>
                <a:lnTo>
                  <a:pt x="460990" y="2920612"/>
                </a:lnTo>
                <a:lnTo>
                  <a:pt x="435653" y="2883282"/>
                </a:lnTo>
                <a:lnTo>
                  <a:pt x="410949" y="2845495"/>
                </a:lnTo>
                <a:lnTo>
                  <a:pt x="386885" y="2807258"/>
                </a:lnTo>
                <a:lnTo>
                  <a:pt x="363469" y="2768578"/>
                </a:lnTo>
                <a:lnTo>
                  <a:pt x="340708" y="2729464"/>
                </a:lnTo>
                <a:lnTo>
                  <a:pt x="318611" y="2689922"/>
                </a:lnTo>
                <a:lnTo>
                  <a:pt x="297184" y="2649961"/>
                </a:lnTo>
                <a:lnTo>
                  <a:pt x="276435" y="2609588"/>
                </a:lnTo>
                <a:lnTo>
                  <a:pt x="256373" y="2568811"/>
                </a:lnTo>
                <a:lnTo>
                  <a:pt x="237004" y="2527637"/>
                </a:lnTo>
                <a:lnTo>
                  <a:pt x="218336" y="2486074"/>
                </a:lnTo>
                <a:lnTo>
                  <a:pt x="200377" y="2444130"/>
                </a:lnTo>
                <a:lnTo>
                  <a:pt x="183134" y="2401811"/>
                </a:lnTo>
                <a:lnTo>
                  <a:pt x="166615" y="2359127"/>
                </a:lnTo>
                <a:lnTo>
                  <a:pt x="150828" y="2316083"/>
                </a:lnTo>
                <a:lnTo>
                  <a:pt x="135780" y="2272689"/>
                </a:lnTo>
                <a:lnTo>
                  <a:pt x="121479" y="2228951"/>
                </a:lnTo>
                <a:lnTo>
                  <a:pt x="107933" y="2184878"/>
                </a:lnTo>
                <a:lnTo>
                  <a:pt x="95148" y="2140476"/>
                </a:lnTo>
                <a:lnTo>
                  <a:pt x="83133" y="2095753"/>
                </a:lnTo>
                <a:lnTo>
                  <a:pt x="71895" y="2050718"/>
                </a:lnTo>
                <a:lnTo>
                  <a:pt x="61443" y="2005377"/>
                </a:lnTo>
                <a:lnTo>
                  <a:pt x="51782" y="1959739"/>
                </a:lnTo>
                <a:lnTo>
                  <a:pt x="42922" y="1913810"/>
                </a:lnTo>
                <a:lnTo>
                  <a:pt x="34869" y="1867599"/>
                </a:lnTo>
                <a:lnTo>
                  <a:pt x="27632" y="1821113"/>
                </a:lnTo>
                <a:lnTo>
                  <a:pt x="21218" y="1774359"/>
                </a:lnTo>
                <a:lnTo>
                  <a:pt x="15634" y="1727346"/>
                </a:lnTo>
                <a:lnTo>
                  <a:pt x="10889" y="1680081"/>
                </a:lnTo>
                <a:lnTo>
                  <a:pt x="6989" y="1632571"/>
                </a:lnTo>
                <a:lnTo>
                  <a:pt x="3942" y="1584824"/>
                </a:lnTo>
                <a:lnTo>
                  <a:pt x="1757" y="1536849"/>
                </a:lnTo>
                <a:lnTo>
                  <a:pt x="440" y="1488651"/>
                </a:lnTo>
                <a:lnTo>
                  <a:pt x="0" y="1440239"/>
                </a:lnTo>
                <a:lnTo>
                  <a:pt x="440" y="1391828"/>
                </a:lnTo>
                <a:lnTo>
                  <a:pt x="1757" y="1343630"/>
                </a:lnTo>
                <a:lnTo>
                  <a:pt x="3942" y="1295655"/>
                </a:lnTo>
                <a:lnTo>
                  <a:pt x="6989" y="1247908"/>
                </a:lnTo>
                <a:lnTo>
                  <a:pt x="10889" y="1200398"/>
                </a:lnTo>
                <a:lnTo>
                  <a:pt x="15634" y="1153133"/>
                </a:lnTo>
                <a:lnTo>
                  <a:pt x="21218" y="1106120"/>
                </a:lnTo>
                <a:lnTo>
                  <a:pt x="27632" y="1059366"/>
                </a:lnTo>
                <a:lnTo>
                  <a:pt x="34869" y="1012880"/>
                </a:lnTo>
                <a:lnTo>
                  <a:pt x="42922" y="966669"/>
                </a:lnTo>
                <a:lnTo>
                  <a:pt x="51782" y="920740"/>
                </a:lnTo>
                <a:lnTo>
                  <a:pt x="61443" y="875102"/>
                </a:lnTo>
                <a:lnTo>
                  <a:pt x="71895" y="829761"/>
                </a:lnTo>
                <a:lnTo>
                  <a:pt x="83133" y="784726"/>
                </a:lnTo>
                <a:lnTo>
                  <a:pt x="95148" y="740003"/>
                </a:lnTo>
                <a:lnTo>
                  <a:pt x="107933" y="695601"/>
                </a:lnTo>
                <a:lnTo>
                  <a:pt x="121479" y="651528"/>
                </a:lnTo>
                <a:lnTo>
                  <a:pt x="135780" y="607790"/>
                </a:lnTo>
                <a:lnTo>
                  <a:pt x="150828" y="564396"/>
                </a:lnTo>
                <a:lnTo>
                  <a:pt x="166615" y="521352"/>
                </a:lnTo>
                <a:lnTo>
                  <a:pt x="183134" y="478668"/>
                </a:lnTo>
                <a:lnTo>
                  <a:pt x="200377" y="436349"/>
                </a:lnTo>
                <a:lnTo>
                  <a:pt x="218336" y="394405"/>
                </a:lnTo>
                <a:lnTo>
                  <a:pt x="237004" y="352842"/>
                </a:lnTo>
                <a:lnTo>
                  <a:pt x="256373" y="311668"/>
                </a:lnTo>
                <a:lnTo>
                  <a:pt x="276435" y="270890"/>
                </a:lnTo>
                <a:lnTo>
                  <a:pt x="297184" y="230518"/>
                </a:lnTo>
                <a:lnTo>
                  <a:pt x="318611" y="190557"/>
                </a:lnTo>
                <a:lnTo>
                  <a:pt x="340708" y="151015"/>
                </a:lnTo>
                <a:lnTo>
                  <a:pt x="363469" y="111901"/>
                </a:lnTo>
                <a:lnTo>
                  <a:pt x="386885" y="73221"/>
                </a:lnTo>
                <a:lnTo>
                  <a:pt x="410949" y="34984"/>
                </a:lnTo>
                <a:lnTo>
                  <a:pt x="433821" y="0"/>
                </a:lnTo>
                <a:lnTo>
                  <a:pt x="3040217" y="0"/>
                </a:lnTo>
                <a:lnTo>
                  <a:pt x="3040217" y="4010292"/>
                </a:lnTo>
                <a:lnTo>
                  <a:pt x="3033459" y="4011469"/>
                </a:lnTo>
                <a:lnTo>
                  <a:pt x="2986973" y="4018707"/>
                </a:lnTo>
                <a:lnTo>
                  <a:pt x="2940219" y="4025121"/>
                </a:lnTo>
                <a:lnTo>
                  <a:pt x="2893206" y="4030705"/>
                </a:lnTo>
                <a:lnTo>
                  <a:pt x="2845941" y="4035450"/>
                </a:lnTo>
                <a:lnTo>
                  <a:pt x="2798431" y="4039350"/>
                </a:lnTo>
                <a:lnTo>
                  <a:pt x="2750684" y="4042397"/>
                </a:lnTo>
                <a:lnTo>
                  <a:pt x="2702708" y="4044582"/>
                </a:lnTo>
                <a:lnTo>
                  <a:pt x="2654511" y="4045899"/>
                </a:lnTo>
                <a:lnTo>
                  <a:pt x="2606099" y="4046339"/>
                </a:lnTo>
                <a:close/>
              </a:path>
            </a:pathLst>
          </a:custGeom>
          <a:solidFill>
            <a:srgbClr val="2B39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703320"/>
            <a:ext cx="1783080" cy="1440180"/>
          </a:xfrm>
          <a:custGeom>
            <a:avLst/>
            <a:gdLst/>
            <a:ahLst/>
            <a:cxnLst/>
            <a:rect l="l" t="t" r="r" b="b"/>
            <a:pathLst>
              <a:path w="1783080" h="1440179">
                <a:moveTo>
                  <a:pt x="1782990" y="1440180"/>
                </a:moveTo>
                <a:lnTo>
                  <a:pt x="0" y="1440180"/>
                </a:lnTo>
                <a:lnTo>
                  <a:pt x="0" y="41215"/>
                </a:lnTo>
                <a:lnTo>
                  <a:pt x="58344" y="28095"/>
                </a:lnTo>
                <a:lnTo>
                  <a:pt x="104588" y="19615"/>
                </a:lnTo>
                <a:lnTo>
                  <a:pt x="151335" y="12621"/>
                </a:lnTo>
                <a:lnTo>
                  <a:pt x="198558" y="7137"/>
                </a:lnTo>
                <a:lnTo>
                  <a:pt x="246234" y="3188"/>
                </a:lnTo>
                <a:lnTo>
                  <a:pt x="294336" y="801"/>
                </a:lnTo>
                <a:lnTo>
                  <a:pt x="342840" y="0"/>
                </a:lnTo>
                <a:lnTo>
                  <a:pt x="389301" y="801"/>
                </a:lnTo>
                <a:lnTo>
                  <a:pt x="391477" y="801"/>
                </a:lnTo>
                <a:lnTo>
                  <a:pt x="442072" y="3419"/>
                </a:lnTo>
                <a:lnTo>
                  <a:pt x="491322" y="7670"/>
                </a:lnTo>
                <a:lnTo>
                  <a:pt x="540276" y="13591"/>
                </a:lnTo>
                <a:lnTo>
                  <a:pt x="588893" y="21168"/>
                </a:lnTo>
                <a:lnTo>
                  <a:pt x="637134" y="30384"/>
                </a:lnTo>
                <a:lnTo>
                  <a:pt x="684932" y="41215"/>
                </a:lnTo>
                <a:lnTo>
                  <a:pt x="732329" y="53665"/>
                </a:lnTo>
                <a:lnTo>
                  <a:pt x="779204" y="67698"/>
                </a:lnTo>
                <a:lnTo>
                  <a:pt x="825543" y="83303"/>
                </a:lnTo>
                <a:lnTo>
                  <a:pt x="871308" y="100465"/>
                </a:lnTo>
                <a:lnTo>
                  <a:pt x="916457" y="119167"/>
                </a:lnTo>
                <a:lnTo>
                  <a:pt x="960953" y="139392"/>
                </a:lnTo>
                <a:lnTo>
                  <a:pt x="1004755" y="161124"/>
                </a:lnTo>
                <a:lnTo>
                  <a:pt x="1047822" y="184346"/>
                </a:lnTo>
                <a:lnTo>
                  <a:pt x="1090117" y="209043"/>
                </a:lnTo>
                <a:lnTo>
                  <a:pt x="1131598" y="235197"/>
                </a:lnTo>
                <a:lnTo>
                  <a:pt x="1172226" y="262792"/>
                </a:lnTo>
                <a:lnTo>
                  <a:pt x="1211961" y="291812"/>
                </a:lnTo>
                <a:lnTo>
                  <a:pt x="1250764" y="322240"/>
                </a:lnTo>
                <a:lnTo>
                  <a:pt x="1288594" y="354060"/>
                </a:lnTo>
                <a:lnTo>
                  <a:pt x="1325413" y="387256"/>
                </a:lnTo>
                <a:lnTo>
                  <a:pt x="1361180" y="421809"/>
                </a:lnTo>
                <a:lnTo>
                  <a:pt x="1395734" y="457576"/>
                </a:lnTo>
                <a:lnTo>
                  <a:pt x="1428929" y="494395"/>
                </a:lnTo>
                <a:lnTo>
                  <a:pt x="1460749" y="532226"/>
                </a:lnTo>
                <a:lnTo>
                  <a:pt x="1491177" y="571029"/>
                </a:lnTo>
                <a:lnTo>
                  <a:pt x="1520197" y="610764"/>
                </a:lnTo>
                <a:lnTo>
                  <a:pt x="1547792" y="651392"/>
                </a:lnTo>
                <a:lnTo>
                  <a:pt x="1573947" y="692873"/>
                </a:lnTo>
                <a:lnTo>
                  <a:pt x="1598643" y="735167"/>
                </a:lnTo>
                <a:lnTo>
                  <a:pt x="1621866" y="778235"/>
                </a:lnTo>
                <a:lnTo>
                  <a:pt x="1643598" y="822037"/>
                </a:lnTo>
                <a:lnTo>
                  <a:pt x="1663823" y="866532"/>
                </a:lnTo>
                <a:lnTo>
                  <a:pt x="1682525" y="911682"/>
                </a:lnTo>
                <a:lnTo>
                  <a:pt x="1699687" y="957446"/>
                </a:lnTo>
                <a:lnTo>
                  <a:pt x="1715292" y="1003786"/>
                </a:lnTo>
                <a:lnTo>
                  <a:pt x="1729325" y="1050660"/>
                </a:lnTo>
                <a:lnTo>
                  <a:pt x="1741768" y="1098030"/>
                </a:lnTo>
                <a:lnTo>
                  <a:pt x="1752606" y="1145855"/>
                </a:lnTo>
                <a:lnTo>
                  <a:pt x="1761821" y="1194096"/>
                </a:lnTo>
                <a:lnTo>
                  <a:pt x="1769398" y="1242714"/>
                </a:lnTo>
                <a:lnTo>
                  <a:pt x="1775320" y="1291667"/>
                </a:lnTo>
                <a:lnTo>
                  <a:pt x="1779570" y="1340918"/>
                </a:lnTo>
                <a:lnTo>
                  <a:pt x="1782133" y="1390425"/>
                </a:lnTo>
                <a:lnTo>
                  <a:pt x="1782990" y="1440180"/>
                </a:lnTo>
                <a:close/>
              </a:path>
            </a:pathLst>
          </a:custGeom>
          <a:solidFill>
            <a:srgbClr val="2B39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7236" y="1062989"/>
            <a:ext cx="1851660" cy="425450"/>
          </a:xfrm>
          <a:custGeom>
            <a:avLst/>
            <a:gdLst/>
            <a:ahLst/>
            <a:cxnLst/>
            <a:rect l="l" t="t" r="r" b="b"/>
            <a:pathLst>
              <a:path w="1851660" h="425450">
                <a:moveTo>
                  <a:pt x="1639050" y="425099"/>
                </a:moveTo>
                <a:lnTo>
                  <a:pt x="212549" y="425099"/>
                </a:lnTo>
                <a:lnTo>
                  <a:pt x="163814" y="419486"/>
                </a:lnTo>
                <a:lnTo>
                  <a:pt x="119075" y="403496"/>
                </a:lnTo>
                <a:lnTo>
                  <a:pt x="79610" y="378405"/>
                </a:lnTo>
                <a:lnTo>
                  <a:pt x="46694" y="345489"/>
                </a:lnTo>
                <a:lnTo>
                  <a:pt x="21603" y="306024"/>
                </a:lnTo>
                <a:lnTo>
                  <a:pt x="5613" y="261285"/>
                </a:lnTo>
                <a:lnTo>
                  <a:pt x="0" y="212549"/>
                </a:lnTo>
                <a:lnTo>
                  <a:pt x="5613" y="163814"/>
                </a:lnTo>
                <a:lnTo>
                  <a:pt x="21603" y="119075"/>
                </a:lnTo>
                <a:lnTo>
                  <a:pt x="46694" y="79610"/>
                </a:lnTo>
                <a:lnTo>
                  <a:pt x="79610" y="46694"/>
                </a:lnTo>
                <a:lnTo>
                  <a:pt x="119075" y="21603"/>
                </a:lnTo>
                <a:lnTo>
                  <a:pt x="163814" y="5613"/>
                </a:lnTo>
                <a:lnTo>
                  <a:pt x="212549" y="0"/>
                </a:lnTo>
                <a:lnTo>
                  <a:pt x="1639050" y="0"/>
                </a:lnTo>
                <a:lnTo>
                  <a:pt x="1680710" y="4121"/>
                </a:lnTo>
                <a:lnTo>
                  <a:pt x="1720389" y="16179"/>
                </a:lnTo>
                <a:lnTo>
                  <a:pt x="1756972" y="35710"/>
                </a:lnTo>
                <a:lnTo>
                  <a:pt x="1789345" y="62254"/>
                </a:lnTo>
                <a:lnTo>
                  <a:pt x="1815889" y="94627"/>
                </a:lnTo>
                <a:lnTo>
                  <a:pt x="1835420" y="131210"/>
                </a:lnTo>
                <a:lnTo>
                  <a:pt x="1847478" y="170889"/>
                </a:lnTo>
                <a:lnTo>
                  <a:pt x="1851600" y="212549"/>
                </a:lnTo>
                <a:lnTo>
                  <a:pt x="1845986" y="261285"/>
                </a:lnTo>
                <a:lnTo>
                  <a:pt x="1829996" y="306024"/>
                </a:lnTo>
                <a:lnTo>
                  <a:pt x="1804905" y="345489"/>
                </a:lnTo>
                <a:lnTo>
                  <a:pt x="1771989" y="378405"/>
                </a:lnTo>
                <a:lnTo>
                  <a:pt x="1732524" y="403496"/>
                </a:lnTo>
                <a:lnTo>
                  <a:pt x="1687785" y="419486"/>
                </a:lnTo>
                <a:lnTo>
                  <a:pt x="1639050" y="4250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3064" y="1173431"/>
            <a:ext cx="10991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onsolas"/>
                <a:cs typeface="Consolas"/>
              </a:rPr>
              <a:t>The</a:t>
            </a:r>
            <a:r>
              <a:rPr dirty="0" sz="11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onsolas"/>
                <a:cs typeface="Consolas"/>
              </a:rPr>
              <a:t>New</a:t>
            </a:r>
            <a:r>
              <a:rPr dirty="0" sz="11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onsolas"/>
                <a:cs typeface="Consolas"/>
              </a:rPr>
              <a:t>AI</a:t>
            </a:r>
            <a:r>
              <a:rPr dirty="0" sz="1100" spc="-1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Consolas"/>
                <a:cs typeface="Consolas"/>
              </a:rPr>
              <a:t>Era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103" y="1810482"/>
            <a:ext cx="4652645" cy="2115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b="1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dirty="0" sz="4100" spc="-5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100" b="1">
                <a:solidFill>
                  <a:srgbClr val="FFFFFF"/>
                </a:solidFill>
                <a:latin typeface="Georgia"/>
                <a:cs typeface="Georgia"/>
              </a:rPr>
              <a:t>Agent</a:t>
            </a:r>
            <a:r>
              <a:rPr dirty="0" sz="4100" spc="-5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100" b="1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dirty="0" sz="4100" spc="-4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endParaRPr sz="4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4100" spc="-10" b="1" i="1">
                <a:solidFill>
                  <a:srgbClr val="5FE3CC"/>
                </a:solidFill>
                <a:latin typeface="Georgia"/>
                <a:cs typeface="Georgia"/>
              </a:rPr>
              <a:t>Operating</a:t>
            </a:r>
            <a:r>
              <a:rPr dirty="0" sz="4100" spc="-180" b="1" i="1">
                <a:solidFill>
                  <a:srgbClr val="5FE3CC"/>
                </a:solidFill>
                <a:latin typeface="Georgia"/>
                <a:cs typeface="Georgia"/>
              </a:rPr>
              <a:t> </a:t>
            </a:r>
            <a:r>
              <a:rPr dirty="0" sz="4100" spc="-10" b="1" i="1">
                <a:solidFill>
                  <a:srgbClr val="5FE3CC"/>
                </a:solidFill>
                <a:latin typeface="Georgia"/>
                <a:cs typeface="Georgia"/>
              </a:rPr>
              <a:t>Layer</a:t>
            </a:r>
            <a:endParaRPr sz="4100">
              <a:latin typeface="Georgia"/>
              <a:cs typeface="Georgia"/>
            </a:endParaRPr>
          </a:p>
          <a:p>
            <a:pPr marL="40005" marR="5080">
              <a:lnSpc>
                <a:spcPct val="162700"/>
              </a:lnSpc>
              <a:spcBef>
                <a:spcPts val="1535"/>
              </a:spcBef>
            </a:pP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The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new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era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of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7D0DA"/>
                </a:solidFill>
                <a:latin typeface="Calibri"/>
                <a:cs typeface="Calibri"/>
              </a:rPr>
              <a:t>computing: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from</a:t>
            </a:r>
            <a:r>
              <a:rPr dirty="0" sz="1300" spc="-20">
                <a:solidFill>
                  <a:srgbClr val="C7D0DA"/>
                </a:solidFill>
                <a:latin typeface="Calibri"/>
                <a:cs typeface="Calibri"/>
              </a:rPr>
              <a:t> app-</a:t>
            </a:r>
            <a:r>
              <a:rPr dirty="0" sz="1300" spc="-10">
                <a:solidFill>
                  <a:srgbClr val="C7D0DA"/>
                </a:solidFill>
                <a:latin typeface="Calibri"/>
                <a:cs typeface="Calibri"/>
              </a:rPr>
              <a:t>centric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PCs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to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agent-</a:t>
            </a:r>
            <a:r>
              <a:rPr dirty="0" sz="1300" spc="-10">
                <a:solidFill>
                  <a:srgbClr val="C7D0DA"/>
                </a:solidFill>
                <a:latin typeface="Calibri"/>
                <a:cs typeface="Calibri"/>
              </a:rPr>
              <a:t>native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C7D0DA"/>
                </a:solidFill>
                <a:latin typeface="Calibri"/>
                <a:cs typeface="Calibri"/>
              </a:rPr>
              <a:t>PCs.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Why</a:t>
            </a:r>
            <a:r>
              <a:rPr dirty="0" sz="1300" spc="-4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the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7D0DA"/>
                </a:solidFill>
                <a:latin typeface="Calibri"/>
                <a:cs typeface="Calibri"/>
              </a:rPr>
              <a:t>agentic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era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ends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the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app,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SaaS,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and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the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PC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as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we</a:t>
            </a:r>
            <a:r>
              <a:rPr dirty="0" sz="1300" spc="-4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7D0DA"/>
                </a:solidFill>
                <a:latin typeface="Calibri"/>
                <a:cs typeface="Calibri"/>
              </a:rPr>
              <a:t>know</a:t>
            </a:r>
            <a:r>
              <a:rPr dirty="0" sz="1300" spc="-3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C7D0DA"/>
                </a:solidFill>
                <a:latin typeface="Calibri"/>
                <a:cs typeface="Calibri"/>
              </a:rPr>
              <a:t>it.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694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03</a:t>
            </a:r>
            <a:endParaRPr sz="13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66612" y="0"/>
            <a:ext cx="3177540" cy="5143500"/>
          </a:xfrm>
          <a:custGeom>
            <a:avLst/>
            <a:gdLst/>
            <a:ahLst/>
            <a:cxnLst/>
            <a:rect l="l" t="t" r="r" b="b"/>
            <a:pathLst>
              <a:path w="3177540" h="5143500">
                <a:moveTo>
                  <a:pt x="3177387" y="0"/>
                </a:moveTo>
                <a:lnTo>
                  <a:pt x="194221" y="0"/>
                </a:lnTo>
                <a:lnTo>
                  <a:pt x="186740" y="18999"/>
                </a:lnTo>
                <a:lnTo>
                  <a:pt x="170624" y="61899"/>
                </a:lnTo>
                <a:lnTo>
                  <a:pt x="155194" y="105130"/>
                </a:lnTo>
                <a:lnTo>
                  <a:pt x="140462" y="148678"/>
                </a:lnTo>
                <a:lnTo>
                  <a:pt x="126415" y="192544"/>
                </a:lnTo>
                <a:lnTo>
                  <a:pt x="113080" y="236728"/>
                </a:lnTo>
                <a:lnTo>
                  <a:pt x="100444" y="281203"/>
                </a:lnTo>
                <a:lnTo>
                  <a:pt x="88531" y="325970"/>
                </a:lnTo>
                <a:lnTo>
                  <a:pt x="77330" y="371043"/>
                </a:lnTo>
                <a:lnTo>
                  <a:pt x="66865" y="416382"/>
                </a:lnTo>
                <a:lnTo>
                  <a:pt x="57124" y="462013"/>
                </a:lnTo>
                <a:lnTo>
                  <a:pt x="48133" y="507898"/>
                </a:lnTo>
                <a:lnTo>
                  <a:pt x="39890" y="554062"/>
                </a:lnTo>
                <a:lnTo>
                  <a:pt x="32397" y="600468"/>
                </a:lnTo>
                <a:lnTo>
                  <a:pt x="25666" y="647141"/>
                </a:lnTo>
                <a:lnTo>
                  <a:pt x="19710" y="694042"/>
                </a:lnTo>
                <a:lnTo>
                  <a:pt x="14516" y="741197"/>
                </a:lnTo>
                <a:lnTo>
                  <a:pt x="10109" y="788568"/>
                </a:lnTo>
                <a:lnTo>
                  <a:pt x="6489" y="836168"/>
                </a:lnTo>
                <a:lnTo>
                  <a:pt x="3657" y="883983"/>
                </a:lnTo>
                <a:lnTo>
                  <a:pt x="1625" y="932014"/>
                </a:lnTo>
                <a:lnTo>
                  <a:pt x="406" y="980249"/>
                </a:lnTo>
                <a:lnTo>
                  <a:pt x="0" y="1028674"/>
                </a:lnTo>
                <a:lnTo>
                  <a:pt x="406" y="1077112"/>
                </a:lnTo>
                <a:lnTo>
                  <a:pt x="1625" y="1125334"/>
                </a:lnTo>
                <a:lnTo>
                  <a:pt x="3657" y="1173365"/>
                </a:lnTo>
                <a:lnTo>
                  <a:pt x="6489" y="1221181"/>
                </a:lnTo>
                <a:lnTo>
                  <a:pt x="10109" y="1268780"/>
                </a:lnTo>
                <a:lnTo>
                  <a:pt x="14516" y="1316164"/>
                </a:lnTo>
                <a:lnTo>
                  <a:pt x="19710" y="1363306"/>
                </a:lnTo>
                <a:lnTo>
                  <a:pt x="25666" y="1410208"/>
                </a:lnTo>
                <a:lnTo>
                  <a:pt x="32397" y="1456880"/>
                </a:lnTo>
                <a:lnTo>
                  <a:pt x="39890" y="1503286"/>
                </a:lnTo>
                <a:lnTo>
                  <a:pt x="48133" y="1549450"/>
                </a:lnTo>
                <a:lnTo>
                  <a:pt x="57124" y="1595335"/>
                </a:lnTo>
                <a:lnTo>
                  <a:pt x="66865" y="1640967"/>
                </a:lnTo>
                <a:lnTo>
                  <a:pt x="77330" y="1686318"/>
                </a:lnTo>
                <a:lnTo>
                  <a:pt x="88531" y="1731378"/>
                </a:lnTo>
                <a:lnTo>
                  <a:pt x="100444" y="1776145"/>
                </a:lnTo>
                <a:lnTo>
                  <a:pt x="113080" y="1820633"/>
                </a:lnTo>
                <a:lnTo>
                  <a:pt x="126415" y="1864804"/>
                </a:lnTo>
                <a:lnTo>
                  <a:pt x="140462" y="1908670"/>
                </a:lnTo>
                <a:lnTo>
                  <a:pt x="155194" y="1952218"/>
                </a:lnTo>
                <a:lnTo>
                  <a:pt x="170624" y="1995449"/>
                </a:lnTo>
                <a:lnTo>
                  <a:pt x="186740" y="2038350"/>
                </a:lnTo>
                <a:lnTo>
                  <a:pt x="203517" y="2080907"/>
                </a:lnTo>
                <a:lnTo>
                  <a:pt x="220967" y="2123135"/>
                </a:lnTo>
                <a:lnTo>
                  <a:pt x="239090" y="2165007"/>
                </a:lnTo>
                <a:lnTo>
                  <a:pt x="257860" y="2206523"/>
                </a:lnTo>
                <a:lnTo>
                  <a:pt x="277279" y="2247684"/>
                </a:lnTo>
                <a:lnTo>
                  <a:pt x="297345" y="2288476"/>
                </a:lnTo>
                <a:lnTo>
                  <a:pt x="318046" y="2328888"/>
                </a:lnTo>
                <a:lnTo>
                  <a:pt x="339382" y="2368918"/>
                </a:lnTo>
                <a:lnTo>
                  <a:pt x="361340" y="2408567"/>
                </a:lnTo>
                <a:lnTo>
                  <a:pt x="383908" y="2447823"/>
                </a:lnTo>
                <a:lnTo>
                  <a:pt x="407085" y="2486672"/>
                </a:lnTo>
                <a:lnTo>
                  <a:pt x="430872" y="2525115"/>
                </a:lnTo>
                <a:lnTo>
                  <a:pt x="455256" y="2563139"/>
                </a:lnTo>
                <a:lnTo>
                  <a:pt x="480225" y="2600756"/>
                </a:lnTo>
                <a:lnTo>
                  <a:pt x="505790" y="2637929"/>
                </a:lnTo>
                <a:lnTo>
                  <a:pt x="531914" y="2674683"/>
                </a:lnTo>
                <a:lnTo>
                  <a:pt x="558622" y="2710992"/>
                </a:lnTo>
                <a:lnTo>
                  <a:pt x="585889" y="2746857"/>
                </a:lnTo>
                <a:lnTo>
                  <a:pt x="613727" y="2782265"/>
                </a:lnTo>
                <a:lnTo>
                  <a:pt x="642099" y="2817215"/>
                </a:lnTo>
                <a:lnTo>
                  <a:pt x="671029" y="2851696"/>
                </a:lnTo>
                <a:lnTo>
                  <a:pt x="700481" y="2885706"/>
                </a:lnTo>
                <a:lnTo>
                  <a:pt x="730478" y="2919234"/>
                </a:lnTo>
                <a:lnTo>
                  <a:pt x="760996" y="2952280"/>
                </a:lnTo>
                <a:lnTo>
                  <a:pt x="792035" y="2984830"/>
                </a:lnTo>
                <a:lnTo>
                  <a:pt x="823582" y="3016885"/>
                </a:lnTo>
                <a:lnTo>
                  <a:pt x="855637" y="3048431"/>
                </a:lnTo>
                <a:lnTo>
                  <a:pt x="888199" y="3079470"/>
                </a:lnTo>
                <a:lnTo>
                  <a:pt x="921245" y="3109988"/>
                </a:lnTo>
                <a:lnTo>
                  <a:pt x="954773" y="3139973"/>
                </a:lnTo>
                <a:lnTo>
                  <a:pt x="988783" y="3169437"/>
                </a:lnTo>
                <a:lnTo>
                  <a:pt x="1023264" y="3198355"/>
                </a:lnTo>
                <a:lnTo>
                  <a:pt x="1058227" y="3226739"/>
                </a:lnTo>
                <a:lnTo>
                  <a:pt x="1093635" y="3254565"/>
                </a:lnTo>
                <a:lnTo>
                  <a:pt x="1129499" y="3281832"/>
                </a:lnTo>
                <a:lnTo>
                  <a:pt x="1165809" y="3308540"/>
                </a:lnTo>
                <a:lnTo>
                  <a:pt x="1202550" y="3334664"/>
                </a:lnTo>
                <a:lnTo>
                  <a:pt x="1239735" y="3360229"/>
                </a:lnTo>
                <a:lnTo>
                  <a:pt x="1277353" y="3385197"/>
                </a:lnTo>
                <a:lnTo>
                  <a:pt x="1315377" y="3409581"/>
                </a:lnTo>
                <a:lnTo>
                  <a:pt x="1353832" y="3433356"/>
                </a:lnTo>
                <a:lnTo>
                  <a:pt x="1392682" y="3456546"/>
                </a:lnTo>
                <a:lnTo>
                  <a:pt x="1431937" y="3479114"/>
                </a:lnTo>
                <a:lnTo>
                  <a:pt x="1471587" y="3501059"/>
                </a:lnTo>
                <a:lnTo>
                  <a:pt x="1511617" y="3522395"/>
                </a:lnTo>
                <a:lnTo>
                  <a:pt x="1552028" y="3543096"/>
                </a:lnTo>
                <a:lnTo>
                  <a:pt x="1592821" y="3563162"/>
                </a:lnTo>
                <a:lnTo>
                  <a:pt x="1633982" y="3582581"/>
                </a:lnTo>
                <a:lnTo>
                  <a:pt x="1654860" y="3592030"/>
                </a:lnTo>
                <a:lnTo>
                  <a:pt x="1633740" y="3601770"/>
                </a:lnTo>
                <a:lnTo>
                  <a:pt x="1593049" y="3621811"/>
                </a:lnTo>
                <a:lnTo>
                  <a:pt x="1552943" y="3642868"/>
                </a:lnTo>
                <a:lnTo>
                  <a:pt x="1513446" y="3664889"/>
                </a:lnTo>
                <a:lnTo>
                  <a:pt x="1474571" y="3687876"/>
                </a:lnTo>
                <a:lnTo>
                  <a:pt x="1436344" y="3711816"/>
                </a:lnTo>
                <a:lnTo>
                  <a:pt x="1398778" y="3736683"/>
                </a:lnTo>
                <a:lnTo>
                  <a:pt x="1361871" y="3762464"/>
                </a:lnTo>
                <a:lnTo>
                  <a:pt x="1325651" y="3789146"/>
                </a:lnTo>
                <a:lnTo>
                  <a:pt x="1290154" y="3816718"/>
                </a:lnTo>
                <a:lnTo>
                  <a:pt x="1255369" y="3845141"/>
                </a:lnTo>
                <a:lnTo>
                  <a:pt x="1221308" y="3874427"/>
                </a:lnTo>
                <a:lnTo>
                  <a:pt x="1188021" y="3904538"/>
                </a:lnTo>
                <a:lnTo>
                  <a:pt x="1155496" y="3935476"/>
                </a:lnTo>
                <a:lnTo>
                  <a:pt x="1123746" y="3967213"/>
                </a:lnTo>
                <a:lnTo>
                  <a:pt x="1092809" y="3999738"/>
                </a:lnTo>
                <a:lnTo>
                  <a:pt x="1062697" y="4033037"/>
                </a:lnTo>
                <a:lnTo>
                  <a:pt x="1033411" y="4067073"/>
                </a:lnTo>
                <a:lnTo>
                  <a:pt x="1004976" y="4101858"/>
                </a:lnTo>
                <a:lnTo>
                  <a:pt x="977404" y="4137368"/>
                </a:lnTo>
                <a:lnTo>
                  <a:pt x="950722" y="4173575"/>
                </a:lnTo>
                <a:lnTo>
                  <a:pt x="924941" y="4210481"/>
                </a:lnTo>
                <a:lnTo>
                  <a:pt x="900074" y="4248048"/>
                </a:lnTo>
                <a:lnTo>
                  <a:pt x="876134" y="4286275"/>
                </a:lnTo>
                <a:lnTo>
                  <a:pt x="853135" y="4325137"/>
                </a:lnTo>
                <a:lnTo>
                  <a:pt x="831113" y="4364634"/>
                </a:lnTo>
                <a:lnTo>
                  <a:pt x="810069" y="4404741"/>
                </a:lnTo>
                <a:lnTo>
                  <a:pt x="790016" y="4445432"/>
                </a:lnTo>
                <a:lnTo>
                  <a:pt x="770978" y="4486694"/>
                </a:lnTo>
                <a:lnTo>
                  <a:pt x="752970" y="4528515"/>
                </a:lnTo>
                <a:lnTo>
                  <a:pt x="736003" y="4570895"/>
                </a:lnTo>
                <a:lnTo>
                  <a:pt x="720090" y="4613783"/>
                </a:lnTo>
                <a:lnTo>
                  <a:pt x="705269" y="4657191"/>
                </a:lnTo>
                <a:lnTo>
                  <a:pt x="691527" y="4701095"/>
                </a:lnTo>
                <a:lnTo>
                  <a:pt x="678903" y="4745482"/>
                </a:lnTo>
                <a:lnTo>
                  <a:pt x="667410" y="4790325"/>
                </a:lnTo>
                <a:lnTo>
                  <a:pt x="657047" y="4835614"/>
                </a:lnTo>
                <a:lnTo>
                  <a:pt x="647852" y="4881334"/>
                </a:lnTo>
                <a:lnTo>
                  <a:pt x="639826" y="4927473"/>
                </a:lnTo>
                <a:lnTo>
                  <a:pt x="632993" y="4973993"/>
                </a:lnTo>
                <a:lnTo>
                  <a:pt x="627367" y="5020907"/>
                </a:lnTo>
                <a:lnTo>
                  <a:pt x="622960" y="5068189"/>
                </a:lnTo>
                <a:lnTo>
                  <a:pt x="619785" y="5115814"/>
                </a:lnTo>
                <a:lnTo>
                  <a:pt x="618680" y="5143500"/>
                </a:lnTo>
                <a:lnTo>
                  <a:pt x="3177387" y="5143500"/>
                </a:lnTo>
                <a:lnTo>
                  <a:pt x="3177387" y="3816807"/>
                </a:lnTo>
                <a:lnTo>
                  <a:pt x="3177387" y="3607206"/>
                </a:lnTo>
                <a:lnTo>
                  <a:pt x="3177387" y="0"/>
                </a:lnTo>
                <a:close/>
              </a:path>
            </a:pathLst>
          </a:custGeom>
          <a:solidFill>
            <a:srgbClr val="2B39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4536" y="1501333"/>
            <a:ext cx="778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B39A"/>
                </a:solidFill>
                <a:latin typeface="Consolas"/>
                <a:cs typeface="Consolas"/>
              </a:rPr>
              <a:t>PART</a:t>
            </a:r>
            <a:r>
              <a:rPr dirty="0" sz="12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BB39A"/>
                </a:solidFill>
                <a:latin typeface="Consolas"/>
                <a:cs typeface="Consolas"/>
              </a:rPr>
              <a:t>03-</a:t>
            </a:r>
            <a:r>
              <a:rPr dirty="0" sz="1200" spc="-50" b="1">
                <a:solidFill>
                  <a:srgbClr val="2BB39A"/>
                </a:solidFill>
                <a:latin typeface="Consolas"/>
                <a:cs typeface="Consolas"/>
              </a:rPr>
              <a:t>A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90820" y="2246630"/>
            <a:ext cx="41440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dirty="0" sz="3000" spc="-4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Deaths,</a:t>
            </a:r>
            <a:r>
              <a:rPr dirty="0" sz="3000" spc="-4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Not</a:t>
            </a:r>
            <a:r>
              <a:rPr dirty="0" sz="3000" spc="-4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25" b="1">
                <a:solidFill>
                  <a:srgbClr val="FFFFFF"/>
                </a:solidFill>
                <a:latin typeface="Georgia"/>
                <a:cs typeface="Georgia"/>
              </a:rPr>
              <a:t>One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0952" y="3497579"/>
            <a:ext cx="995044" cy="48260"/>
          </a:xfrm>
          <a:custGeom>
            <a:avLst/>
            <a:gdLst/>
            <a:ahLst/>
            <a:cxnLst/>
            <a:rect l="l" t="t" r="r" b="b"/>
            <a:pathLst>
              <a:path w="995044" h="48260">
                <a:moveTo>
                  <a:pt x="994499" y="47999"/>
                </a:moveTo>
                <a:lnTo>
                  <a:pt x="0" y="47999"/>
                </a:lnTo>
                <a:lnTo>
                  <a:pt x="0" y="0"/>
                </a:lnTo>
                <a:lnTo>
                  <a:pt x="994499" y="0"/>
                </a:lnTo>
                <a:lnTo>
                  <a:pt x="994499" y="479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64895" y="628650"/>
            <a:ext cx="7414259" cy="3962400"/>
            <a:chOff x="864895" y="628650"/>
            <a:chExt cx="7414259" cy="3962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895" y="628650"/>
              <a:ext cx="7414200" cy="396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0145" y="747599"/>
              <a:ext cx="7223759" cy="3710304"/>
            </a:xfrm>
            <a:custGeom>
              <a:avLst/>
              <a:gdLst/>
              <a:ahLst/>
              <a:cxnLst/>
              <a:rect l="l" t="t" r="r" b="b"/>
              <a:pathLst>
                <a:path w="7223759" h="3710304">
                  <a:moveTo>
                    <a:pt x="0" y="3710099"/>
                  </a:moveTo>
                  <a:lnTo>
                    <a:pt x="7223699" y="3710099"/>
                  </a:lnTo>
                  <a:lnTo>
                    <a:pt x="7223699" y="0"/>
                  </a:lnTo>
                  <a:lnTo>
                    <a:pt x="0" y="0"/>
                  </a:lnTo>
                  <a:lnTo>
                    <a:pt x="0" y="371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0145" y="685799"/>
              <a:ext cx="7223759" cy="3771900"/>
            </a:xfrm>
            <a:custGeom>
              <a:avLst/>
              <a:gdLst/>
              <a:ahLst/>
              <a:cxnLst/>
              <a:rect l="l" t="t" r="r" b="b"/>
              <a:pathLst>
                <a:path w="7223759" h="3771900">
                  <a:moveTo>
                    <a:pt x="0" y="0"/>
                  </a:moveTo>
                  <a:lnTo>
                    <a:pt x="7223699" y="0"/>
                  </a:lnTo>
                  <a:lnTo>
                    <a:pt x="7223699" y="3771899"/>
                  </a:lnTo>
                  <a:lnTo>
                    <a:pt x="0" y="37718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AD3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0145" y="685799"/>
              <a:ext cx="7223759" cy="62230"/>
            </a:xfrm>
            <a:custGeom>
              <a:avLst/>
              <a:gdLst/>
              <a:ahLst/>
              <a:cxnLst/>
              <a:rect l="l" t="t" r="r" b="b"/>
              <a:pathLst>
                <a:path w="7223759" h="62229">
                  <a:moveTo>
                    <a:pt x="7223699" y="61799"/>
                  </a:moveTo>
                  <a:lnTo>
                    <a:pt x="0" y="61799"/>
                  </a:lnTo>
                  <a:lnTo>
                    <a:pt x="0" y="0"/>
                  </a:lnTo>
                  <a:lnTo>
                    <a:pt x="7223699" y="0"/>
                  </a:lnTo>
                  <a:lnTo>
                    <a:pt x="7223699" y="617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90354" y="1029401"/>
            <a:ext cx="9461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E11C48"/>
                </a:solidFill>
                <a:latin typeface="Consolas"/>
                <a:cs typeface="Consolas"/>
              </a:rPr>
              <a:t>JUNE</a:t>
            </a:r>
            <a:r>
              <a:rPr dirty="0" sz="1100" spc="-15" b="1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E11C48"/>
                </a:solidFill>
                <a:latin typeface="Consolas"/>
                <a:cs typeface="Consolas"/>
              </a:rPr>
              <a:t>1,</a:t>
            </a:r>
            <a:r>
              <a:rPr dirty="0" sz="1100" spc="-15" b="1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100" spc="-20" b="1">
                <a:solidFill>
                  <a:srgbClr val="E11C48"/>
                </a:solidFill>
                <a:latin typeface="Consolas"/>
                <a:cs typeface="Consolas"/>
              </a:rPr>
              <a:t>2026</a:t>
            </a:r>
            <a:endParaRPr sz="1100">
              <a:latin typeface="Consolas"/>
              <a:cs typeface="Consola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3389" y="1371600"/>
            <a:ext cx="617219" cy="61721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37130" y="2050542"/>
            <a:ext cx="5868035" cy="995044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solidFill>
                  <a:srgbClr val="1F2A37"/>
                </a:solidFill>
              </a:rPr>
              <a:t>“For</a:t>
            </a:r>
            <a:r>
              <a:rPr dirty="0" sz="2000" spc="-6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forty</a:t>
            </a:r>
            <a:r>
              <a:rPr dirty="0" sz="2000" spc="-6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years,</a:t>
            </a:r>
            <a:r>
              <a:rPr dirty="0" sz="2000" spc="-6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you</a:t>
            </a:r>
            <a:r>
              <a:rPr dirty="0" sz="2000" spc="-6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launched</a:t>
            </a:r>
            <a:r>
              <a:rPr dirty="0" sz="2000" spc="-6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apps.</a:t>
            </a:r>
            <a:r>
              <a:rPr dirty="0" sz="2000" spc="-6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Click.</a:t>
            </a:r>
            <a:r>
              <a:rPr dirty="0" sz="2000" spc="-60">
                <a:solidFill>
                  <a:srgbClr val="1F2A37"/>
                </a:solidFill>
              </a:rPr>
              <a:t> </a:t>
            </a:r>
            <a:r>
              <a:rPr dirty="0" sz="2000" spc="-10">
                <a:solidFill>
                  <a:srgbClr val="1F2A37"/>
                </a:solidFill>
              </a:rPr>
              <a:t>Type.</a:t>
            </a:r>
            <a:endParaRPr sz="2000"/>
          </a:p>
          <a:p>
            <a:pPr algn="ctr" marL="12700" marR="5080">
              <a:lnSpc>
                <a:spcPct val="106000"/>
              </a:lnSpc>
            </a:pPr>
            <a:r>
              <a:rPr dirty="0" sz="2000">
                <a:solidFill>
                  <a:srgbClr val="1F2A37"/>
                </a:solidFill>
              </a:rPr>
              <a:t>With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RTX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Spark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and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Microsoft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 spc="-10">
                <a:solidFill>
                  <a:srgbClr val="1F2A37"/>
                </a:solidFill>
              </a:rPr>
              <a:t>Windows,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you</a:t>
            </a:r>
            <a:r>
              <a:rPr dirty="0" sz="2000" spc="-40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ask</a:t>
            </a:r>
            <a:r>
              <a:rPr dirty="0" sz="2000" spc="-45">
                <a:solidFill>
                  <a:srgbClr val="1F2A37"/>
                </a:solidFill>
              </a:rPr>
              <a:t> </a:t>
            </a:r>
            <a:r>
              <a:rPr dirty="0" sz="2000" spc="-50">
                <a:solidFill>
                  <a:srgbClr val="1F2A37"/>
                </a:solidFill>
              </a:rPr>
              <a:t>— </a:t>
            </a:r>
            <a:r>
              <a:rPr dirty="0" sz="2000">
                <a:solidFill>
                  <a:srgbClr val="1F2A37"/>
                </a:solidFill>
              </a:rPr>
              <a:t>and</a:t>
            </a:r>
            <a:r>
              <a:rPr dirty="0" sz="2000" spc="-30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the</a:t>
            </a:r>
            <a:r>
              <a:rPr dirty="0" sz="2000" spc="-2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PC</a:t>
            </a:r>
            <a:r>
              <a:rPr dirty="0" sz="2000" spc="-30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does</a:t>
            </a:r>
            <a:r>
              <a:rPr dirty="0" sz="2000" spc="-25">
                <a:solidFill>
                  <a:srgbClr val="1F2A37"/>
                </a:solidFill>
              </a:rPr>
              <a:t> </a:t>
            </a:r>
            <a:r>
              <a:rPr dirty="0" sz="2000">
                <a:solidFill>
                  <a:srgbClr val="1F2A37"/>
                </a:solidFill>
              </a:rPr>
              <a:t>the</a:t>
            </a:r>
            <a:r>
              <a:rPr dirty="0" sz="2000" spc="-25">
                <a:solidFill>
                  <a:srgbClr val="1F2A37"/>
                </a:solidFill>
              </a:rPr>
              <a:t> </a:t>
            </a:r>
            <a:r>
              <a:rPr dirty="0" sz="2000" spc="-10">
                <a:solidFill>
                  <a:srgbClr val="1F2A37"/>
                </a:solidFill>
              </a:rPr>
              <a:t>work.”</a:t>
            </a:r>
            <a:endParaRPr sz="2000"/>
          </a:p>
        </p:txBody>
      </p:sp>
      <p:sp>
        <p:nvSpPr>
          <p:cNvPr id="11" name="object 11"/>
          <p:cNvSpPr txBox="1"/>
          <p:nvPr/>
        </p:nvSpPr>
        <p:spPr>
          <a:xfrm>
            <a:off x="2128916" y="3601211"/>
            <a:ext cx="488696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100" spc="-30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A95A3"/>
                </a:solidFill>
                <a:latin typeface="Calibri"/>
                <a:cs typeface="Calibri"/>
              </a:rPr>
              <a:t>Jensen</a:t>
            </a:r>
            <a:r>
              <a:rPr dirty="0" sz="1100" spc="-25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A95A3"/>
                </a:solidFill>
                <a:latin typeface="Calibri"/>
                <a:cs typeface="Calibri"/>
              </a:rPr>
              <a:t>Huang,</a:t>
            </a:r>
            <a:r>
              <a:rPr dirty="0" sz="1100" spc="-25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A95A3"/>
                </a:solidFill>
                <a:latin typeface="Calibri"/>
                <a:cs typeface="Calibri"/>
              </a:rPr>
              <a:t>NVIDIA</a:t>
            </a:r>
            <a:r>
              <a:rPr dirty="0" sz="1100" spc="-25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A95A3"/>
                </a:solidFill>
                <a:latin typeface="Calibri"/>
                <a:cs typeface="Calibri"/>
              </a:rPr>
              <a:t>·</a:t>
            </a:r>
            <a:r>
              <a:rPr dirty="0" sz="1100" spc="-25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A95A3"/>
                </a:solidFill>
                <a:latin typeface="Calibri"/>
                <a:cs typeface="Calibri"/>
              </a:rPr>
              <a:t>GTC</a:t>
            </a:r>
            <a:r>
              <a:rPr dirty="0" sz="1100" spc="-30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A95A3"/>
                </a:solidFill>
                <a:latin typeface="Calibri"/>
                <a:cs typeface="Calibri"/>
              </a:rPr>
              <a:t>Taipei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NVIDIA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and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Microsoft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unveiled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petaflop-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class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chip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to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run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agents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locally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on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Windows.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Two</a:t>
            </a:r>
            <a:r>
              <a:rPr dirty="0" sz="2300" spc="-4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Deaths,</a:t>
            </a:r>
            <a:r>
              <a:rPr dirty="0" sz="2300" spc="-4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Not</a:t>
            </a:r>
            <a:r>
              <a:rPr dirty="0" sz="2300" spc="-4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25" b="1">
                <a:solidFill>
                  <a:srgbClr val="1F2A37"/>
                </a:solidFill>
                <a:latin typeface="Georgia"/>
                <a:cs typeface="Georgia"/>
              </a:rPr>
              <a:t>One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95172"/>
            <a:ext cx="35725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agentic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era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takes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two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casualties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one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smaller,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one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larger.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3404" y="1417320"/>
            <a:ext cx="4134485" cy="2487930"/>
            <a:chOff x="453404" y="1417320"/>
            <a:chExt cx="4134485" cy="24879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417320"/>
              <a:ext cx="4134000" cy="2487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54" y="1474470"/>
              <a:ext cx="3943985" cy="2297430"/>
            </a:xfrm>
            <a:custGeom>
              <a:avLst/>
              <a:gdLst/>
              <a:ahLst/>
              <a:cxnLst/>
              <a:rect l="l" t="t" r="r" b="b"/>
              <a:pathLst>
                <a:path w="3943985" h="2297429">
                  <a:moveTo>
                    <a:pt x="3943500" y="2297399"/>
                  </a:moveTo>
                  <a:lnTo>
                    <a:pt x="0" y="2297399"/>
                  </a:lnTo>
                  <a:lnTo>
                    <a:pt x="0" y="0"/>
                  </a:lnTo>
                  <a:lnTo>
                    <a:pt x="3943500" y="0"/>
                  </a:lnTo>
                  <a:lnTo>
                    <a:pt x="3943500" y="229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474470"/>
              <a:ext cx="3943985" cy="2297430"/>
            </a:xfrm>
            <a:custGeom>
              <a:avLst/>
              <a:gdLst/>
              <a:ahLst/>
              <a:cxnLst/>
              <a:rect l="l" t="t" r="r" b="b"/>
              <a:pathLst>
                <a:path w="3943985" h="2297429">
                  <a:moveTo>
                    <a:pt x="0" y="0"/>
                  </a:moveTo>
                  <a:lnTo>
                    <a:pt x="3943500" y="0"/>
                  </a:lnTo>
                  <a:lnTo>
                    <a:pt x="3943500" y="2297399"/>
                  </a:lnTo>
                  <a:lnTo>
                    <a:pt x="0" y="229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54" y="1474470"/>
              <a:ext cx="3943985" cy="48260"/>
            </a:xfrm>
            <a:custGeom>
              <a:avLst/>
              <a:gdLst/>
              <a:ahLst/>
              <a:cxnLst/>
              <a:rect l="l" t="t" r="r" b="b"/>
              <a:pathLst>
                <a:path w="3943985" h="48259">
                  <a:moveTo>
                    <a:pt x="39435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943500" y="0"/>
                  </a:lnTo>
                  <a:lnTo>
                    <a:pt x="3943500" y="479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9376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alibri"/>
                <a:cs typeface="Calibri"/>
              </a:rPr>
              <a:t>1.</a:t>
            </a:r>
            <a:r>
              <a:rPr dirty="0" sz="1300" spc="27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SaaS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dies</a:t>
            </a:r>
            <a:endParaRPr sz="1300">
              <a:latin typeface="Calibri"/>
              <a:cs typeface="Calibri"/>
            </a:endParaRPr>
          </a:p>
          <a:p>
            <a:pPr marL="185420" marR="199390">
              <a:lnSpc>
                <a:spcPct val="105000"/>
              </a:lnSpc>
              <a:spcBef>
                <a:spcPts val="950"/>
              </a:spcBef>
            </a:pP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 b="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replaces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app.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login,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 b="0">
                <a:solidFill>
                  <a:srgbClr val="3C4A57"/>
                </a:solidFill>
                <a:latin typeface="Calibri"/>
                <a:cs typeface="Calibri"/>
              </a:rPr>
              <a:t>navigation,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seat-</a:t>
            </a:r>
            <a:r>
              <a:rPr dirty="0" sz="1000" spc="-10" b="0">
                <a:solidFill>
                  <a:srgbClr val="3C4A57"/>
                </a:solidFill>
                <a:latin typeface="Calibri"/>
                <a:cs typeface="Calibri"/>
              </a:rPr>
              <a:t>based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UI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unbundled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into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 b="0">
                <a:solidFill>
                  <a:srgbClr val="3C4A57"/>
                </a:solidFill>
                <a:latin typeface="Calibri"/>
                <a:cs typeface="Calibri"/>
              </a:rPr>
              <a:t>capabilities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an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 b="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calls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never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names</a:t>
            </a:r>
            <a:r>
              <a:rPr dirty="0" sz="10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25" b="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000" spc="-20" b="0">
                <a:solidFill>
                  <a:srgbClr val="3C4A57"/>
                </a:solidFill>
                <a:latin typeface="Calibri"/>
                <a:cs typeface="Calibri"/>
              </a:rPr>
              <a:t> you.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0">
              <a:latin typeface="Calibri"/>
              <a:cs typeface="Calibri"/>
            </a:endParaRPr>
          </a:p>
          <a:p>
            <a:pPr marL="185420">
              <a:lnSpc>
                <a:spcPct val="100000"/>
              </a:lnSpc>
            </a:pP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smaller</a:t>
            </a:r>
            <a:r>
              <a:rPr dirty="0" sz="10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event:</a:t>
            </a:r>
            <a:r>
              <a:rPr dirty="0" sz="10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app</a:t>
            </a:r>
            <a:r>
              <a:rPr dirty="0" sz="10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dissolves</a:t>
            </a:r>
            <a:r>
              <a:rPr dirty="0" sz="10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into</a:t>
            </a:r>
            <a:r>
              <a:rPr dirty="0" sz="10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0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b="0">
                <a:solidFill>
                  <a:srgbClr val="3C4A57"/>
                </a:solidFill>
                <a:latin typeface="Calibri"/>
                <a:cs typeface="Calibri"/>
              </a:rPr>
              <a:t>function</a:t>
            </a:r>
            <a:r>
              <a:rPr dirty="0" sz="10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 b="0">
                <a:solidFill>
                  <a:srgbClr val="3C4A57"/>
                </a:solidFill>
                <a:latin typeface="Calibri"/>
                <a:cs typeface="Calibri"/>
              </a:rPr>
              <a:t>call.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54597" y="1417320"/>
            <a:ext cx="4134485" cy="2487930"/>
            <a:chOff x="4554597" y="1417320"/>
            <a:chExt cx="4134485" cy="24879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4597" y="1417320"/>
              <a:ext cx="4134000" cy="2487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49847" y="1474470"/>
              <a:ext cx="3943985" cy="2297430"/>
            </a:xfrm>
            <a:custGeom>
              <a:avLst/>
              <a:gdLst/>
              <a:ahLst/>
              <a:cxnLst/>
              <a:rect l="l" t="t" r="r" b="b"/>
              <a:pathLst>
                <a:path w="3943984" h="2297429">
                  <a:moveTo>
                    <a:pt x="3943499" y="2297399"/>
                  </a:moveTo>
                  <a:lnTo>
                    <a:pt x="0" y="2297399"/>
                  </a:lnTo>
                  <a:lnTo>
                    <a:pt x="0" y="0"/>
                  </a:lnTo>
                  <a:lnTo>
                    <a:pt x="3943499" y="0"/>
                  </a:lnTo>
                  <a:lnTo>
                    <a:pt x="3943499" y="229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49847" y="1474470"/>
              <a:ext cx="3943985" cy="2297430"/>
            </a:xfrm>
            <a:custGeom>
              <a:avLst/>
              <a:gdLst/>
              <a:ahLst/>
              <a:cxnLst/>
              <a:rect l="l" t="t" r="r" b="b"/>
              <a:pathLst>
                <a:path w="3943984" h="2297429">
                  <a:moveTo>
                    <a:pt x="0" y="0"/>
                  </a:moveTo>
                  <a:lnTo>
                    <a:pt x="3943499" y="0"/>
                  </a:lnTo>
                  <a:lnTo>
                    <a:pt x="3943499" y="2297399"/>
                  </a:lnTo>
                  <a:lnTo>
                    <a:pt x="0" y="229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49847" y="1474470"/>
              <a:ext cx="3943985" cy="48260"/>
            </a:xfrm>
            <a:custGeom>
              <a:avLst/>
              <a:gdLst/>
              <a:ahLst/>
              <a:cxnLst/>
              <a:rect l="l" t="t" r="r" b="b"/>
              <a:pathLst>
                <a:path w="3943984" h="48259">
                  <a:moveTo>
                    <a:pt x="39434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943499" y="0"/>
                  </a:lnTo>
                  <a:lnTo>
                    <a:pt x="3943499" y="479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56197" y="1705864"/>
            <a:ext cx="3931285" cy="984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2.</a:t>
            </a:r>
            <a:r>
              <a:rPr dirty="0" sz="1300" spc="270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The</a:t>
            </a:r>
            <a:r>
              <a:rPr dirty="0" sz="1300" spc="-1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PC</a:t>
            </a:r>
            <a:r>
              <a:rPr dirty="0" sz="1300" spc="-1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dies</a:t>
            </a:r>
            <a:r>
              <a:rPr dirty="0" sz="1300" spc="-1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—</a:t>
            </a:r>
            <a:r>
              <a:rPr dirty="0" sz="1300" spc="-1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as</a:t>
            </a:r>
            <a:r>
              <a:rPr dirty="0" sz="1300" spc="-1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we</a:t>
            </a:r>
            <a:r>
              <a:rPr dirty="0" sz="1300" spc="-1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know</a:t>
            </a:r>
            <a:r>
              <a:rPr dirty="0" sz="1300" spc="-20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5048E4"/>
                </a:solidFill>
                <a:latin typeface="Calibri"/>
                <a:cs typeface="Calibri"/>
              </a:rPr>
              <a:t>it</a:t>
            </a:r>
            <a:endParaRPr sz="1300">
              <a:latin typeface="Calibri"/>
              <a:cs typeface="Calibri"/>
            </a:endParaRPr>
          </a:p>
          <a:p>
            <a:pPr marL="185420" marR="203835">
              <a:lnSpc>
                <a:spcPct val="105000"/>
              </a:lnSpc>
              <a:spcBef>
                <a:spcPts val="950"/>
              </a:spcBef>
            </a:pP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replaces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you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at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controls.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app-on-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OS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model,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driven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by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hand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through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graphical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shell,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becomes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obsolete.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0">
              <a:latin typeface="Calibri"/>
              <a:cs typeface="Calibri"/>
            </a:endParaRPr>
          </a:p>
          <a:p>
            <a:pPr marL="185420">
              <a:lnSpc>
                <a:spcPct val="100000"/>
              </a:lnSpc>
            </a:pP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larger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event: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you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stop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operating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machine.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54" y="4020820"/>
            <a:ext cx="45789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Not</a:t>
            </a:r>
            <a:r>
              <a:rPr dirty="0" sz="1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silicon</a:t>
            </a:r>
            <a:r>
              <a:rPr dirty="0" sz="1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operating</a:t>
            </a:r>
            <a:r>
              <a:rPr dirty="0" sz="1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model.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It</a:t>
            </a:r>
            <a:r>
              <a:rPr dirty="0" sz="1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begins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with</a:t>
            </a:r>
            <a:r>
              <a:rPr dirty="0" sz="1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digital,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bounded,</a:t>
            </a:r>
            <a:r>
              <a:rPr dirty="0" sz="1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recoverable</a:t>
            </a:r>
            <a:r>
              <a:rPr dirty="0" sz="1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8A95A3"/>
                </a:solidFill>
                <a:latin typeface="Calibri"/>
                <a:cs typeface="Calibri"/>
              </a:rPr>
              <a:t>work.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4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SaaSpocalypse,</a:t>
            </a:r>
            <a:r>
              <a:rPr dirty="0" sz="2300" spc="-4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Unbundled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95172"/>
            <a:ext cx="40614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SaaS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app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is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three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things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welded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together.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agent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pulls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them</a:t>
            </a:r>
            <a:r>
              <a:rPr dirty="0" sz="11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apart.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3404" y="1417320"/>
            <a:ext cx="2783205" cy="2454275"/>
            <a:chOff x="453404" y="1417320"/>
            <a:chExt cx="2783205" cy="2454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417320"/>
              <a:ext cx="2782800" cy="2453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54" y="1474470"/>
              <a:ext cx="2592705" cy="2263775"/>
            </a:xfrm>
            <a:custGeom>
              <a:avLst/>
              <a:gdLst/>
              <a:ahLst/>
              <a:cxnLst/>
              <a:rect l="l" t="t" r="r" b="b"/>
              <a:pathLst>
                <a:path w="2592705" h="2263775">
                  <a:moveTo>
                    <a:pt x="2592300" y="2263199"/>
                  </a:moveTo>
                  <a:lnTo>
                    <a:pt x="0" y="2263199"/>
                  </a:lnTo>
                  <a:lnTo>
                    <a:pt x="0" y="0"/>
                  </a:lnTo>
                  <a:lnTo>
                    <a:pt x="2592300" y="0"/>
                  </a:lnTo>
                  <a:lnTo>
                    <a:pt x="2592300" y="226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474470"/>
              <a:ext cx="2592705" cy="2263775"/>
            </a:xfrm>
            <a:custGeom>
              <a:avLst/>
              <a:gdLst/>
              <a:ahLst/>
              <a:cxnLst/>
              <a:rect l="l" t="t" r="r" b="b"/>
              <a:pathLst>
                <a:path w="2592705" h="2263775">
                  <a:moveTo>
                    <a:pt x="0" y="0"/>
                  </a:moveTo>
                  <a:lnTo>
                    <a:pt x="2592300" y="0"/>
                  </a:lnTo>
                  <a:lnTo>
                    <a:pt x="2592300" y="2263199"/>
                  </a:lnTo>
                  <a:lnTo>
                    <a:pt x="0" y="22631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54" y="1474470"/>
              <a:ext cx="2592705" cy="48260"/>
            </a:xfrm>
            <a:custGeom>
              <a:avLst/>
              <a:gdLst/>
              <a:ahLst/>
              <a:cxnLst/>
              <a:rect l="l" t="t" r="r" b="b"/>
              <a:pathLst>
                <a:path w="2592705" h="48259">
                  <a:moveTo>
                    <a:pt x="25923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2592300" y="0"/>
                  </a:lnTo>
                  <a:lnTo>
                    <a:pt x="2592300" y="479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55004" y="1713991"/>
            <a:ext cx="2580005" cy="97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E11C48"/>
                </a:solidFill>
                <a:latin typeface="Calibri"/>
                <a:cs typeface="Calibri"/>
              </a:rPr>
              <a:t>Workflow</a:t>
            </a:r>
            <a:r>
              <a:rPr dirty="0" sz="1200" spc="-45" b="1">
                <a:solidFill>
                  <a:srgbClr val="E11C48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E11C48"/>
                </a:solidFill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  <a:p>
            <a:pPr marL="185420" marR="223520">
              <a:lnSpc>
                <a:spcPct val="105000"/>
              </a:lnSpc>
              <a:spcBef>
                <a:spcPts val="1010"/>
              </a:spcBef>
            </a:pP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Dies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first.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It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existed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only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so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human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could operate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capabilities.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 An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agent operating</a:t>
            </a:r>
            <a:r>
              <a:rPr dirty="0" sz="10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them</a:t>
            </a:r>
            <a:r>
              <a:rPr dirty="0" sz="10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directly</a:t>
            </a:r>
            <a:r>
              <a:rPr dirty="0" sz="10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bypasses</a:t>
            </a:r>
            <a:r>
              <a:rPr dirty="0" sz="10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 screens</a:t>
            </a:r>
            <a:r>
              <a:rPr dirty="0" sz="1000" spc="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entirely.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82961" y="1417320"/>
            <a:ext cx="2783205" cy="2454275"/>
            <a:chOff x="3182961" y="1417320"/>
            <a:chExt cx="2783205" cy="24542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2961" y="1417320"/>
              <a:ext cx="2782800" cy="24537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78211" y="1474470"/>
              <a:ext cx="2592705" cy="2263775"/>
            </a:xfrm>
            <a:custGeom>
              <a:avLst/>
              <a:gdLst/>
              <a:ahLst/>
              <a:cxnLst/>
              <a:rect l="l" t="t" r="r" b="b"/>
              <a:pathLst>
                <a:path w="2592704" h="2263775">
                  <a:moveTo>
                    <a:pt x="2592299" y="2263199"/>
                  </a:moveTo>
                  <a:lnTo>
                    <a:pt x="0" y="22631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226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78211" y="1474470"/>
              <a:ext cx="2592705" cy="2263775"/>
            </a:xfrm>
            <a:custGeom>
              <a:avLst/>
              <a:gdLst/>
              <a:ahLst/>
              <a:cxnLst/>
              <a:rect l="l" t="t" r="r" b="b"/>
              <a:pathLst>
                <a:path w="2592704" h="2263775">
                  <a:moveTo>
                    <a:pt x="0" y="0"/>
                  </a:moveTo>
                  <a:lnTo>
                    <a:pt x="2592299" y="0"/>
                  </a:lnTo>
                  <a:lnTo>
                    <a:pt x="2592299" y="2263199"/>
                  </a:lnTo>
                  <a:lnTo>
                    <a:pt x="0" y="22631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78211" y="1474470"/>
              <a:ext cx="2592705" cy="48260"/>
            </a:xfrm>
            <a:custGeom>
              <a:avLst/>
              <a:gdLst/>
              <a:ahLst/>
              <a:cxnLst/>
              <a:rect l="l" t="t" r="r" b="b"/>
              <a:pathLst>
                <a:path w="2592704" h="48259">
                  <a:moveTo>
                    <a:pt x="25922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47999"/>
                  </a:lnTo>
                  <a:close/>
                </a:path>
              </a:pathLst>
            </a:custGeom>
            <a:solidFill>
              <a:srgbClr val="E783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284561" y="1713991"/>
            <a:ext cx="2580005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E7830C"/>
                </a:solidFill>
                <a:latin typeface="Calibri"/>
                <a:cs typeface="Calibri"/>
              </a:rPr>
              <a:t>Capabilities</a:t>
            </a:r>
            <a:endParaRPr sz="1200">
              <a:latin typeface="Calibri"/>
              <a:cs typeface="Calibri"/>
            </a:endParaRPr>
          </a:p>
          <a:p>
            <a:pPr marL="185420" marR="263525">
              <a:lnSpc>
                <a:spcPct val="105000"/>
              </a:lnSpc>
              <a:spcBef>
                <a:spcPts val="1010"/>
              </a:spcBef>
            </a:pP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Survive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demoted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from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product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 function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call.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tool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reaches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for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 via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API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or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MCP,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then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sets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down.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12518" y="1417320"/>
            <a:ext cx="2783205" cy="2454275"/>
            <a:chOff x="5912518" y="1417320"/>
            <a:chExt cx="2783205" cy="245427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2518" y="1417320"/>
              <a:ext cx="2782800" cy="24537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07767" y="1474470"/>
              <a:ext cx="2592705" cy="2263775"/>
            </a:xfrm>
            <a:custGeom>
              <a:avLst/>
              <a:gdLst/>
              <a:ahLst/>
              <a:cxnLst/>
              <a:rect l="l" t="t" r="r" b="b"/>
              <a:pathLst>
                <a:path w="2592704" h="2263775">
                  <a:moveTo>
                    <a:pt x="2592299" y="2263199"/>
                  </a:moveTo>
                  <a:lnTo>
                    <a:pt x="0" y="22631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226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07767" y="1474470"/>
              <a:ext cx="2592705" cy="2263775"/>
            </a:xfrm>
            <a:custGeom>
              <a:avLst/>
              <a:gdLst/>
              <a:ahLst/>
              <a:cxnLst/>
              <a:rect l="l" t="t" r="r" b="b"/>
              <a:pathLst>
                <a:path w="2592704" h="2263775">
                  <a:moveTo>
                    <a:pt x="0" y="0"/>
                  </a:moveTo>
                  <a:lnTo>
                    <a:pt x="2592299" y="0"/>
                  </a:lnTo>
                  <a:lnTo>
                    <a:pt x="2592299" y="2263199"/>
                  </a:lnTo>
                  <a:lnTo>
                    <a:pt x="0" y="22631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07767" y="1474470"/>
              <a:ext cx="2592705" cy="48260"/>
            </a:xfrm>
            <a:custGeom>
              <a:avLst/>
              <a:gdLst/>
              <a:ahLst/>
              <a:cxnLst/>
              <a:rect l="l" t="t" r="r" b="b"/>
              <a:pathLst>
                <a:path w="2592704" h="48259">
                  <a:moveTo>
                    <a:pt x="25922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47999"/>
                  </a:lnTo>
                  <a:close/>
                </a:path>
              </a:pathLst>
            </a:custGeom>
            <a:solidFill>
              <a:srgbClr val="149B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014117" y="1713991"/>
            <a:ext cx="2580005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49B82"/>
                </a:solidFill>
                <a:latin typeface="Calibri"/>
                <a:cs typeface="Calibri"/>
              </a:rPr>
              <a:t>System</a:t>
            </a:r>
            <a:r>
              <a:rPr dirty="0" sz="1200" spc="-15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49B82"/>
                </a:solidFill>
                <a:latin typeface="Calibri"/>
                <a:cs typeface="Calibri"/>
              </a:rPr>
              <a:t>of</a:t>
            </a:r>
            <a:r>
              <a:rPr dirty="0" sz="1200" spc="-15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49B82"/>
                </a:solidFill>
                <a:latin typeface="Calibri"/>
                <a:cs typeface="Calibri"/>
              </a:rPr>
              <a:t>record</a:t>
            </a:r>
            <a:endParaRPr sz="1200">
              <a:latin typeface="Calibri"/>
              <a:cs typeface="Calibri"/>
            </a:endParaRPr>
          </a:p>
          <a:p>
            <a:pPr marL="185420" marR="234950">
              <a:lnSpc>
                <a:spcPct val="105000"/>
              </a:lnSpc>
              <a:spcBef>
                <a:spcPts val="1010"/>
              </a:spcBef>
            </a:pP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prize.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authoritative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data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an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agent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must</a:t>
            </a:r>
            <a:r>
              <a:rPr dirty="0" sz="10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read</a:t>
            </a:r>
            <a:r>
              <a:rPr dirty="0" sz="10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act</a:t>
            </a:r>
            <a:r>
              <a:rPr dirty="0" sz="10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becomes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most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strategic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layer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in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stack.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954" y="3992117"/>
            <a:ext cx="32556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SaaS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gets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unbundled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and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bundle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was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business.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8597561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966619" y="0"/>
            <a:ext cx="3177540" cy="5143500"/>
            <a:chOff x="5966619" y="0"/>
            <a:chExt cx="3177540" cy="5143500"/>
          </a:xfrm>
        </p:grpSpPr>
        <p:sp>
          <p:nvSpPr>
            <p:cNvPr id="4" name="object 4"/>
            <p:cNvSpPr/>
            <p:nvPr/>
          </p:nvSpPr>
          <p:spPr>
            <a:xfrm>
              <a:off x="5966612" y="0"/>
              <a:ext cx="3177540" cy="5143500"/>
            </a:xfrm>
            <a:custGeom>
              <a:avLst/>
              <a:gdLst/>
              <a:ahLst/>
              <a:cxnLst/>
              <a:rect l="l" t="t" r="r" b="b"/>
              <a:pathLst>
                <a:path w="3177540" h="5143500">
                  <a:moveTo>
                    <a:pt x="3177387" y="0"/>
                  </a:moveTo>
                  <a:lnTo>
                    <a:pt x="194221" y="0"/>
                  </a:lnTo>
                  <a:lnTo>
                    <a:pt x="186740" y="18999"/>
                  </a:lnTo>
                  <a:lnTo>
                    <a:pt x="170624" y="61899"/>
                  </a:lnTo>
                  <a:lnTo>
                    <a:pt x="155194" y="105130"/>
                  </a:lnTo>
                  <a:lnTo>
                    <a:pt x="140462" y="148678"/>
                  </a:lnTo>
                  <a:lnTo>
                    <a:pt x="126415" y="192544"/>
                  </a:lnTo>
                  <a:lnTo>
                    <a:pt x="113080" y="236728"/>
                  </a:lnTo>
                  <a:lnTo>
                    <a:pt x="100444" y="281203"/>
                  </a:lnTo>
                  <a:lnTo>
                    <a:pt x="88531" y="325970"/>
                  </a:lnTo>
                  <a:lnTo>
                    <a:pt x="77330" y="371043"/>
                  </a:lnTo>
                  <a:lnTo>
                    <a:pt x="66865" y="416382"/>
                  </a:lnTo>
                  <a:lnTo>
                    <a:pt x="57124" y="462013"/>
                  </a:lnTo>
                  <a:lnTo>
                    <a:pt x="48133" y="507898"/>
                  </a:lnTo>
                  <a:lnTo>
                    <a:pt x="39890" y="554062"/>
                  </a:lnTo>
                  <a:lnTo>
                    <a:pt x="32397" y="600468"/>
                  </a:lnTo>
                  <a:lnTo>
                    <a:pt x="25666" y="647141"/>
                  </a:lnTo>
                  <a:lnTo>
                    <a:pt x="19710" y="694042"/>
                  </a:lnTo>
                  <a:lnTo>
                    <a:pt x="14516" y="741197"/>
                  </a:lnTo>
                  <a:lnTo>
                    <a:pt x="10109" y="788568"/>
                  </a:lnTo>
                  <a:lnTo>
                    <a:pt x="6489" y="836168"/>
                  </a:lnTo>
                  <a:lnTo>
                    <a:pt x="3657" y="883983"/>
                  </a:lnTo>
                  <a:lnTo>
                    <a:pt x="1625" y="932014"/>
                  </a:lnTo>
                  <a:lnTo>
                    <a:pt x="406" y="980249"/>
                  </a:lnTo>
                  <a:lnTo>
                    <a:pt x="0" y="1028674"/>
                  </a:lnTo>
                  <a:lnTo>
                    <a:pt x="406" y="1077112"/>
                  </a:lnTo>
                  <a:lnTo>
                    <a:pt x="1625" y="1125334"/>
                  </a:lnTo>
                  <a:lnTo>
                    <a:pt x="3657" y="1173365"/>
                  </a:lnTo>
                  <a:lnTo>
                    <a:pt x="6489" y="1221181"/>
                  </a:lnTo>
                  <a:lnTo>
                    <a:pt x="10109" y="1268780"/>
                  </a:lnTo>
                  <a:lnTo>
                    <a:pt x="14516" y="1316164"/>
                  </a:lnTo>
                  <a:lnTo>
                    <a:pt x="19710" y="1363306"/>
                  </a:lnTo>
                  <a:lnTo>
                    <a:pt x="25666" y="1410208"/>
                  </a:lnTo>
                  <a:lnTo>
                    <a:pt x="32397" y="1456880"/>
                  </a:lnTo>
                  <a:lnTo>
                    <a:pt x="39890" y="1503286"/>
                  </a:lnTo>
                  <a:lnTo>
                    <a:pt x="48133" y="1549450"/>
                  </a:lnTo>
                  <a:lnTo>
                    <a:pt x="57124" y="1595335"/>
                  </a:lnTo>
                  <a:lnTo>
                    <a:pt x="66865" y="1640967"/>
                  </a:lnTo>
                  <a:lnTo>
                    <a:pt x="77330" y="1686318"/>
                  </a:lnTo>
                  <a:lnTo>
                    <a:pt x="88531" y="1731378"/>
                  </a:lnTo>
                  <a:lnTo>
                    <a:pt x="100444" y="1776145"/>
                  </a:lnTo>
                  <a:lnTo>
                    <a:pt x="113080" y="1820633"/>
                  </a:lnTo>
                  <a:lnTo>
                    <a:pt x="126415" y="1864804"/>
                  </a:lnTo>
                  <a:lnTo>
                    <a:pt x="140462" y="1908670"/>
                  </a:lnTo>
                  <a:lnTo>
                    <a:pt x="155194" y="1952218"/>
                  </a:lnTo>
                  <a:lnTo>
                    <a:pt x="170624" y="1995449"/>
                  </a:lnTo>
                  <a:lnTo>
                    <a:pt x="186740" y="2038350"/>
                  </a:lnTo>
                  <a:lnTo>
                    <a:pt x="203517" y="2080907"/>
                  </a:lnTo>
                  <a:lnTo>
                    <a:pt x="220967" y="2123135"/>
                  </a:lnTo>
                  <a:lnTo>
                    <a:pt x="239090" y="2165007"/>
                  </a:lnTo>
                  <a:lnTo>
                    <a:pt x="257860" y="2206523"/>
                  </a:lnTo>
                  <a:lnTo>
                    <a:pt x="277279" y="2247684"/>
                  </a:lnTo>
                  <a:lnTo>
                    <a:pt x="297345" y="2288476"/>
                  </a:lnTo>
                  <a:lnTo>
                    <a:pt x="318046" y="2328888"/>
                  </a:lnTo>
                  <a:lnTo>
                    <a:pt x="339382" y="2368918"/>
                  </a:lnTo>
                  <a:lnTo>
                    <a:pt x="361340" y="2408567"/>
                  </a:lnTo>
                  <a:lnTo>
                    <a:pt x="383908" y="2447823"/>
                  </a:lnTo>
                  <a:lnTo>
                    <a:pt x="407085" y="2486672"/>
                  </a:lnTo>
                  <a:lnTo>
                    <a:pt x="430872" y="2525115"/>
                  </a:lnTo>
                  <a:lnTo>
                    <a:pt x="455256" y="2563139"/>
                  </a:lnTo>
                  <a:lnTo>
                    <a:pt x="480225" y="2600756"/>
                  </a:lnTo>
                  <a:lnTo>
                    <a:pt x="505790" y="2637929"/>
                  </a:lnTo>
                  <a:lnTo>
                    <a:pt x="531914" y="2674683"/>
                  </a:lnTo>
                  <a:lnTo>
                    <a:pt x="558622" y="2710992"/>
                  </a:lnTo>
                  <a:lnTo>
                    <a:pt x="585889" y="2746857"/>
                  </a:lnTo>
                  <a:lnTo>
                    <a:pt x="613727" y="2782265"/>
                  </a:lnTo>
                  <a:lnTo>
                    <a:pt x="642099" y="2817215"/>
                  </a:lnTo>
                  <a:lnTo>
                    <a:pt x="671029" y="2851696"/>
                  </a:lnTo>
                  <a:lnTo>
                    <a:pt x="700481" y="2885706"/>
                  </a:lnTo>
                  <a:lnTo>
                    <a:pt x="730478" y="2919234"/>
                  </a:lnTo>
                  <a:lnTo>
                    <a:pt x="760996" y="2952280"/>
                  </a:lnTo>
                  <a:lnTo>
                    <a:pt x="792035" y="2984830"/>
                  </a:lnTo>
                  <a:lnTo>
                    <a:pt x="823582" y="3016885"/>
                  </a:lnTo>
                  <a:lnTo>
                    <a:pt x="855637" y="3048431"/>
                  </a:lnTo>
                  <a:lnTo>
                    <a:pt x="888199" y="3079470"/>
                  </a:lnTo>
                  <a:lnTo>
                    <a:pt x="921245" y="3109988"/>
                  </a:lnTo>
                  <a:lnTo>
                    <a:pt x="954773" y="3139973"/>
                  </a:lnTo>
                  <a:lnTo>
                    <a:pt x="988783" y="3169437"/>
                  </a:lnTo>
                  <a:lnTo>
                    <a:pt x="1023264" y="3198355"/>
                  </a:lnTo>
                  <a:lnTo>
                    <a:pt x="1058227" y="3226739"/>
                  </a:lnTo>
                  <a:lnTo>
                    <a:pt x="1093635" y="3254565"/>
                  </a:lnTo>
                  <a:lnTo>
                    <a:pt x="1129499" y="3281832"/>
                  </a:lnTo>
                  <a:lnTo>
                    <a:pt x="1165809" y="3308540"/>
                  </a:lnTo>
                  <a:lnTo>
                    <a:pt x="1202550" y="3334664"/>
                  </a:lnTo>
                  <a:lnTo>
                    <a:pt x="1239735" y="3360229"/>
                  </a:lnTo>
                  <a:lnTo>
                    <a:pt x="1277353" y="3385197"/>
                  </a:lnTo>
                  <a:lnTo>
                    <a:pt x="1315377" y="3409581"/>
                  </a:lnTo>
                  <a:lnTo>
                    <a:pt x="1353832" y="3433356"/>
                  </a:lnTo>
                  <a:lnTo>
                    <a:pt x="1392682" y="3456546"/>
                  </a:lnTo>
                  <a:lnTo>
                    <a:pt x="1431937" y="3479114"/>
                  </a:lnTo>
                  <a:lnTo>
                    <a:pt x="1471587" y="3501059"/>
                  </a:lnTo>
                  <a:lnTo>
                    <a:pt x="1511617" y="3522395"/>
                  </a:lnTo>
                  <a:lnTo>
                    <a:pt x="1552028" y="3543096"/>
                  </a:lnTo>
                  <a:lnTo>
                    <a:pt x="1592821" y="3563162"/>
                  </a:lnTo>
                  <a:lnTo>
                    <a:pt x="1633982" y="3582581"/>
                  </a:lnTo>
                  <a:lnTo>
                    <a:pt x="1654860" y="3592030"/>
                  </a:lnTo>
                  <a:lnTo>
                    <a:pt x="1633740" y="3601770"/>
                  </a:lnTo>
                  <a:lnTo>
                    <a:pt x="1593049" y="3621811"/>
                  </a:lnTo>
                  <a:lnTo>
                    <a:pt x="1552943" y="3642868"/>
                  </a:lnTo>
                  <a:lnTo>
                    <a:pt x="1513446" y="3664889"/>
                  </a:lnTo>
                  <a:lnTo>
                    <a:pt x="1474571" y="3687876"/>
                  </a:lnTo>
                  <a:lnTo>
                    <a:pt x="1436344" y="3711816"/>
                  </a:lnTo>
                  <a:lnTo>
                    <a:pt x="1398778" y="3736683"/>
                  </a:lnTo>
                  <a:lnTo>
                    <a:pt x="1361871" y="3762464"/>
                  </a:lnTo>
                  <a:lnTo>
                    <a:pt x="1325651" y="3789146"/>
                  </a:lnTo>
                  <a:lnTo>
                    <a:pt x="1290154" y="3816718"/>
                  </a:lnTo>
                  <a:lnTo>
                    <a:pt x="1255369" y="3845141"/>
                  </a:lnTo>
                  <a:lnTo>
                    <a:pt x="1221308" y="3874427"/>
                  </a:lnTo>
                  <a:lnTo>
                    <a:pt x="1188021" y="3904538"/>
                  </a:lnTo>
                  <a:lnTo>
                    <a:pt x="1155496" y="3935476"/>
                  </a:lnTo>
                  <a:lnTo>
                    <a:pt x="1123746" y="3967213"/>
                  </a:lnTo>
                  <a:lnTo>
                    <a:pt x="1092809" y="3999738"/>
                  </a:lnTo>
                  <a:lnTo>
                    <a:pt x="1062697" y="4033037"/>
                  </a:lnTo>
                  <a:lnTo>
                    <a:pt x="1033411" y="4067073"/>
                  </a:lnTo>
                  <a:lnTo>
                    <a:pt x="1004976" y="4101858"/>
                  </a:lnTo>
                  <a:lnTo>
                    <a:pt x="977404" y="4137368"/>
                  </a:lnTo>
                  <a:lnTo>
                    <a:pt x="950722" y="4173575"/>
                  </a:lnTo>
                  <a:lnTo>
                    <a:pt x="924941" y="4210481"/>
                  </a:lnTo>
                  <a:lnTo>
                    <a:pt x="900074" y="4248048"/>
                  </a:lnTo>
                  <a:lnTo>
                    <a:pt x="876134" y="4286275"/>
                  </a:lnTo>
                  <a:lnTo>
                    <a:pt x="853135" y="4325137"/>
                  </a:lnTo>
                  <a:lnTo>
                    <a:pt x="831113" y="4364634"/>
                  </a:lnTo>
                  <a:lnTo>
                    <a:pt x="810069" y="4404741"/>
                  </a:lnTo>
                  <a:lnTo>
                    <a:pt x="790016" y="4445432"/>
                  </a:lnTo>
                  <a:lnTo>
                    <a:pt x="770978" y="4486694"/>
                  </a:lnTo>
                  <a:lnTo>
                    <a:pt x="752970" y="4528515"/>
                  </a:lnTo>
                  <a:lnTo>
                    <a:pt x="736003" y="4570895"/>
                  </a:lnTo>
                  <a:lnTo>
                    <a:pt x="720090" y="4613783"/>
                  </a:lnTo>
                  <a:lnTo>
                    <a:pt x="705269" y="4657191"/>
                  </a:lnTo>
                  <a:lnTo>
                    <a:pt x="691527" y="4701095"/>
                  </a:lnTo>
                  <a:lnTo>
                    <a:pt x="678903" y="4745482"/>
                  </a:lnTo>
                  <a:lnTo>
                    <a:pt x="667410" y="4790325"/>
                  </a:lnTo>
                  <a:lnTo>
                    <a:pt x="657047" y="4835614"/>
                  </a:lnTo>
                  <a:lnTo>
                    <a:pt x="647852" y="4881334"/>
                  </a:lnTo>
                  <a:lnTo>
                    <a:pt x="639826" y="4927473"/>
                  </a:lnTo>
                  <a:lnTo>
                    <a:pt x="632993" y="4973993"/>
                  </a:lnTo>
                  <a:lnTo>
                    <a:pt x="627367" y="5020907"/>
                  </a:lnTo>
                  <a:lnTo>
                    <a:pt x="622960" y="5068189"/>
                  </a:lnTo>
                  <a:lnTo>
                    <a:pt x="619785" y="5115814"/>
                  </a:lnTo>
                  <a:lnTo>
                    <a:pt x="618680" y="5143500"/>
                  </a:lnTo>
                  <a:lnTo>
                    <a:pt x="3177387" y="5143500"/>
                  </a:lnTo>
                  <a:lnTo>
                    <a:pt x="3177387" y="3816807"/>
                  </a:lnTo>
                  <a:lnTo>
                    <a:pt x="3177387" y="3607206"/>
                  </a:lnTo>
                  <a:lnTo>
                    <a:pt x="3177387" y="0"/>
                  </a:lnTo>
                  <a:close/>
                </a:path>
              </a:pathLst>
            </a:custGeom>
            <a:solidFill>
              <a:srgbClr val="2B39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037" y="3922776"/>
              <a:ext cx="685799" cy="6857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4536" y="1501333"/>
            <a:ext cx="778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B39A"/>
                </a:solidFill>
                <a:latin typeface="Consolas"/>
                <a:cs typeface="Consolas"/>
              </a:rPr>
              <a:t>PART</a:t>
            </a:r>
            <a:r>
              <a:rPr dirty="0" sz="12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BB39A"/>
                </a:solidFill>
                <a:latin typeface="Consolas"/>
                <a:cs typeface="Consolas"/>
              </a:rPr>
              <a:t>03-</a:t>
            </a:r>
            <a:r>
              <a:rPr dirty="0" sz="1200" spc="-50" b="1">
                <a:solidFill>
                  <a:srgbClr val="2BB39A"/>
                </a:solidFill>
                <a:latin typeface="Consolas"/>
                <a:cs typeface="Consolas"/>
              </a:rPr>
              <a:t>B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0820" y="2246630"/>
            <a:ext cx="45999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dirty="0" sz="3000" spc="-5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AI</a:t>
            </a:r>
            <a:r>
              <a:rPr dirty="0" sz="3000" spc="-5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Operating</a:t>
            </a:r>
            <a:r>
              <a:rPr dirty="0" sz="3000" spc="-4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Layer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952" y="3497579"/>
            <a:ext cx="995044" cy="48260"/>
          </a:xfrm>
          <a:custGeom>
            <a:avLst/>
            <a:gdLst/>
            <a:ahLst/>
            <a:cxnLst/>
            <a:rect l="l" t="t" r="r" b="b"/>
            <a:pathLst>
              <a:path w="995044" h="48260">
                <a:moveTo>
                  <a:pt x="994499" y="47999"/>
                </a:moveTo>
                <a:lnTo>
                  <a:pt x="0" y="47999"/>
                </a:lnTo>
                <a:lnTo>
                  <a:pt x="0" y="0"/>
                </a:lnTo>
                <a:lnTo>
                  <a:pt x="994499" y="0"/>
                </a:lnTo>
                <a:lnTo>
                  <a:pt x="994499" y="479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599" y="0"/>
            <a:ext cx="6857991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1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Reversal</a:t>
            </a:r>
            <a:endParaRPr sz="23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2945" y="1543050"/>
            <a:ext cx="425450" cy="425450"/>
            <a:chOff x="582945" y="1543050"/>
            <a:chExt cx="425450" cy="425450"/>
          </a:xfrm>
        </p:grpSpPr>
        <p:sp>
          <p:nvSpPr>
            <p:cNvPr id="5" name="object 5"/>
            <p:cNvSpPr/>
            <p:nvPr/>
          </p:nvSpPr>
          <p:spPr>
            <a:xfrm>
              <a:off x="582945" y="1543050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10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9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16A0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676" y="1652778"/>
              <a:ext cx="205740" cy="20574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54" y="995172"/>
            <a:ext cx="6513195" cy="953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forty-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year</a:t>
            </a:r>
            <a:r>
              <a:rPr dirty="0" sz="11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stack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flips:</a:t>
            </a:r>
            <a:r>
              <a:rPr dirty="0" sz="11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OS</a:t>
            </a:r>
            <a:r>
              <a:rPr dirty="0" sz="11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sinks,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1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agent</a:t>
            </a:r>
            <a:r>
              <a:rPr dirty="0" sz="11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A95A3"/>
                </a:solidFill>
                <a:latin typeface="Calibri"/>
                <a:cs typeface="Calibri"/>
              </a:rPr>
              <a:t>layer</a:t>
            </a:r>
            <a:r>
              <a:rPr dirty="0" sz="11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A95A3"/>
                </a:solidFill>
                <a:latin typeface="Calibri"/>
                <a:cs typeface="Calibri"/>
              </a:rPr>
              <a:t>rises.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00">
              <a:latin typeface="Calibri"/>
              <a:cs typeface="Calibri"/>
            </a:endParaRPr>
          </a:p>
          <a:p>
            <a:pPr marL="622935">
              <a:lnSpc>
                <a:spcPct val="100000"/>
              </a:lnSpc>
            </a:pP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OS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becomes</a:t>
            </a:r>
            <a:r>
              <a:rPr dirty="0" sz="1200" spc="-2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plumbing</a:t>
            </a:r>
            <a:endParaRPr sz="1200">
              <a:latin typeface="Calibri"/>
              <a:cs typeface="Calibri"/>
            </a:endParaRPr>
          </a:p>
          <a:p>
            <a:pPr marL="622935">
              <a:lnSpc>
                <a:spcPct val="100000"/>
              </a:lnSpc>
              <a:spcBef>
                <a:spcPts val="430"/>
              </a:spcBef>
            </a:pP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Windows,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macOS,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Linux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survive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invisible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infrastructure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like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TCP/IP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or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BIOS.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human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never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touches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them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again.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2945" y="2468879"/>
            <a:ext cx="425450" cy="425450"/>
            <a:chOff x="582945" y="2468879"/>
            <a:chExt cx="425450" cy="425450"/>
          </a:xfrm>
        </p:grpSpPr>
        <p:sp>
          <p:nvSpPr>
            <p:cNvPr id="9" name="object 9"/>
            <p:cNvSpPr/>
            <p:nvPr/>
          </p:nvSpPr>
          <p:spPr>
            <a:xfrm>
              <a:off x="582945" y="2468879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10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9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676" y="2578608"/>
              <a:ext cx="205740" cy="20574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46332" y="2403051"/>
            <a:ext cx="5210810" cy="47180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shell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dies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as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interface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desktop,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dock,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app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grid,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window-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shuffling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demoted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legacy surfaces behind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layer.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2945" y="3394709"/>
            <a:ext cx="425450" cy="425450"/>
            <a:chOff x="582945" y="3394709"/>
            <a:chExt cx="425450" cy="425450"/>
          </a:xfrm>
        </p:grpSpPr>
        <p:sp>
          <p:nvSpPr>
            <p:cNvPr id="13" name="object 13"/>
            <p:cNvSpPr/>
            <p:nvPr/>
          </p:nvSpPr>
          <p:spPr>
            <a:xfrm>
              <a:off x="582945" y="3394709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10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9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149B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676" y="3504437"/>
              <a:ext cx="205740" cy="2057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46332" y="3328882"/>
            <a:ext cx="5180330" cy="47180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2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agent</a:t>
            </a:r>
            <a:r>
              <a:rPr dirty="0" sz="12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layer</a:t>
            </a:r>
            <a:r>
              <a:rPr dirty="0" sz="12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becomes</a:t>
            </a:r>
            <a:r>
              <a:rPr dirty="0" sz="12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2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floor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You</a:t>
            </a:r>
            <a:r>
              <a:rPr dirty="0" sz="9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state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goal.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reaches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down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through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old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interface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operates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machine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on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your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behalf.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66612" y="0"/>
            <a:ext cx="3177540" cy="5143500"/>
          </a:xfrm>
          <a:custGeom>
            <a:avLst/>
            <a:gdLst/>
            <a:ahLst/>
            <a:cxnLst/>
            <a:rect l="l" t="t" r="r" b="b"/>
            <a:pathLst>
              <a:path w="3177540" h="5143500">
                <a:moveTo>
                  <a:pt x="3177387" y="0"/>
                </a:moveTo>
                <a:lnTo>
                  <a:pt x="194221" y="0"/>
                </a:lnTo>
                <a:lnTo>
                  <a:pt x="186740" y="18999"/>
                </a:lnTo>
                <a:lnTo>
                  <a:pt x="170624" y="61899"/>
                </a:lnTo>
                <a:lnTo>
                  <a:pt x="155194" y="105130"/>
                </a:lnTo>
                <a:lnTo>
                  <a:pt x="140462" y="148678"/>
                </a:lnTo>
                <a:lnTo>
                  <a:pt x="126415" y="192544"/>
                </a:lnTo>
                <a:lnTo>
                  <a:pt x="113080" y="236728"/>
                </a:lnTo>
                <a:lnTo>
                  <a:pt x="100444" y="281203"/>
                </a:lnTo>
                <a:lnTo>
                  <a:pt x="88531" y="325970"/>
                </a:lnTo>
                <a:lnTo>
                  <a:pt x="77330" y="371043"/>
                </a:lnTo>
                <a:lnTo>
                  <a:pt x="66865" y="416382"/>
                </a:lnTo>
                <a:lnTo>
                  <a:pt x="57124" y="462013"/>
                </a:lnTo>
                <a:lnTo>
                  <a:pt x="48133" y="507898"/>
                </a:lnTo>
                <a:lnTo>
                  <a:pt x="39890" y="554062"/>
                </a:lnTo>
                <a:lnTo>
                  <a:pt x="32397" y="600468"/>
                </a:lnTo>
                <a:lnTo>
                  <a:pt x="25666" y="647141"/>
                </a:lnTo>
                <a:lnTo>
                  <a:pt x="19710" y="694042"/>
                </a:lnTo>
                <a:lnTo>
                  <a:pt x="14516" y="741197"/>
                </a:lnTo>
                <a:lnTo>
                  <a:pt x="10109" y="788568"/>
                </a:lnTo>
                <a:lnTo>
                  <a:pt x="6489" y="836168"/>
                </a:lnTo>
                <a:lnTo>
                  <a:pt x="3657" y="883983"/>
                </a:lnTo>
                <a:lnTo>
                  <a:pt x="1625" y="932014"/>
                </a:lnTo>
                <a:lnTo>
                  <a:pt x="406" y="980249"/>
                </a:lnTo>
                <a:lnTo>
                  <a:pt x="0" y="1028674"/>
                </a:lnTo>
                <a:lnTo>
                  <a:pt x="406" y="1077112"/>
                </a:lnTo>
                <a:lnTo>
                  <a:pt x="1625" y="1125334"/>
                </a:lnTo>
                <a:lnTo>
                  <a:pt x="3657" y="1173365"/>
                </a:lnTo>
                <a:lnTo>
                  <a:pt x="6489" y="1221181"/>
                </a:lnTo>
                <a:lnTo>
                  <a:pt x="10109" y="1268780"/>
                </a:lnTo>
                <a:lnTo>
                  <a:pt x="14516" y="1316164"/>
                </a:lnTo>
                <a:lnTo>
                  <a:pt x="19710" y="1363306"/>
                </a:lnTo>
                <a:lnTo>
                  <a:pt x="25666" y="1410208"/>
                </a:lnTo>
                <a:lnTo>
                  <a:pt x="32397" y="1456880"/>
                </a:lnTo>
                <a:lnTo>
                  <a:pt x="39890" y="1503286"/>
                </a:lnTo>
                <a:lnTo>
                  <a:pt x="48133" y="1549450"/>
                </a:lnTo>
                <a:lnTo>
                  <a:pt x="57124" y="1595335"/>
                </a:lnTo>
                <a:lnTo>
                  <a:pt x="66865" y="1640967"/>
                </a:lnTo>
                <a:lnTo>
                  <a:pt x="77330" y="1686318"/>
                </a:lnTo>
                <a:lnTo>
                  <a:pt x="88531" y="1731378"/>
                </a:lnTo>
                <a:lnTo>
                  <a:pt x="100444" y="1776145"/>
                </a:lnTo>
                <a:lnTo>
                  <a:pt x="113080" y="1820633"/>
                </a:lnTo>
                <a:lnTo>
                  <a:pt x="126415" y="1864804"/>
                </a:lnTo>
                <a:lnTo>
                  <a:pt x="140462" y="1908670"/>
                </a:lnTo>
                <a:lnTo>
                  <a:pt x="155194" y="1952218"/>
                </a:lnTo>
                <a:lnTo>
                  <a:pt x="170624" y="1995449"/>
                </a:lnTo>
                <a:lnTo>
                  <a:pt x="186740" y="2038350"/>
                </a:lnTo>
                <a:lnTo>
                  <a:pt x="203517" y="2080907"/>
                </a:lnTo>
                <a:lnTo>
                  <a:pt x="220967" y="2123135"/>
                </a:lnTo>
                <a:lnTo>
                  <a:pt x="239090" y="2165007"/>
                </a:lnTo>
                <a:lnTo>
                  <a:pt x="257860" y="2206523"/>
                </a:lnTo>
                <a:lnTo>
                  <a:pt x="277279" y="2247684"/>
                </a:lnTo>
                <a:lnTo>
                  <a:pt x="297345" y="2288476"/>
                </a:lnTo>
                <a:lnTo>
                  <a:pt x="318046" y="2328888"/>
                </a:lnTo>
                <a:lnTo>
                  <a:pt x="339382" y="2368918"/>
                </a:lnTo>
                <a:lnTo>
                  <a:pt x="361340" y="2408567"/>
                </a:lnTo>
                <a:lnTo>
                  <a:pt x="383908" y="2447823"/>
                </a:lnTo>
                <a:lnTo>
                  <a:pt x="407085" y="2486672"/>
                </a:lnTo>
                <a:lnTo>
                  <a:pt x="430872" y="2525115"/>
                </a:lnTo>
                <a:lnTo>
                  <a:pt x="455256" y="2563139"/>
                </a:lnTo>
                <a:lnTo>
                  <a:pt x="480225" y="2600756"/>
                </a:lnTo>
                <a:lnTo>
                  <a:pt x="505790" y="2637929"/>
                </a:lnTo>
                <a:lnTo>
                  <a:pt x="531914" y="2674683"/>
                </a:lnTo>
                <a:lnTo>
                  <a:pt x="558622" y="2710992"/>
                </a:lnTo>
                <a:lnTo>
                  <a:pt x="585889" y="2746857"/>
                </a:lnTo>
                <a:lnTo>
                  <a:pt x="613727" y="2782265"/>
                </a:lnTo>
                <a:lnTo>
                  <a:pt x="642099" y="2817215"/>
                </a:lnTo>
                <a:lnTo>
                  <a:pt x="671029" y="2851696"/>
                </a:lnTo>
                <a:lnTo>
                  <a:pt x="700481" y="2885706"/>
                </a:lnTo>
                <a:lnTo>
                  <a:pt x="730478" y="2919234"/>
                </a:lnTo>
                <a:lnTo>
                  <a:pt x="760996" y="2952280"/>
                </a:lnTo>
                <a:lnTo>
                  <a:pt x="792035" y="2984830"/>
                </a:lnTo>
                <a:lnTo>
                  <a:pt x="823582" y="3016885"/>
                </a:lnTo>
                <a:lnTo>
                  <a:pt x="855637" y="3048431"/>
                </a:lnTo>
                <a:lnTo>
                  <a:pt x="888199" y="3079470"/>
                </a:lnTo>
                <a:lnTo>
                  <a:pt x="921245" y="3109988"/>
                </a:lnTo>
                <a:lnTo>
                  <a:pt x="954773" y="3139973"/>
                </a:lnTo>
                <a:lnTo>
                  <a:pt x="988783" y="3169437"/>
                </a:lnTo>
                <a:lnTo>
                  <a:pt x="1023264" y="3198355"/>
                </a:lnTo>
                <a:lnTo>
                  <a:pt x="1058227" y="3226739"/>
                </a:lnTo>
                <a:lnTo>
                  <a:pt x="1093635" y="3254565"/>
                </a:lnTo>
                <a:lnTo>
                  <a:pt x="1129499" y="3281832"/>
                </a:lnTo>
                <a:lnTo>
                  <a:pt x="1165809" y="3308540"/>
                </a:lnTo>
                <a:lnTo>
                  <a:pt x="1202550" y="3334664"/>
                </a:lnTo>
                <a:lnTo>
                  <a:pt x="1239735" y="3360229"/>
                </a:lnTo>
                <a:lnTo>
                  <a:pt x="1277353" y="3385197"/>
                </a:lnTo>
                <a:lnTo>
                  <a:pt x="1315377" y="3409581"/>
                </a:lnTo>
                <a:lnTo>
                  <a:pt x="1353832" y="3433356"/>
                </a:lnTo>
                <a:lnTo>
                  <a:pt x="1392682" y="3456546"/>
                </a:lnTo>
                <a:lnTo>
                  <a:pt x="1431937" y="3479114"/>
                </a:lnTo>
                <a:lnTo>
                  <a:pt x="1471587" y="3501059"/>
                </a:lnTo>
                <a:lnTo>
                  <a:pt x="1511617" y="3522395"/>
                </a:lnTo>
                <a:lnTo>
                  <a:pt x="1552028" y="3543096"/>
                </a:lnTo>
                <a:lnTo>
                  <a:pt x="1592821" y="3563162"/>
                </a:lnTo>
                <a:lnTo>
                  <a:pt x="1633982" y="3582581"/>
                </a:lnTo>
                <a:lnTo>
                  <a:pt x="1654860" y="3592030"/>
                </a:lnTo>
                <a:lnTo>
                  <a:pt x="1633740" y="3601770"/>
                </a:lnTo>
                <a:lnTo>
                  <a:pt x="1593049" y="3621811"/>
                </a:lnTo>
                <a:lnTo>
                  <a:pt x="1552943" y="3642868"/>
                </a:lnTo>
                <a:lnTo>
                  <a:pt x="1513446" y="3664889"/>
                </a:lnTo>
                <a:lnTo>
                  <a:pt x="1474571" y="3687876"/>
                </a:lnTo>
                <a:lnTo>
                  <a:pt x="1436344" y="3711816"/>
                </a:lnTo>
                <a:lnTo>
                  <a:pt x="1398778" y="3736683"/>
                </a:lnTo>
                <a:lnTo>
                  <a:pt x="1361871" y="3762464"/>
                </a:lnTo>
                <a:lnTo>
                  <a:pt x="1325651" y="3789146"/>
                </a:lnTo>
                <a:lnTo>
                  <a:pt x="1290154" y="3816718"/>
                </a:lnTo>
                <a:lnTo>
                  <a:pt x="1255369" y="3845141"/>
                </a:lnTo>
                <a:lnTo>
                  <a:pt x="1221308" y="3874427"/>
                </a:lnTo>
                <a:lnTo>
                  <a:pt x="1188021" y="3904538"/>
                </a:lnTo>
                <a:lnTo>
                  <a:pt x="1155496" y="3935476"/>
                </a:lnTo>
                <a:lnTo>
                  <a:pt x="1123746" y="3967213"/>
                </a:lnTo>
                <a:lnTo>
                  <a:pt x="1092809" y="3999738"/>
                </a:lnTo>
                <a:lnTo>
                  <a:pt x="1062697" y="4033037"/>
                </a:lnTo>
                <a:lnTo>
                  <a:pt x="1033411" y="4067073"/>
                </a:lnTo>
                <a:lnTo>
                  <a:pt x="1004976" y="4101858"/>
                </a:lnTo>
                <a:lnTo>
                  <a:pt x="977404" y="4137368"/>
                </a:lnTo>
                <a:lnTo>
                  <a:pt x="950722" y="4173575"/>
                </a:lnTo>
                <a:lnTo>
                  <a:pt x="924941" y="4210481"/>
                </a:lnTo>
                <a:lnTo>
                  <a:pt x="900074" y="4248048"/>
                </a:lnTo>
                <a:lnTo>
                  <a:pt x="876134" y="4286275"/>
                </a:lnTo>
                <a:lnTo>
                  <a:pt x="853135" y="4325137"/>
                </a:lnTo>
                <a:lnTo>
                  <a:pt x="831113" y="4364634"/>
                </a:lnTo>
                <a:lnTo>
                  <a:pt x="810069" y="4404741"/>
                </a:lnTo>
                <a:lnTo>
                  <a:pt x="790016" y="4445432"/>
                </a:lnTo>
                <a:lnTo>
                  <a:pt x="770978" y="4486694"/>
                </a:lnTo>
                <a:lnTo>
                  <a:pt x="752970" y="4528515"/>
                </a:lnTo>
                <a:lnTo>
                  <a:pt x="736003" y="4570895"/>
                </a:lnTo>
                <a:lnTo>
                  <a:pt x="720090" y="4613783"/>
                </a:lnTo>
                <a:lnTo>
                  <a:pt x="705269" y="4657191"/>
                </a:lnTo>
                <a:lnTo>
                  <a:pt x="691527" y="4701095"/>
                </a:lnTo>
                <a:lnTo>
                  <a:pt x="678903" y="4745482"/>
                </a:lnTo>
                <a:lnTo>
                  <a:pt x="667410" y="4790325"/>
                </a:lnTo>
                <a:lnTo>
                  <a:pt x="657047" y="4835614"/>
                </a:lnTo>
                <a:lnTo>
                  <a:pt x="647852" y="4881334"/>
                </a:lnTo>
                <a:lnTo>
                  <a:pt x="639826" y="4927473"/>
                </a:lnTo>
                <a:lnTo>
                  <a:pt x="632993" y="4973993"/>
                </a:lnTo>
                <a:lnTo>
                  <a:pt x="627367" y="5020907"/>
                </a:lnTo>
                <a:lnTo>
                  <a:pt x="622960" y="5068189"/>
                </a:lnTo>
                <a:lnTo>
                  <a:pt x="619785" y="5115814"/>
                </a:lnTo>
                <a:lnTo>
                  <a:pt x="618680" y="5143500"/>
                </a:lnTo>
                <a:lnTo>
                  <a:pt x="3177387" y="5143500"/>
                </a:lnTo>
                <a:lnTo>
                  <a:pt x="3177387" y="3816807"/>
                </a:lnTo>
                <a:lnTo>
                  <a:pt x="3177387" y="3607206"/>
                </a:lnTo>
                <a:lnTo>
                  <a:pt x="3177387" y="0"/>
                </a:lnTo>
                <a:close/>
              </a:path>
            </a:pathLst>
          </a:custGeom>
          <a:solidFill>
            <a:srgbClr val="2B39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4536" y="1501333"/>
            <a:ext cx="778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B39A"/>
                </a:solidFill>
                <a:latin typeface="Consolas"/>
                <a:cs typeface="Consolas"/>
              </a:rPr>
              <a:t>PART</a:t>
            </a:r>
            <a:r>
              <a:rPr dirty="0" sz="12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BB39A"/>
                </a:solidFill>
                <a:latin typeface="Consolas"/>
                <a:cs typeface="Consolas"/>
              </a:rPr>
              <a:t>03-</a:t>
            </a:r>
            <a:r>
              <a:rPr dirty="0" sz="1200" spc="-50" b="1">
                <a:solidFill>
                  <a:srgbClr val="2BB39A"/>
                </a:solidFill>
                <a:latin typeface="Consolas"/>
                <a:cs typeface="Consolas"/>
              </a:rPr>
              <a:t>C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90820" y="2246630"/>
            <a:ext cx="53625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General</a:t>
            </a:r>
            <a:r>
              <a:rPr dirty="0" sz="3000" spc="-1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vs</a:t>
            </a:r>
            <a:r>
              <a:rPr dirty="0" sz="3000" spc="-114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Personal</a:t>
            </a:r>
            <a:r>
              <a:rPr dirty="0" sz="3000" spc="-114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Agents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0952" y="3497579"/>
            <a:ext cx="995044" cy="48260"/>
          </a:xfrm>
          <a:custGeom>
            <a:avLst/>
            <a:gdLst/>
            <a:ahLst/>
            <a:cxnLst/>
            <a:rect l="l" t="t" r="r" b="b"/>
            <a:pathLst>
              <a:path w="995044" h="48260">
                <a:moveTo>
                  <a:pt x="994499" y="47999"/>
                </a:moveTo>
                <a:lnTo>
                  <a:pt x="0" y="47999"/>
                </a:lnTo>
                <a:lnTo>
                  <a:pt x="0" y="0"/>
                </a:lnTo>
                <a:lnTo>
                  <a:pt x="994499" y="0"/>
                </a:lnTo>
                <a:lnTo>
                  <a:pt x="994499" y="479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4038" y="3922776"/>
            <a:ext cx="685799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Two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Kinds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of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Agents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50214"/>
            <a:ext cx="64693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Both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live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in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operating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spc="-20" b="1" i="1">
                <a:solidFill>
                  <a:srgbClr val="8A95A3"/>
                </a:solidFill>
                <a:latin typeface="Calibri"/>
                <a:cs typeface="Calibri"/>
              </a:rPr>
              <a:t>layer.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One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is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oriented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toward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work,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other</a:t>
            </a:r>
            <a:r>
              <a:rPr dirty="0" sz="14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toward</a:t>
            </a:r>
            <a:r>
              <a:rPr dirty="0" sz="1400" spc="-4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spc="-20" b="1" i="1">
                <a:solidFill>
                  <a:srgbClr val="8A95A3"/>
                </a:solidFill>
                <a:latin typeface="Calibri"/>
                <a:cs typeface="Calibri"/>
              </a:rPr>
              <a:t>you.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0481" y="1366837"/>
          <a:ext cx="7904480" cy="255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1660"/>
                <a:gridCol w="2983230"/>
                <a:gridCol w="2983229"/>
              </a:tblGrid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149B82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General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agents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149B82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Personal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agents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149B82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Oriented</a:t>
                      </a:r>
                      <a:r>
                        <a:rPr dirty="0" sz="1400" spc="-4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toward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task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work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person</a:t>
                      </a:r>
                      <a:r>
                        <a:rPr dirty="0" sz="1400" spc="-1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dirty="0" sz="1400" spc="-1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you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00" spc="-1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Examples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3670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404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Claude</a:t>
                      </a:r>
                      <a:r>
                        <a:rPr dirty="0" sz="1400" spc="-3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Code,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OpenCode;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Claude</a:t>
                      </a:r>
                      <a:r>
                        <a:rPr dirty="0" sz="1400" spc="-3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Cowork,</a:t>
                      </a:r>
                      <a:r>
                        <a:rPr dirty="0" sz="1400" spc="-3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OpenWork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OpenClaw,</a:t>
                      </a:r>
                      <a:r>
                        <a:rPr dirty="0" sz="1400" spc="-4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Hermes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53670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Lifespan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summoned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job;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sessional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always-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on;</a:t>
                      </a:r>
                      <a:r>
                        <a:rPr dirty="0" sz="1400" spc="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persistent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task-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scoped</a:t>
                      </a:r>
                      <a:r>
                        <a:rPr dirty="0" sz="1400" spc="-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context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long-term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dirty="0" sz="1400" spc="-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400" spc="-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knows</a:t>
                      </a:r>
                      <a:r>
                        <a:rPr dirty="0" sz="1400" spc="-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you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Initiative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directed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you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invoke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proactive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anticipates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Role</a:t>
                      </a:r>
                      <a:r>
                        <a:rPr dirty="0" sz="1400" spc="-15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15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15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2A37"/>
                          </a:solidFill>
                          <a:latin typeface="Arial"/>
                          <a:cs typeface="Arial"/>
                        </a:rPr>
                        <a:t>stack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workforce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400" spc="-1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operators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1400" spc="-2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delegate</a:t>
                      </a:r>
                      <a:r>
                        <a:rPr dirty="0" sz="1400" spc="-1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400" spc="-15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solidFill>
                            <a:srgbClr val="3C4A57"/>
                          </a:solidFill>
                          <a:latin typeface="Arial MT"/>
                          <a:cs typeface="Arial MT"/>
                        </a:rPr>
                        <a:t>interface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7785">
                    <a:lnL w="9525">
                      <a:solidFill>
                        <a:srgbClr val="D9DEE4"/>
                      </a:solidFill>
                      <a:prstDash val="solid"/>
                    </a:lnL>
                    <a:lnR w="9525">
                      <a:solidFill>
                        <a:srgbClr val="D9DEE4"/>
                      </a:solidFill>
                      <a:prstDash val="solid"/>
                    </a:lnR>
                    <a:lnT w="9525">
                      <a:solidFill>
                        <a:srgbClr val="D9DEE4"/>
                      </a:solidFill>
                      <a:prstDash val="solid"/>
                    </a:lnT>
                    <a:lnB w="9525">
                      <a:solidFill>
                        <a:srgbClr val="D9DEE4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197" y="152400"/>
            <a:ext cx="6451599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Build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Delegate;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Delegate</a:t>
            </a:r>
            <a:r>
              <a:rPr dirty="0" sz="2300" spc="-3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Runs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20" b="1">
                <a:solidFill>
                  <a:srgbClr val="1F2A37"/>
                </a:solidFill>
                <a:latin typeface="Georgia"/>
                <a:cs typeface="Georgia"/>
              </a:rPr>
              <a:t>Rest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38276"/>
            <a:ext cx="7142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800" spc="-5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layer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is</a:t>
            </a:r>
            <a:r>
              <a:rPr dirty="0" sz="1800" spc="-5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8A95A3"/>
                </a:solidFill>
                <a:latin typeface="Calibri"/>
                <a:cs typeface="Calibri"/>
              </a:rPr>
              <a:t>recursive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you</a:t>
            </a:r>
            <a:r>
              <a:rPr dirty="0" sz="1800" spc="-5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manage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8A95A3"/>
                </a:solidFill>
                <a:latin typeface="Calibri"/>
                <a:cs typeface="Calibri"/>
              </a:rPr>
              <a:t>personal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agents</a:t>
            </a:r>
            <a:r>
              <a:rPr dirty="0" sz="1800" spc="-5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using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8A95A3"/>
                </a:solidFill>
                <a:latin typeface="Calibri"/>
                <a:cs typeface="Calibri"/>
              </a:rPr>
              <a:t>general</a:t>
            </a:r>
            <a:r>
              <a:rPr dirty="0" sz="1800" spc="-4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8A95A3"/>
                </a:solidFill>
                <a:latin typeface="Calibri"/>
                <a:cs typeface="Calibri"/>
              </a:rPr>
              <a:t>agents.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3404" y="1451610"/>
            <a:ext cx="4134485" cy="2247900"/>
            <a:chOff x="453404" y="1451610"/>
            <a:chExt cx="4134485" cy="2247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451610"/>
              <a:ext cx="4134000" cy="2247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54" y="1508759"/>
              <a:ext cx="3943985" cy="2057400"/>
            </a:xfrm>
            <a:custGeom>
              <a:avLst/>
              <a:gdLst/>
              <a:ahLst/>
              <a:cxnLst/>
              <a:rect l="l" t="t" r="r" b="b"/>
              <a:pathLst>
                <a:path w="3943985" h="2057400">
                  <a:moveTo>
                    <a:pt x="3943500" y="2057399"/>
                  </a:moveTo>
                  <a:lnTo>
                    <a:pt x="0" y="2057399"/>
                  </a:lnTo>
                  <a:lnTo>
                    <a:pt x="0" y="0"/>
                  </a:lnTo>
                  <a:lnTo>
                    <a:pt x="3943500" y="0"/>
                  </a:lnTo>
                  <a:lnTo>
                    <a:pt x="3943500" y="205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508759"/>
              <a:ext cx="3943985" cy="2057400"/>
            </a:xfrm>
            <a:custGeom>
              <a:avLst/>
              <a:gdLst/>
              <a:ahLst/>
              <a:cxnLst/>
              <a:rect l="l" t="t" r="r" b="b"/>
              <a:pathLst>
                <a:path w="3943985" h="2057400">
                  <a:moveTo>
                    <a:pt x="0" y="0"/>
                  </a:moveTo>
                  <a:lnTo>
                    <a:pt x="3943500" y="0"/>
                  </a:lnTo>
                  <a:lnTo>
                    <a:pt x="3943500" y="2057399"/>
                  </a:lnTo>
                  <a:lnTo>
                    <a:pt x="0" y="205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54" y="1508759"/>
              <a:ext cx="3943985" cy="48260"/>
            </a:xfrm>
            <a:custGeom>
              <a:avLst/>
              <a:gdLst/>
              <a:ahLst/>
              <a:cxnLst/>
              <a:rect l="l" t="t" r="r" b="b"/>
              <a:pathLst>
                <a:path w="3943985" h="48259">
                  <a:moveTo>
                    <a:pt x="39435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943500" y="0"/>
                  </a:lnTo>
                  <a:lnTo>
                    <a:pt x="3943500" y="479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55004" y="1740154"/>
            <a:ext cx="3931285" cy="82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You</a:t>
            </a:r>
            <a:r>
              <a:rPr dirty="0" sz="1300" spc="220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Arial"/>
                <a:cs typeface="Arial"/>
              </a:rPr>
              <a:t>→</a:t>
            </a:r>
            <a:r>
              <a:rPr dirty="0" sz="1300" spc="145" b="1">
                <a:solidFill>
                  <a:srgbClr val="5048E4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General</a:t>
            </a:r>
            <a:r>
              <a:rPr dirty="0" sz="1300" spc="-40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5048E4"/>
                </a:solidFill>
                <a:latin typeface="Calibri"/>
                <a:cs typeface="Calibri"/>
              </a:rPr>
              <a:t>agents</a:t>
            </a:r>
            <a:endParaRPr sz="1300">
              <a:latin typeface="Calibri"/>
              <a:cs typeface="Calibri"/>
            </a:endParaRPr>
          </a:p>
          <a:p>
            <a:pPr marL="185420" marR="334010">
              <a:lnSpc>
                <a:spcPct val="105000"/>
              </a:lnSpc>
              <a:spcBef>
                <a:spcPts val="955"/>
              </a:spcBef>
            </a:pP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You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build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 configure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your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personal agent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its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memory, permissions,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skills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with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developer-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grade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general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agents</a:t>
            </a:r>
            <a:r>
              <a:rPr dirty="0" sz="10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like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Claude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Code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0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OpenCode.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54597" y="1451610"/>
            <a:ext cx="4134485" cy="2247900"/>
            <a:chOff x="4554597" y="1451610"/>
            <a:chExt cx="4134485" cy="22479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4597" y="1451610"/>
              <a:ext cx="4134000" cy="2247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49847" y="1508759"/>
              <a:ext cx="3943985" cy="2057400"/>
            </a:xfrm>
            <a:custGeom>
              <a:avLst/>
              <a:gdLst/>
              <a:ahLst/>
              <a:cxnLst/>
              <a:rect l="l" t="t" r="r" b="b"/>
              <a:pathLst>
                <a:path w="3943984" h="2057400">
                  <a:moveTo>
                    <a:pt x="3943499" y="2057399"/>
                  </a:moveTo>
                  <a:lnTo>
                    <a:pt x="0" y="2057399"/>
                  </a:lnTo>
                  <a:lnTo>
                    <a:pt x="0" y="0"/>
                  </a:lnTo>
                  <a:lnTo>
                    <a:pt x="3943499" y="0"/>
                  </a:lnTo>
                  <a:lnTo>
                    <a:pt x="3943499" y="205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49847" y="1508759"/>
              <a:ext cx="3943985" cy="2057400"/>
            </a:xfrm>
            <a:custGeom>
              <a:avLst/>
              <a:gdLst/>
              <a:ahLst/>
              <a:cxnLst/>
              <a:rect l="l" t="t" r="r" b="b"/>
              <a:pathLst>
                <a:path w="3943984" h="2057400">
                  <a:moveTo>
                    <a:pt x="0" y="0"/>
                  </a:moveTo>
                  <a:lnTo>
                    <a:pt x="3943499" y="0"/>
                  </a:lnTo>
                  <a:lnTo>
                    <a:pt x="3943499" y="2057399"/>
                  </a:lnTo>
                  <a:lnTo>
                    <a:pt x="0" y="205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49847" y="1508759"/>
              <a:ext cx="3943985" cy="48260"/>
            </a:xfrm>
            <a:custGeom>
              <a:avLst/>
              <a:gdLst/>
              <a:ahLst/>
              <a:cxnLst/>
              <a:rect l="l" t="t" r="r" b="b"/>
              <a:pathLst>
                <a:path w="3943984" h="48259">
                  <a:moveTo>
                    <a:pt x="39434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943499" y="0"/>
                  </a:lnTo>
                  <a:lnTo>
                    <a:pt x="3943499" y="47999"/>
                  </a:lnTo>
                  <a:close/>
                </a:path>
              </a:pathLst>
            </a:custGeom>
            <a:solidFill>
              <a:srgbClr val="149B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56197" y="1740154"/>
            <a:ext cx="3931285" cy="82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49B82"/>
                </a:solidFill>
                <a:latin typeface="Calibri"/>
                <a:cs typeface="Calibri"/>
              </a:rPr>
              <a:t>Personal</a:t>
            </a:r>
            <a:r>
              <a:rPr dirty="0" sz="1300" spc="-35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49B82"/>
                </a:solidFill>
                <a:latin typeface="Calibri"/>
                <a:cs typeface="Calibri"/>
              </a:rPr>
              <a:t>agent</a:t>
            </a:r>
            <a:r>
              <a:rPr dirty="0" sz="1300" spc="240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49B82"/>
                </a:solidFill>
                <a:latin typeface="Arial"/>
                <a:cs typeface="Arial"/>
              </a:rPr>
              <a:t>→</a:t>
            </a:r>
            <a:r>
              <a:rPr dirty="0" sz="1300" spc="160" b="1">
                <a:solidFill>
                  <a:srgbClr val="149B82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49B82"/>
                </a:solidFill>
                <a:latin typeface="Calibri"/>
                <a:cs typeface="Calibri"/>
              </a:rPr>
              <a:t>General</a:t>
            </a:r>
            <a:r>
              <a:rPr dirty="0" sz="1300" spc="-30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49B82"/>
                </a:solidFill>
                <a:latin typeface="Calibri"/>
                <a:cs typeface="Calibri"/>
              </a:rPr>
              <a:t>agents</a:t>
            </a:r>
            <a:endParaRPr sz="1300">
              <a:latin typeface="Calibri"/>
              <a:cs typeface="Calibri"/>
            </a:endParaRPr>
          </a:p>
          <a:p>
            <a:pPr marL="185420" marR="250825">
              <a:lnSpc>
                <a:spcPct val="105000"/>
              </a:lnSpc>
              <a:spcBef>
                <a:spcPts val="955"/>
              </a:spcBef>
            </a:pP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At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runtime,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your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delegate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knows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your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intent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dispatches</a:t>
            </a:r>
            <a:r>
              <a:rPr dirty="0" sz="10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C4A57"/>
                </a:solidFill>
                <a:latin typeface="Calibri"/>
                <a:cs typeface="Calibri"/>
              </a:rPr>
              <a:t>general agents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AI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Workers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carry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out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work,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then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reports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C4A57"/>
                </a:solidFill>
                <a:latin typeface="Calibri"/>
                <a:cs typeface="Calibri"/>
              </a:rPr>
              <a:t>back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3C4A57"/>
                </a:solidFill>
                <a:latin typeface="Calibri"/>
                <a:cs typeface="Calibri"/>
              </a:rPr>
              <a:t> you.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54" y="3800602"/>
            <a:ext cx="61671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600" spc="-50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1F2A37"/>
                </a:solidFill>
                <a:latin typeface="Calibri"/>
                <a:cs typeface="Calibri"/>
              </a:rPr>
              <a:t>personal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agent</a:t>
            </a:r>
            <a:r>
              <a:rPr dirty="0" sz="1600" spc="-50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is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your</a:t>
            </a:r>
            <a:r>
              <a:rPr dirty="0" sz="1600" spc="-50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chief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of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1F2A37"/>
                </a:solidFill>
                <a:latin typeface="Calibri"/>
                <a:cs typeface="Calibri"/>
              </a:rPr>
              <a:t>staff.</a:t>
            </a:r>
            <a:r>
              <a:rPr dirty="0" sz="1600" spc="-50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general</a:t>
            </a:r>
            <a:r>
              <a:rPr dirty="0" sz="1600" spc="-50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agents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are</a:t>
            </a:r>
            <a:r>
              <a:rPr dirty="0" sz="1600" spc="-45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600" spc="-50" b="1" i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1F2A37"/>
                </a:solidFill>
                <a:latin typeface="Calibri"/>
                <a:cs typeface="Calibri"/>
              </a:rPr>
              <a:t>staff.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966619" y="0"/>
            <a:ext cx="3177540" cy="5143500"/>
            <a:chOff x="5966619" y="0"/>
            <a:chExt cx="3177540" cy="5143500"/>
          </a:xfrm>
        </p:grpSpPr>
        <p:sp>
          <p:nvSpPr>
            <p:cNvPr id="4" name="object 4"/>
            <p:cNvSpPr/>
            <p:nvPr/>
          </p:nvSpPr>
          <p:spPr>
            <a:xfrm>
              <a:off x="5966612" y="0"/>
              <a:ext cx="3177540" cy="5143500"/>
            </a:xfrm>
            <a:custGeom>
              <a:avLst/>
              <a:gdLst/>
              <a:ahLst/>
              <a:cxnLst/>
              <a:rect l="l" t="t" r="r" b="b"/>
              <a:pathLst>
                <a:path w="3177540" h="5143500">
                  <a:moveTo>
                    <a:pt x="3177387" y="0"/>
                  </a:moveTo>
                  <a:lnTo>
                    <a:pt x="194221" y="0"/>
                  </a:lnTo>
                  <a:lnTo>
                    <a:pt x="186740" y="18999"/>
                  </a:lnTo>
                  <a:lnTo>
                    <a:pt x="170624" y="61899"/>
                  </a:lnTo>
                  <a:lnTo>
                    <a:pt x="155194" y="105130"/>
                  </a:lnTo>
                  <a:lnTo>
                    <a:pt x="140462" y="148678"/>
                  </a:lnTo>
                  <a:lnTo>
                    <a:pt x="126415" y="192544"/>
                  </a:lnTo>
                  <a:lnTo>
                    <a:pt x="113080" y="236728"/>
                  </a:lnTo>
                  <a:lnTo>
                    <a:pt x="100444" y="281203"/>
                  </a:lnTo>
                  <a:lnTo>
                    <a:pt x="88531" y="325970"/>
                  </a:lnTo>
                  <a:lnTo>
                    <a:pt x="77330" y="371043"/>
                  </a:lnTo>
                  <a:lnTo>
                    <a:pt x="66865" y="416382"/>
                  </a:lnTo>
                  <a:lnTo>
                    <a:pt x="57124" y="462013"/>
                  </a:lnTo>
                  <a:lnTo>
                    <a:pt x="48133" y="507898"/>
                  </a:lnTo>
                  <a:lnTo>
                    <a:pt x="39890" y="554062"/>
                  </a:lnTo>
                  <a:lnTo>
                    <a:pt x="32397" y="600468"/>
                  </a:lnTo>
                  <a:lnTo>
                    <a:pt x="25666" y="647141"/>
                  </a:lnTo>
                  <a:lnTo>
                    <a:pt x="19710" y="694042"/>
                  </a:lnTo>
                  <a:lnTo>
                    <a:pt x="14516" y="741197"/>
                  </a:lnTo>
                  <a:lnTo>
                    <a:pt x="10109" y="788568"/>
                  </a:lnTo>
                  <a:lnTo>
                    <a:pt x="6489" y="836168"/>
                  </a:lnTo>
                  <a:lnTo>
                    <a:pt x="3657" y="883983"/>
                  </a:lnTo>
                  <a:lnTo>
                    <a:pt x="1625" y="932014"/>
                  </a:lnTo>
                  <a:lnTo>
                    <a:pt x="406" y="980249"/>
                  </a:lnTo>
                  <a:lnTo>
                    <a:pt x="0" y="1028674"/>
                  </a:lnTo>
                  <a:lnTo>
                    <a:pt x="406" y="1077112"/>
                  </a:lnTo>
                  <a:lnTo>
                    <a:pt x="1625" y="1125334"/>
                  </a:lnTo>
                  <a:lnTo>
                    <a:pt x="3657" y="1173365"/>
                  </a:lnTo>
                  <a:lnTo>
                    <a:pt x="6489" y="1221181"/>
                  </a:lnTo>
                  <a:lnTo>
                    <a:pt x="10109" y="1268780"/>
                  </a:lnTo>
                  <a:lnTo>
                    <a:pt x="14516" y="1316164"/>
                  </a:lnTo>
                  <a:lnTo>
                    <a:pt x="19710" y="1363306"/>
                  </a:lnTo>
                  <a:lnTo>
                    <a:pt x="25666" y="1410208"/>
                  </a:lnTo>
                  <a:lnTo>
                    <a:pt x="32397" y="1456880"/>
                  </a:lnTo>
                  <a:lnTo>
                    <a:pt x="39890" y="1503286"/>
                  </a:lnTo>
                  <a:lnTo>
                    <a:pt x="48133" y="1549450"/>
                  </a:lnTo>
                  <a:lnTo>
                    <a:pt x="57124" y="1595335"/>
                  </a:lnTo>
                  <a:lnTo>
                    <a:pt x="66865" y="1640967"/>
                  </a:lnTo>
                  <a:lnTo>
                    <a:pt x="77330" y="1686318"/>
                  </a:lnTo>
                  <a:lnTo>
                    <a:pt x="88531" y="1731378"/>
                  </a:lnTo>
                  <a:lnTo>
                    <a:pt x="100444" y="1776145"/>
                  </a:lnTo>
                  <a:lnTo>
                    <a:pt x="113080" y="1820633"/>
                  </a:lnTo>
                  <a:lnTo>
                    <a:pt x="126415" y="1864804"/>
                  </a:lnTo>
                  <a:lnTo>
                    <a:pt x="140462" y="1908670"/>
                  </a:lnTo>
                  <a:lnTo>
                    <a:pt x="155194" y="1952218"/>
                  </a:lnTo>
                  <a:lnTo>
                    <a:pt x="170624" y="1995449"/>
                  </a:lnTo>
                  <a:lnTo>
                    <a:pt x="186740" y="2038350"/>
                  </a:lnTo>
                  <a:lnTo>
                    <a:pt x="203517" y="2080907"/>
                  </a:lnTo>
                  <a:lnTo>
                    <a:pt x="220967" y="2123135"/>
                  </a:lnTo>
                  <a:lnTo>
                    <a:pt x="239090" y="2165007"/>
                  </a:lnTo>
                  <a:lnTo>
                    <a:pt x="257860" y="2206523"/>
                  </a:lnTo>
                  <a:lnTo>
                    <a:pt x="277279" y="2247684"/>
                  </a:lnTo>
                  <a:lnTo>
                    <a:pt x="297345" y="2288476"/>
                  </a:lnTo>
                  <a:lnTo>
                    <a:pt x="318046" y="2328888"/>
                  </a:lnTo>
                  <a:lnTo>
                    <a:pt x="339382" y="2368918"/>
                  </a:lnTo>
                  <a:lnTo>
                    <a:pt x="361340" y="2408567"/>
                  </a:lnTo>
                  <a:lnTo>
                    <a:pt x="383908" y="2447823"/>
                  </a:lnTo>
                  <a:lnTo>
                    <a:pt x="407085" y="2486672"/>
                  </a:lnTo>
                  <a:lnTo>
                    <a:pt x="430872" y="2525115"/>
                  </a:lnTo>
                  <a:lnTo>
                    <a:pt x="455256" y="2563139"/>
                  </a:lnTo>
                  <a:lnTo>
                    <a:pt x="480225" y="2600756"/>
                  </a:lnTo>
                  <a:lnTo>
                    <a:pt x="505790" y="2637929"/>
                  </a:lnTo>
                  <a:lnTo>
                    <a:pt x="531914" y="2674683"/>
                  </a:lnTo>
                  <a:lnTo>
                    <a:pt x="558622" y="2710992"/>
                  </a:lnTo>
                  <a:lnTo>
                    <a:pt x="585889" y="2746857"/>
                  </a:lnTo>
                  <a:lnTo>
                    <a:pt x="613727" y="2782265"/>
                  </a:lnTo>
                  <a:lnTo>
                    <a:pt x="642099" y="2817215"/>
                  </a:lnTo>
                  <a:lnTo>
                    <a:pt x="671029" y="2851696"/>
                  </a:lnTo>
                  <a:lnTo>
                    <a:pt x="700481" y="2885706"/>
                  </a:lnTo>
                  <a:lnTo>
                    <a:pt x="730478" y="2919234"/>
                  </a:lnTo>
                  <a:lnTo>
                    <a:pt x="760996" y="2952280"/>
                  </a:lnTo>
                  <a:lnTo>
                    <a:pt x="792035" y="2984830"/>
                  </a:lnTo>
                  <a:lnTo>
                    <a:pt x="823582" y="3016885"/>
                  </a:lnTo>
                  <a:lnTo>
                    <a:pt x="855637" y="3048431"/>
                  </a:lnTo>
                  <a:lnTo>
                    <a:pt x="888199" y="3079470"/>
                  </a:lnTo>
                  <a:lnTo>
                    <a:pt x="921245" y="3109988"/>
                  </a:lnTo>
                  <a:lnTo>
                    <a:pt x="954773" y="3139973"/>
                  </a:lnTo>
                  <a:lnTo>
                    <a:pt x="988783" y="3169437"/>
                  </a:lnTo>
                  <a:lnTo>
                    <a:pt x="1023264" y="3198355"/>
                  </a:lnTo>
                  <a:lnTo>
                    <a:pt x="1058227" y="3226739"/>
                  </a:lnTo>
                  <a:lnTo>
                    <a:pt x="1093635" y="3254565"/>
                  </a:lnTo>
                  <a:lnTo>
                    <a:pt x="1129499" y="3281832"/>
                  </a:lnTo>
                  <a:lnTo>
                    <a:pt x="1165809" y="3308540"/>
                  </a:lnTo>
                  <a:lnTo>
                    <a:pt x="1202550" y="3334664"/>
                  </a:lnTo>
                  <a:lnTo>
                    <a:pt x="1239735" y="3360229"/>
                  </a:lnTo>
                  <a:lnTo>
                    <a:pt x="1277353" y="3385197"/>
                  </a:lnTo>
                  <a:lnTo>
                    <a:pt x="1315377" y="3409581"/>
                  </a:lnTo>
                  <a:lnTo>
                    <a:pt x="1353832" y="3433356"/>
                  </a:lnTo>
                  <a:lnTo>
                    <a:pt x="1392682" y="3456546"/>
                  </a:lnTo>
                  <a:lnTo>
                    <a:pt x="1431937" y="3479114"/>
                  </a:lnTo>
                  <a:lnTo>
                    <a:pt x="1471587" y="3501059"/>
                  </a:lnTo>
                  <a:lnTo>
                    <a:pt x="1511617" y="3522395"/>
                  </a:lnTo>
                  <a:lnTo>
                    <a:pt x="1552028" y="3543096"/>
                  </a:lnTo>
                  <a:lnTo>
                    <a:pt x="1592821" y="3563162"/>
                  </a:lnTo>
                  <a:lnTo>
                    <a:pt x="1633982" y="3582581"/>
                  </a:lnTo>
                  <a:lnTo>
                    <a:pt x="1654860" y="3592030"/>
                  </a:lnTo>
                  <a:lnTo>
                    <a:pt x="1633740" y="3601770"/>
                  </a:lnTo>
                  <a:lnTo>
                    <a:pt x="1593049" y="3621811"/>
                  </a:lnTo>
                  <a:lnTo>
                    <a:pt x="1552943" y="3642868"/>
                  </a:lnTo>
                  <a:lnTo>
                    <a:pt x="1513446" y="3664889"/>
                  </a:lnTo>
                  <a:lnTo>
                    <a:pt x="1474571" y="3687876"/>
                  </a:lnTo>
                  <a:lnTo>
                    <a:pt x="1436344" y="3711816"/>
                  </a:lnTo>
                  <a:lnTo>
                    <a:pt x="1398778" y="3736683"/>
                  </a:lnTo>
                  <a:lnTo>
                    <a:pt x="1361871" y="3762464"/>
                  </a:lnTo>
                  <a:lnTo>
                    <a:pt x="1325651" y="3789146"/>
                  </a:lnTo>
                  <a:lnTo>
                    <a:pt x="1290154" y="3816718"/>
                  </a:lnTo>
                  <a:lnTo>
                    <a:pt x="1255369" y="3845141"/>
                  </a:lnTo>
                  <a:lnTo>
                    <a:pt x="1221308" y="3874427"/>
                  </a:lnTo>
                  <a:lnTo>
                    <a:pt x="1188021" y="3904538"/>
                  </a:lnTo>
                  <a:lnTo>
                    <a:pt x="1155496" y="3935476"/>
                  </a:lnTo>
                  <a:lnTo>
                    <a:pt x="1123746" y="3967213"/>
                  </a:lnTo>
                  <a:lnTo>
                    <a:pt x="1092809" y="3999738"/>
                  </a:lnTo>
                  <a:lnTo>
                    <a:pt x="1062697" y="4033037"/>
                  </a:lnTo>
                  <a:lnTo>
                    <a:pt x="1033411" y="4067073"/>
                  </a:lnTo>
                  <a:lnTo>
                    <a:pt x="1004976" y="4101858"/>
                  </a:lnTo>
                  <a:lnTo>
                    <a:pt x="977404" y="4137368"/>
                  </a:lnTo>
                  <a:lnTo>
                    <a:pt x="950722" y="4173575"/>
                  </a:lnTo>
                  <a:lnTo>
                    <a:pt x="924941" y="4210481"/>
                  </a:lnTo>
                  <a:lnTo>
                    <a:pt x="900074" y="4248048"/>
                  </a:lnTo>
                  <a:lnTo>
                    <a:pt x="876134" y="4286275"/>
                  </a:lnTo>
                  <a:lnTo>
                    <a:pt x="853135" y="4325137"/>
                  </a:lnTo>
                  <a:lnTo>
                    <a:pt x="831113" y="4364634"/>
                  </a:lnTo>
                  <a:lnTo>
                    <a:pt x="810069" y="4404741"/>
                  </a:lnTo>
                  <a:lnTo>
                    <a:pt x="790016" y="4445432"/>
                  </a:lnTo>
                  <a:lnTo>
                    <a:pt x="770978" y="4486694"/>
                  </a:lnTo>
                  <a:lnTo>
                    <a:pt x="752970" y="4528515"/>
                  </a:lnTo>
                  <a:lnTo>
                    <a:pt x="736003" y="4570895"/>
                  </a:lnTo>
                  <a:lnTo>
                    <a:pt x="720090" y="4613783"/>
                  </a:lnTo>
                  <a:lnTo>
                    <a:pt x="705269" y="4657191"/>
                  </a:lnTo>
                  <a:lnTo>
                    <a:pt x="691527" y="4701095"/>
                  </a:lnTo>
                  <a:lnTo>
                    <a:pt x="678903" y="4745482"/>
                  </a:lnTo>
                  <a:lnTo>
                    <a:pt x="667410" y="4790325"/>
                  </a:lnTo>
                  <a:lnTo>
                    <a:pt x="657047" y="4835614"/>
                  </a:lnTo>
                  <a:lnTo>
                    <a:pt x="647852" y="4881334"/>
                  </a:lnTo>
                  <a:lnTo>
                    <a:pt x="639826" y="4927473"/>
                  </a:lnTo>
                  <a:lnTo>
                    <a:pt x="632993" y="4973993"/>
                  </a:lnTo>
                  <a:lnTo>
                    <a:pt x="627367" y="5020907"/>
                  </a:lnTo>
                  <a:lnTo>
                    <a:pt x="622960" y="5068189"/>
                  </a:lnTo>
                  <a:lnTo>
                    <a:pt x="619785" y="5115814"/>
                  </a:lnTo>
                  <a:lnTo>
                    <a:pt x="618680" y="5143500"/>
                  </a:lnTo>
                  <a:lnTo>
                    <a:pt x="3177387" y="5143500"/>
                  </a:lnTo>
                  <a:lnTo>
                    <a:pt x="3177387" y="3816807"/>
                  </a:lnTo>
                  <a:lnTo>
                    <a:pt x="3177387" y="3607206"/>
                  </a:lnTo>
                  <a:lnTo>
                    <a:pt x="3177387" y="0"/>
                  </a:lnTo>
                  <a:close/>
                </a:path>
              </a:pathLst>
            </a:custGeom>
            <a:solidFill>
              <a:srgbClr val="2B39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037" y="3922776"/>
              <a:ext cx="685799" cy="6857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4536" y="1501333"/>
            <a:ext cx="778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B39A"/>
                </a:solidFill>
                <a:latin typeface="Consolas"/>
                <a:cs typeface="Consolas"/>
              </a:rPr>
              <a:t>PART</a:t>
            </a:r>
            <a:r>
              <a:rPr dirty="0" sz="12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BB39A"/>
                </a:solidFill>
                <a:latin typeface="Consolas"/>
                <a:cs typeface="Consolas"/>
              </a:rPr>
              <a:t>03-</a:t>
            </a:r>
            <a:r>
              <a:rPr dirty="0" sz="1200" spc="-50" b="1">
                <a:solidFill>
                  <a:srgbClr val="2BB39A"/>
                </a:solidFill>
                <a:latin typeface="Consolas"/>
                <a:cs typeface="Consolas"/>
              </a:rPr>
              <a:t>D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0820" y="2013458"/>
            <a:ext cx="3829685" cy="94932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25"/>
              </a:spcBef>
            </a:pP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dirty="0" sz="3000" spc="-7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Computer</a:t>
            </a:r>
            <a:r>
              <a:rPr dirty="0" sz="3000" spc="-6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20" b="1">
                <a:solidFill>
                  <a:srgbClr val="FFFFFF"/>
                </a:solidFill>
                <a:latin typeface="Georgia"/>
                <a:cs typeface="Georgia"/>
              </a:rPr>
              <a:t>That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Controls</a:t>
            </a:r>
            <a:r>
              <a:rPr dirty="0" sz="3000" spc="-17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Itself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952" y="3497579"/>
            <a:ext cx="995044" cy="48260"/>
          </a:xfrm>
          <a:custGeom>
            <a:avLst/>
            <a:gdLst/>
            <a:ahLst/>
            <a:cxnLst/>
            <a:rect l="l" t="t" r="r" b="b"/>
            <a:pathLst>
              <a:path w="995044" h="48260">
                <a:moveTo>
                  <a:pt x="994499" y="47999"/>
                </a:moveTo>
                <a:lnTo>
                  <a:pt x="0" y="47999"/>
                </a:lnTo>
                <a:lnTo>
                  <a:pt x="0" y="0"/>
                </a:lnTo>
                <a:lnTo>
                  <a:pt x="994499" y="0"/>
                </a:lnTo>
                <a:lnTo>
                  <a:pt x="994499" y="479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RTX</a:t>
            </a:r>
            <a:r>
              <a:rPr dirty="0" sz="2300" spc="-7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Spark:</a:t>
            </a:r>
            <a:r>
              <a:rPr dirty="0" sz="2300" spc="-6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6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Personal</a:t>
            </a:r>
            <a:r>
              <a:rPr dirty="0" sz="2300" spc="-6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Agent</a:t>
            </a:r>
            <a:r>
              <a:rPr dirty="0" sz="2300" spc="-6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25" b="1">
                <a:solidFill>
                  <a:srgbClr val="1F2A37"/>
                </a:solidFill>
                <a:latin typeface="Georgia"/>
                <a:cs typeface="Georgia"/>
              </a:rPr>
              <a:t>PC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54532"/>
            <a:ext cx="71723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A</a:t>
            </a:r>
            <a:r>
              <a:rPr dirty="0" sz="16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spc="-20" b="1" i="1">
                <a:solidFill>
                  <a:srgbClr val="8A95A3"/>
                </a:solidFill>
                <a:latin typeface="Calibri"/>
                <a:cs typeface="Calibri"/>
              </a:rPr>
              <a:t>petaflop-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class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chip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puts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spc="-20" b="1" i="1">
                <a:solidFill>
                  <a:srgbClr val="8A95A3"/>
                </a:solidFill>
                <a:latin typeface="Calibri"/>
                <a:cs typeface="Calibri"/>
              </a:rPr>
              <a:t>frontier-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model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agents</a:t>
            </a:r>
            <a:r>
              <a:rPr dirty="0" sz="16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on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device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no</a:t>
            </a:r>
            <a:r>
              <a:rPr dirty="0" sz="1600" spc="-3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8A95A3"/>
                </a:solidFill>
                <a:latin typeface="Calibri"/>
                <a:cs typeface="Calibri"/>
              </a:rPr>
              <a:t>cloud</a:t>
            </a:r>
            <a:r>
              <a:rPr dirty="0" sz="16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spc="-20" b="1" i="1">
                <a:solidFill>
                  <a:srgbClr val="8A95A3"/>
                </a:solidFill>
                <a:latin typeface="Calibri"/>
                <a:cs typeface="Calibri"/>
              </a:rPr>
              <a:t>round-</a:t>
            </a:r>
            <a:r>
              <a:rPr dirty="0" sz="1600" spc="-10" b="1" i="1">
                <a:solidFill>
                  <a:srgbClr val="8A95A3"/>
                </a:solidFill>
                <a:latin typeface="Calibri"/>
                <a:cs typeface="Calibri"/>
              </a:rPr>
              <a:t>trip.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3404" y="1451610"/>
            <a:ext cx="2097405" cy="1528445"/>
            <a:chOff x="453404" y="1451610"/>
            <a:chExt cx="2097405" cy="15284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451610"/>
              <a:ext cx="2097000" cy="1527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54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5" h="1337945">
                  <a:moveTo>
                    <a:pt x="1906500" y="1337399"/>
                  </a:moveTo>
                  <a:lnTo>
                    <a:pt x="0" y="1337399"/>
                  </a:lnTo>
                  <a:lnTo>
                    <a:pt x="0" y="0"/>
                  </a:lnTo>
                  <a:lnTo>
                    <a:pt x="1906500" y="0"/>
                  </a:lnTo>
                  <a:lnTo>
                    <a:pt x="1906500" y="13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5" h="1337945">
                  <a:moveTo>
                    <a:pt x="0" y="0"/>
                  </a:moveTo>
                  <a:lnTo>
                    <a:pt x="1906500" y="0"/>
                  </a:lnTo>
                  <a:lnTo>
                    <a:pt x="1906500" y="1337399"/>
                  </a:lnTo>
                  <a:lnTo>
                    <a:pt x="0" y="133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54" y="1508759"/>
              <a:ext cx="1906905" cy="48260"/>
            </a:xfrm>
            <a:custGeom>
              <a:avLst/>
              <a:gdLst/>
              <a:ahLst/>
              <a:cxnLst/>
              <a:rect l="l" t="t" r="r" b="b"/>
              <a:pathLst>
                <a:path w="1906905" h="48259">
                  <a:moveTo>
                    <a:pt x="19065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1906500" y="0"/>
                  </a:lnTo>
                  <a:lnTo>
                    <a:pt x="1906500" y="47999"/>
                  </a:lnTo>
                  <a:close/>
                </a:path>
              </a:pathLst>
            </a:custGeom>
            <a:solidFill>
              <a:srgbClr val="16A0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55004" y="1768572"/>
            <a:ext cx="1894205" cy="59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6A085"/>
                </a:solidFill>
                <a:latin typeface="Georgia"/>
                <a:cs typeface="Georgia"/>
              </a:rPr>
              <a:t>≈1</a:t>
            </a:r>
            <a:r>
              <a:rPr dirty="0" sz="2300" spc="-10" b="1">
                <a:solidFill>
                  <a:srgbClr val="16A085"/>
                </a:solidFill>
                <a:latin typeface="Georgia"/>
                <a:cs typeface="Georgia"/>
              </a:rPr>
              <a:t> </a:t>
            </a:r>
            <a:r>
              <a:rPr dirty="0" sz="2300" spc="-25" b="1">
                <a:solidFill>
                  <a:srgbClr val="16A085"/>
                </a:solidFill>
                <a:latin typeface="Georgia"/>
                <a:cs typeface="Georgia"/>
              </a:rPr>
              <a:t>PF</a:t>
            </a:r>
            <a:endParaRPr sz="23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AI</a:t>
            </a:r>
            <a:r>
              <a:rPr dirty="0" sz="900" spc="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performance,</a:t>
            </a:r>
            <a:r>
              <a:rPr dirty="0" sz="900" spc="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on-device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3426" y="1451610"/>
            <a:ext cx="2097405" cy="1528445"/>
            <a:chOff x="2483426" y="1451610"/>
            <a:chExt cx="2097405" cy="15284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3426" y="1451610"/>
              <a:ext cx="2097000" cy="1527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78676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4" h="1337945">
                  <a:moveTo>
                    <a:pt x="1906499" y="1337399"/>
                  </a:moveTo>
                  <a:lnTo>
                    <a:pt x="0" y="1337399"/>
                  </a:lnTo>
                  <a:lnTo>
                    <a:pt x="0" y="0"/>
                  </a:lnTo>
                  <a:lnTo>
                    <a:pt x="1906499" y="0"/>
                  </a:lnTo>
                  <a:lnTo>
                    <a:pt x="1906499" y="13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78676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4" h="1337945">
                  <a:moveTo>
                    <a:pt x="0" y="0"/>
                  </a:moveTo>
                  <a:lnTo>
                    <a:pt x="1906499" y="0"/>
                  </a:lnTo>
                  <a:lnTo>
                    <a:pt x="1906499" y="1337399"/>
                  </a:lnTo>
                  <a:lnTo>
                    <a:pt x="0" y="133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78676" y="1508759"/>
              <a:ext cx="1906905" cy="48260"/>
            </a:xfrm>
            <a:custGeom>
              <a:avLst/>
              <a:gdLst/>
              <a:ahLst/>
              <a:cxnLst/>
              <a:rect l="l" t="t" r="r" b="b"/>
              <a:pathLst>
                <a:path w="1906904" h="48259">
                  <a:moveTo>
                    <a:pt x="19064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1906499" y="0"/>
                  </a:lnTo>
                  <a:lnTo>
                    <a:pt x="1906499" y="479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585026" y="1768572"/>
            <a:ext cx="1894205" cy="59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2563EB"/>
                </a:solidFill>
                <a:latin typeface="Georgia"/>
                <a:cs typeface="Georgia"/>
              </a:rPr>
              <a:t>128</a:t>
            </a:r>
            <a:r>
              <a:rPr dirty="0" sz="2300" spc="-15" b="1">
                <a:solidFill>
                  <a:srgbClr val="2563EB"/>
                </a:solidFill>
                <a:latin typeface="Georgia"/>
                <a:cs typeface="Georgia"/>
              </a:rPr>
              <a:t> </a:t>
            </a:r>
            <a:r>
              <a:rPr dirty="0" sz="2300" spc="-25" b="1">
                <a:solidFill>
                  <a:srgbClr val="2563EB"/>
                </a:solidFill>
                <a:latin typeface="Georgia"/>
                <a:cs typeface="Georgia"/>
              </a:rPr>
              <a:t>GB</a:t>
            </a:r>
            <a:endParaRPr sz="23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unified</a:t>
            </a:r>
            <a:r>
              <a:rPr dirty="0" sz="900" spc="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memory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13448" y="1451610"/>
            <a:ext cx="2097405" cy="1528445"/>
            <a:chOff x="4513448" y="1451610"/>
            <a:chExt cx="2097405" cy="15284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3448" y="1451610"/>
              <a:ext cx="2097000" cy="1527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08698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4" h="1337945">
                  <a:moveTo>
                    <a:pt x="1906499" y="1337399"/>
                  </a:moveTo>
                  <a:lnTo>
                    <a:pt x="0" y="1337399"/>
                  </a:lnTo>
                  <a:lnTo>
                    <a:pt x="0" y="0"/>
                  </a:lnTo>
                  <a:lnTo>
                    <a:pt x="1906499" y="0"/>
                  </a:lnTo>
                  <a:lnTo>
                    <a:pt x="1906499" y="13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08698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4" h="1337945">
                  <a:moveTo>
                    <a:pt x="0" y="0"/>
                  </a:moveTo>
                  <a:lnTo>
                    <a:pt x="1906499" y="0"/>
                  </a:lnTo>
                  <a:lnTo>
                    <a:pt x="1906499" y="1337399"/>
                  </a:lnTo>
                  <a:lnTo>
                    <a:pt x="0" y="133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608698" y="1508759"/>
              <a:ext cx="1906905" cy="48260"/>
            </a:xfrm>
            <a:custGeom>
              <a:avLst/>
              <a:gdLst/>
              <a:ahLst/>
              <a:cxnLst/>
              <a:rect l="l" t="t" r="r" b="b"/>
              <a:pathLst>
                <a:path w="1906904" h="48259">
                  <a:moveTo>
                    <a:pt x="19064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1906499" y="0"/>
                  </a:lnTo>
                  <a:lnTo>
                    <a:pt x="1906499" y="479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15048" y="1768572"/>
            <a:ext cx="1894205" cy="59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5048E4"/>
                </a:solidFill>
                <a:latin typeface="Georgia"/>
                <a:cs typeface="Georgia"/>
              </a:rPr>
              <a:t>20</a:t>
            </a:r>
            <a:endParaRPr sz="23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Arm</a:t>
            </a:r>
            <a:r>
              <a:rPr dirty="0" sz="9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CPU</a:t>
            </a:r>
            <a:r>
              <a:rPr dirty="0" sz="9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cores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43471" y="1451610"/>
            <a:ext cx="2097405" cy="1528445"/>
            <a:chOff x="6543471" y="1451610"/>
            <a:chExt cx="2097405" cy="152844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3471" y="1451610"/>
              <a:ext cx="2097000" cy="15279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38720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4" h="1337945">
                  <a:moveTo>
                    <a:pt x="1906499" y="1337399"/>
                  </a:moveTo>
                  <a:lnTo>
                    <a:pt x="0" y="1337399"/>
                  </a:lnTo>
                  <a:lnTo>
                    <a:pt x="0" y="0"/>
                  </a:lnTo>
                  <a:lnTo>
                    <a:pt x="1906499" y="0"/>
                  </a:lnTo>
                  <a:lnTo>
                    <a:pt x="1906499" y="13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638720" y="1508759"/>
              <a:ext cx="1906905" cy="1337945"/>
            </a:xfrm>
            <a:custGeom>
              <a:avLst/>
              <a:gdLst/>
              <a:ahLst/>
              <a:cxnLst/>
              <a:rect l="l" t="t" r="r" b="b"/>
              <a:pathLst>
                <a:path w="1906904" h="1337945">
                  <a:moveTo>
                    <a:pt x="0" y="0"/>
                  </a:moveTo>
                  <a:lnTo>
                    <a:pt x="1906499" y="0"/>
                  </a:lnTo>
                  <a:lnTo>
                    <a:pt x="1906499" y="1337399"/>
                  </a:lnTo>
                  <a:lnTo>
                    <a:pt x="0" y="133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638720" y="1508759"/>
              <a:ext cx="1906905" cy="48260"/>
            </a:xfrm>
            <a:custGeom>
              <a:avLst/>
              <a:gdLst/>
              <a:ahLst/>
              <a:cxnLst/>
              <a:rect l="l" t="t" r="r" b="b"/>
              <a:pathLst>
                <a:path w="1906904" h="48259">
                  <a:moveTo>
                    <a:pt x="19064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1906499" y="0"/>
                  </a:lnTo>
                  <a:lnTo>
                    <a:pt x="1906499" y="47999"/>
                  </a:lnTo>
                  <a:close/>
                </a:path>
              </a:pathLst>
            </a:custGeom>
            <a:solidFill>
              <a:srgbClr val="E783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645071" y="1768572"/>
            <a:ext cx="1894205" cy="59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300" spc="-10" b="1">
                <a:solidFill>
                  <a:srgbClr val="E7830C"/>
                </a:solidFill>
                <a:latin typeface="Georgia"/>
                <a:cs typeface="Georgia"/>
              </a:rPr>
              <a:t>Local</a:t>
            </a:r>
            <a:endParaRPr sz="23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private</a:t>
            </a:r>
            <a:r>
              <a:rPr dirty="0" sz="9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your </a:t>
            </a:r>
            <a:r>
              <a:rPr dirty="0" sz="900">
                <a:solidFill>
                  <a:srgbClr val="3C4A57"/>
                </a:solidFill>
                <a:latin typeface="Calibri"/>
                <a:cs typeface="Calibri"/>
              </a:rPr>
              <a:t>data</a:t>
            </a:r>
            <a:r>
              <a:rPr dirty="0" sz="900" spc="-1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3C4A57"/>
                </a:solidFill>
                <a:latin typeface="Calibri"/>
                <a:cs typeface="Calibri"/>
              </a:rPr>
              <a:t>stays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954" y="3065780"/>
            <a:ext cx="803592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 spc="-20">
                <a:solidFill>
                  <a:srgbClr val="3C4A57"/>
                </a:solidFill>
                <a:latin typeface="Calibri"/>
                <a:cs typeface="Calibri"/>
              </a:rPr>
              <a:t>NVIDIA’s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OpenShell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governs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what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an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may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touch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what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may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leave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machine.</a:t>
            </a:r>
            <a:r>
              <a:rPr dirty="0" sz="15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5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F2A37"/>
                </a:solidFill>
                <a:latin typeface="Calibri"/>
                <a:cs typeface="Calibri"/>
              </a:rPr>
              <a:t>interesting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engineering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is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not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5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petaflop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—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it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is</a:t>
            </a:r>
            <a:r>
              <a:rPr dirty="0" sz="15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F2A37"/>
                </a:solidFill>
                <a:latin typeface="Calibri"/>
                <a:cs typeface="Calibri"/>
              </a:rPr>
              <a:t>governed</a:t>
            </a:r>
            <a:r>
              <a:rPr dirty="0" sz="15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F2A37"/>
                </a:solidFill>
                <a:latin typeface="Calibri"/>
                <a:cs typeface="Calibri"/>
              </a:rPr>
              <a:t>capability.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64895" y="628650"/>
            <a:ext cx="7414259" cy="3962400"/>
            <a:chOff x="864895" y="628650"/>
            <a:chExt cx="7414259" cy="3962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895" y="628650"/>
              <a:ext cx="7414200" cy="396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0145" y="747599"/>
              <a:ext cx="7223759" cy="3710304"/>
            </a:xfrm>
            <a:custGeom>
              <a:avLst/>
              <a:gdLst/>
              <a:ahLst/>
              <a:cxnLst/>
              <a:rect l="l" t="t" r="r" b="b"/>
              <a:pathLst>
                <a:path w="7223759" h="3710304">
                  <a:moveTo>
                    <a:pt x="0" y="3710099"/>
                  </a:moveTo>
                  <a:lnTo>
                    <a:pt x="7223699" y="3710099"/>
                  </a:lnTo>
                  <a:lnTo>
                    <a:pt x="7223699" y="0"/>
                  </a:lnTo>
                  <a:lnTo>
                    <a:pt x="0" y="0"/>
                  </a:lnTo>
                  <a:lnTo>
                    <a:pt x="0" y="371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0145" y="685799"/>
              <a:ext cx="7223759" cy="3771900"/>
            </a:xfrm>
            <a:custGeom>
              <a:avLst/>
              <a:gdLst/>
              <a:ahLst/>
              <a:cxnLst/>
              <a:rect l="l" t="t" r="r" b="b"/>
              <a:pathLst>
                <a:path w="7223759" h="3771900">
                  <a:moveTo>
                    <a:pt x="0" y="0"/>
                  </a:moveTo>
                  <a:lnTo>
                    <a:pt x="7223699" y="0"/>
                  </a:lnTo>
                  <a:lnTo>
                    <a:pt x="7223699" y="3771899"/>
                  </a:lnTo>
                  <a:lnTo>
                    <a:pt x="0" y="37718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AD3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0145" y="685799"/>
              <a:ext cx="7223759" cy="62230"/>
            </a:xfrm>
            <a:custGeom>
              <a:avLst/>
              <a:gdLst/>
              <a:ahLst/>
              <a:cxnLst/>
              <a:rect l="l" t="t" r="r" b="b"/>
              <a:pathLst>
                <a:path w="7223759" h="62229">
                  <a:moveTo>
                    <a:pt x="7223699" y="61799"/>
                  </a:moveTo>
                  <a:lnTo>
                    <a:pt x="0" y="61799"/>
                  </a:lnTo>
                  <a:lnTo>
                    <a:pt x="0" y="0"/>
                  </a:lnTo>
                  <a:lnTo>
                    <a:pt x="7223699" y="0"/>
                  </a:lnTo>
                  <a:lnTo>
                    <a:pt x="7223699" y="617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0354" y="964377"/>
            <a:ext cx="2807970" cy="314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E11C48"/>
                </a:solidFill>
                <a:latin typeface="Consolas"/>
                <a:cs typeface="Consolas"/>
              </a:rPr>
              <a:t>FROM</a:t>
            </a:r>
            <a:r>
              <a:rPr dirty="0" sz="1900" spc="-55" b="1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900" b="1">
                <a:solidFill>
                  <a:srgbClr val="E11C48"/>
                </a:solidFill>
                <a:latin typeface="Consolas"/>
                <a:cs typeface="Consolas"/>
              </a:rPr>
              <a:t>TOOL</a:t>
            </a:r>
            <a:r>
              <a:rPr dirty="0" sz="1900" spc="-50" b="1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900" b="1">
                <a:solidFill>
                  <a:srgbClr val="E11C48"/>
                </a:solidFill>
                <a:latin typeface="Consolas"/>
                <a:cs typeface="Consolas"/>
              </a:rPr>
              <a:t>TO</a:t>
            </a:r>
            <a:r>
              <a:rPr dirty="0" sz="1900" spc="-50" b="1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900" spc="-10" b="1">
                <a:solidFill>
                  <a:srgbClr val="E11C48"/>
                </a:solidFill>
                <a:latin typeface="Consolas"/>
                <a:cs typeface="Consolas"/>
              </a:rPr>
              <a:t>TEAMMATE</a:t>
            </a:r>
            <a:endParaRPr sz="1900">
              <a:latin typeface="Consolas"/>
              <a:cs typeface="Consola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3389" y="1371600"/>
            <a:ext cx="617219" cy="61721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97768" y="2050542"/>
            <a:ext cx="594741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6680" marR="5080" indent="-1364615">
              <a:lnSpc>
                <a:spcPct val="106000"/>
              </a:lnSpc>
              <a:spcBef>
                <a:spcPts val="100"/>
              </a:spcBef>
            </a:pP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000" spc="-5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machine</a:t>
            </a:r>
            <a:r>
              <a:rPr dirty="0" sz="2000" spc="-45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stops</a:t>
            </a:r>
            <a:r>
              <a:rPr dirty="0" sz="2000" spc="-5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being</a:t>
            </a:r>
            <a:r>
              <a:rPr dirty="0" sz="2000" spc="-45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an</a:t>
            </a:r>
            <a:r>
              <a:rPr dirty="0" sz="2000" spc="-5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F2A37"/>
                </a:solidFill>
                <a:latin typeface="Georgia"/>
                <a:cs typeface="Georgia"/>
              </a:rPr>
              <a:t>instrument</a:t>
            </a:r>
            <a:r>
              <a:rPr dirty="0" sz="2000" spc="-45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you</a:t>
            </a:r>
            <a:r>
              <a:rPr dirty="0" sz="2000" spc="-5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play</a:t>
            </a:r>
            <a:r>
              <a:rPr dirty="0" sz="2000" spc="-45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 spc="-25">
                <a:solidFill>
                  <a:srgbClr val="1F2A37"/>
                </a:solidFill>
                <a:latin typeface="Georgia"/>
                <a:cs typeface="Georgia"/>
              </a:rPr>
              <a:t>and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becomes</a:t>
            </a:r>
            <a:r>
              <a:rPr dirty="0" sz="2000" spc="-4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an</a:t>
            </a:r>
            <a:r>
              <a:rPr dirty="0" sz="2000" spc="-4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actor</a:t>
            </a:r>
            <a:r>
              <a:rPr dirty="0" sz="2000" spc="-35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1F2A37"/>
                </a:solidFill>
                <a:latin typeface="Georgia"/>
                <a:cs typeface="Georgia"/>
              </a:rPr>
              <a:t>you</a:t>
            </a:r>
            <a:r>
              <a:rPr dirty="0" sz="2000" spc="-40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1F2A37"/>
                </a:solidFill>
                <a:latin typeface="Georgia"/>
                <a:cs typeface="Georgia"/>
              </a:rPr>
              <a:t>direct.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9640" y="3482848"/>
            <a:ext cx="5144770" cy="7112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900" b="1">
                <a:solidFill>
                  <a:srgbClr val="8A95A3"/>
                </a:solidFill>
                <a:latin typeface="Calibri"/>
                <a:cs typeface="Calibri"/>
              </a:rPr>
              <a:t>A</a:t>
            </a:r>
            <a:r>
              <a:rPr dirty="0" sz="1900" spc="-55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8A95A3"/>
                </a:solidFill>
                <a:latin typeface="Calibri"/>
                <a:cs typeface="Calibri"/>
              </a:rPr>
              <a:t>computer</a:t>
            </a:r>
            <a:r>
              <a:rPr dirty="0" sz="1900" spc="-55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8A95A3"/>
                </a:solidFill>
                <a:latin typeface="Calibri"/>
                <a:cs typeface="Calibri"/>
              </a:rPr>
              <a:t>that</a:t>
            </a:r>
            <a:r>
              <a:rPr dirty="0" sz="1900" spc="-55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8A95A3"/>
                </a:solidFill>
                <a:latin typeface="Calibri"/>
                <a:cs typeface="Calibri"/>
              </a:rPr>
              <a:t>controls</a:t>
            </a:r>
            <a:r>
              <a:rPr dirty="0" sz="1900" spc="-50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8A95A3"/>
                </a:solidFill>
                <a:latin typeface="Calibri"/>
                <a:cs typeface="Calibri"/>
              </a:rPr>
              <a:t>itself</a:t>
            </a:r>
            <a:r>
              <a:rPr dirty="0" sz="1900" spc="-55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900" spc="-55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8A95A3"/>
                </a:solidFill>
                <a:latin typeface="Calibri"/>
                <a:cs typeface="Calibri"/>
              </a:rPr>
              <a:t>given</a:t>
            </a:r>
            <a:r>
              <a:rPr dirty="0" sz="1900" spc="-50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8A95A3"/>
                </a:solidFill>
                <a:latin typeface="Calibri"/>
                <a:cs typeface="Calibri"/>
              </a:rPr>
              <a:t>your</a:t>
            </a:r>
            <a:r>
              <a:rPr dirty="0" sz="1900" spc="-55" b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8A95A3"/>
                </a:solidFill>
                <a:latin typeface="Calibri"/>
                <a:cs typeface="Calibri"/>
              </a:rPr>
              <a:t>intent</a:t>
            </a:r>
            <a:r>
              <a:rPr dirty="0" sz="1100" spc="-10">
                <a:solidFill>
                  <a:srgbClr val="8A95A3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900" spc="-20" i="1">
                <a:solidFill>
                  <a:srgbClr val="8A95A3"/>
                </a:solidFill>
                <a:latin typeface="Calibri"/>
                <a:cs typeface="Calibri"/>
              </a:rPr>
              <a:t>You</a:t>
            </a:r>
            <a:r>
              <a:rPr dirty="0" sz="1900" spc="-5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8A95A3"/>
                </a:solidFill>
                <a:latin typeface="Calibri"/>
                <a:cs typeface="Calibri"/>
              </a:rPr>
              <a:t>ask;</a:t>
            </a:r>
            <a:r>
              <a:rPr dirty="0" sz="1900" spc="-4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900" spc="-4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8A95A3"/>
                </a:solidFill>
                <a:latin typeface="Calibri"/>
                <a:cs typeface="Calibri"/>
              </a:rPr>
              <a:t>PC</a:t>
            </a:r>
            <a:r>
              <a:rPr dirty="0" sz="1900" spc="-4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8A95A3"/>
                </a:solidFill>
                <a:latin typeface="Calibri"/>
                <a:cs typeface="Calibri"/>
              </a:rPr>
              <a:t>does</a:t>
            </a:r>
            <a:r>
              <a:rPr dirty="0" sz="1900" spc="-4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900" spc="-4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8A95A3"/>
                </a:solidFill>
                <a:latin typeface="Calibri"/>
                <a:cs typeface="Calibri"/>
              </a:rPr>
              <a:t>work.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481" y="310710"/>
            <a:ext cx="5539689" cy="45161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200" y="1470151"/>
            <a:ext cx="2510189" cy="16697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396" y="0"/>
            <a:ext cx="77152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533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304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966619" y="0"/>
            <a:ext cx="3177540" cy="5143500"/>
            <a:chOff x="5966619" y="0"/>
            <a:chExt cx="3177540" cy="5143500"/>
          </a:xfrm>
        </p:grpSpPr>
        <p:sp>
          <p:nvSpPr>
            <p:cNvPr id="4" name="object 4"/>
            <p:cNvSpPr/>
            <p:nvPr/>
          </p:nvSpPr>
          <p:spPr>
            <a:xfrm>
              <a:off x="5966612" y="0"/>
              <a:ext cx="3177540" cy="5143500"/>
            </a:xfrm>
            <a:custGeom>
              <a:avLst/>
              <a:gdLst/>
              <a:ahLst/>
              <a:cxnLst/>
              <a:rect l="l" t="t" r="r" b="b"/>
              <a:pathLst>
                <a:path w="3177540" h="5143500">
                  <a:moveTo>
                    <a:pt x="3177387" y="0"/>
                  </a:moveTo>
                  <a:lnTo>
                    <a:pt x="194221" y="0"/>
                  </a:lnTo>
                  <a:lnTo>
                    <a:pt x="186740" y="18999"/>
                  </a:lnTo>
                  <a:lnTo>
                    <a:pt x="170624" y="61899"/>
                  </a:lnTo>
                  <a:lnTo>
                    <a:pt x="155194" y="105130"/>
                  </a:lnTo>
                  <a:lnTo>
                    <a:pt x="140462" y="148678"/>
                  </a:lnTo>
                  <a:lnTo>
                    <a:pt x="126415" y="192544"/>
                  </a:lnTo>
                  <a:lnTo>
                    <a:pt x="113080" y="236728"/>
                  </a:lnTo>
                  <a:lnTo>
                    <a:pt x="100444" y="281203"/>
                  </a:lnTo>
                  <a:lnTo>
                    <a:pt x="88531" y="325970"/>
                  </a:lnTo>
                  <a:lnTo>
                    <a:pt x="77330" y="371043"/>
                  </a:lnTo>
                  <a:lnTo>
                    <a:pt x="66865" y="416382"/>
                  </a:lnTo>
                  <a:lnTo>
                    <a:pt x="57124" y="462013"/>
                  </a:lnTo>
                  <a:lnTo>
                    <a:pt x="48133" y="507898"/>
                  </a:lnTo>
                  <a:lnTo>
                    <a:pt x="39890" y="554062"/>
                  </a:lnTo>
                  <a:lnTo>
                    <a:pt x="32397" y="600468"/>
                  </a:lnTo>
                  <a:lnTo>
                    <a:pt x="25666" y="647141"/>
                  </a:lnTo>
                  <a:lnTo>
                    <a:pt x="19710" y="694042"/>
                  </a:lnTo>
                  <a:lnTo>
                    <a:pt x="14516" y="741197"/>
                  </a:lnTo>
                  <a:lnTo>
                    <a:pt x="10109" y="788568"/>
                  </a:lnTo>
                  <a:lnTo>
                    <a:pt x="6489" y="836168"/>
                  </a:lnTo>
                  <a:lnTo>
                    <a:pt x="3657" y="883983"/>
                  </a:lnTo>
                  <a:lnTo>
                    <a:pt x="1625" y="932014"/>
                  </a:lnTo>
                  <a:lnTo>
                    <a:pt x="406" y="980249"/>
                  </a:lnTo>
                  <a:lnTo>
                    <a:pt x="0" y="1028674"/>
                  </a:lnTo>
                  <a:lnTo>
                    <a:pt x="406" y="1077112"/>
                  </a:lnTo>
                  <a:lnTo>
                    <a:pt x="1625" y="1125334"/>
                  </a:lnTo>
                  <a:lnTo>
                    <a:pt x="3657" y="1173365"/>
                  </a:lnTo>
                  <a:lnTo>
                    <a:pt x="6489" y="1221181"/>
                  </a:lnTo>
                  <a:lnTo>
                    <a:pt x="10109" y="1268780"/>
                  </a:lnTo>
                  <a:lnTo>
                    <a:pt x="14516" y="1316164"/>
                  </a:lnTo>
                  <a:lnTo>
                    <a:pt x="19710" y="1363306"/>
                  </a:lnTo>
                  <a:lnTo>
                    <a:pt x="25666" y="1410208"/>
                  </a:lnTo>
                  <a:lnTo>
                    <a:pt x="32397" y="1456880"/>
                  </a:lnTo>
                  <a:lnTo>
                    <a:pt x="39890" y="1503286"/>
                  </a:lnTo>
                  <a:lnTo>
                    <a:pt x="48133" y="1549450"/>
                  </a:lnTo>
                  <a:lnTo>
                    <a:pt x="57124" y="1595335"/>
                  </a:lnTo>
                  <a:lnTo>
                    <a:pt x="66865" y="1640967"/>
                  </a:lnTo>
                  <a:lnTo>
                    <a:pt x="77330" y="1686318"/>
                  </a:lnTo>
                  <a:lnTo>
                    <a:pt x="88531" y="1731378"/>
                  </a:lnTo>
                  <a:lnTo>
                    <a:pt x="100444" y="1776145"/>
                  </a:lnTo>
                  <a:lnTo>
                    <a:pt x="113080" y="1820633"/>
                  </a:lnTo>
                  <a:lnTo>
                    <a:pt x="126415" y="1864804"/>
                  </a:lnTo>
                  <a:lnTo>
                    <a:pt x="140462" y="1908670"/>
                  </a:lnTo>
                  <a:lnTo>
                    <a:pt x="155194" y="1952218"/>
                  </a:lnTo>
                  <a:lnTo>
                    <a:pt x="170624" y="1995449"/>
                  </a:lnTo>
                  <a:lnTo>
                    <a:pt x="186740" y="2038350"/>
                  </a:lnTo>
                  <a:lnTo>
                    <a:pt x="203517" y="2080907"/>
                  </a:lnTo>
                  <a:lnTo>
                    <a:pt x="220967" y="2123135"/>
                  </a:lnTo>
                  <a:lnTo>
                    <a:pt x="239090" y="2165007"/>
                  </a:lnTo>
                  <a:lnTo>
                    <a:pt x="257860" y="2206523"/>
                  </a:lnTo>
                  <a:lnTo>
                    <a:pt x="277279" y="2247684"/>
                  </a:lnTo>
                  <a:lnTo>
                    <a:pt x="297345" y="2288476"/>
                  </a:lnTo>
                  <a:lnTo>
                    <a:pt x="318046" y="2328888"/>
                  </a:lnTo>
                  <a:lnTo>
                    <a:pt x="339382" y="2368918"/>
                  </a:lnTo>
                  <a:lnTo>
                    <a:pt x="361340" y="2408567"/>
                  </a:lnTo>
                  <a:lnTo>
                    <a:pt x="383908" y="2447823"/>
                  </a:lnTo>
                  <a:lnTo>
                    <a:pt x="407085" y="2486672"/>
                  </a:lnTo>
                  <a:lnTo>
                    <a:pt x="430872" y="2525115"/>
                  </a:lnTo>
                  <a:lnTo>
                    <a:pt x="455256" y="2563139"/>
                  </a:lnTo>
                  <a:lnTo>
                    <a:pt x="480225" y="2600756"/>
                  </a:lnTo>
                  <a:lnTo>
                    <a:pt x="505790" y="2637929"/>
                  </a:lnTo>
                  <a:lnTo>
                    <a:pt x="531914" y="2674683"/>
                  </a:lnTo>
                  <a:lnTo>
                    <a:pt x="558622" y="2710992"/>
                  </a:lnTo>
                  <a:lnTo>
                    <a:pt x="585889" y="2746857"/>
                  </a:lnTo>
                  <a:lnTo>
                    <a:pt x="613727" y="2782265"/>
                  </a:lnTo>
                  <a:lnTo>
                    <a:pt x="642099" y="2817215"/>
                  </a:lnTo>
                  <a:lnTo>
                    <a:pt x="671029" y="2851696"/>
                  </a:lnTo>
                  <a:lnTo>
                    <a:pt x="700481" y="2885706"/>
                  </a:lnTo>
                  <a:lnTo>
                    <a:pt x="730478" y="2919234"/>
                  </a:lnTo>
                  <a:lnTo>
                    <a:pt x="760996" y="2952280"/>
                  </a:lnTo>
                  <a:lnTo>
                    <a:pt x="792035" y="2984830"/>
                  </a:lnTo>
                  <a:lnTo>
                    <a:pt x="823582" y="3016885"/>
                  </a:lnTo>
                  <a:lnTo>
                    <a:pt x="855637" y="3048431"/>
                  </a:lnTo>
                  <a:lnTo>
                    <a:pt x="888199" y="3079470"/>
                  </a:lnTo>
                  <a:lnTo>
                    <a:pt x="921245" y="3109988"/>
                  </a:lnTo>
                  <a:lnTo>
                    <a:pt x="954773" y="3139973"/>
                  </a:lnTo>
                  <a:lnTo>
                    <a:pt x="988783" y="3169437"/>
                  </a:lnTo>
                  <a:lnTo>
                    <a:pt x="1023264" y="3198355"/>
                  </a:lnTo>
                  <a:lnTo>
                    <a:pt x="1058227" y="3226739"/>
                  </a:lnTo>
                  <a:lnTo>
                    <a:pt x="1093635" y="3254565"/>
                  </a:lnTo>
                  <a:lnTo>
                    <a:pt x="1129499" y="3281832"/>
                  </a:lnTo>
                  <a:lnTo>
                    <a:pt x="1165809" y="3308540"/>
                  </a:lnTo>
                  <a:lnTo>
                    <a:pt x="1202550" y="3334664"/>
                  </a:lnTo>
                  <a:lnTo>
                    <a:pt x="1239735" y="3360229"/>
                  </a:lnTo>
                  <a:lnTo>
                    <a:pt x="1277353" y="3385197"/>
                  </a:lnTo>
                  <a:lnTo>
                    <a:pt x="1315377" y="3409581"/>
                  </a:lnTo>
                  <a:lnTo>
                    <a:pt x="1353832" y="3433356"/>
                  </a:lnTo>
                  <a:lnTo>
                    <a:pt x="1392682" y="3456546"/>
                  </a:lnTo>
                  <a:lnTo>
                    <a:pt x="1431937" y="3479114"/>
                  </a:lnTo>
                  <a:lnTo>
                    <a:pt x="1471587" y="3501059"/>
                  </a:lnTo>
                  <a:lnTo>
                    <a:pt x="1511617" y="3522395"/>
                  </a:lnTo>
                  <a:lnTo>
                    <a:pt x="1552028" y="3543096"/>
                  </a:lnTo>
                  <a:lnTo>
                    <a:pt x="1592821" y="3563162"/>
                  </a:lnTo>
                  <a:lnTo>
                    <a:pt x="1633982" y="3582581"/>
                  </a:lnTo>
                  <a:lnTo>
                    <a:pt x="1654860" y="3592030"/>
                  </a:lnTo>
                  <a:lnTo>
                    <a:pt x="1633740" y="3601770"/>
                  </a:lnTo>
                  <a:lnTo>
                    <a:pt x="1593049" y="3621811"/>
                  </a:lnTo>
                  <a:lnTo>
                    <a:pt x="1552943" y="3642868"/>
                  </a:lnTo>
                  <a:lnTo>
                    <a:pt x="1513446" y="3664889"/>
                  </a:lnTo>
                  <a:lnTo>
                    <a:pt x="1474571" y="3687876"/>
                  </a:lnTo>
                  <a:lnTo>
                    <a:pt x="1436344" y="3711816"/>
                  </a:lnTo>
                  <a:lnTo>
                    <a:pt x="1398778" y="3736683"/>
                  </a:lnTo>
                  <a:lnTo>
                    <a:pt x="1361871" y="3762464"/>
                  </a:lnTo>
                  <a:lnTo>
                    <a:pt x="1325651" y="3789146"/>
                  </a:lnTo>
                  <a:lnTo>
                    <a:pt x="1290154" y="3816718"/>
                  </a:lnTo>
                  <a:lnTo>
                    <a:pt x="1255369" y="3845141"/>
                  </a:lnTo>
                  <a:lnTo>
                    <a:pt x="1221308" y="3874427"/>
                  </a:lnTo>
                  <a:lnTo>
                    <a:pt x="1188021" y="3904538"/>
                  </a:lnTo>
                  <a:lnTo>
                    <a:pt x="1155496" y="3935476"/>
                  </a:lnTo>
                  <a:lnTo>
                    <a:pt x="1123746" y="3967213"/>
                  </a:lnTo>
                  <a:lnTo>
                    <a:pt x="1092809" y="3999738"/>
                  </a:lnTo>
                  <a:lnTo>
                    <a:pt x="1062697" y="4033037"/>
                  </a:lnTo>
                  <a:lnTo>
                    <a:pt x="1033411" y="4067073"/>
                  </a:lnTo>
                  <a:lnTo>
                    <a:pt x="1004976" y="4101858"/>
                  </a:lnTo>
                  <a:lnTo>
                    <a:pt x="977404" y="4137368"/>
                  </a:lnTo>
                  <a:lnTo>
                    <a:pt x="950722" y="4173575"/>
                  </a:lnTo>
                  <a:lnTo>
                    <a:pt x="924941" y="4210481"/>
                  </a:lnTo>
                  <a:lnTo>
                    <a:pt x="900074" y="4248048"/>
                  </a:lnTo>
                  <a:lnTo>
                    <a:pt x="876134" y="4286275"/>
                  </a:lnTo>
                  <a:lnTo>
                    <a:pt x="853135" y="4325137"/>
                  </a:lnTo>
                  <a:lnTo>
                    <a:pt x="831113" y="4364634"/>
                  </a:lnTo>
                  <a:lnTo>
                    <a:pt x="810069" y="4404741"/>
                  </a:lnTo>
                  <a:lnTo>
                    <a:pt x="790016" y="4445432"/>
                  </a:lnTo>
                  <a:lnTo>
                    <a:pt x="770978" y="4486694"/>
                  </a:lnTo>
                  <a:lnTo>
                    <a:pt x="752970" y="4528515"/>
                  </a:lnTo>
                  <a:lnTo>
                    <a:pt x="736003" y="4570895"/>
                  </a:lnTo>
                  <a:lnTo>
                    <a:pt x="720090" y="4613783"/>
                  </a:lnTo>
                  <a:lnTo>
                    <a:pt x="705269" y="4657191"/>
                  </a:lnTo>
                  <a:lnTo>
                    <a:pt x="691527" y="4701095"/>
                  </a:lnTo>
                  <a:lnTo>
                    <a:pt x="678903" y="4745482"/>
                  </a:lnTo>
                  <a:lnTo>
                    <a:pt x="667410" y="4790325"/>
                  </a:lnTo>
                  <a:lnTo>
                    <a:pt x="657047" y="4835614"/>
                  </a:lnTo>
                  <a:lnTo>
                    <a:pt x="647852" y="4881334"/>
                  </a:lnTo>
                  <a:lnTo>
                    <a:pt x="639826" y="4927473"/>
                  </a:lnTo>
                  <a:lnTo>
                    <a:pt x="632993" y="4973993"/>
                  </a:lnTo>
                  <a:lnTo>
                    <a:pt x="627367" y="5020907"/>
                  </a:lnTo>
                  <a:lnTo>
                    <a:pt x="622960" y="5068189"/>
                  </a:lnTo>
                  <a:lnTo>
                    <a:pt x="619785" y="5115814"/>
                  </a:lnTo>
                  <a:lnTo>
                    <a:pt x="618680" y="5143500"/>
                  </a:lnTo>
                  <a:lnTo>
                    <a:pt x="3177387" y="5143500"/>
                  </a:lnTo>
                  <a:lnTo>
                    <a:pt x="3177387" y="3816807"/>
                  </a:lnTo>
                  <a:lnTo>
                    <a:pt x="3177387" y="3607206"/>
                  </a:lnTo>
                  <a:lnTo>
                    <a:pt x="3177387" y="0"/>
                  </a:lnTo>
                  <a:close/>
                </a:path>
              </a:pathLst>
            </a:custGeom>
            <a:solidFill>
              <a:srgbClr val="2B39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037" y="3922776"/>
              <a:ext cx="685799" cy="6857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4536" y="1501333"/>
            <a:ext cx="778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B39A"/>
                </a:solidFill>
                <a:latin typeface="Consolas"/>
                <a:cs typeface="Consolas"/>
              </a:rPr>
              <a:t>PART</a:t>
            </a:r>
            <a:r>
              <a:rPr dirty="0" sz="12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BB39A"/>
                </a:solidFill>
                <a:latin typeface="Consolas"/>
                <a:cs typeface="Consolas"/>
              </a:rPr>
              <a:t>03-</a:t>
            </a:r>
            <a:r>
              <a:rPr dirty="0" sz="1200" spc="-50" b="1">
                <a:solidFill>
                  <a:srgbClr val="2BB39A"/>
                </a:solidFill>
                <a:latin typeface="Consolas"/>
                <a:cs typeface="Consolas"/>
              </a:rPr>
              <a:t>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0820" y="2013458"/>
            <a:ext cx="2967990" cy="94932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25"/>
              </a:spcBef>
            </a:pP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dirty="0" sz="3000" spc="-1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This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20" b="1">
                <a:solidFill>
                  <a:srgbClr val="FFFFFF"/>
                </a:solidFill>
                <a:latin typeface="Georgia"/>
                <a:cs typeface="Georgia"/>
              </a:rPr>
              <a:t>Time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 Different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952" y="3497579"/>
            <a:ext cx="995044" cy="48260"/>
          </a:xfrm>
          <a:custGeom>
            <a:avLst/>
            <a:gdLst/>
            <a:ahLst/>
            <a:cxnLst/>
            <a:rect l="l" t="t" r="r" b="b"/>
            <a:pathLst>
              <a:path w="995044" h="48260">
                <a:moveTo>
                  <a:pt x="994499" y="47999"/>
                </a:moveTo>
                <a:lnTo>
                  <a:pt x="0" y="47999"/>
                </a:lnTo>
                <a:lnTo>
                  <a:pt x="0" y="0"/>
                </a:lnTo>
                <a:lnTo>
                  <a:pt x="994499" y="0"/>
                </a:lnTo>
                <a:lnTo>
                  <a:pt x="994499" y="479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Three</a:t>
            </a:r>
            <a:r>
              <a:rPr dirty="0" sz="2300" spc="-5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Things</a:t>
            </a:r>
            <a:r>
              <a:rPr dirty="0" sz="2300" spc="-5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Changed</a:t>
            </a:r>
            <a:r>
              <a:rPr dirty="0" sz="2300" spc="-5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—</a:t>
            </a:r>
            <a:r>
              <a:rPr dirty="0" sz="2300" spc="-5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Together</a:t>
            </a:r>
            <a:endParaRPr sz="23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3404" y="1074420"/>
            <a:ext cx="2783205" cy="2694305"/>
            <a:chOff x="453404" y="1074420"/>
            <a:chExt cx="2783205" cy="2694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074420"/>
              <a:ext cx="2782800" cy="2693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54" y="1131570"/>
              <a:ext cx="2592705" cy="2503805"/>
            </a:xfrm>
            <a:custGeom>
              <a:avLst/>
              <a:gdLst/>
              <a:ahLst/>
              <a:cxnLst/>
              <a:rect l="l" t="t" r="r" b="b"/>
              <a:pathLst>
                <a:path w="2592705" h="2503804">
                  <a:moveTo>
                    <a:pt x="2592300" y="2503199"/>
                  </a:moveTo>
                  <a:lnTo>
                    <a:pt x="0" y="2503199"/>
                  </a:lnTo>
                  <a:lnTo>
                    <a:pt x="0" y="0"/>
                  </a:lnTo>
                  <a:lnTo>
                    <a:pt x="2592300" y="0"/>
                  </a:lnTo>
                  <a:lnTo>
                    <a:pt x="2592300" y="250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8654" y="1131570"/>
              <a:ext cx="2592705" cy="2503805"/>
            </a:xfrm>
            <a:custGeom>
              <a:avLst/>
              <a:gdLst/>
              <a:ahLst/>
              <a:cxnLst/>
              <a:rect l="l" t="t" r="r" b="b"/>
              <a:pathLst>
                <a:path w="2592705" h="2503804">
                  <a:moveTo>
                    <a:pt x="0" y="0"/>
                  </a:moveTo>
                  <a:lnTo>
                    <a:pt x="2592300" y="0"/>
                  </a:lnTo>
                  <a:lnTo>
                    <a:pt x="2592300" y="2503199"/>
                  </a:lnTo>
                  <a:lnTo>
                    <a:pt x="0" y="25031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131570"/>
              <a:ext cx="2592705" cy="48260"/>
            </a:xfrm>
            <a:custGeom>
              <a:avLst/>
              <a:gdLst/>
              <a:ahLst/>
              <a:cxnLst/>
              <a:rect l="l" t="t" r="r" b="b"/>
              <a:pathLst>
                <a:path w="2592705" h="48259">
                  <a:moveTo>
                    <a:pt x="25923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2592300" y="0"/>
                  </a:lnTo>
                  <a:lnTo>
                    <a:pt x="2592300" y="47999"/>
                  </a:lnTo>
                  <a:close/>
                </a:path>
              </a:pathLst>
            </a:custGeom>
            <a:solidFill>
              <a:srgbClr val="149B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55004" y="1371091"/>
            <a:ext cx="2580005" cy="202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49B82"/>
                </a:solidFill>
                <a:latin typeface="Calibri"/>
                <a:cs typeface="Calibri"/>
              </a:rPr>
              <a:t>Models</a:t>
            </a:r>
            <a:r>
              <a:rPr dirty="0" sz="1200" spc="-40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49B82"/>
                </a:solidFill>
                <a:latin typeface="Calibri"/>
                <a:cs typeface="Calibri"/>
              </a:rPr>
              <a:t>crossed</a:t>
            </a:r>
            <a:r>
              <a:rPr dirty="0" sz="1200" spc="-40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49B82"/>
                </a:solidFill>
                <a:latin typeface="Calibri"/>
                <a:cs typeface="Calibri"/>
              </a:rPr>
              <a:t>a</a:t>
            </a:r>
            <a:r>
              <a:rPr dirty="0" sz="1200" spc="-40" b="1">
                <a:solidFill>
                  <a:srgbClr val="149B8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49B82"/>
                </a:solidFill>
                <a:latin typeface="Calibri"/>
                <a:cs typeface="Calibri"/>
              </a:rPr>
              <a:t>threshold</a:t>
            </a:r>
            <a:endParaRPr sz="1200">
              <a:latin typeface="Calibri"/>
              <a:cs typeface="Calibri"/>
            </a:endParaRPr>
          </a:p>
          <a:p>
            <a:pPr marL="185420" marR="193675">
              <a:lnSpc>
                <a:spcPct val="105000"/>
              </a:lnSpc>
              <a:spcBef>
                <a:spcPts val="980"/>
              </a:spcBef>
            </a:pP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On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OSWorld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real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desktops,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no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partial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credit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success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jumped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from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~12%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~66%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in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a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year,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crossing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human baseline.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300" spc="-25" b="1">
                <a:solidFill>
                  <a:srgbClr val="149B82"/>
                </a:solidFill>
                <a:latin typeface="Georgia"/>
                <a:cs typeface="Georgia"/>
              </a:rPr>
              <a:t>66%</a:t>
            </a:r>
            <a:endParaRPr sz="23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82961" y="1074420"/>
            <a:ext cx="2783205" cy="2694305"/>
            <a:chOff x="3182961" y="1074420"/>
            <a:chExt cx="2783205" cy="26943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2961" y="1074420"/>
              <a:ext cx="2782800" cy="26937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8211" y="1131570"/>
              <a:ext cx="2592705" cy="2503805"/>
            </a:xfrm>
            <a:custGeom>
              <a:avLst/>
              <a:gdLst/>
              <a:ahLst/>
              <a:cxnLst/>
              <a:rect l="l" t="t" r="r" b="b"/>
              <a:pathLst>
                <a:path w="2592704" h="2503804">
                  <a:moveTo>
                    <a:pt x="2592299" y="2503199"/>
                  </a:moveTo>
                  <a:lnTo>
                    <a:pt x="0" y="25031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250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78211" y="1131570"/>
              <a:ext cx="2592705" cy="2503805"/>
            </a:xfrm>
            <a:custGeom>
              <a:avLst/>
              <a:gdLst/>
              <a:ahLst/>
              <a:cxnLst/>
              <a:rect l="l" t="t" r="r" b="b"/>
              <a:pathLst>
                <a:path w="2592704" h="2503804">
                  <a:moveTo>
                    <a:pt x="0" y="0"/>
                  </a:moveTo>
                  <a:lnTo>
                    <a:pt x="2592299" y="0"/>
                  </a:lnTo>
                  <a:lnTo>
                    <a:pt x="2592299" y="2503199"/>
                  </a:lnTo>
                  <a:lnTo>
                    <a:pt x="0" y="25031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78211" y="1131570"/>
              <a:ext cx="2592705" cy="48260"/>
            </a:xfrm>
            <a:custGeom>
              <a:avLst/>
              <a:gdLst/>
              <a:ahLst/>
              <a:cxnLst/>
              <a:rect l="l" t="t" r="r" b="b"/>
              <a:pathLst>
                <a:path w="2592704" h="48259">
                  <a:moveTo>
                    <a:pt x="25922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479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284561" y="1371091"/>
            <a:ext cx="2580005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048E4"/>
                </a:solidFill>
                <a:latin typeface="Calibri"/>
                <a:cs typeface="Calibri"/>
              </a:rPr>
              <a:t>Compute</a:t>
            </a:r>
            <a:r>
              <a:rPr dirty="0" sz="1200" spc="-2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048E4"/>
                </a:solidFill>
                <a:latin typeface="Calibri"/>
                <a:cs typeface="Calibri"/>
              </a:rPr>
              <a:t>came</a:t>
            </a:r>
            <a:r>
              <a:rPr dirty="0" sz="1200" spc="-20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048E4"/>
                </a:solidFill>
                <a:latin typeface="Calibri"/>
                <a:cs typeface="Calibri"/>
              </a:rPr>
              <a:t>to</a:t>
            </a:r>
            <a:r>
              <a:rPr dirty="0" sz="1200" spc="-20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048E4"/>
                </a:solidFill>
                <a:latin typeface="Calibri"/>
                <a:cs typeface="Calibri"/>
              </a:rPr>
              <a:t>the</a:t>
            </a:r>
            <a:r>
              <a:rPr dirty="0" sz="1200" spc="-2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048E4"/>
                </a:solidFill>
                <a:latin typeface="Calibri"/>
                <a:cs typeface="Calibri"/>
              </a:rPr>
              <a:t>device</a:t>
            </a:r>
            <a:endParaRPr sz="1200">
              <a:latin typeface="Calibri"/>
              <a:cs typeface="Calibri"/>
            </a:endParaRPr>
          </a:p>
          <a:p>
            <a:pPr marL="185420" marR="248920">
              <a:lnSpc>
                <a:spcPct val="105000"/>
              </a:lnSpc>
              <a:spcBef>
                <a:spcPts val="980"/>
              </a:spcBef>
            </a:pP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local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petaflop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with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128GB makes</a:t>
            </a:r>
            <a:r>
              <a:rPr dirty="0" sz="13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always-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available,</a:t>
            </a:r>
            <a:r>
              <a:rPr dirty="0" sz="13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private, unmetered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compute native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machine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not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a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cloud</a:t>
            </a:r>
            <a:r>
              <a:rPr dirty="0" sz="1300" spc="-5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subscription.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12518" y="1074420"/>
            <a:ext cx="2783205" cy="2694305"/>
            <a:chOff x="5912518" y="1074420"/>
            <a:chExt cx="2783205" cy="269430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2518" y="1074420"/>
              <a:ext cx="2782800" cy="2693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07767" y="1131570"/>
              <a:ext cx="2592705" cy="2503805"/>
            </a:xfrm>
            <a:custGeom>
              <a:avLst/>
              <a:gdLst/>
              <a:ahLst/>
              <a:cxnLst/>
              <a:rect l="l" t="t" r="r" b="b"/>
              <a:pathLst>
                <a:path w="2592704" h="2503804">
                  <a:moveTo>
                    <a:pt x="2592299" y="2503199"/>
                  </a:moveTo>
                  <a:lnTo>
                    <a:pt x="0" y="25031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250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07767" y="1131570"/>
              <a:ext cx="2592705" cy="2503805"/>
            </a:xfrm>
            <a:custGeom>
              <a:avLst/>
              <a:gdLst/>
              <a:ahLst/>
              <a:cxnLst/>
              <a:rect l="l" t="t" r="r" b="b"/>
              <a:pathLst>
                <a:path w="2592704" h="2503804">
                  <a:moveTo>
                    <a:pt x="0" y="0"/>
                  </a:moveTo>
                  <a:lnTo>
                    <a:pt x="2592299" y="0"/>
                  </a:lnTo>
                  <a:lnTo>
                    <a:pt x="2592299" y="2503199"/>
                  </a:lnTo>
                  <a:lnTo>
                    <a:pt x="0" y="25031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07767" y="1131570"/>
              <a:ext cx="2592705" cy="48260"/>
            </a:xfrm>
            <a:custGeom>
              <a:avLst/>
              <a:gdLst/>
              <a:ahLst/>
              <a:cxnLst/>
              <a:rect l="l" t="t" r="r" b="b"/>
              <a:pathLst>
                <a:path w="2592704" h="48259">
                  <a:moveTo>
                    <a:pt x="25922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2592299" y="0"/>
                  </a:lnTo>
                  <a:lnTo>
                    <a:pt x="2592299" y="47999"/>
                  </a:lnTo>
                  <a:close/>
                </a:path>
              </a:pathLst>
            </a:custGeom>
            <a:solidFill>
              <a:srgbClr val="E783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014117" y="1371091"/>
            <a:ext cx="2580005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E7830C"/>
                </a:solidFill>
                <a:latin typeface="Calibri"/>
                <a:cs typeface="Calibri"/>
              </a:rPr>
              <a:t>The</a:t>
            </a:r>
            <a:r>
              <a:rPr dirty="0" sz="1200" spc="-20" b="1">
                <a:solidFill>
                  <a:srgbClr val="E7830C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830C"/>
                </a:solidFill>
                <a:latin typeface="Calibri"/>
                <a:cs typeface="Calibri"/>
              </a:rPr>
              <a:t>OS</a:t>
            </a:r>
            <a:r>
              <a:rPr dirty="0" sz="1200" spc="-20" b="1">
                <a:solidFill>
                  <a:srgbClr val="E7830C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E7830C"/>
                </a:solidFill>
                <a:latin typeface="Calibri"/>
                <a:cs typeface="Calibri"/>
              </a:rPr>
              <a:t>vendors</a:t>
            </a:r>
            <a:r>
              <a:rPr dirty="0" sz="1200" spc="-20" b="1">
                <a:solidFill>
                  <a:srgbClr val="E7830C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E7830C"/>
                </a:solidFill>
                <a:latin typeface="Calibri"/>
                <a:cs typeface="Calibri"/>
              </a:rPr>
              <a:t>rebuilt</a:t>
            </a:r>
            <a:endParaRPr sz="1200">
              <a:latin typeface="Calibri"/>
              <a:cs typeface="Calibri"/>
            </a:endParaRPr>
          </a:p>
          <a:p>
            <a:pPr marL="185420" marR="238125">
              <a:lnSpc>
                <a:spcPct val="105000"/>
              </a:lnSpc>
              <a:spcBef>
                <a:spcPts val="980"/>
              </a:spcBef>
            </a:pP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Microsoft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wired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agents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into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Windows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behind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every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surface;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eight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makers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ship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RTX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Spark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PCs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this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fall.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change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is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the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platform,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not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an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 app.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54" y="3918010"/>
            <a:ext cx="56330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When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all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three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land</a:t>
            </a:r>
            <a:r>
              <a:rPr dirty="0" sz="10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together,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doing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it</a:t>
            </a:r>
            <a:r>
              <a:rPr dirty="0" sz="10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yourself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stops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being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0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default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0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gap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Siri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decade</a:t>
            </a:r>
            <a:r>
              <a:rPr dirty="0" sz="1000" spc="-1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8A95A3"/>
                </a:solidFill>
                <a:latin typeface="Calibri"/>
                <a:cs typeface="Calibri"/>
              </a:rPr>
              <a:t>never</a:t>
            </a:r>
            <a:r>
              <a:rPr dirty="0" sz="1000" spc="-2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8A95A3"/>
                </a:solidFill>
                <a:latin typeface="Calibri"/>
                <a:cs typeface="Calibri"/>
              </a:rPr>
              <a:t>closed.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The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Honest</a:t>
            </a:r>
            <a:r>
              <a:rPr dirty="0" sz="2300" spc="-2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Objections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56195"/>
            <a:ext cx="5515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These</a:t>
            </a:r>
            <a:r>
              <a:rPr dirty="0" sz="2000" spc="-3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set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pace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and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scope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not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2000" spc="-2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2000" spc="-10" i="1">
                <a:solidFill>
                  <a:srgbClr val="8A95A3"/>
                </a:solidFill>
                <a:latin typeface="Calibri"/>
                <a:cs typeface="Calibri"/>
              </a:rPr>
              <a:t>direction.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2945" y="1508760"/>
            <a:ext cx="425450" cy="425450"/>
            <a:chOff x="582945" y="1508760"/>
            <a:chExt cx="425450" cy="425450"/>
          </a:xfrm>
        </p:grpSpPr>
        <p:sp>
          <p:nvSpPr>
            <p:cNvPr id="6" name="object 6"/>
            <p:cNvSpPr/>
            <p:nvPr/>
          </p:nvSpPr>
          <p:spPr>
            <a:xfrm>
              <a:off x="582945" y="1508760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10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9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E7830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676" y="1618488"/>
              <a:ext cx="205740" cy="20574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46332" y="1462495"/>
            <a:ext cx="3377565" cy="687070"/>
          </a:xfrm>
          <a:prstGeom prst="rect">
            <a:avLst/>
          </a:prstGeom>
        </p:spPr>
        <p:txBody>
          <a:bodyPr wrap="square" lIns="0" tIns="654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200" spc="-20" b="1">
                <a:solidFill>
                  <a:srgbClr val="1F2A37"/>
                </a:solidFill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4000"/>
              </a:lnSpc>
              <a:spcBef>
                <a:spcPts val="355"/>
              </a:spcBef>
            </a:pP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Petaflop</a:t>
            </a:r>
            <a:r>
              <a:rPr dirty="0" sz="12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laptops</a:t>
            </a:r>
            <a:r>
              <a:rPr dirty="0" sz="12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are</a:t>
            </a:r>
            <a:r>
              <a:rPr dirty="0" sz="12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2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premium</a:t>
            </a:r>
            <a:r>
              <a:rPr dirty="0" sz="12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category;</a:t>
            </a:r>
            <a:r>
              <a:rPr dirty="0" sz="12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200" spc="-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installed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base</a:t>
            </a:r>
            <a:r>
              <a:rPr dirty="0" sz="12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of</a:t>
            </a:r>
            <a:r>
              <a:rPr dirty="0" sz="12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human-operated</a:t>
            </a:r>
            <a:r>
              <a:rPr dirty="0" sz="12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machines</a:t>
            </a:r>
            <a:r>
              <a:rPr dirty="0" sz="12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persists</a:t>
            </a:r>
            <a:r>
              <a:rPr dirty="0" sz="12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C4A57"/>
                </a:solidFill>
                <a:latin typeface="Calibri"/>
                <a:cs typeface="Calibri"/>
              </a:rPr>
              <a:t>for</a:t>
            </a:r>
            <a:r>
              <a:rPr dirty="0" sz="12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C4A57"/>
                </a:solidFill>
                <a:latin typeface="Calibri"/>
                <a:cs typeface="Calibri"/>
              </a:rPr>
              <a:t>years.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49847" y="1508760"/>
            <a:ext cx="425450" cy="425450"/>
            <a:chOff x="4649847" y="1508760"/>
            <a:chExt cx="425450" cy="425450"/>
          </a:xfrm>
        </p:grpSpPr>
        <p:sp>
          <p:nvSpPr>
            <p:cNvPr id="10" name="object 10"/>
            <p:cNvSpPr/>
            <p:nvPr/>
          </p:nvSpPr>
          <p:spPr>
            <a:xfrm>
              <a:off x="4649847" y="1508760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09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8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9579" y="1618488"/>
              <a:ext cx="205740" cy="20574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213235" y="1467010"/>
            <a:ext cx="3352800" cy="91884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200" spc="-20" b="1">
                <a:solidFill>
                  <a:srgbClr val="1F2A37"/>
                </a:solidFill>
                <a:latin typeface="Calibri"/>
                <a:cs typeface="Calibri"/>
              </a:rPr>
              <a:t>Trust</a:t>
            </a:r>
            <a:r>
              <a:rPr dirty="0" sz="1200" spc="-2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&amp;</a:t>
            </a:r>
            <a:r>
              <a:rPr dirty="0" sz="1200" spc="-1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governance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4000"/>
              </a:lnSpc>
              <a:spcBef>
                <a:spcPts val="350"/>
              </a:spcBef>
            </a:pP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An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with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broad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access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can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be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misled.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The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platform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that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wins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solves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governed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capability,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not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most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FLOPs.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2945" y="2777489"/>
            <a:ext cx="425450" cy="425450"/>
            <a:chOff x="582945" y="2777489"/>
            <a:chExt cx="425450" cy="425450"/>
          </a:xfrm>
        </p:grpSpPr>
        <p:sp>
          <p:nvSpPr>
            <p:cNvPr id="14" name="object 14"/>
            <p:cNvSpPr/>
            <p:nvPr/>
          </p:nvSpPr>
          <p:spPr>
            <a:xfrm>
              <a:off x="582945" y="2777489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10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9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676" y="2887218"/>
              <a:ext cx="205740" cy="20574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46332" y="2735740"/>
            <a:ext cx="3380740" cy="91884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200" b="1">
                <a:solidFill>
                  <a:srgbClr val="1F2A37"/>
                </a:solidFill>
                <a:latin typeface="Calibri"/>
                <a:cs typeface="Calibri"/>
              </a:rPr>
              <a:t>The</a:t>
            </a:r>
            <a:r>
              <a:rPr dirty="0" sz="1200" spc="-3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hybrid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4000"/>
              </a:lnSpc>
              <a:spcBef>
                <a:spcPts val="350"/>
              </a:spcBef>
            </a:pP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For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now,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high-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stakes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work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stays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human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+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UI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3C4A57"/>
                </a:solidFill>
                <a:latin typeface="Calibri"/>
                <a:cs typeface="Calibri"/>
              </a:rPr>
              <a:t>+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—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thesis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in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its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transitional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phase,</a:t>
            </a:r>
            <a:r>
              <a:rPr dirty="0" sz="13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not</a:t>
            </a:r>
            <a:r>
              <a:rPr dirty="0" sz="13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an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alternative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300" spc="-25">
                <a:solidFill>
                  <a:srgbClr val="3C4A57"/>
                </a:solidFill>
                <a:latin typeface="Calibri"/>
                <a:cs typeface="Calibri"/>
              </a:rPr>
              <a:t> it.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49847" y="2777489"/>
            <a:ext cx="425450" cy="425450"/>
            <a:chOff x="4649847" y="2777489"/>
            <a:chExt cx="425450" cy="425450"/>
          </a:xfrm>
        </p:grpSpPr>
        <p:sp>
          <p:nvSpPr>
            <p:cNvPr id="18" name="object 18"/>
            <p:cNvSpPr/>
            <p:nvPr/>
          </p:nvSpPr>
          <p:spPr>
            <a:xfrm>
              <a:off x="4649847" y="2777489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49" y="425099"/>
                  </a:moveTo>
                  <a:lnTo>
                    <a:pt x="163814" y="419486"/>
                  </a:lnTo>
                  <a:lnTo>
                    <a:pt x="119075" y="403496"/>
                  </a:lnTo>
                  <a:lnTo>
                    <a:pt x="79610" y="378405"/>
                  </a:lnTo>
                  <a:lnTo>
                    <a:pt x="46694" y="345489"/>
                  </a:lnTo>
                  <a:lnTo>
                    <a:pt x="21603" y="306024"/>
                  </a:lnTo>
                  <a:lnTo>
                    <a:pt x="5613" y="261285"/>
                  </a:lnTo>
                  <a:lnTo>
                    <a:pt x="0" y="212549"/>
                  </a:lnTo>
                  <a:lnTo>
                    <a:pt x="5613" y="163814"/>
                  </a:lnTo>
                  <a:lnTo>
                    <a:pt x="21603" y="119075"/>
                  </a:lnTo>
                  <a:lnTo>
                    <a:pt x="46694" y="79610"/>
                  </a:lnTo>
                  <a:lnTo>
                    <a:pt x="79610" y="46694"/>
                  </a:lnTo>
                  <a:lnTo>
                    <a:pt x="119075" y="21603"/>
                  </a:lnTo>
                  <a:lnTo>
                    <a:pt x="163814" y="5613"/>
                  </a:lnTo>
                  <a:lnTo>
                    <a:pt x="212549" y="0"/>
                  </a:lnTo>
                  <a:lnTo>
                    <a:pt x="254209" y="4121"/>
                  </a:lnTo>
                  <a:lnTo>
                    <a:pt x="293889" y="16179"/>
                  </a:lnTo>
                  <a:lnTo>
                    <a:pt x="330472" y="35710"/>
                  </a:lnTo>
                  <a:lnTo>
                    <a:pt x="362845" y="62254"/>
                  </a:lnTo>
                  <a:lnTo>
                    <a:pt x="389388" y="94627"/>
                  </a:lnTo>
                  <a:lnTo>
                    <a:pt x="408920" y="131210"/>
                  </a:lnTo>
                  <a:lnTo>
                    <a:pt x="420978" y="170889"/>
                  </a:lnTo>
                  <a:lnTo>
                    <a:pt x="425099" y="212549"/>
                  </a:lnTo>
                  <a:lnTo>
                    <a:pt x="419486" y="261285"/>
                  </a:lnTo>
                  <a:lnTo>
                    <a:pt x="403496" y="306024"/>
                  </a:lnTo>
                  <a:lnTo>
                    <a:pt x="378405" y="345489"/>
                  </a:lnTo>
                  <a:lnTo>
                    <a:pt x="345489" y="378405"/>
                  </a:lnTo>
                  <a:lnTo>
                    <a:pt x="306024" y="403496"/>
                  </a:lnTo>
                  <a:lnTo>
                    <a:pt x="261285" y="419486"/>
                  </a:lnTo>
                  <a:lnTo>
                    <a:pt x="212549" y="4250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9579" y="2887218"/>
              <a:ext cx="205740" cy="20574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213235" y="2735740"/>
            <a:ext cx="3139440" cy="7131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200" spc="-10" b="1">
                <a:solidFill>
                  <a:srgbClr val="1F2A37"/>
                </a:solidFill>
                <a:latin typeface="Calibri"/>
                <a:cs typeface="Calibri"/>
              </a:rPr>
              <a:t>Reliability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4000"/>
              </a:lnSpc>
              <a:spcBef>
                <a:spcPts val="350"/>
              </a:spcBef>
            </a:pP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~66%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average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means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roughly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one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task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in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C4A57"/>
                </a:solidFill>
                <a:latin typeface="Calibri"/>
                <a:cs typeface="Calibri"/>
              </a:rPr>
              <a:t>three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still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fails.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Bounded,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recoverable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tasks</a:t>
            </a:r>
            <a:r>
              <a:rPr dirty="0" sz="13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4A57"/>
                </a:solidFill>
                <a:latin typeface="Calibri"/>
                <a:cs typeface="Calibri"/>
              </a:rPr>
              <a:t>go</a:t>
            </a:r>
            <a:r>
              <a:rPr dirty="0" sz="13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4A57"/>
                </a:solidFill>
                <a:latin typeface="Calibri"/>
                <a:cs typeface="Calibri"/>
              </a:rPr>
              <a:t>first.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966619" y="0"/>
            <a:ext cx="3177540" cy="5143500"/>
            <a:chOff x="5966619" y="0"/>
            <a:chExt cx="3177540" cy="5143500"/>
          </a:xfrm>
        </p:grpSpPr>
        <p:sp>
          <p:nvSpPr>
            <p:cNvPr id="4" name="object 4"/>
            <p:cNvSpPr/>
            <p:nvPr/>
          </p:nvSpPr>
          <p:spPr>
            <a:xfrm>
              <a:off x="5966612" y="0"/>
              <a:ext cx="3177540" cy="5143500"/>
            </a:xfrm>
            <a:custGeom>
              <a:avLst/>
              <a:gdLst/>
              <a:ahLst/>
              <a:cxnLst/>
              <a:rect l="l" t="t" r="r" b="b"/>
              <a:pathLst>
                <a:path w="3177540" h="5143500">
                  <a:moveTo>
                    <a:pt x="3177387" y="0"/>
                  </a:moveTo>
                  <a:lnTo>
                    <a:pt x="194221" y="0"/>
                  </a:lnTo>
                  <a:lnTo>
                    <a:pt x="186740" y="18999"/>
                  </a:lnTo>
                  <a:lnTo>
                    <a:pt x="170624" y="61899"/>
                  </a:lnTo>
                  <a:lnTo>
                    <a:pt x="155194" y="105130"/>
                  </a:lnTo>
                  <a:lnTo>
                    <a:pt x="140462" y="148678"/>
                  </a:lnTo>
                  <a:lnTo>
                    <a:pt x="126415" y="192544"/>
                  </a:lnTo>
                  <a:lnTo>
                    <a:pt x="113080" y="236728"/>
                  </a:lnTo>
                  <a:lnTo>
                    <a:pt x="100444" y="281203"/>
                  </a:lnTo>
                  <a:lnTo>
                    <a:pt x="88531" y="325970"/>
                  </a:lnTo>
                  <a:lnTo>
                    <a:pt x="77330" y="371043"/>
                  </a:lnTo>
                  <a:lnTo>
                    <a:pt x="66865" y="416382"/>
                  </a:lnTo>
                  <a:lnTo>
                    <a:pt x="57124" y="462013"/>
                  </a:lnTo>
                  <a:lnTo>
                    <a:pt x="48133" y="507898"/>
                  </a:lnTo>
                  <a:lnTo>
                    <a:pt x="39890" y="554062"/>
                  </a:lnTo>
                  <a:lnTo>
                    <a:pt x="32397" y="600468"/>
                  </a:lnTo>
                  <a:lnTo>
                    <a:pt x="25666" y="647141"/>
                  </a:lnTo>
                  <a:lnTo>
                    <a:pt x="19710" y="694042"/>
                  </a:lnTo>
                  <a:lnTo>
                    <a:pt x="14516" y="741197"/>
                  </a:lnTo>
                  <a:lnTo>
                    <a:pt x="10109" y="788568"/>
                  </a:lnTo>
                  <a:lnTo>
                    <a:pt x="6489" y="836168"/>
                  </a:lnTo>
                  <a:lnTo>
                    <a:pt x="3657" y="883983"/>
                  </a:lnTo>
                  <a:lnTo>
                    <a:pt x="1625" y="932014"/>
                  </a:lnTo>
                  <a:lnTo>
                    <a:pt x="406" y="980249"/>
                  </a:lnTo>
                  <a:lnTo>
                    <a:pt x="0" y="1028674"/>
                  </a:lnTo>
                  <a:lnTo>
                    <a:pt x="406" y="1077112"/>
                  </a:lnTo>
                  <a:lnTo>
                    <a:pt x="1625" y="1125334"/>
                  </a:lnTo>
                  <a:lnTo>
                    <a:pt x="3657" y="1173365"/>
                  </a:lnTo>
                  <a:lnTo>
                    <a:pt x="6489" y="1221181"/>
                  </a:lnTo>
                  <a:lnTo>
                    <a:pt x="10109" y="1268780"/>
                  </a:lnTo>
                  <a:lnTo>
                    <a:pt x="14516" y="1316164"/>
                  </a:lnTo>
                  <a:lnTo>
                    <a:pt x="19710" y="1363306"/>
                  </a:lnTo>
                  <a:lnTo>
                    <a:pt x="25666" y="1410208"/>
                  </a:lnTo>
                  <a:lnTo>
                    <a:pt x="32397" y="1456880"/>
                  </a:lnTo>
                  <a:lnTo>
                    <a:pt x="39890" y="1503286"/>
                  </a:lnTo>
                  <a:lnTo>
                    <a:pt x="48133" y="1549450"/>
                  </a:lnTo>
                  <a:lnTo>
                    <a:pt x="57124" y="1595335"/>
                  </a:lnTo>
                  <a:lnTo>
                    <a:pt x="66865" y="1640967"/>
                  </a:lnTo>
                  <a:lnTo>
                    <a:pt x="77330" y="1686318"/>
                  </a:lnTo>
                  <a:lnTo>
                    <a:pt x="88531" y="1731378"/>
                  </a:lnTo>
                  <a:lnTo>
                    <a:pt x="100444" y="1776145"/>
                  </a:lnTo>
                  <a:lnTo>
                    <a:pt x="113080" y="1820633"/>
                  </a:lnTo>
                  <a:lnTo>
                    <a:pt x="126415" y="1864804"/>
                  </a:lnTo>
                  <a:lnTo>
                    <a:pt x="140462" y="1908670"/>
                  </a:lnTo>
                  <a:lnTo>
                    <a:pt x="155194" y="1952218"/>
                  </a:lnTo>
                  <a:lnTo>
                    <a:pt x="170624" y="1995449"/>
                  </a:lnTo>
                  <a:lnTo>
                    <a:pt x="186740" y="2038350"/>
                  </a:lnTo>
                  <a:lnTo>
                    <a:pt x="203517" y="2080907"/>
                  </a:lnTo>
                  <a:lnTo>
                    <a:pt x="220967" y="2123135"/>
                  </a:lnTo>
                  <a:lnTo>
                    <a:pt x="239090" y="2165007"/>
                  </a:lnTo>
                  <a:lnTo>
                    <a:pt x="257860" y="2206523"/>
                  </a:lnTo>
                  <a:lnTo>
                    <a:pt x="277279" y="2247684"/>
                  </a:lnTo>
                  <a:lnTo>
                    <a:pt x="297345" y="2288476"/>
                  </a:lnTo>
                  <a:lnTo>
                    <a:pt x="318046" y="2328888"/>
                  </a:lnTo>
                  <a:lnTo>
                    <a:pt x="339382" y="2368918"/>
                  </a:lnTo>
                  <a:lnTo>
                    <a:pt x="361340" y="2408567"/>
                  </a:lnTo>
                  <a:lnTo>
                    <a:pt x="383908" y="2447823"/>
                  </a:lnTo>
                  <a:lnTo>
                    <a:pt x="407085" y="2486672"/>
                  </a:lnTo>
                  <a:lnTo>
                    <a:pt x="430872" y="2525115"/>
                  </a:lnTo>
                  <a:lnTo>
                    <a:pt x="455256" y="2563139"/>
                  </a:lnTo>
                  <a:lnTo>
                    <a:pt x="480225" y="2600756"/>
                  </a:lnTo>
                  <a:lnTo>
                    <a:pt x="505790" y="2637929"/>
                  </a:lnTo>
                  <a:lnTo>
                    <a:pt x="531914" y="2674683"/>
                  </a:lnTo>
                  <a:lnTo>
                    <a:pt x="558622" y="2710992"/>
                  </a:lnTo>
                  <a:lnTo>
                    <a:pt x="585889" y="2746857"/>
                  </a:lnTo>
                  <a:lnTo>
                    <a:pt x="613727" y="2782265"/>
                  </a:lnTo>
                  <a:lnTo>
                    <a:pt x="642099" y="2817215"/>
                  </a:lnTo>
                  <a:lnTo>
                    <a:pt x="671029" y="2851696"/>
                  </a:lnTo>
                  <a:lnTo>
                    <a:pt x="700481" y="2885706"/>
                  </a:lnTo>
                  <a:lnTo>
                    <a:pt x="730478" y="2919234"/>
                  </a:lnTo>
                  <a:lnTo>
                    <a:pt x="760996" y="2952280"/>
                  </a:lnTo>
                  <a:lnTo>
                    <a:pt x="792035" y="2984830"/>
                  </a:lnTo>
                  <a:lnTo>
                    <a:pt x="823582" y="3016885"/>
                  </a:lnTo>
                  <a:lnTo>
                    <a:pt x="855637" y="3048431"/>
                  </a:lnTo>
                  <a:lnTo>
                    <a:pt x="888199" y="3079470"/>
                  </a:lnTo>
                  <a:lnTo>
                    <a:pt x="921245" y="3109988"/>
                  </a:lnTo>
                  <a:lnTo>
                    <a:pt x="954773" y="3139973"/>
                  </a:lnTo>
                  <a:lnTo>
                    <a:pt x="988783" y="3169437"/>
                  </a:lnTo>
                  <a:lnTo>
                    <a:pt x="1023264" y="3198355"/>
                  </a:lnTo>
                  <a:lnTo>
                    <a:pt x="1058227" y="3226739"/>
                  </a:lnTo>
                  <a:lnTo>
                    <a:pt x="1093635" y="3254565"/>
                  </a:lnTo>
                  <a:lnTo>
                    <a:pt x="1129499" y="3281832"/>
                  </a:lnTo>
                  <a:lnTo>
                    <a:pt x="1165809" y="3308540"/>
                  </a:lnTo>
                  <a:lnTo>
                    <a:pt x="1202550" y="3334664"/>
                  </a:lnTo>
                  <a:lnTo>
                    <a:pt x="1239735" y="3360229"/>
                  </a:lnTo>
                  <a:lnTo>
                    <a:pt x="1277353" y="3385197"/>
                  </a:lnTo>
                  <a:lnTo>
                    <a:pt x="1315377" y="3409581"/>
                  </a:lnTo>
                  <a:lnTo>
                    <a:pt x="1353832" y="3433356"/>
                  </a:lnTo>
                  <a:lnTo>
                    <a:pt x="1392682" y="3456546"/>
                  </a:lnTo>
                  <a:lnTo>
                    <a:pt x="1431937" y="3479114"/>
                  </a:lnTo>
                  <a:lnTo>
                    <a:pt x="1471587" y="3501059"/>
                  </a:lnTo>
                  <a:lnTo>
                    <a:pt x="1511617" y="3522395"/>
                  </a:lnTo>
                  <a:lnTo>
                    <a:pt x="1552028" y="3543096"/>
                  </a:lnTo>
                  <a:lnTo>
                    <a:pt x="1592821" y="3563162"/>
                  </a:lnTo>
                  <a:lnTo>
                    <a:pt x="1633982" y="3582581"/>
                  </a:lnTo>
                  <a:lnTo>
                    <a:pt x="1654860" y="3592030"/>
                  </a:lnTo>
                  <a:lnTo>
                    <a:pt x="1633740" y="3601770"/>
                  </a:lnTo>
                  <a:lnTo>
                    <a:pt x="1593049" y="3621811"/>
                  </a:lnTo>
                  <a:lnTo>
                    <a:pt x="1552943" y="3642868"/>
                  </a:lnTo>
                  <a:lnTo>
                    <a:pt x="1513446" y="3664889"/>
                  </a:lnTo>
                  <a:lnTo>
                    <a:pt x="1474571" y="3687876"/>
                  </a:lnTo>
                  <a:lnTo>
                    <a:pt x="1436344" y="3711816"/>
                  </a:lnTo>
                  <a:lnTo>
                    <a:pt x="1398778" y="3736683"/>
                  </a:lnTo>
                  <a:lnTo>
                    <a:pt x="1361871" y="3762464"/>
                  </a:lnTo>
                  <a:lnTo>
                    <a:pt x="1325651" y="3789146"/>
                  </a:lnTo>
                  <a:lnTo>
                    <a:pt x="1290154" y="3816718"/>
                  </a:lnTo>
                  <a:lnTo>
                    <a:pt x="1255369" y="3845141"/>
                  </a:lnTo>
                  <a:lnTo>
                    <a:pt x="1221308" y="3874427"/>
                  </a:lnTo>
                  <a:lnTo>
                    <a:pt x="1188021" y="3904538"/>
                  </a:lnTo>
                  <a:lnTo>
                    <a:pt x="1155496" y="3935476"/>
                  </a:lnTo>
                  <a:lnTo>
                    <a:pt x="1123746" y="3967213"/>
                  </a:lnTo>
                  <a:lnTo>
                    <a:pt x="1092809" y="3999738"/>
                  </a:lnTo>
                  <a:lnTo>
                    <a:pt x="1062697" y="4033037"/>
                  </a:lnTo>
                  <a:lnTo>
                    <a:pt x="1033411" y="4067073"/>
                  </a:lnTo>
                  <a:lnTo>
                    <a:pt x="1004976" y="4101858"/>
                  </a:lnTo>
                  <a:lnTo>
                    <a:pt x="977404" y="4137368"/>
                  </a:lnTo>
                  <a:lnTo>
                    <a:pt x="950722" y="4173575"/>
                  </a:lnTo>
                  <a:lnTo>
                    <a:pt x="924941" y="4210481"/>
                  </a:lnTo>
                  <a:lnTo>
                    <a:pt x="900074" y="4248048"/>
                  </a:lnTo>
                  <a:lnTo>
                    <a:pt x="876134" y="4286275"/>
                  </a:lnTo>
                  <a:lnTo>
                    <a:pt x="853135" y="4325137"/>
                  </a:lnTo>
                  <a:lnTo>
                    <a:pt x="831113" y="4364634"/>
                  </a:lnTo>
                  <a:lnTo>
                    <a:pt x="810069" y="4404741"/>
                  </a:lnTo>
                  <a:lnTo>
                    <a:pt x="790016" y="4445432"/>
                  </a:lnTo>
                  <a:lnTo>
                    <a:pt x="770978" y="4486694"/>
                  </a:lnTo>
                  <a:lnTo>
                    <a:pt x="752970" y="4528515"/>
                  </a:lnTo>
                  <a:lnTo>
                    <a:pt x="736003" y="4570895"/>
                  </a:lnTo>
                  <a:lnTo>
                    <a:pt x="720090" y="4613783"/>
                  </a:lnTo>
                  <a:lnTo>
                    <a:pt x="705269" y="4657191"/>
                  </a:lnTo>
                  <a:lnTo>
                    <a:pt x="691527" y="4701095"/>
                  </a:lnTo>
                  <a:lnTo>
                    <a:pt x="678903" y="4745482"/>
                  </a:lnTo>
                  <a:lnTo>
                    <a:pt x="667410" y="4790325"/>
                  </a:lnTo>
                  <a:lnTo>
                    <a:pt x="657047" y="4835614"/>
                  </a:lnTo>
                  <a:lnTo>
                    <a:pt x="647852" y="4881334"/>
                  </a:lnTo>
                  <a:lnTo>
                    <a:pt x="639826" y="4927473"/>
                  </a:lnTo>
                  <a:lnTo>
                    <a:pt x="632993" y="4973993"/>
                  </a:lnTo>
                  <a:lnTo>
                    <a:pt x="627367" y="5020907"/>
                  </a:lnTo>
                  <a:lnTo>
                    <a:pt x="622960" y="5068189"/>
                  </a:lnTo>
                  <a:lnTo>
                    <a:pt x="619785" y="5115814"/>
                  </a:lnTo>
                  <a:lnTo>
                    <a:pt x="618680" y="5143500"/>
                  </a:lnTo>
                  <a:lnTo>
                    <a:pt x="3177387" y="5143500"/>
                  </a:lnTo>
                  <a:lnTo>
                    <a:pt x="3177387" y="3816807"/>
                  </a:lnTo>
                  <a:lnTo>
                    <a:pt x="3177387" y="3607206"/>
                  </a:lnTo>
                  <a:lnTo>
                    <a:pt x="3177387" y="0"/>
                  </a:lnTo>
                  <a:close/>
                </a:path>
              </a:pathLst>
            </a:custGeom>
            <a:solidFill>
              <a:srgbClr val="2B39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037" y="3922776"/>
              <a:ext cx="685799" cy="6857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4536" y="1501333"/>
            <a:ext cx="778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B39A"/>
                </a:solidFill>
                <a:latin typeface="Consolas"/>
                <a:cs typeface="Consolas"/>
              </a:rPr>
              <a:t>PART</a:t>
            </a:r>
            <a:r>
              <a:rPr dirty="0" sz="12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BB39A"/>
                </a:solidFill>
                <a:latin typeface="Consolas"/>
                <a:cs typeface="Consolas"/>
              </a:rPr>
              <a:t>03-</a:t>
            </a:r>
            <a:r>
              <a:rPr dirty="0" sz="1200" spc="-50" b="1">
                <a:solidFill>
                  <a:srgbClr val="2BB39A"/>
                </a:solidFill>
                <a:latin typeface="Consolas"/>
                <a:cs typeface="Consolas"/>
              </a:rPr>
              <a:t>F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0820" y="2013458"/>
            <a:ext cx="2868930" cy="94932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25"/>
              </a:spcBef>
            </a:pP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dirty="0" sz="3000" spc="-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Dies, </a:t>
            </a:r>
            <a:r>
              <a:rPr dirty="0" sz="3000" b="1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dirty="0" sz="3000" spc="-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Georgia"/>
                <a:cs typeface="Georgia"/>
              </a:rPr>
              <a:t>Survives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952" y="3497579"/>
            <a:ext cx="995044" cy="48260"/>
          </a:xfrm>
          <a:custGeom>
            <a:avLst/>
            <a:gdLst/>
            <a:ahLst/>
            <a:cxnLst/>
            <a:rect l="l" t="t" r="r" b="b"/>
            <a:pathLst>
              <a:path w="995044" h="48260">
                <a:moveTo>
                  <a:pt x="994499" y="47999"/>
                </a:moveTo>
                <a:lnTo>
                  <a:pt x="0" y="47999"/>
                </a:lnTo>
                <a:lnTo>
                  <a:pt x="0" y="0"/>
                </a:lnTo>
                <a:lnTo>
                  <a:pt x="994499" y="0"/>
                </a:lnTo>
                <a:lnTo>
                  <a:pt x="994499" y="47999"/>
                </a:lnTo>
                <a:close/>
              </a:path>
            </a:pathLst>
          </a:custGeom>
          <a:solidFill>
            <a:srgbClr val="149B8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What</a:t>
            </a:r>
            <a:r>
              <a:rPr dirty="0" sz="2300" spc="-3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Dies,</a:t>
            </a:r>
            <a:r>
              <a:rPr dirty="0" sz="2300" spc="-2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What</a:t>
            </a:r>
            <a:r>
              <a:rPr dirty="0" sz="2300" spc="-20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Survives</a:t>
            </a:r>
            <a:endParaRPr sz="23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3404" y="1108710"/>
            <a:ext cx="4134485" cy="2727960"/>
            <a:chOff x="453404" y="1108710"/>
            <a:chExt cx="4134485" cy="27279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108710"/>
              <a:ext cx="4134000" cy="2727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54" y="1165859"/>
              <a:ext cx="3943985" cy="2537460"/>
            </a:xfrm>
            <a:custGeom>
              <a:avLst/>
              <a:gdLst/>
              <a:ahLst/>
              <a:cxnLst/>
              <a:rect l="l" t="t" r="r" b="b"/>
              <a:pathLst>
                <a:path w="3943985" h="2537460">
                  <a:moveTo>
                    <a:pt x="3943500" y="2537399"/>
                  </a:moveTo>
                  <a:lnTo>
                    <a:pt x="0" y="2537399"/>
                  </a:lnTo>
                  <a:lnTo>
                    <a:pt x="0" y="0"/>
                  </a:lnTo>
                  <a:lnTo>
                    <a:pt x="3943500" y="0"/>
                  </a:lnTo>
                  <a:lnTo>
                    <a:pt x="3943500" y="25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8654" y="1165859"/>
              <a:ext cx="3943985" cy="2537460"/>
            </a:xfrm>
            <a:custGeom>
              <a:avLst/>
              <a:gdLst/>
              <a:ahLst/>
              <a:cxnLst/>
              <a:rect l="l" t="t" r="r" b="b"/>
              <a:pathLst>
                <a:path w="3943985" h="2537460">
                  <a:moveTo>
                    <a:pt x="0" y="0"/>
                  </a:moveTo>
                  <a:lnTo>
                    <a:pt x="3943500" y="0"/>
                  </a:lnTo>
                  <a:lnTo>
                    <a:pt x="3943500" y="2537399"/>
                  </a:lnTo>
                  <a:lnTo>
                    <a:pt x="0" y="253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165859"/>
              <a:ext cx="3943985" cy="48260"/>
            </a:xfrm>
            <a:custGeom>
              <a:avLst/>
              <a:gdLst/>
              <a:ahLst/>
              <a:cxnLst/>
              <a:rect l="l" t="t" r="r" b="b"/>
              <a:pathLst>
                <a:path w="3943985" h="48259">
                  <a:moveTo>
                    <a:pt x="39435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943500" y="0"/>
                  </a:lnTo>
                  <a:lnTo>
                    <a:pt x="3943500" y="479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20"/>
              <a:t> DIES</a:t>
            </a:r>
          </a:p>
          <a:p>
            <a:pPr marL="439420" indent="-285750">
              <a:lnSpc>
                <a:spcPct val="100000"/>
              </a:lnSpc>
              <a:spcBef>
                <a:spcPts val="1255"/>
              </a:spcBef>
              <a:buChar char="•"/>
              <a:tabLst>
                <a:tab pos="439420" algn="l"/>
              </a:tabLst>
            </a:pP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2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app</a:t>
            </a:r>
            <a:r>
              <a:rPr dirty="0" sz="1500" spc="-2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2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2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unit</a:t>
            </a:r>
            <a:r>
              <a:rPr dirty="0" sz="15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of</a:t>
            </a:r>
            <a:r>
              <a:rPr dirty="0" sz="1500" spc="-2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human</a:t>
            </a:r>
            <a:r>
              <a:rPr dirty="0" sz="1500" spc="-2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20" b="0">
                <a:solidFill>
                  <a:srgbClr val="3C4A57"/>
                </a:solidFill>
                <a:latin typeface="Calibri"/>
                <a:cs typeface="Calibri"/>
              </a:rPr>
              <a:t>work</a:t>
            </a:r>
            <a:endParaRPr sz="1500">
              <a:latin typeface="Calibri"/>
              <a:cs typeface="Calibri"/>
            </a:endParaRPr>
          </a:p>
          <a:p>
            <a:pPr marL="439420" indent="-285750">
              <a:lnSpc>
                <a:spcPct val="100000"/>
              </a:lnSpc>
              <a:spcBef>
                <a:spcPts val="600"/>
              </a:spcBef>
              <a:buChar char="•"/>
              <a:tabLst>
                <a:tab pos="439420" algn="l"/>
              </a:tabLst>
            </a:pP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 b="0">
                <a:solidFill>
                  <a:srgbClr val="3C4A57"/>
                </a:solidFill>
                <a:latin typeface="Calibri"/>
                <a:cs typeface="Calibri"/>
              </a:rPr>
              <a:t>graphical</a:t>
            </a:r>
            <a:r>
              <a:rPr dirty="0" sz="15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shell</a:t>
            </a:r>
            <a:r>
              <a:rPr dirty="0" sz="15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place</a:t>
            </a:r>
            <a:r>
              <a:rPr dirty="0" sz="1500" spc="-3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you</a:t>
            </a:r>
            <a:r>
              <a:rPr dirty="0" sz="1500" spc="-3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20" b="0">
                <a:solidFill>
                  <a:srgbClr val="3C4A57"/>
                </a:solidFill>
                <a:latin typeface="Calibri"/>
                <a:cs typeface="Calibri"/>
              </a:rPr>
              <a:t>live</a:t>
            </a:r>
            <a:endParaRPr sz="1500">
              <a:latin typeface="Calibri"/>
              <a:cs typeface="Calibri"/>
            </a:endParaRPr>
          </a:p>
          <a:p>
            <a:pPr marL="439420" indent="-285750">
              <a:lnSpc>
                <a:spcPct val="100000"/>
              </a:lnSpc>
              <a:spcBef>
                <a:spcPts val="600"/>
              </a:spcBef>
              <a:buChar char="•"/>
              <a:tabLst>
                <a:tab pos="439420" algn="l"/>
              </a:tabLst>
            </a:pP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SaaS</a:t>
            </a:r>
            <a:r>
              <a:rPr dirty="0" sz="15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1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500" spc="-10" b="0">
                <a:solidFill>
                  <a:srgbClr val="3C4A57"/>
                </a:solidFill>
                <a:latin typeface="Calibri"/>
                <a:cs typeface="Calibri"/>
              </a:rPr>
              <a:t> destination</a:t>
            </a:r>
            <a:endParaRPr sz="1500">
              <a:latin typeface="Calibri"/>
              <a:cs typeface="Calibri"/>
            </a:endParaRPr>
          </a:p>
          <a:p>
            <a:pPr marL="439420" indent="-285750">
              <a:lnSpc>
                <a:spcPct val="100000"/>
              </a:lnSpc>
              <a:spcBef>
                <a:spcPts val="600"/>
              </a:spcBef>
              <a:buChar char="•"/>
              <a:tabLst>
                <a:tab pos="439420" algn="l"/>
              </a:tabLst>
            </a:pP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20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human</a:t>
            </a:r>
            <a:r>
              <a:rPr dirty="0" sz="15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15" b="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 b="0">
                <a:solidFill>
                  <a:srgbClr val="3C4A57"/>
                </a:solidFill>
                <a:latin typeface="Calibri"/>
                <a:cs typeface="Calibri"/>
              </a:rPr>
              <a:t>operator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54597" y="1108710"/>
            <a:ext cx="4134485" cy="2727960"/>
            <a:chOff x="4554597" y="1108710"/>
            <a:chExt cx="4134485" cy="27279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4597" y="1108710"/>
              <a:ext cx="4134000" cy="27279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49847" y="1165859"/>
              <a:ext cx="3943985" cy="2537460"/>
            </a:xfrm>
            <a:custGeom>
              <a:avLst/>
              <a:gdLst/>
              <a:ahLst/>
              <a:cxnLst/>
              <a:rect l="l" t="t" r="r" b="b"/>
              <a:pathLst>
                <a:path w="3943984" h="2537460">
                  <a:moveTo>
                    <a:pt x="3943499" y="2537399"/>
                  </a:moveTo>
                  <a:lnTo>
                    <a:pt x="0" y="2537399"/>
                  </a:lnTo>
                  <a:lnTo>
                    <a:pt x="0" y="0"/>
                  </a:lnTo>
                  <a:lnTo>
                    <a:pt x="3943499" y="0"/>
                  </a:lnTo>
                  <a:lnTo>
                    <a:pt x="3943499" y="25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49847" y="1165859"/>
              <a:ext cx="3943985" cy="2537460"/>
            </a:xfrm>
            <a:custGeom>
              <a:avLst/>
              <a:gdLst/>
              <a:ahLst/>
              <a:cxnLst/>
              <a:rect l="l" t="t" r="r" b="b"/>
              <a:pathLst>
                <a:path w="3943984" h="2537460">
                  <a:moveTo>
                    <a:pt x="0" y="0"/>
                  </a:moveTo>
                  <a:lnTo>
                    <a:pt x="3943499" y="0"/>
                  </a:lnTo>
                  <a:lnTo>
                    <a:pt x="3943499" y="2537399"/>
                  </a:lnTo>
                  <a:lnTo>
                    <a:pt x="0" y="2537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49847" y="1165859"/>
              <a:ext cx="3943985" cy="48260"/>
            </a:xfrm>
            <a:custGeom>
              <a:avLst/>
              <a:gdLst/>
              <a:ahLst/>
              <a:cxnLst/>
              <a:rect l="l" t="t" r="r" b="b"/>
              <a:pathLst>
                <a:path w="3943984" h="48259">
                  <a:moveTo>
                    <a:pt x="3943499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943499" y="0"/>
                  </a:lnTo>
                  <a:lnTo>
                    <a:pt x="3943499" y="47999"/>
                  </a:lnTo>
                  <a:close/>
                </a:path>
              </a:pathLst>
            </a:custGeom>
            <a:solidFill>
              <a:srgbClr val="149B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656197" y="1324804"/>
            <a:ext cx="3931285" cy="180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49B82"/>
                </a:solidFill>
                <a:latin typeface="Consolas"/>
                <a:cs typeface="Consolas"/>
              </a:rPr>
              <a:t>WHAT</a:t>
            </a:r>
            <a:r>
              <a:rPr dirty="0" sz="1600" spc="-20" b="1">
                <a:solidFill>
                  <a:srgbClr val="149B82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149B82"/>
                </a:solidFill>
                <a:latin typeface="Consolas"/>
                <a:cs typeface="Consolas"/>
              </a:rPr>
              <a:t>SURVIVES</a:t>
            </a:r>
            <a:endParaRPr sz="1600">
              <a:latin typeface="Consolas"/>
              <a:cs typeface="Consolas"/>
            </a:endParaRPr>
          </a:p>
          <a:p>
            <a:pPr marL="439420" indent="-285750">
              <a:lnSpc>
                <a:spcPct val="100000"/>
              </a:lnSpc>
              <a:spcBef>
                <a:spcPts val="1255"/>
              </a:spcBef>
              <a:buChar char="•"/>
              <a:tabLst>
                <a:tab pos="439420" algn="l"/>
              </a:tabLst>
            </a:pP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OS</a:t>
            </a:r>
            <a:r>
              <a:rPr dirty="0" sz="15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invisible</a:t>
            </a:r>
            <a:r>
              <a:rPr dirty="0" sz="15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plumbing</a:t>
            </a:r>
            <a:endParaRPr sz="1500">
              <a:latin typeface="Calibri"/>
              <a:cs typeface="Calibri"/>
            </a:endParaRPr>
          </a:p>
          <a:p>
            <a:pPr marL="439420" indent="-285750">
              <a:lnSpc>
                <a:spcPct val="100000"/>
              </a:lnSpc>
              <a:spcBef>
                <a:spcPts val="600"/>
              </a:spcBef>
              <a:buChar char="•"/>
              <a:tabLst>
                <a:tab pos="439420" algn="l"/>
              </a:tabLst>
            </a:pP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Software</a:t>
            </a:r>
            <a:r>
              <a:rPr dirty="0" sz="15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capabilities,</a:t>
            </a:r>
            <a:r>
              <a:rPr dirty="0" sz="15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tools</a:t>
            </a:r>
            <a:r>
              <a:rPr dirty="0" sz="15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agents</a:t>
            </a:r>
            <a:r>
              <a:rPr dirty="0" sz="15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3C4A57"/>
                </a:solidFill>
                <a:latin typeface="Calibri"/>
                <a:cs typeface="Calibri"/>
              </a:rPr>
              <a:t>call</a:t>
            </a:r>
            <a:endParaRPr sz="1500">
              <a:latin typeface="Calibri"/>
              <a:cs typeface="Calibri"/>
            </a:endParaRPr>
          </a:p>
          <a:p>
            <a:pPr marL="439420" indent="-285750">
              <a:lnSpc>
                <a:spcPct val="100000"/>
              </a:lnSpc>
              <a:spcBef>
                <a:spcPts val="600"/>
              </a:spcBef>
              <a:buChar char="•"/>
              <a:tabLst>
                <a:tab pos="439420" algn="l"/>
              </a:tabLst>
            </a:pP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human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as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500" spc="-2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source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of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intent</a:t>
            </a:r>
            <a:endParaRPr sz="1500">
              <a:latin typeface="Calibri"/>
              <a:cs typeface="Calibri"/>
            </a:endParaRPr>
          </a:p>
          <a:p>
            <a:pPr marL="439420" marR="259079" indent="-285750">
              <a:lnSpc>
                <a:spcPct val="100000"/>
              </a:lnSpc>
              <a:spcBef>
                <a:spcPts val="600"/>
              </a:spcBef>
              <a:buChar char="•"/>
              <a:tabLst>
                <a:tab pos="439420" algn="l"/>
              </a:tabLst>
            </a:pP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Judgment: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what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to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want,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C4A57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C4A57"/>
                </a:solidFill>
                <a:latin typeface="Calibri"/>
                <a:cs typeface="Calibri"/>
              </a:rPr>
              <a:t>whether</a:t>
            </a:r>
            <a:r>
              <a:rPr dirty="0" sz="15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3C4A57"/>
                </a:solidFill>
                <a:latin typeface="Calibri"/>
                <a:cs typeface="Calibri"/>
              </a:rPr>
              <a:t>it’s good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54" y="3899154"/>
            <a:ext cx="771905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PC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as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hardware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does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not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die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it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becomes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more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8A95A3"/>
                </a:solidFill>
                <a:latin typeface="Calibri"/>
                <a:cs typeface="Calibri"/>
              </a:rPr>
              <a:t>essential.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What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dies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is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8A95A3"/>
                </a:solidFill>
                <a:latin typeface="Calibri"/>
                <a:cs typeface="Calibri"/>
              </a:rPr>
              <a:t>human’s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job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of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8A95A3"/>
                </a:solidFill>
                <a:latin typeface="Calibri"/>
                <a:cs typeface="Calibri"/>
              </a:rPr>
              <a:t>driving</a:t>
            </a:r>
            <a:r>
              <a:rPr dirty="0" sz="1400" spc="-30" b="1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400" spc="-25" b="1" i="1">
                <a:solidFill>
                  <a:srgbClr val="8A95A3"/>
                </a:solid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14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What</a:t>
            </a:r>
            <a:r>
              <a:rPr dirty="0" sz="2300" spc="-1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It</a:t>
            </a:r>
            <a:r>
              <a:rPr dirty="0" sz="2300" spc="-1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Means</a:t>
            </a:r>
            <a:r>
              <a:rPr dirty="0" sz="2300" spc="-1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1F2A37"/>
                </a:solidFill>
                <a:latin typeface="Georgia"/>
                <a:cs typeface="Georgia"/>
              </a:rPr>
              <a:t>for</a:t>
            </a:r>
            <a:r>
              <a:rPr dirty="0" sz="2300" spc="-15" b="1">
                <a:solidFill>
                  <a:srgbClr val="1F2A37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1F2A37"/>
                </a:solidFill>
                <a:latin typeface="Georgia"/>
                <a:cs typeface="Georgia"/>
              </a:rPr>
              <a:t>Builders</a:t>
            </a:r>
            <a:endParaRPr sz="2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54" y="954532"/>
            <a:ext cx="57924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A95A3"/>
                </a:solidFill>
                <a:latin typeface="Calibri"/>
                <a:cs typeface="Calibri"/>
              </a:rPr>
              <a:t>strategic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ground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shifts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—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the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agent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has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no</a:t>
            </a:r>
            <a:r>
              <a:rPr dirty="0" sz="1600" spc="-35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eyes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for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A95A3"/>
                </a:solidFill>
                <a:latin typeface="Calibri"/>
                <a:cs typeface="Calibri"/>
              </a:rPr>
              <a:t>your</a:t>
            </a:r>
            <a:r>
              <a:rPr dirty="0" sz="1600" spc="-40" i="1">
                <a:solidFill>
                  <a:srgbClr val="8A95A3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A95A3"/>
                </a:solidFill>
                <a:latin typeface="Calibri"/>
                <a:cs typeface="Calibri"/>
              </a:rPr>
              <a:t>interface.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3404" y="1451610"/>
            <a:ext cx="4991100" cy="2317115"/>
            <a:chOff x="453404" y="1451610"/>
            <a:chExt cx="4991100" cy="23171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04" y="1451610"/>
              <a:ext cx="4991100" cy="2316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54" y="1508759"/>
              <a:ext cx="4800600" cy="2126615"/>
            </a:xfrm>
            <a:custGeom>
              <a:avLst/>
              <a:gdLst/>
              <a:ahLst/>
              <a:cxnLst/>
              <a:rect l="l" t="t" r="r" b="b"/>
              <a:pathLst>
                <a:path w="4800600" h="2126615">
                  <a:moveTo>
                    <a:pt x="4800600" y="2126099"/>
                  </a:moveTo>
                  <a:lnTo>
                    <a:pt x="0" y="2126099"/>
                  </a:lnTo>
                  <a:lnTo>
                    <a:pt x="0" y="0"/>
                  </a:lnTo>
                  <a:lnTo>
                    <a:pt x="4800600" y="0"/>
                  </a:lnTo>
                  <a:lnTo>
                    <a:pt x="4800600" y="2126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54" y="1508759"/>
              <a:ext cx="4800600" cy="2126615"/>
            </a:xfrm>
            <a:custGeom>
              <a:avLst/>
              <a:gdLst/>
              <a:ahLst/>
              <a:cxnLst/>
              <a:rect l="l" t="t" r="r" b="b"/>
              <a:pathLst>
                <a:path w="4800600" h="2126615">
                  <a:moveTo>
                    <a:pt x="0" y="0"/>
                  </a:moveTo>
                  <a:lnTo>
                    <a:pt x="4800600" y="0"/>
                  </a:lnTo>
                  <a:lnTo>
                    <a:pt x="4800600" y="2126099"/>
                  </a:lnTo>
                  <a:lnTo>
                    <a:pt x="0" y="21260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54" y="1508759"/>
              <a:ext cx="4800600" cy="48260"/>
            </a:xfrm>
            <a:custGeom>
              <a:avLst/>
              <a:gdLst/>
              <a:ahLst/>
              <a:cxnLst/>
              <a:rect l="l" t="t" r="r" b="b"/>
              <a:pathLst>
                <a:path w="4800600" h="48259">
                  <a:moveTo>
                    <a:pt x="48006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4800600" y="0"/>
                  </a:lnTo>
                  <a:lnTo>
                    <a:pt x="4800600" y="47999"/>
                  </a:lnTo>
                  <a:close/>
                </a:path>
              </a:pathLst>
            </a:custGeom>
            <a:solidFill>
              <a:srgbClr val="504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55004" y="1740154"/>
            <a:ext cx="4787900" cy="168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The</a:t>
            </a:r>
            <a:r>
              <a:rPr dirty="0" sz="1300" spc="-3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048E4"/>
                </a:solidFill>
                <a:latin typeface="Calibri"/>
                <a:cs typeface="Calibri"/>
              </a:rPr>
              <a:t>moat</a:t>
            </a:r>
            <a:r>
              <a:rPr dirty="0" sz="1300" spc="-35" b="1">
                <a:solidFill>
                  <a:srgbClr val="5048E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5048E4"/>
                </a:solidFill>
                <a:latin typeface="Calibri"/>
                <a:cs typeface="Calibri"/>
              </a:rPr>
              <a:t>moves</a:t>
            </a:r>
            <a:endParaRPr sz="1300">
              <a:latin typeface="Calibri"/>
              <a:cs typeface="Calibri"/>
            </a:endParaRPr>
          </a:p>
          <a:p>
            <a:pPr marL="185420" marR="354965">
              <a:lnSpc>
                <a:spcPct val="105000"/>
              </a:lnSpc>
              <a:spcBef>
                <a:spcPts val="915"/>
              </a:spcBef>
            </a:pP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Be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layer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lives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in,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capability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it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must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call,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C4A57"/>
                </a:solidFill>
                <a:latin typeface="Calibri"/>
                <a:cs typeface="Calibri"/>
              </a:rPr>
              <a:t>or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governance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it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must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obey.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beautiful,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sticky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UI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is</a:t>
            </a:r>
            <a:r>
              <a:rPr dirty="0" sz="1400" spc="-3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C4A57"/>
                </a:solidFill>
                <a:latin typeface="Calibri"/>
                <a:cs typeface="Calibri"/>
              </a:rPr>
              <a:t>no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longer</a:t>
            </a:r>
            <a:r>
              <a:rPr dirty="0" sz="1400" spc="-6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5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defense.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Calibri"/>
              <a:cs typeface="Calibri"/>
            </a:endParaRPr>
          </a:p>
          <a:p>
            <a:pPr marL="185420" marR="242570">
              <a:lnSpc>
                <a:spcPct val="105000"/>
              </a:lnSpc>
              <a:spcBef>
                <a:spcPts val="5"/>
              </a:spcBef>
            </a:pP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firm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that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orchestrates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agents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C4A57"/>
                </a:solidFill>
                <a:latin typeface="Calibri"/>
                <a:cs typeface="Calibri"/>
              </a:rPr>
              <a:t>out-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produces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firm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 that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buys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more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seats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old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software.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25587" y="1451610"/>
            <a:ext cx="3263265" cy="2317115"/>
            <a:chOff x="5425587" y="1451610"/>
            <a:chExt cx="3263265" cy="23171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5587" y="1451610"/>
              <a:ext cx="3263100" cy="2316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20836" y="1508759"/>
              <a:ext cx="3072765" cy="2126615"/>
            </a:xfrm>
            <a:custGeom>
              <a:avLst/>
              <a:gdLst/>
              <a:ahLst/>
              <a:cxnLst/>
              <a:rect l="l" t="t" r="r" b="b"/>
              <a:pathLst>
                <a:path w="3072765" h="2126615">
                  <a:moveTo>
                    <a:pt x="3072600" y="2126099"/>
                  </a:moveTo>
                  <a:lnTo>
                    <a:pt x="0" y="2126099"/>
                  </a:lnTo>
                  <a:lnTo>
                    <a:pt x="0" y="0"/>
                  </a:lnTo>
                  <a:lnTo>
                    <a:pt x="3072600" y="0"/>
                  </a:lnTo>
                  <a:lnTo>
                    <a:pt x="3072600" y="2126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20836" y="1508759"/>
              <a:ext cx="3072765" cy="2126615"/>
            </a:xfrm>
            <a:custGeom>
              <a:avLst/>
              <a:gdLst/>
              <a:ahLst/>
              <a:cxnLst/>
              <a:rect l="l" t="t" r="r" b="b"/>
              <a:pathLst>
                <a:path w="3072765" h="2126615">
                  <a:moveTo>
                    <a:pt x="0" y="0"/>
                  </a:moveTo>
                  <a:lnTo>
                    <a:pt x="3072600" y="0"/>
                  </a:lnTo>
                  <a:lnTo>
                    <a:pt x="3072600" y="2126099"/>
                  </a:lnTo>
                  <a:lnTo>
                    <a:pt x="0" y="21260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3E7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20836" y="1508759"/>
              <a:ext cx="3072765" cy="48260"/>
            </a:xfrm>
            <a:custGeom>
              <a:avLst/>
              <a:gdLst/>
              <a:ahLst/>
              <a:cxnLst/>
              <a:rect l="l" t="t" r="r" b="b"/>
              <a:pathLst>
                <a:path w="3072765" h="48259">
                  <a:moveTo>
                    <a:pt x="3072600" y="47999"/>
                  </a:moveTo>
                  <a:lnTo>
                    <a:pt x="0" y="47999"/>
                  </a:lnTo>
                  <a:lnTo>
                    <a:pt x="0" y="0"/>
                  </a:lnTo>
                  <a:lnTo>
                    <a:pt x="3072600" y="0"/>
                  </a:lnTo>
                  <a:lnTo>
                    <a:pt x="3072600" y="47999"/>
                  </a:lnTo>
                  <a:close/>
                </a:path>
              </a:pathLst>
            </a:custGeom>
            <a:solidFill>
              <a:srgbClr val="16A0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527187" y="1730472"/>
            <a:ext cx="3060065" cy="188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16A085"/>
                </a:solidFill>
                <a:latin typeface="Georgia"/>
                <a:cs typeface="Georgia"/>
              </a:rPr>
              <a:t>700</a:t>
            </a:r>
            <a:r>
              <a:rPr dirty="0" sz="2600" spc="-70" b="1">
                <a:solidFill>
                  <a:srgbClr val="16A085"/>
                </a:solidFill>
                <a:latin typeface="Georgia"/>
                <a:cs typeface="Georgia"/>
              </a:rPr>
              <a:t> </a:t>
            </a:r>
            <a:r>
              <a:rPr dirty="0" sz="2600" spc="-20" b="1">
                <a:solidFill>
                  <a:srgbClr val="16A085"/>
                </a:solidFill>
                <a:latin typeface="Georgia"/>
                <a:cs typeface="Georgia"/>
              </a:rPr>
              <a:t>FTEs</a:t>
            </a:r>
            <a:endParaRPr sz="26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1100" b="1">
                <a:solidFill>
                  <a:srgbClr val="1F2A37"/>
                </a:solidFill>
                <a:latin typeface="Arial"/>
                <a:cs typeface="Arial"/>
              </a:rPr>
              <a:t>≈</a:t>
            </a:r>
            <a:r>
              <a:rPr dirty="0" sz="1100" spc="-75" b="1">
                <a:solidFill>
                  <a:srgbClr val="1F2A3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37"/>
                </a:solidFill>
                <a:latin typeface="Calibri"/>
                <a:cs typeface="Calibri"/>
              </a:rPr>
              <a:t>$40M</a:t>
            </a:r>
            <a:r>
              <a:rPr dirty="0" sz="1100" spc="-45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A37"/>
                </a:solidFill>
                <a:latin typeface="Calibri"/>
                <a:cs typeface="Calibri"/>
              </a:rPr>
              <a:t>profit</a:t>
            </a:r>
            <a:r>
              <a:rPr dirty="0" sz="1100" spc="-30" b="1">
                <a:solidFill>
                  <a:srgbClr val="1F2A37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1F2A37"/>
                </a:solidFill>
                <a:latin typeface="Calibri"/>
                <a:cs typeface="Calibri"/>
              </a:rPr>
              <a:t>lift</a:t>
            </a:r>
            <a:endParaRPr sz="1100">
              <a:latin typeface="Calibri"/>
              <a:cs typeface="Calibri"/>
            </a:endParaRPr>
          </a:p>
          <a:p>
            <a:pPr algn="ctr" marL="210185" marR="202565" indent="-1270">
              <a:lnSpc>
                <a:spcPct val="105000"/>
              </a:lnSpc>
              <a:spcBef>
                <a:spcPts val="400"/>
              </a:spcBef>
            </a:pP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Klarna’s customer-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service</a:t>
            </a:r>
            <a:r>
              <a:rPr dirty="0" sz="14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agent</a:t>
            </a:r>
            <a:r>
              <a:rPr dirty="0" sz="1400" spc="-1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C4A57"/>
                </a:solidFill>
                <a:latin typeface="Calibri"/>
                <a:cs typeface="Calibri"/>
              </a:rPr>
              <a:t>did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work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~700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full-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time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staff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3C4A57"/>
                </a:solidFill>
                <a:latin typeface="Calibri"/>
                <a:cs typeface="Calibri"/>
              </a:rPr>
              <a:t>—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“scale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intelligence,</a:t>
            </a:r>
            <a:r>
              <a:rPr dirty="0" sz="1400" spc="-3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not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headcount.” (Humans</a:t>
            </a:r>
            <a:r>
              <a:rPr dirty="0" sz="1400" spc="-45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were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3C4A57"/>
                </a:solidFill>
                <a:latin typeface="Calibri"/>
                <a:cs typeface="Calibri"/>
              </a:rPr>
              <a:t>re-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added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for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complex </a:t>
            </a:r>
            <a:r>
              <a:rPr dirty="0" sz="1400">
                <a:solidFill>
                  <a:srgbClr val="3C4A57"/>
                </a:solidFill>
                <a:latin typeface="Calibri"/>
                <a:cs typeface="Calibri"/>
              </a:rPr>
              <a:t>cases: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bounded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tasks</a:t>
            </a:r>
            <a:r>
              <a:rPr dirty="0" sz="1400" spc="-40">
                <a:solidFill>
                  <a:srgbClr val="3C4A5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C4A57"/>
                </a:solidFill>
                <a:latin typeface="Calibri"/>
                <a:cs typeface="Calibri"/>
              </a:rPr>
              <a:t>first.)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66612" y="0"/>
            <a:ext cx="3177540" cy="5143500"/>
          </a:xfrm>
          <a:custGeom>
            <a:avLst/>
            <a:gdLst/>
            <a:ahLst/>
            <a:cxnLst/>
            <a:rect l="l" t="t" r="r" b="b"/>
            <a:pathLst>
              <a:path w="3177540" h="5143500">
                <a:moveTo>
                  <a:pt x="3177387" y="0"/>
                </a:moveTo>
                <a:lnTo>
                  <a:pt x="194221" y="0"/>
                </a:lnTo>
                <a:lnTo>
                  <a:pt x="186740" y="18999"/>
                </a:lnTo>
                <a:lnTo>
                  <a:pt x="170624" y="61899"/>
                </a:lnTo>
                <a:lnTo>
                  <a:pt x="155194" y="105130"/>
                </a:lnTo>
                <a:lnTo>
                  <a:pt x="140462" y="148678"/>
                </a:lnTo>
                <a:lnTo>
                  <a:pt x="126415" y="192544"/>
                </a:lnTo>
                <a:lnTo>
                  <a:pt x="113080" y="236728"/>
                </a:lnTo>
                <a:lnTo>
                  <a:pt x="100444" y="281203"/>
                </a:lnTo>
                <a:lnTo>
                  <a:pt x="88531" y="325970"/>
                </a:lnTo>
                <a:lnTo>
                  <a:pt x="77330" y="371043"/>
                </a:lnTo>
                <a:lnTo>
                  <a:pt x="66865" y="416382"/>
                </a:lnTo>
                <a:lnTo>
                  <a:pt x="57124" y="462013"/>
                </a:lnTo>
                <a:lnTo>
                  <a:pt x="48133" y="507898"/>
                </a:lnTo>
                <a:lnTo>
                  <a:pt x="39890" y="554062"/>
                </a:lnTo>
                <a:lnTo>
                  <a:pt x="32397" y="600468"/>
                </a:lnTo>
                <a:lnTo>
                  <a:pt x="25666" y="647141"/>
                </a:lnTo>
                <a:lnTo>
                  <a:pt x="19710" y="694042"/>
                </a:lnTo>
                <a:lnTo>
                  <a:pt x="14516" y="741197"/>
                </a:lnTo>
                <a:lnTo>
                  <a:pt x="10109" y="788568"/>
                </a:lnTo>
                <a:lnTo>
                  <a:pt x="6489" y="836168"/>
                </a:lnTo>
                <a:lnTo>
                  <a:pt x="3657" y="883983"/>
                </a:lnTo>
                <a:lnTo>
                  <a:pt x="1625" y="932014"/>
                </a:lnTo>
                <a:lnTo>
                  <a:pt x="406" y="980249"/>
                </a:lnTo>
                <a:lnTo>
                  <a:pt x="0" y="1028674"/>
                </a:lnTo>
                <a:lnTo>
                  <a:pt x="406" y="1077112"/>
                </a:lnTo>
                <a:lnTo>
                  <a:pt x="1625" y="1125334"/>
                </a:lnTo>
                <a:lnTo>
                  <a:pt x="3657" y="1173365"/>
                </a:lnTo>
                <a:lnTo>
                  <a:pt x="6489" y="1221181"/>
                </a:lnTo>
                <a:lnTo>
                  <a:pt x="10109" y="1268780"/>
                </a:lnTo>
                <a:lnTo>
                  <a:pt x="14516" y="1316164"/>
                </a:lnTo>
                <a:lnTo>
                  <a:pt x="19710" y="1363306"/>
                </a:lnTo>
                <a:lnTo>
                  <a:pt x="25666" y="1410208"/>
                </a:lnTo>
                <a:lnTo>
                  <a:pt x="32397" y="1456880"/>
                </a:lnTo>
                <a:lnTo>
                  <a:pt x="39890" y="1503286"/>
                </a:lnTo>
                <a:lnTo>
                  <a:pt x="48133" y="1549450"/>
                </a:lnTo>
                <a:lnTo>
                  <a:pt x="57124" y="1595335"/>
                </a:lnTo>
                <a:lnTo>
                  <a:pt x="66865" y="1640967"/>
                </a:lnTo>
                <a:lnTo>
                  <a:pt x="77330" y="1686318"/>
                </a:lnTo>
                <a:lnTo>
                  <a:pt x="88531" y="1731378"/>
                </a:lnTo>
                <a:lnTo>
                  <a:pt x="100444" y="1776145"/>
                </a:lnTo>
                <a:lnTo>
                  <a:pt x="113080" y="1820633"/>
                </a:lnTo>
                <a:lnTo>
                  <a:pt x="126415" y="1864804"/>
                </a:lnTo>
                <a:lnTo>
                  <a:pt x="140462" y="1908670"/>
                </a:lnTo>
                <a:lnTo>
                  <a:pt x="155194" y="1952218"/>
                </a:lnTo>
                <a:lnTo>
                  <a:pt x="170624" y="1995449"/>
                </a:lnTo>
                <a:lnTo>
                  <a:pt x="186740" y="2038350"/>
                </a:lnTo>
                <a:lnTo>
                  <a:pt x="203517" y="2080907"/>
                </a:lnTo>
                <a:lnTo>
                  <a:pt x="220967" y="2123135"/>
                </a:lnTo>
                <a:lnTo>
                  <a:pt x="239090" y="2165007"/>
                </a:lnTo>
                <a:lnTo>
                  <a:pt x="257860" y="2206523"/>
                </a:lnTo>
                <a:lnTo>
                  <a:pt x="277279" y="2247684"/>
                </a:lnTo>
                <a:lnTo>
                  <a:pt x="297345" y="2288476"/>
                </a:lnTo>
                <a:lnTo>
                  <a:pt x="318046" y="2328888"/>
                </a:lnTo>
                <a:lnTo>
                  <a:pt x="339382" y="2368918"/>
                </a:lnTo>
                <a:lnTo>
                  <a:pt x="361340" y="2408567"/>
                </a:lnTo>
                <a:lnTo>
                  <a:pt x="383908" y="2447823"/>
                </a:lnTo>
                <a:lnTo>
                  <a:pt x="407085" y="2486672"/>
                </a:lnTo>
                <a:lnTo>
                  <a:pt x="430872" y="2525115"/>
                </a:lnTo>
                <a:lnTo>
                  <a:pt x="455256" y="2563139"/>
                </a:lnTo>
                <a:lnTo>
                  <a:pt x="480225" y="2600756"/>
                </a:lnTo>
                <a:lnTo>
                  <a:pt x="505790" y="2637929"/>
                </a:lnTo>
                <a:lnTo>
                  <a:pt x="531914" y="2674683"/>
                </a:lnTo>
                <a:lnTo>
                  <a:pt x="558622" y="2710992"/>
                </a:lnTo>
                <a:lnTo>
                  <a:pt x="585889" y="2746857"/>
                </a:lnTo>
                <a:lnTo>
                  <a:pt x="613727" y="2782265"/>
                </a:lnTo>
                <a:lnTo>
                  <a:pt x="642099" y="2817215"/>
                </a:lnTo>
                <a:lnTo>
                  <a:pt x="671029" y="2851696"/>
                </a:lnTo>
                <a:lnTo>
                  <a:pt x="700481" y="2885706"/>
                </a:lnTo>
                <a:lnTo>
                  <a:pt x="730478" y="2919234"/>
                </a:lnTo>
                <a:lnTo>
                  <a:pt x="760996" y="2952280"/>
                </a:lnTo>
                <a:lnTo>
                  <a:pt x="792035" y="2984830"/>
                </a:lnTo>
                <a:lnTo>
                  <a:pt x="823582" y="3016885"/>
                </a:lnTo>
                <a:lnTo>
                  <a:pt x="855637" y="3048431"/>
                </a:lnTo>
                <a:lnTo>
                  <a:pt x="888199" y="3079470"/>
                </a:lnTo>
                <a:lnTo>
                  <a:pt x="921245" y="3109988"/>
                </a:lnTo>
                <a:lnTo>
                  <a:pt x="954773" y="3139973"/>
                </a:lnTo>
                <a:lnTo>
                  <a:pt x="988783" y="3169437"/>
                </a:lnTo>
                <a:lnTo>
                  <a:pt x="1023264" y="3198355"/>
                </a:lnTo>
                <a:lnTo>
                  <a:pt x="1058227" y="3226739"/>
                </a:lnTo>
                <a:lnTo>
                  <a:pt x="1093635" y="3254565"/>
                </a:lnTo>
                <a:lnTo>
                  <a:pt x="1129499" y="3281832"/>
                </a:lnTo>
                <a:lnTo>
                  <a:pt x="1165809" y="3308540"/>
                </a:lnTo>
                <a:lnTo>
                  <a:pt x="1202550" y="3334664"/>
                </a:lnTo>
                <a:lnTo>
                  <a:pt x="1239735" y="3360229"/>
                </a:lnTo>
                <a:lnTo>
                  <a:pt x="1277353" y="3385197"/>
                </a:lnTo>
                <a:lnTo>
                  <a:pt x="1315377" y="3409581"/>
                </a:lnTo>
                <a:lnTo>
                  <a:pt x="1353832" y="3433356"/>
                </a:lnTo>
                <a:lnTo>
                  <a:pt x="1392682" y="3456546"/>
                </a:lnTo>
                <a:lnTo>
                  <a:pt x="1431937" y="3479114"/>
                </a:lnTo>
                <a:lnTo>
                  <a:pt x="1471587" y="3501059"/>
                </a:lnTo>
                <a:lnTo>
                  <a:pt x="1511617" y="3522395"/>
                </a:lnTo>
                <a:lnTo>
                  <a:pt x="1552028" y="3543096"/>
                </a:lnTo>
                <a:lnTo>
                  <a:pt x="1592821" y="3563162"/>
                </a:lnTo>
                <a:lnTo>
                  <a:pt x="1633982" y="3582581"/>
                </a:lnTo>
                <a:lnTo>
                  <a:pt x="1654860" y="3592030"/>
                </a:lnTo>
                <a:lnTo>
                  <a:pt x="1633740" y="3601770"/>
                </a:lnTo>
                <a:lnTo>
                  <a:pt x="1593049" y="3621811"/>
                </a:lnTo>
                <a:lnTo>
                  <a:pt x="1552943" y="3642868"/>
                </a:lnTo>
                <a:lnTo>
                  <a:pt x="1513446" y="3664889"/>
                </a:lnTo>
                <a:lnTo>
                  <a:pt x="1474571" y="3687876"/>
                </a:lnTo>
                <a:lnTo>
                  <a:pt x="1436344" y="3711816"/>
                </a:lnTo>
                <a:lnTo>
                  <a:pt x="1398778" y="3736683"/>
                </a:lnTo>
                <a:lnTo>
                  <a:pt x="1361871" y="3762464"/>
                </a:lnTo>
                <a:lnTo>
                  <a:pt x="1325651" y="3789146"/>
                </a:lnTo>
                <a:lnTo>
                  <a:pt x="1290154" y="3816718"/>
                </a:lnTo>
                <a:lnTo>
                  <a:pt x="1255369" y="3845141"/>
                </a:lnTo>
                <a:lnTo>
                  <a:pt x="1221308" y="3874427"/>
                </a:lnTo>
                <a:lnTo>
                  <a:pt x="1188021" y="3904538"/>
                </a:lnTo>
                <a:lnTo>
                  <a:pt x="1155496" y="3935476"/>
                </a:lnTo>
                <a:lnTo>
                  <a:pt x="1123746" y="3967213"/>
                </a:lnTo>
                <a:lnTo>
                  <a:pt x="1092809" y="3999738"/>
                </a:lnTo>
                <a:lnTo>
                  <a:pt x="1062697" y="4033037"/>
                </a:lnTo>
                <a:lnTo>
                  <a:pt x="1033411" y="4067073"/>
                </a:lnTo>
                <a:lnTo>
                  <a:pt x="1004976" y="4101858"/>
                </a:lnTo>
                <a:lnTo>
                  <a:pt x="977404" y="4137368"/>
                </a:lnTo>
                <a:lnTo>
                  <a:pt x="950722" y="4173575"/>
                </a:lnTo>
                <a:lnTo>
                  <a:pt x="924941" y="4210481"/>
                </a:lnTo>
                <a:lnTo>
                  <a:pt x="900074" y="4248048"/>
                </a:lnTo>
                <a:lnTo>
                  <a:pt x="876134" y="4286275"/>
                </a:lnTo>
                <a:lnTo>
                  <a:pt x="853135" y="4325137"/>
                </a:lnTo>
                <a:lnTo>
                  <a:pt x="831113" y="4364634"/>
                </a:lnTo>
                <a:lnTo>
                  <a:pt x="810069" y="4404741"/>
                </a:lnTo>
                <a:lnTo>
                  <a:pt x="790016" y="4445432"/>
                </a:lnTo>
                <a:lnTo>
                  <a:pt x="770978" y="4486694"/>
                </a:lnTo>
                <a:lnTo>
                  <a:pt x="752970" y="4528515"/>
                </a:lnTo>
                <a:lnTo>
                  <a:pt x="736003" y="4570895"/>
                </a:lnTo>
                <a:lnTo>
                  <a:pt x="720090" y="4613783"/>
                </a:lnTo>
                <a:lnTo>
                  <a:pt x="705269" y="4657191"/>
                </a:lnTo>
                <a:lnTo>
                  <a:pt x="691527" y="4701095"/>
                </a:lnTo>
                <a:lnTo>
                  <a:pt x="678903" y="4745482"/>
                </a:lnTo>
                <a:lnTo>
                  <a:pt x="667410" y="4790325"/>
                </a:lnTo>
                <a:lnTo>
                  <a:pt x="657047" y="4835614"/>
                </a:lnTo>
                <a:lnTo>
                  <a:pt x="647852" y="4881334"/>
                </a:lnTo>
                <a:lnTo>
                  <a:pt x="639826" y="4927473"/>
                </a:lnTo>
                <a:lnTo>
                  <a:pt x="632993" y="4973993"/>
                </a:lnTo>
                <a:lnTo>
                  <a:pt x="627367" y="5020907"/>
                </a:lnTo>
                <a:lnTo>
                  <a:pt x="622960" y="5068189"/>
                </a:lnTo>
                <a:lnTo>
                  <a:pt x="619785" y="5115814"/>
                </a:lnTo>
                <a:lnTo>
                  <a:pt x="618680" y="5143500"/>
                </a:lnTo>
                <a:lnTo>
                  <a:pt x="3177387" y="5143500"/>
                </a:lnTo>
                <a:lnTo>
                  <a:pt x="3177387" y="3816807"/>
                </a:lnTo>
                <a:lnTo>
                  <a:pt x="3177387" y="3607206"/>
                </a:lnTo>
                <a:lnTo>
                  <a:pt x="3177387" y="0"/>
                </a:lnTo>
                <a:close/>
              </a:path>
            </a:pathLst>
          </a:custGeom>
          <a:solidFill>
            <a:srgbClr val="2B39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4536" y="1006795"/>
            <a:ext cx="1908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BB39A"/>
                </a:solidFill>
                <a:latin typeface="Consolas"/>
                <a:cs typeface="Consolas"/>
              </a:rPr>
              <a:t>THE</a:t>
            </a:r>
            <a:r>
              <a:rPr dirty="0" sz="1800" spc="-25" b="1">
                <a:solidFill>
                  <a:srgbClr val="2BB39A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2BB39A"/>
                </a:solidFill>
                <a:latin typeface="Consolas"/>
                <a:cs typeface="Consolas"/>
              </a:rPr>
              <a:t>BOTTOM</a:t>
            </a:r>
            <a:r>
              <a:rPr dirty="0" sz="1800" spc="-20" b="1">
                <a:solidFill>
                  <a:srgbClr val="2BB39A"/>
                </a:solidFill>
                <a:latin typeface="Consolas"/>
                <a:cs typeface="Consolas"/>
              </a:rPr>
              <a:t> LINE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820" y="1741699"/>
            <a:ext cx="5665470" cy="165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40790">
              <a:lnSpc>
                <a:spcPct val="108000"/>
              </a:lnSpc>
              <a:spcBef>
                <a:spcPts val="100"/>
              </a:spcBef>
            </a:pPr>
            <a:r>
              <a:rPr dirty="0" sz="3300" b="1">
                <a:solidFill>
                  <a:srgbClr val="FFFFFF"/>
                </a:solidFill>
                <a:latin typeface="Georgia"/>
                <a:cs typeface="Georgia"/>
              </a:rPr>
              <a:t>People</a:t>
            </a:r>
            <a:r>
              <a:rPr dirty="0" sz="3300" spc="-8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300" b="1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dirty="0" sz="3300" spc="-8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Georgia"/>
                <a:cs typeface="Georgia"/>
              </a:rPr>
              <a:t>direction. </a:t>
            </a:r>
            <a:r>
              <a:rPr dirty="0" sz="3300" b="1">
                <a:solidFill>
                  <a:srgbClr val="FFFFFF"/>
                </a:solidFill>
                <a:latin typeface="Georgia"/>
                <a:cs typeface="Georgia"/>
              </a:rPr>
              <a:t>Agents</a:t>
            </a:r>
            <a:r>
              <a:rPr dirty="0" sz="3300" spc="-4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300" b="1">
                <a:solidFill>
                  <a:srgbClr val="FFFFFF"/>
                </a:solidFill>
                <a:latin typeface="Georgia"/>
                <a:cs typeface="Georgia"/>
              </a:rPr>
              <a:t>do</a:t>
            </a:r>
            <a:r>
              <a:rPr dirty="0" sz="3300" spc="-4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300" b="1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dirty="0" sz="3300" spc="-3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Georgia"/>
                <a:cs typeface="Georgia"/>
              </a:rPr>
              <a:t>work.</a:t>
            </a:r>
            <a:endParaRPr sz="3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300" b="1" i="1">
                <a:solidFill>
                  <a:srgbClr val="5FE3CC"/>
                </a:solidFill>
                <a:latin typeface="Georgia"/>
                <a:cs typeface="Georgia"/>
              </a:rPr>
              <a:t>The</a:t>
            </a:r>
            <a:r>
              <a:rPr dirty="0" sz="3300" spc="-55" b="1" i="1">
                <a:solidFill>
                  <a:srgbClr val="5FE3CC"/>
                </a:solidFill>
                <a:latin typeface="Georgia"/>
                <a:cs typeface="Georgia"/>
              </a:rPr>
              <a:t> </a:t>
            </a:r>
            <a:r>
              <a:rPr dirty="0" sz="3300" b="1" i="1">
                <a:solidFill>
                  <a:srgbClr val="5FE3CC"/>
                </a:solidFill>
                <a:latin typeface="Georgia"/>
                <a:cs typeface="Georgia"/>
              </a:rPr>
              <a:t>interface</a:t>
            </a:r>
            <a:r>
              <a:rPr dirty="0" sz="3300" spc="-45" b="1" i="1">
                <a:solidFill>
                  <a:srgbClr val="5FE3CC"/>
                </a:solidFill>
                <a:latin typeface="Georgia"/>
                <a:cs typeface="Georgia"/>
              </a:rPr>
              <a:t> </a:t>
            </a:r>
            <a:r>
              <a:rPr dirty="0" sz="3300" b="1" i="1">
                <a:solidFill>
                  <a:srgbClr val="5FE3CC"/>
                </a:solidFill>
                <a:latin typeface="Georgia"/>
                <a:cs typeface="Georgia"/>
              </a:rPr>
              <a:t>is</a:t>
            </a:r>
            <a:r>
              <a:rPr dirty="0" sz="3300" spc="-45" b="1" i="1">
                <a:solidFill>
                  <a:srgbClr val="5FE3CC"/>
                </a:solidFill>
                <a:latin typeface="Georgia"/>
                <a:cs typeface="Georgia"/>
              </a:rPr>
              <a:t> </a:t>
            </a:r>
            <a:r>
              <a:rPr dirty="0" sz="3300" b="1" i="1">
                <a:solidFill>
                  <a:srgbClr val="5FE3CC"/>
                </a:solidFill>
                <a:latin typeface="Georgia"/>
                <a:cs typeface="Georgia"/>
              </a:rPr>
              <a:t>the</a:t>
            </a:r>
            <a:r>
              <a:rPr dirty="0" sz="3300" spc="-45" b="1" i="1">
                <a:solidFill>
                  <a:srgbClr val="5FE3CC"/>
                </a:solidFill>
                <a:latin typeface="Georgia"/>
                <a:cs typeface="Georgia"/>
              </a:rPr>
              <a:t> </a:t>
            </a:r>
            <a:r>
              <a:rPr dirty="0" sz="3300" spc="-10" b="1" i="1">
                <a:solidFill>
                  <a:srgbClr val="5FE3CC"/>
                </a:solidFill>
                <a:latin typeface="Georgia"/>
                <a:cs typeface="Georgia"/>
              </a:rPr>
              <a:t>agent.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536" y="3802888"/>
            <a:ext cx="617982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The</a:t>
            </a:r>
            <a:r>
              <a:rPr dirty="0" sz="1900" spc="-5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era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is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no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longer</a:t>
            </a:r>
            <a:r>
              <a:rPr dirty="0" sz="1900" spc="-5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“humans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use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C7D0DA"/>
                </a:solidFill>
                <a:latin typeface="Calibri"/>
                <a:cs typeface="Calibri"/>
              </a:rPr>
              <a:t>apps.”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It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is</a:t>
            </a:r>
            <a:r>
              <a:rPr dirty="0" sz="1900" spc="-55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7D0DA"/>
                </a:solidFill>
                <a:latin typeface="Calibri"/>
                <a:cs typeface="Calibri"/>
              </a:rPr>
              <a:t>“humans</a:t>
            </a:r>
            <a:r>
              <a:rPr dirty="0" sz="1900" spc="-50">
                <a:solidFill>
                  <a:srgbClr val="C7D0D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C7D0DA"/>
                </a:solidFill>
                <a:latin typeface="Calibri"/>
                <a:cs typeface="Calibri"/>
              </a:rPr>
              <a:t>delegate work.”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085"/>
            <a:ext cx="8413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5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10" b="1">
                <a:solidFill>
                  <a:srgbClr val="0D9488"/>
                </a:solidFill>
                <a:latin typeface="Consolas"/>
                <a:cs typeface="Consolas"/>
              </a:rPr>
              <a:t>03-</a:t>
            </a:r>
            <a:r>
              <a:rPr dirty="0" sz="1300" spc="-50" b="1">
                <a:solidFill>
                  <a:srgbClr val="0D9488"/>
                </a:solidFill>
                <a:latin typeface="Consolas"/>
                <a:cs typeface="Consolas"/>
              </a:rPr>
              <a:t>G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453453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Two</a:t>
            </a:r>
            <a:r>
              <a:rPr dirty="0" sz="4000" spc="-4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Ways</a:t>
            </a:r>
            <a:r>
              <a:rPr dirty="0" sz="4000" spc="-4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to</a:t>
            </a:r>
            <a:r>
              <a:rPr dirty="0" sz="4000" spc="-4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Use</a:t>
            </a:r>
            <a:r>
              <a:rPr dirty="0" sz="4000" spc="-45">
                <a:solidFill>
                  <a:srgbClr val="FFFFFF"/>
                </a:solidFill>
              </a:rPr>
              <a:t> </a:t>
            </a:r>
            <a:r>
              <a:rPr dirty="0" sz="4000" spc="-25">
                <a:solidFill>
                  <a:srgbClr val="FFFFFF"/>
                </a:solidFill>
              </a:rPr>
              <a:t>AI </a:t>
            </a:r>
            <a:r>
              <a:rPr dirty="0" sz="4000">
                <a:solidFill>
                  <a:srgbClr val="FFFFFF"/>
                </a:solidFill>
              </a:rPr>
              <a:t>(General</a:t>
            </a:r>
            <a:r>
              <a:rPr dirty="0" sz="4000" spc="-19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Agents)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915" cy="55244"/>
          </a:xfrm>
          <a:custGeom>
            <a:avLst/>
            <a:gdLst/>
            <a:ahLst/>
            <a:cxnLst/>
            <a:rect l="l" t="t" r="r" b="b"/>
            <a:pathLst>
              <a:path w="1097914" h="55245">
                <a:moveTo>
                  <a:pt x="1097399" y="54899"/>
                </a:moveTo>
                <a:lnTo>
                  <a:pt x="0" y="54899"/>
                </a:lnTo>
                <a:lnTo>
                  <a:pt x="0" y="0"/>
                </a:lnTo>
                <a:lnTo>
                  <a:pt x="1097399" y="0"/>
                </a:lnTo>
                <a:lnTo>
                  <a:pt x="1097399" y="54899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950" y="152400"/>
            <a:ext cx="8597561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21" y="152400"/>
            <a:ext cx="8597562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3866" y="4186442"/>
            <a:ext cx="574234" cy="5797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081" y="1774657"/>
            <a:ext cx="2089119" cy="13125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0392" y="2392643"/>
            <a:ext cx="453918" cy="6343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8120" y="1692623"/>
            <a:ext cx="2980550" cy="1345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411" y="172269"/>
            <a:ext cx="339071" cy="3445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70537" y="232427"/>
            <a:ext cx="710957" cy="45938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993914" y="4119721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 h="0">
                <a:moveTo>
                  <a:pt x="0" y="0"/>
                </a:moveTo>
                <a:lnTo>
                  <a:pt x="218756" y="0"/>
                </a:lnTo>
              </a:path>
            </a:pathLst>
          </a:custGeom>
          <a:ln w="11666">
            <a:solidFill>
              <a:srgbClr val="5423C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5993914" y="3918465"/>
            <a:ext cx="219075" cy="207645"/>
            <a:chOff x="5993914" y="3918465"/>
            <a:chExt cx="219075" cy="207645"/>
          </a:xfrm>
        </p:grpSpPr>
        <p:sp>
          <p:nvSpPr>
            <p:cNvPr id="10" name="object 10"/>
            <p:cNvSpPr/>
            <p:nvPr/>
          </p:nvSpPr>
          <p:spPr>
            <a:xfrm>
              <a:off x="5993914" y="3918465"/>
              <a:ext cx="219075" cy="207645"/>
            </a:xfrm>
            <a:custGeom>
              <a:avLst/>
              <a:gdLst/>
              <a:ahLst/>
              <a:cxnLst/>
              <a:rect l="l" t="t" r="r" b="b"/>
              <a:pathLst>
                <a:path w="219075" h="207645">
                  <a:moveTo>
                    <a:pt x="0" y="5833"/>
                  </a:moveTo>
                  <a:lnTo>
                    <a:pt x="218756" y="5833"/>
                  </a:lnTo>
                </a:path>
                <a:path w="219075" h="207645">
                  <a:moveTo>
                    <a:pt x="5833" y="207089"/>
                  </a:moveTo>
                  <a:lnTo>
                    <a:pt x="5833" y="0"/>
                  </a:lnTo>
                </a:path>
              </a:pathLst>
            </a:custGeom>
            <a:ln w="11666">
              <a:solidFill>
                <a:srgbClr val="542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06836" y="391846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w="0" h="207645">
                  <a:moveTo>
                    <a:pt x="0" y="207089"/>
                  </a:moveTo>
                  <a:lnTo>
                    <a:pt x="0" y="0"/>
                  </a:lnTo>
                </a:path>
              </a:pathLst>
            </a:custGeom>
            <a:ln w="11666">
              <a:solidFill>
                <a:srgbClr val="542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6420488" y="965259"/>
            <a:ext cx="875030" cy="262890"/>
            <a:chOff x="6420488" y="965259"/>
            <a:chExt cx="875030" cy="26289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0488" y="965259"/>
              <a:ext cx="875024" cy="2625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20488" y="965259"/>
              <a:ext cx="875024" cy="26250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70441" y="3100864"/>
            <a:ext cx="128519" cy="20508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25938" y="3240322"/>
            <a:ext cx="2482880" cy="19141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0650" y="3264932"/>
            <a:ext cx="248834" cy="15039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650" y="3912632"/>
            <a:ext cx="258132" cy="2191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69651" y="1714498"/>
            <a:ext cx="232428" cy="27891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21861" y="254667"/>
            <a:ext cx="59436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F9C90"/>
                </a:solidFill>
                <a:latin typeface="Arial MT"/>
                <a:cs typeface="Arial MT"/>
              </a:rPr>
              <a:t>ANALOGY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6744" y="867185"/>
            <a:ext cx="1918335" cy="8001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ctr" marL="64135">
              <a:lnSpc>
                <a:spcPct val="100000"/>
              </a:lnSpc>
              <a:spcBef>
                <a:spcPts val="635"/>
              </a:spcBef>
            </a:pPr>
            <a:r>
              <a:rPr dirty="0" sz="1450" spc="-390" i="1">
                <a:solidFill>
                  <a:srgbClr val="019EA3"/>
                </a:solidFill>
                <a:latin typeface="Arial"/>
                <a:cs typeface="Arial"/>
              </a:rPr>
              <a:t>+</a:t>
            </a:r>
            <a:endParaRPr sz="1450">
              <a:latin typeface="Arial"/>
              <a:cs typeface="Arial"/>
            </a:endParaRPr>
          </a:p>
          <a:p>
            <a:pPr algn="ctr" marR="9525">
              <a:lnSpc>
                <a:spcPct val="100000"/>
              </a:lnSpc>
              <a:spcBef>
                <a:spcPts val="540"/>
              </a:spcBef>
            </a:pPr>
            <a:r>
              <a:rPr dirty="0" sz="1450" spc="-100">
                <a:latin typeface="Arial MT"/>
                <a:cs typeface="Arial MT"/>
              </a:rPr>
              <a:t>PROBLEM-</a:t>
            </a:r>
            <a:r>
              <a:rPr dirty="0" sz="1450" spc="-10">
                <a:latin typeface="Arial MT"/>
                <a:cs typeface="Arial MT"/>
              </a:rPr>
              <a:t>SOLVING</a:t>
            </a:r>
            <a:endParaRPr sz="1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950">
                <a:latin typeface="Arial MT"/>
                <a:cs typeface="Arial MT"/>
              </a:rPr>
              <a:t>Catch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fish.</a:t>
            </a:r>
            <a:r>
              <a:rPr dirty="0" sz="950" spc="-55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Solve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today's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problem.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2720169" y="-113029"/>
            <a:ext cx="3767454" cy="998219"/>
          </a:xfrm>
          <a:prstGeom prst="rect"/>
        </p:spPr>
        <p:txBody>
          <a:bodyPr wrap="square" lIns="0" tIns="1943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30"/>
              </a:spcBef>
            </a:pPr>
            <a:r>
              <a:rPr dirty="0" sz="3300">
                <a:solidFill>
                  <a:srgbClr val="0593A0"/>
                </a:solidFill>
                <a:latin typeface="Arial MT"/>
                <a:cs typeface="Arial MT"/>
              </a:rPr>
              <a:t>Fish</a:t>
            </a:r>
            <a:r>
              <a:rPr dirty="0" sz="3300" spc="45">
                <a:solidFill>
                  <a:srgbClr val="0593A0"/>
                </a:solidFill>
                <a:latin typeface="Arial MT"/>
                <a:cs typeface="Arial MT"/>
              </a:rPr>
              <a:t> </a:t>
            </a:r>
            <a:r>
              <a:rPr dirty="0" sz="3300" spc="65">
                <a:solidFill>
                  <a:srgbClr val="072136"/>
                </a:solidFill>
                <a:latin typeface="Arial MT"/>
                <a:cs typeface="Arial MT"/>
              </a:rPr>
              <a:t>vs.</a:t>
            </a:r>
            <a:r>
              <a:rPr dirty="0" sz="3300" spc="-80">
                <a:solidFill>
                  <a:srgbClr val="072136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4605C3"/>
                </a:solidFill>
                <a:latin typeface="Arial MT"/>
                <a:cs typeface="Arial MT"/>
              </a:rPr>
              <a:t>Fishing</a:t>
            </a:r>
            <a:r>
              <a:rPr dirty="0" sz="3300" spc="-55">
                <a:solidFill>
                  <a:srgbClr val="4605C3"/>
                </a:solidFill>
                <a:latin typeface="Arial MT"/>
                <a:cs typeface="Arial MT"/>
              </a:rPr>
              <a:t> </a:t>
            </a:r>
            <a:r>
              <a:rPr dirty="0" sz="3300" spc="-25">
                <a:solidFill>
                  <a:srgbClr val="3A07BA"/>
                </a:solidFill>
                <a:latin typeface="Arial MT"/>
                <a:cs typeface="Arial MT"/>
              </a:rPr>
              <a:t>Net</a:t>
            </a:r>
            <a:endParaRPr sz="3300">
              <a:latin typeface="Arial MT"/>
              <a:cs typeface="Arial MT"/>
            </a:endParaRPr>
          </a:p>
          <a:p>
            <a:pPr algn="ctr" marL="15240">
              <a:lnSpc>
                <a:spcPct val="100000"/>
              </a:lnSpc>
              <a:spcBef>
                <a:spcPts val="635"/>
              </a:spcBef>
            </a:pPr>
            <a:r>
              <a:rPr dirty="0" sz="1350">
                <a:solidFill>
                  <a:srgbClr val="05AA9E"/>
                </a:solidFill>
                <a:latin typeface="Arial MT"/>
                <a:cs typeface="Arial MT"/>
              </a:rPr>
              <a:t>Two</a:t>
            </a:r>
            <a:r>
              <a:rPr dirty="0" sz="1350" spc="80">
                <a:solidFill>
                  <a:srgbClr val="05AA9E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019093"/>
                </a:solidFill>
                <a:latin typeface="Arial MT"/>
                <a:cs typeface="Arial MT"/>
              </a:rPr>
              <a:t>Modes.</a:t>
            </a:r>
            <a:r>
              <a:rPr dirty="0" sz="1350" spc="120">
                <a:solidFill>
                  <a:srgbClr val="019093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A0FB6"/>
                </a:solidFill>
                <a:latin typeface="Arial MT"/>
                <a:cs typeface="Arial MT"/>
              </a:rPr>
              <a:t>Two</a:t>
            </a:r>
            <a:r>
              <a:rPr dirty="0" sz="1350" spc="-40">
                <a:solidFill>
                  <a:srgbClr val="3A0FB6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4F18D8"/>
                </a:solidFill>
                <a:latin typeface="Arial MT"/>
                <a:cs typeface="Arial MT"/>
              </a:rPr>
              <a:t>Outcomes.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0409" y="3529323"/>
            <a:ext cx="464820" cy="1130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>
                <a:latin typeface="Arial MT"/>
                <a:cs typeface="Arial MT"/>
              </a:rPr>
              <a:t>CATCH</a:t>
            </a:r>
            <a:r>
              <a:rPr dirty="0" sz="550" spc="35">
                <a:latin typeface="Arial MT"/>
                <a:cs typeface="Arial MT"/>
              </a:rPr>
              <a:t> </a:t>
            </a:r>
            <a:r>
              <a:rPr dirty="0" sz="550" spc="-40">
                <a:latin typeface="Arial MT"/>
                <a:cs typeface="Arial MT"/>
              </a:rPr>
              <a:t>ONES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4283" y="3017909"/>
            <a:ext cx="1681480" cy="71310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465455" indent="-452755">
              <a:lnSpc>
                <a:spcPct val="100000"/>
              </a:lnSpc>
              <a:spcBef>
                <a:spcPts val="860"/>
              </a:spcBef>
              <a:buClr>
                <a:srgbClr val="00A5A3"/>
              </a:buClr>
              <a:buChar char="•"/>
              <a:tabLst>
                <a:tab pos="465455" algn="l"/>
                <a:tab pos="963930" algn="l"/>
                <a:tab pos="1365885" algn="l"/>
              </a:tabLst>
            </a:pPr>
            <a:r>
              <a:rPr dirty="0" sz="2550" spc="-340">
                <a:solidFill>
                  <a:srgbClr val="00AAA1"/>
                </a:solidFill>
                <a:latin typeface="Arial Black"/>
                <a:cs typeface="Arial Black"/>
              </a:rPr>
              <a:t>fi</a:t>
            </a:r>
            <a:r>
              <a:rPr dirty="0" sz="2550">
                <a:solidFill>
                  <a:srgbClr val="00AAA1"/>
                </a:solidFill>
                <a:latin typeface="Arial Black"/>
                <a:cs typeface="Arial Black"/>
              </a:rPr>
              <a:t>	</a:t>
            </a:r>
            <a:r>
              <a:rPr dirty="0" sz="2550" spc="-50">
                <a:solidFill>
                  <a:srgbClr val="009397"/>
                </a:solidFill>
                <a:latin typeface="Arial Black"/>
                <a:cs typeface="Arial Black"/>
              </a:rPr>
              <a:t>•</a:t>
            </a:r>
            <a:r>
              <a:rPr dirty="0" sz="2550">
                <a:solidFill>
                  <a:srgbClr val="009397"/>
                </a:solidFill>
                <a:latin typeface="Arial Black"/>
                <a:cs typeface="Arial Black"/>
              </a:rPr>
              <a:t>	</a:t>
            </a:r>
            <a:r>
              <a:rPr dirty="0" sz="2550" spc="-50">
                <a:solidFill>
                  <a:srgbClr val="009E9E"/>
                </a:solidFill>
                <a:latin typeface="Arial Black"/>
                <a:cs typeface="Arial Black"/>
              </a:rPr>
              <a:t>O</a:t>
            </a:r>
            <a:endParaRPr sz="2550">
              <a:latin typeface="Arial Black"/>
              <a:cs typeface="Arial Black"/>
            </a:endParaRPr>
          </a:p>
          <a:p>
            <a:pPr algn="r" marR="5080">
              <a:lnSpc>
                <a:spcPts val="695"/>
              </a:lnSpc>
              <a:spcBef>
                <a:spcPts val="200"/>
              </a:spcBef>
              <a:tabLst>
                <a:tab pos="885825" algn="l"/>
              </a:tabLst>
            </a:pPr>
            <a:r>
              <a:rPr dirty="0" sz="600" spc="-55">
                <a:latin typeface="Arial MT"/>
                <a:cs typeface="Arial MT"/>
              </a:rPr>
              <a:t>EAT</a:t>
            </a:r>
            <a:r>
              <a:rPr dirty="0" sz="600" spc="15">
                <a:latin typeface="Arial MT"/>
                <a:cs typeface="Arial MT"/>
              </a:rPr>
              <a:t> </a:t>
            </a:r>
            <a:r>
              <a:rPr dirty="0" sz="600" spc="-25">
                <a:latin typeface="Arial MT"/>
                <a:cs typeface="Arial MT"/>
              </a:rPr>
              <a:t>IT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PROBLEM</a:t>
            </a:r>
            <a:endParaRPr sz="600">
              <a:latin typeface="Arial MT"/>
              <a:cs typeface="Arial MT"/>
            </a:endParaRPr>
          </a:p>
          <a:p>
            <a:pPr algn="r" marR="43815">
              <a:lnSpc>
                <a:spcPts val="695"/>
              </a:lnSpc>
            </a:pPr>
            <a:r>
              <a:rPr dirty="0" sz="600" spc="-10">
                <a:latin typeface="Arial MT"/>
                <a:cs typeface="Arial MT"/>
              </a:rPr>
              <a:t>SOLVED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98802" y="3934021"/>
            <a:ext cx="817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0A9C8A"/>
                </a:solidFill>
                <a:latin typeface="Arial MT"/>
                <a:cs typeface="Arial MT"/>
              </a:rPr>
              <a:t>Solves</a:t>
            </a:r>
            <a:r>
              <a:rPr dirty="0" sz="1000" spc="40">
                <a:solidFill>
                  <a:srgbClr val="0A9C8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8E87"/>
                </a:solidFill>
                <a:latin typeface="Arial MT"/>
                <a:cs typeface="Arial MT"/>
              </a:rPr>
              <a:t>today.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52861" y="4209897"/>
            <a:ext cx="236854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160">
                <a:solidFill>
                  <a:srgbClr val="009593"/>
                </a:solidFill>
                <a:latin typeface="Consolas"/>
                <a:cs typeface="Consolas"/>
              </a:rPr>
              <a:t>O</a:t>
            </a:r>
            <a:endParaRPr sz="34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76410" y="4335681"/>
            <a:ext cx="1292225" cy="379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80">
                <a:latin typeface="Arial Black"/>
                <a:cs typeface="Arial Black"/>
              </a:rPr>
              <a:t>Start</a:t>
            </a:r>
            <a:r>
              <a:rPr dirty="0" sz="1250" spc="-75">
                <a:latin typeface="Arial Black"/>
                <a:cs typeface="Arial Black"/>
              </a:rPr>
              <a:t> </a:t>
            </a:r>
            <a:r>
              <a:rPr dirty="0" sz="1250" spc="-204">
                <a:solidFill>
                  <a:srgbClr val="050505"/>
                </a:solidFill>
                <a:latin typeface="Arial Black"/>
                <a:cs typeface="Arial Black"/>
              </a:rPr>
              <a:t>with</a:t>
            </a:r>
            <a:r>
              <a:rPr dirty="0" sz="1250" spc="-114">
                <a:solidFill>
                  <a:srgbClr val="050505"/>
                </a:solidFill>
                <a:latin typeface="Arial Black"/>
                <a:cs typeface="Arial Black"/>
              </a:rPr>
              <a:t> </a:t>
            </a:r>
            <a:r>
              <a:rPr dirty="0" sz="1250" spc="-195">
                <a:solidFill>
                  <a:srgbClr val="1C1C1C"/>
                </a:solidFill>
                <a:latin typeface="Arial Black"/>
                <a:cs typeface="Arial Black"/>
              </a:rPr>
              <a:t>Mode</a:t>
            </a:r>
            <a:r>
              <a:rPr dirty="0" sz="1250" spc="-95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sz="1250" spc="-50">
                <a:solidFill>
                  <a:srgbClr val="111111"/>
                </a:solidFill>
                <a:latin typeface="Arial Black"/>
                <a:cs typeface="Arial Black"/>
              </a:rPr>
              <a:t>1</a:t>
            </a:r>
            <a:endParaRPr sz="1250">
              <a:latin typeface="Arial Black"/>
              <a:cs typeface="Arial Black"/>
            </a:endParaRPr>
          </a:p>
          <a:p>
            <a:pPr marL="17145">
              <a:lnSpc>
                <a:spcPct val="100000"/>
              </a:lnSpc>
              <a:spcBef>
                <a:spcPts val="30"/>
              </a:spcBef>
            </a:pPr>
            <a:r>
              <a:rPr dirty="0" sz="1050" spc="-65">
                <a:latin typeface="Arial MT"/>
                <a:cs typeface="Arial MT"/>
              </a:rPr>
              <a:t>Solve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-25">
                <a:latin typeface="Arial MT"/>
                <a:cs typeface="Arial MT"/>
              </a:rPr>
              <a:t>today's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problem.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3856" y="2212533"/>
            <a:ext cx="843280" cy="430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ts val="1480"/>
              </a:lnSpc>
              <a:spcBef>
                <a:spcPts val="140"/>
              </a:spcBef>
            </a:pPr>
            <a:r>
              <a:rPr dirty="0" sz="1300" spc="-10">
                <a:solidFill>
                  <a:srgbClr val="1C1C1C"/>
                </a:solidFill>
                <a:latin typeface="Arial MT"/>
                <a:cs typeface="Arial MT"/>
              </a:rPr>
              <a:t>BOTH</a:t>
            </a:r>
            <a:r>
              <a:rPr dirty="0" sz="1300" spc="-5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endParaRPr sz="1300">
              <a:latin typeface="Arial MT"/>
              <a:cs typeface="Arial MT"/>
            </a:endParaRPr>
          </a:p>
          <a:p>
            <a:pPr marL="13335">
              <a:lnSpc>
                <a:spcPts val="1660"/>
              </a:lnSpc>
            </a:pPr>
            <a:r>
              <a:rPr dirty="0" sz="1450" spc="-135">
                <a:solidFill>
                  <a:srgbClr val="232323"/>
                </a:solidFill>
                <a:latin typeface="Arial MT"/>
                <a:cs typeface="Arial MT"/>
              </a:rPr>
              <a:t>VALUABLE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07692" y="3532057"/>
            <a:ext cx="238760" cy="199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640"/>
              </a:lnSpc>
              <a:spcBef>
                <a:spcPts val="125"/>
              </a:spcBef>
            </a:pPr>
            <a:r>
              <a:rPr dirty="0" sz="550" spc="-10">
                <a:latin typeface="Arial MT"/>
                <a:cs typeface="Arial MT"/>
              </a:rPr>
              <a:t>BUILD</a:t>
            </a:r>
            <a:endParaRPr sz="550">
              <a:latin typeface="Arial MT"/>
              <a:cs typeface="Arial MT"/>
            </a:endParaRPr>
          </a:p>
          <a:p>
            <a:pPr marL="12700">
              <a:lnSpc>
                <a:spcPts val="700"/>
              </a:lnSpc>
            </a:pPr>
            <a:r>
              <a:rPr dirty="0" sz="600" spc="-95">
                <a:latin typeface="Arial Black"/>
                <a:cs typeface="Arial Black"/>
              </a:rPr>
              <a:t>A</a:t>
            </a:r>
            <a:r>
              <a:rPr dirty="0" sz="600" spc="-60">
                <a:latin typeface="Arial Black"/>
                <a:cs typeface="Arial Black"/>
              </a:rPr>
              <a:t> NET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83695" y="1138645"/>
            <a:ext cx="1757680" cy="52705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dirty="0" sz="1400" spc="-140">
                <a:solidFill>
                  <a:srgbClr val="410FB8"/>
                </a:solidFill>
                <a:latin typeface="Arial Black"/>
                <a:cs typeface="Arial Black"/>
              </a:rPr>
              <a:t>MANUFACTURING</a:t>
            </a:r>
            <a:endParaRPr sz="14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61616"/>
                </a:solidFill>
                <a:latin typeface="Arial MT"/>
                <a:cs typeface="Arial MT"/>
              </a:rPr>
              <a:t>a</a:t>
            </a:r>
            <a:r>
              <a:rPr dirty="0" sz="900" spc="3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net.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Catch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fish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</a:t>
            </a:r>
            <a:r>
              <a:rPr dirty="0" sz="900" spc="9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day.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49467" y="3529323"/>
            <a:ext cx="459105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" marR="5080" indent="-14604">
              <a:lnSpc>
                <a:spcPct val="104400"/>
              </a:lnSpc>
              <a:spcBef>
                <a:spcPts val="95"/>
              </a:spcBef>
            </a:pPr>
            <a:r>
              <a:rPr dirty="0" sz="550">
                <a:latin typeface="Arial MT"/>
                <a:cs typeface="Arial MT"/>
              </a:rPr>
              <a:t>CATCH</a:t>
            </a:r>
            <a:r>
              <a:rPr dirty="0" sz="550" spc="15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FISH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EVERY </a:t>
            </a:r>
            <a:r>
              <a:rPr dirty="0" sz="550" spc="-25">
                <a:latin typeface="Arial MT"/>
                <a:cs typeface="Arial MT"/>
              </a:rPr>
              <a:t>DAY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50590" y="3532057"/>
            <a:ext cx="575945" cy="1130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spc="-55">
                <a:latin typeface="Arial Black"/>
                <a:cs typeface="Arial Black"/>
              </a:rPr>
              <a:t>SCALE</a:t>
            </a:r>
            <a:r>
              <a:rPr dirty="0" sz="550" spc="-20">
                <a:latin typeface="Arial Black"/>
                <a:cs typeface="Arial Black"/>
              </a:rPr>
              <a:t> </a:t>
            </a:r>
            <a:r>
              <a:rPr dirty="0" sz="550" spc="-60">
                <a:latin typeface="Arial Black"/>
                <a:cs typeface="Arial Black"/>
              </a:rPr>
              <a:t>&amp;</a:t>
            </a:r>
            <a:r>
              <a:rPr dirty="0" sz="550" spc="-25">
                <a:latin typeface="Arial Black"/>
                <a:cs typeface="Arial Black"/>
              </a:rPr>
              <a:t> </a:t>
            </a:r>
            <a:r>
              <a:rPr dirty="0" sz="550" spc="-20">
                <a:latin typeface="Arial Black"/>
                <a:cs typeface="Arial Black"/>
              </a:rPr>
              <a:t>GROW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27174" y="3532057"/>
            <a:ext cx="506095" cy="198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125"/>
              </a:spcBef>
            </a:pPr>
            <a:r>
              <a:rPr dirty="0" sz="550" spc="-65">
                <a:latin typeface="Arial Black"/>
                <a:cs typeface="Arial Black"/>
              </a:rPr>
              <a:t>SUSTAINABLE</a:t>
            </a:r>
            <a:r>
              <a:rPr dirty="0" sz="550" spc="500">
                <a:latin typeface="Arial Black"/>
                <a:cs typeface="Arial Black"/>
              </a:rPr>
              <a:t> </a:t>
            </a:r>
            <a:r>
              <a:rPr dirty="0" sz="550" spc="-10">
                <a:latin typeface="Arial Black"/>
                <a:cs typeface="Arial Black"/>
              </a:rPr>
              <a:t>RESULTS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40187" y="3930679"/>
            <a:ext cx="10610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D23D1"/>
                </a:solidFill>
                <a:latin typeface="Arial MT"/>
                <a:cs typeface="Arial MT"/>
              </a:rPr>
              <a:t>Builds</a:t>
            </a:r>
            <a:r>
              <a:rPr dirty="0" sz="1050" spc="55">
                <a:solidFill>
                  <a:srgbClr val="4D23D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A07AF"/>
                </a:solidFill>
                <a:latin typeface="Arial MT"/>
                <a:cs typeface="Arial MT"/>
              </a:rPr>
              <a:t>tomorrow.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90684" y="4335074"/>
            <a:ext cx="1482090" cy="379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245">
                <a:solidFill>
                  <a:srgbClr val="36089E"/>
                </a:solidFill>
                <a:latin typeface="Arial Black"/>
                <a:cs typeface="Arial Black"/>
              </a:rPr>
              <a:t>Move</a:t>
            </a:r>
            <a:r>
              <a:rPr dirty="0" sz="1300" spc="-135">
                <a:solidFill>
                  <a:srgbClr val="36089E"/>
                </a:solidFill>
                <a:latin typeface="Arial Black"/>
                <a:cs typeface="Arial Black"/>
              </a:rPr>
              <a:t> </a:t>
            </a:r>
            <a:r>
              <a:rPr dirty="0" sz="1300" spc="-175">
                <a:solidFill>
                  <a:srgbClr val="2D08BA"/>
                </a:solidFill>
                <a:latin typeface="Arial Black"/>
                <a:cs typeface="Arial Black"/>
              </a:rPr>
              <a:t>to</a:t>
            </a:r>
            <a:r>
              <a:rPr dirty="0" sz="1300" spc="-170">
                <a:solidFill>
                  <a:srgbClr val="2D08BA"/>
                </a:solidFill>
                <a:latin typeface="Arial Black"/>
                <a:cs typeface="Arial Black"/>
              </a:rPr>
              <a:t> </a:t>
            </a:r>
            <a:r>
              <a:rPr dirty="0" sz="1300" spc="-229">
                <a:solidFill>
                  <a:srgbClr val="4416A8"/>
                </a:solidFill>
                <a:latin typeface="Arial Black"/>
                <a:cs typeface="Arial Black"/>
              </a:rPr>
              <a:t>Mode</a:t>
            </a:r>
            <a:r>
              <a:rPr dirty="0" sz="1300" spc="-40">
                <a:solidFill>
                  <a:srgbClr val="4416A8"/>
                </a:solidFill>
                <a:latin typeface="Arial Black"/>
                <a:cs typeface="Arial Black"/>
              </a:rPr>
              <a:t> </a:t>
            </a:r>
            <a:r>
              <a:rPr dirty="0" sz="1300" spc="-50">
                <a:solidFill>
                  <a:srgbClr val="2A00B3"/>
                </a:solidFill>
                <a:latin typeface="Arial Black"/>
                <a:cs typeface="Arial Black"/>
              </a:rPr>
              <a:t>2</a:t>
            </a:r>
            <a:endParaRPr sz="1300">
              <a:latin typeface="Arial Black"/>
              <a:cs typeface="Arial Black"/>
            </a:endParaRPr>
          </a:p>
          <a:p>
            <a:pPr marL="14604">
              <a:lnSpc>
                <a:spcPct val="100000"/>
              </a:lnSpc>
              <a:spcBef>
                <a:spcPts val="30"/>
              </a:spcBef>
            </a:pPr>
            <a:r>
              <a:rPr dirty="0" sz="1000">
                <a:latin typeface="Arial MT"/>
                <a:cs typeface="Arial MT"/>
              </a:rPr>
              <a:t>Build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tomorrow's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solution.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00253" y="4853404"/>
            <a:ext cx="328930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>
                <a:solidFill>
                  <a:srgbClr val="0EA095"/>
                </a:solidFill>
                <a:latin typeface="Arial MT"/>
                <a:cs typeface="Arial MT"/>
              </a:rPr>
              <a:t>Learn</a:t>
            </a:r>
            <a:r>
              <a:rPr dirty="0" sz="1350" spc="50">
                <a:solidFill>
                  <a:srgbClr val="0EA09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089389"/>
                </a:solidFill>
                <a:latin typeface="Arial MT"/>
                <a:cs typeface="Arial MT"/>
              </a:rPr>
              <a:t>both.</a:t>
            </a:r>
            <a:r>
              <a:rPr dirty="0" sz="1350" spc="10">
                <a:solidFill>
                  <a:srgbClr val="089389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81818"/>
                </a:solidFill>
                <a:latin typeface="Arial MT"/>
                <a:cs typeface="Arial MT"/>
              </a:rPr>
              <a:t>Use</a:t>
            </a:r>
            <a:r>
              <a:rPr dirty="0" sz="1350" spc="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350" spc="55">
                <a:solidFill>
                  <a:srgbClr val="1C1C1C"/>
                </a:solidFill>
                <a:latin typeface="Arial MT"/>
                <a:cs typeface="Arial MT"/>
              </a:rPr>
              <a:t>both.</a:t>
            </a:r>
            <a:r>
              <a:rPr dirty="0" sz="1350" spc="-5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491ABD"/>
                </a:solidFill>
                <a:latin typeface="Arial MT"/>
                <a:cs typeface="Arial MT"/>
              </a:rPr>
              <a:t>Grow</a:t>
            </a:r>
            <a:r>
              <a:rPr dirty="0" sz="1350" spc="50">
                <a:solidFill>
                  <a:srgbClr val="491AB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4113CA"/>
                </a:solidFill>
                <a:latin typeface="Arial MT"/>
                <a:cs typeface="Arial MT"/>
              </a:rPr>
              <a:t>beyond</a:t>
            </a:r>
            <a:r>
              <a:rPr dirty="0" sz="1350" spc="15">
                <a:solidFill>
                  <a:srgbClr val="4113CA"/>
                </a:solidFill>
                <a:latin typeface="Arial MT"/>
                <a:cs typeface="Arial MT"/>
              </a:rPr>
              <a:t> </a:t>
            </a:r>
            <a:r>
              <a:rPr dirty="0" sz="1350" spc="45">
                <a:solidFill>
                  <a:srgbClr val="3103D1"/>
                </a:solidFill>
                <a:latin typeface="Arial MT"/>
                <a:cs typeface="Arial MT"/>
              </a:rPr>
              <a:t>both.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8670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600"/>
              <a:t>Two</a:t>
            </a:r>
            <a:r>
              <a:rPr dirty="0" sz="2600" spc="-50"/>
              <a:t> </a:t>
            </a:r>
            <a:r>
              <a:rPr dirty="0" sz="2600"/>
              <a:t>Modes</a:t>
            </a:r>
            <a:r>
              <a:rPr dirty="0" sz="2600" spc="-50"/>
              <a:t> </a:t>
            </a:r>
            <a:r>
              <a:rPr dirty="0" sz="2600"/>
              <a:t>Side</a:t>
            </a:r>
            <a:r>
              <a:rPr dirty="0" sz="2600" spc="-50"/>
              <a:t> </a:t>
            </a:r>
            <a:r>
              <a:rPr dirty="0" sz="2600"/>
              <a:t>by</a:t>
            </a:r>
            <a:r>
              <a:rPr dirty="0" sz="2600" spc="-50"/>
              <a:t> </a:t>
            </a:r>
            <a:r>
              <a:rPr dirty="0" sz="2600" spc="-20"/>
              <a:t>Side</a:t>
            </a:r>
            <a:endParaRPr sz="2600"/>
          </a:p>
        </p:txBody>
      </p:sp>
      <p:grpSp>
        <p:nvGrpSpPr>
          <p:cNvPr id="3" name="object 3"/>
          <p:cNvGrpSpPr/>
          <p:nvPr/>
        </p:nvGrpSpPr>
        <p:grpSpPr>
          <a:xfrm>
            <a:off x="655320" y="904240"/>
            <a:ext cx="3810000" cy="3627120"/>
            <a:chOff x="655320" y="904240"/>
            <a:chExt cx="3810000" cy="3627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" y="904240"/>
              <a:ext cx="3810000" cy="362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05840"/>
              <a:ext cx="3657600" cy="3474720"/>
            </a:xfrm>
            <a:custGeom>
              <a:avLst/>
              <a:gdLst/>
              <a:ahLst/>
              <a:cxnLst/>
              <a:rect l="l" t="t" r="r" b="b"/>
              <a:pathLst>
                <a:path w="3657600" h="3474720">
                  <a:moveTo>
                    <a:pt x="3657599" y="3474599"/>
                  </a:moveTo>
                  <a:lnTo>
                    <a:pt x="0" y="3474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3474599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1520" y="1005840"/>
              <a:ext cx="3657600" cy="45720"/>
            </a:xfrm>
            <a:custGeom>
              <a:avLst/>
              <a:gdLst/>
              <a:ahLst/>
              <a:cxnLst/>
              <a:rect l="l" t="t" r="r" b="b"/>
              <a:pathLst>
                <a:path w="3657600" h="45719">
                  <a:moveTo>
                    <a:pt x="3657599" y="45599"/>
                  </a:moveTo>
                  <a:lnTo>
                    <a:pt x="0" y="45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45599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819"/>
              </a:spcBef>
            </a:pPr>
            <a:r>
              <a:rPr dirty="0"/>
              <a:t>Mode 1</a:t>
            </a:r>
            <a:r>
              <a:rPr dirty="0" spc="5"/>
              <a:t> </a:t>
            </a:r>
            <a:r>
              <a:rPr dirty="0"/>
              <a:t>—</a:t>
            </a:r>
            <a:r>
              <a:rPr dirty="0" spc="5"/>
              <a:t> </a:t>
            </a:r>
            <a:r>
              <a:rPr dirty="0" spc="-10"/>
              <a:t>Problem-Solving</a:t>
            </a:r>
          </a:p>
          <a:p>
            <a:pPr marL="314325" marR="801370">
              <a:lnSpc>
                <a:spcPct val="100000"/>
              </a:lnSpc>
              <a:spcBef>
                <a:spcPts val="890"/>
              </a:spcBef>
            </a:pPr>
            <a:r>
              <a:rPr dirty="0" sz="1600" b="0" i="1">
                <a:solidFill>
                  <a:srgbClr val="1E293B"/>
                </a:solidFill>
                <a:latin typeface="Georgia"/>
                <a:cs typeface="Georgia"/>
              </a:rPr>
              <a:t>"Help</a:t>
            </a:r>
            <a:r>
              <a:rPr dirty="0" sz="1600" spc="-35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600" b="0" i="1">
                <a:solidFill>
                  <a:srgbClr val="1E293B"/>
                </a:solidFill>
                <a:latin typeface="Georgia"/>
                <a:cs typeface="Georgia"/>
              </a:rPr>
              <a:t>me</a:t>
            </a:r>
            <a:r>
              <a:rPr dirty="0" sz="1600" spc="-35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600" b="0" i="1">
                <a:solidFill>
                  <a:srgbClr val="1E293B"/>
                </a:solidFill>
                <a:latin typeface="Georgia"/>
                <a:cs typeface="Georgia"/>
              </a:rPr>
              <a:t>do</a:t>
            </a:r>
            <a:r>
              <a:rPr dirty="0" sz="1600" spc="-35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600" b="0" i="1">
                <a:solidFill>
                  <a:srgbClr val="1E293B"/>
                </a:solidFill>
                <a:latin typeface="Georgia"/>
                <a:cs typeface="Georgia"/>
              </a:rPr>
              <a:t>this</a:t>
            </a:r>
            <a:r>
              <a:rPr dirty="0" sz="1600" spc="-35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600" b="0" i="1">
                <a:solidFill>
                  <a:srgbClr val="1E293B"/>
                </a:solidFill>
                <a:latin typeface="Georgia"/>
                <a:cs typeface="Georgia"/>
              </a:rPr>
              <a:t>thing</a:t>
            </a:r>
            <a:r>
              <a:rPr dirty="0" sz="1600" spc="-35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600" spc="-10" b="0" i="1">
                <a:solidFill>
                  <a:srgbClr val="1E293B"/>
                </a:solidFill>
                <a:latin typeface="Georgia"/>
                <a:cs typeface="Georgia"/>
              </a:rPr>
              <a:t>right now."</a:t>
            </a:r>
            <a:endParaRPr sz="1600">
              <a:latin typeface="Georgia"/>
              <a:cs typeface="Georgia"/>
            </a:endParaRPr>
          </a:p>
          <a:p>
            <a:pPr marL="314325" marR="424815">
              <a:lnSpc>
                <a:spcPct val="130000"/>
              </a:lnSpc>
              <a:spcBef>
                <a:spcPts val="630"/>
              </a:spcBef>
            </a:pP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You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have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problem.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You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use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solve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it.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session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ends.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Nothing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permanent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is</a:t>
            </a:r>
            <a:r>
              <a:rPr dirty="0" sz="1400" spc="-2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built.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Calibri"/>
              <a:cs typeface="Calibri"/>
            </a:endParaRPr>
          </a:p>
          <a:p>
            <a:pPr marL="314325" marR="551180">
              <a:lnSpc>
                <a:spcPct val="130000"/>
              </a:lnSpc>
            </a:pP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Example: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"Help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me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analyze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 b="0">
                <a:solidFill>
                  <a:srgbClr val="475568"/>
                </a:solidFill>
                <a:latin typeface="Calibri"/>
                <a:cs typeface="Calibri"/>
              </a:rPr>
              <a:t>this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spreadsheet"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or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"Write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me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an</a:t>
            </a: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email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5" b="0">
                <a:solidFill>
                  <a:srgbClr val="475568"/>
                </a:solidFill>
                <a:latin typeface="Calibri"/>
                <a:cs typeface="Calibri"/>
              </a:rPr>
              <a:t>to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my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client."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8680" y="904240"/>
            <a:ext cx="3810000" cy="3627120"/>
            <a:chOff x="4678680" y="904240"/>
            <a:chExt cx="3810000" cy="36271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8680" y="904240"/>
              <a:ext cx="3810000" cy="3627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54880" y="1005840"/>
              <a:ext cx="3657600" cy="3474720"/>
            </a:xfrm>
            <a:custGeom>
              <a:avLst/>
              <a:gdLst/>
              <a:ahLst/>
              <a:cxnLst/>
              <a:rect l="l" t="t" r="r" b="b"/>
              <a:pathLst>
                <a:path w="3657600" h="3474720">
                  <a:moveTo>
                    <a:pt x="3657599" y="3474599"/>
                  </a:moveTo>
                  <a:lnTo>
                    <a:pt x="0" y="3474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3474599"/>
                  </a:lnTo>
                  <a:close/>
                </a:path>
              </a:pathLst>
            </a:custGeom>
            <a:solidFill>
              <a:srgbClr val="FFF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54880" y="1005840"/>
              <a:ext cx="3657600" cy="45720"/>
            </a:xfrm>
            <a:custGeom>
              <a:avLst/>
              <a:gdLst/>
              <a:ahLst/>
              <a:cxnLst/>
              <a:rect l="l" t="t" r="r" b="b"/>
              <a:pathLst>
                <a:path w="3657600" h="45719">
                  <a:moveTo>
                    <a:pt x="3657599" y="45599"/>
                  </a:moveTo>
                  <a:lnTo>
                    <a:pt x="0" y="45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4559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75"/>
              </a:spcBef>
            </a:pPr>
            <a:r>
              <a:rPr dirty="0"/>
              <a:t>Mode</a:t>
            </a:r>
            <a:r>
              <a:rPr dirty="0" spc="-10"/>
              <a:t> </a:t>
            </a:r>
            <a:r>
              <a:rPr dirty="0"/>
              <a:t>2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Manufacturing</a:t>
            </a:r>
          </a:p>
          <a:p>
            <a:pPr marL="314325" marR="413384">
              <a:lnSpc>
                <a:spcPct val="100000"/>
              </a:lnSpc>
              <a:spcBef>
                <a:spcPts val="1015"/>
              </a:spcBef>
            </a:pP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"Help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me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build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a</a:t>
            </a:r>
            <a:r>
              <a:rPr dirty="0" sz="1500" spc="-25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worker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that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spc="-20" b="0" i="1">
                <a:solidFill>
                  <a:srgbClr val="1E293B"/>
                </a:solidFill>
                <a:latin typeface="Georgia"/>
                <a:cs typeface="Georgia"/>
              </a:rPr>
              <a:t>does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this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b="0" i="1">
                <a:solidFill>
                  <a:srgbClr val="1E293B"/>
                </a:solidFill>
                <a:latin typeface="Georgia"/>
                <a:cs typeface="Georgia"/>
              </a:rPr>
              <a:t>job</a:t>
            </a:r>
            <a:r>
              <a:rPr dirty="0" sz="1500" spc="-30" b="0" i="1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500" spc="-10" b="0" i="1">
                <a:solidFill>
                  <a:srgbClr val="1E293B"/>
                </a:solidFill>
                <a:latin typeface="Georgia"/>
                <a:cs typeface="Georgia"/>
              </a:rPr>
              <a:t>forever."</a:t>
            </a:r>
            <a:endParaRPr sz="1500">
              <a:latin typeface="Georgia"/>
              <a:cs typeface="Georgia"/>
            </a:endParaRPr>
          </a:p>
          <a:p>
            <a:pPr marL="314325" marR="459105">
              <a:lnSpc>
                <a:spcPct val="130000"/>
              </a:lnSpc>
              <a:spcBef>
                <a:spcPts val="745"/>
              </a:spcBef>
            </a:pPr>
            <a:r>
              <a:rPr dirty="0" sz="1400" spc="-35" b="0">
                <a:solidFill>
                  <a:srgbClr val="475568"/>
                </a:solidFill>
                <a:latin typeface="Calibri"/>
                <a:cs typeface="Calibri"/>
              </a:rPr>
              <a:t>You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use</a:t>
            </a:r>
            <a:r>
              <a:rPr dirty="0" sz="1400" spc="-2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400" spc="-2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build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400" spc="-2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new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400" spc="-2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worker</a:t>
            </a:r>
            <a:r>
              <a:rPr dirty="0" sz="1400" spc="-3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 b="0">
                <a:solidFill>
                  <a:srgbClr val="475568"/>
                </a:solidFill>
                <a:latin typeface="Calibri"/>
                <a:cs typeface="Calibri"/>
              </a:rPr>
              <a:t>that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will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keep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running</a:t>
            </a:r>
            <a:r>
              <a:rPr dirty="0" sz="1400" spc="-5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long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after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you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close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your</a:t>
            </a:r>
            <a:r>
              <a:rPr dirty="0" sz="1400" spc="-6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laptop.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Calibri"/>
              <a:cs typeface="Calibri"/>
            </a:endParaRPr>
          </a:p>
          <a:p>
            <a:pPr marL="314325" marR="395605">
              <a:lnSpc>
                <a:spcPct val="130000"/>
              </a:lnSpc>
            </a:pP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Example: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"Build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me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customer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support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bot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that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runs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24/7</a:t>
            </a:r>
            <a:r>
              <a:rPr dirty="0" sz="1400" spc="-45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answers</a:t>
            </a:r>
            <a:r>
              <a:rPr dirty="0" sz="1400" spc="-40" b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475568"/>
                </a:solidFill>
                <a:latin typeface="Calibri"/>
                <a:cs typeface="Calibri"/>
              </a:rPr>
              <a:t>common questions."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950" y="664558"/>
            <a:ext cx="7142098" cy="4467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5508" y="199581"/>
            <a:ext cx="402971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/>
              <a:t>The</a:t>
            </a:r>
            <a:r>
              <a:rPr dirty="0" sz="2600" spc="-60"/>
              <a:t> </a:t>
            </a:r>
            <a:r>
              <a:rPr dirty="0" sz="2600"/>
              <a:t>Roles</a:t>
            </a:r>
            <a:r>
              <a:rPr dirty="0" sz="2600" spc="-60"/>
              <a:t> </a:t>
            </a:r>
            <a:r>
              <a:rPr dirty="0" sz="2600"/>
              <a:t>This</a:t>
            </a:r>
            <a:r>
              <a:rPr dirty="0" sz="2600" spc="-60"/>
              <a:t> </a:t>
            </a:r>
            <a:r>
              <a:rPr dirty="0" sz="2600"/>
              <a:t>Book</a:t>
            </a:r>
            <a:r>
              <a:rPr dirty="0" sz="2600" spc="-60"/>
              <a:t> </a:t>
            </a:r>
            <a:r>
              <a:rPr dirty="0" sz="2600" spc="-10"/>
              <a:t>Trains</a:t>
            </a:r>
            <a:endParaRPr sz="2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085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04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49949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The</a:t>
            </a:r>
            <a:r>
              <a:rPr dirty="0" sz="4000" spc="-45">
                <a:solidFill>
                  <a:srgbClr val="FFFFFF"/>
                </a:solidFill>
              </a:rPr>
              <a:t> </a:t>
            </a:r>
            <a:r>
              <a:rPr dirty="0" sz="4000" spc="-30">
                <a:solidFill>
                  <a:srgbClr val="FFFFFF"/>
                </a:solidFill>
              </a:rPr>
              <a:t>10-</a:t>
            </a:r>
            <a:r>
              <a:rPr dirty="0" sz="4000" spc="-35">
                <a:solidFill>
                  <a:srgbClr val="FFFFFF"/>
                </a:solidFill>
              </a:rPr>
              <a:t>80-</a:t>
            </a:r>
            <a:r>
              <a:rPr dirty="0" sz="4000">
                <a:solidFill>
                  <a:srgbClr val="FFFFFF"/>
                </a:solidFill>
              </a:rPr>
              <a:t>10</a:t>
            </a:r>
            <a:r>
              <a:rPr dirty="0" sz="4000" spc="-4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Rhythm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915" cy="55244"/>
          </a:xfrm>
          <a:custGeom>
            <a:avLst/>
            <a:gdLst/>
            <a:ahLst/>
            <a:cxnLst/>
            <a:rect l="l" t="t" r="r" b="b"/>
            <a:pathLst>
              <a:path w="1097914" h="55245">
                <a:moveTo>
                  <a:pt x="1097399" y="54899"/>
                </a:moveTo>
                <a:lnTo>
                  <a:pt x="0" y="54899"/>
                </a:lnTo>
                <a:lnTo>
                  <a:pt x="0" y="0"/>
                </a:lnTo>
                <a:lnTo>
                  <a:pt x="1097399" y="0"/>
                </a:lnTo>
                <a:lnTo>
                  <a:pt x="1097399" y="54899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2875"/>
            <a:ext cx="7372350" cy="4389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80524" y="3914457"/>
            <a:ext cx="939165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15"/>
              </a:lnSpc>
              <a:spcBef>
                <a:spcPts val="100"/>
              </a:spcBef>
            </a:pPr>
            <a:r>
              <a:rPr dirty="0" sz="1950" spc="-325">
                <a:solidFill>
                  <a:srgbClr val="0E2146"/>
                </a:solidFill>
                <a:latin typeface="Arial Black"/>
                <a:cs typeface="Arial Black"/>
              </a:rPr>
              <a:t>First</a:t>
            </a:r>
            <a:r>
              <a:rPr dirty="0" sz="1950" spc="-190">
                <a:solidFill>
                  <a:srgbClr val="0E2146"/>
                </a:solidFill>
                <a:latin typeface="Arial Black"/>
                <a:cs typeface="Arial Black"/>
              </a:rPr>
              <a:t> </a:t>
            </a:r>
            <a:r>
              <a:rPr dirty="0" sz="1950" spc="-650">
                <a:solidFill>
                  <a:srgbClr val="0A1C42"/>
                </a:solidFill>
                <a:latin typeface="Arial Black"/>
                <a:cs typeface="Arial Black"/>
              </a:rPr>
              <a:t>10%</a:t>
            </a:r>
            <a:endParaRPr sz="1950">
              <a:latin typeface="Arial Black"/>
              <a:cs typeface="Arial Black"/>
            </a:endParaRPr>
          </a:p>
          <a:p>
            <a:pPr marL="19050">
              <a:lnSpc>
                <a:spcPts val="1295"/>
              </a:lnSpc>
            </a:pPr>
            <a:r>
              <a:rPr dirty="0" sz="1100" spc="-275">
                <a:solidFill>
                  <a:srgbClr val="212121"/>
                </a:solidFill>
                <a:latin typeface="Arial Black"/>
                <a:cs typeface="Arial Black"/>
              </a:rPr>
              <a:t>You</a:t>
            </a:r>
            <a:r>
              <a:rPr dirty="0" sz="11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100" spc="-245">
                <a:solidFill>
                  <a:srgbClr val="161616"/>
                </a:solidFill>
                <a:latin typeface="Arial Black"/>
                <a:cs typeface="Arial Black"/>
              </a:rPr>
              <a:t>set</a:t>
            </a:r>
            <a:r>
              <a:rPr dirty="0" sz="1100" spc="-50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1100" spc="-175">
                <a:solidFill>
                  <a:srgbClr val="262626"/>
                </a:solidFill>
                <a:latin typeface="Arial Black"/>
                <a:cs typeface="Arial Black"/>
              </a:rPr>
              <a:t>direction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09972" y="281940"/>
            <a:ext cx="4554855" cy="8102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-960">
                <a:solidFill>
                  <a:srgbClr val="011C44"/>
                </a:solidFill>
                <a:latin typeface="Arial Black"/>
                <a:cs typeface="Arial Black"/>
              </a:rPr>
              <a:t>The</a:t>
            </a:r>
            <a:r>
              <a:rPr dirty="0" sz="5150" spc="-405">
                <a:solidFill>
                  <a:srgbClr val="011C44"/>
                </a:solidFill>
                <a:latin typeface="Arial Black"/>
                <a:cs typeface="Arial Black"/>
              </a:rPr>
              <a:t> </a:t>
            </a:r>
            <a:r>
              <a:rPr dirty="0" sz="5150" spc="-815">
                <a:solidFill>
                  <a:srgbClr val="002144"/>
                </a:solidFill>
                <a:latin typeface="Arial Black"/>
                <a:cs typeface="Arial Black"/>
              </a:rPr>
              <a:t>Film</a:t>
            </a:r>
            <a:r>
              <a:rPr dirty="0" sz="5150" spc="-405">
                <a:solidFill>
                  <a:srgbClr val="002144"/>
                </a:solidFill>
                <a:latin typeface="Arial Black"/>
                <a:cs typeface="Arial Black"/>
              </a:rPr>
              <a:t> </a:t>
            </a:r>
            <a:r>
              <a:rPr dirty="0" sz="5150" spc="-844">
                <a:solidFill>
                  <a:srgbClr val="011D44"/>
                </a:solidFill>
                <a:latin typeface="Arial Black"/>
                <a:cs typeface="Arial Black"/>
              </a:rPr>
              <a:t>Director</a:t>
            </a:r>
            <a:endParaRPr sz="51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2114" y="3412807"/>
            <a:ext cx="272923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90">
                <a:solidFill>
                  <a:srgbClr val="0C1A3F"/>
                </a:solidFill>
                <a:latin typeface="Arial Black"/>
                <a:cs typeface="Arial Black"/>
              </a:rPr>
              <a:t>Working</a:t>
            </a:r>
            <a:r>
              <a:rPr dirty="0" sz="1850" spc="-10">
                <a:solidFill>
                  <a:srgbClr val="0C1A3F"/>
                </a:solidFill>
                <a:latin typeface="Arial Black"/>
                <a:cs typeface="Arial Black"/>
              </a:rPr>
              <a:t> </a:t>
            </a:r>
            <a:r>
              <a:rPr dirty="0" sz="1850" spc="-315">
                <a:solidFill>
                  <a:srgbClr val="07183F"/>
                </a:solidFill>
                <a:latin typeface="Arial Black"/>
                <a:cs typeface="Arial Black"/>
              </a:rPr>
              <a:t>with</a:t>
            </a:r>
            <a:r>
              <a:rPr dirty="0" sz="1850" spc="-50">
                <a:solidFill>
                  <a:srgbClr val="07183F"/>
                </a:solidFill>
                <a:latin typeface="Arial Black"/>
                <a:cs typeface="Arial Black"/>
              </a:rPr>
              <a:t> </a:t>
            </a:r>
            <a:r>
              <a:rPr dirty="0" sz="1850" spc="-285">
                <a:solidFill>
                  <a:srgbClr val="0A1C42"/>
                </a:solidFill>
                <a:latin typeface="Arial Black"/>
                <a:cs typeface="Arial Black"/>
              </a:rPr>
              <a:t>AI</a:t>
            </a:r>
            <a:r>
              <a:rPr dirty="0" sz="1850" spc="-195">
                <a:solidFill>
                  <a:srgbClr val="0A1C42"/>
                </a:solidFill>
                <a:latin typeface="Arial Black"/>
                <a:cs typeface="Arial Black"/>
              </a:rPr>
              <a:t> </a:t>
            </a:r>
            <a:r>
              <a:rPr dirty="0" sz="1850" spc="-290">
                <a:solidFill>
                  <a:srgbClr val="0F1D3B"/>
                </a:solidFill>
                <a:latin typeface="Arial Black"/>
                <a:cs typeface="Arial Black"/>
              </a:rPr>
              <a:t>is</a:t>
            </a:r>
            <a:r>
              <a:rPr dirty="0" sz="1850" spc="-130">
                <a:solidFill>
                  <a:srgbClr val="0F1D3B"/>
                </a:solidFill>
                <a:latin typeface="Arial Black"/>
                <a:cs typeface="Arial Black"/>
              </a:rPr>
              <a:t> </a:t>
            </a:r>
            <a:r>
              <a:rPr dirty="0" sz="1850" spc="-280">
                <a:solidFill>
                  <a:srgbClr val="081A36"/>
                </a:solidFill>
                <a:latin typeface="Arial Black"/>
                <a:cs typeface="Arial Black"/>
              </a:rPr>
              <a:t>the</a:t>
            </a:r>
            <a:r>
              <a:rPr dirty="0" sz="1850" spc="-135">
                <a:solidFill>
                  <a:srgbClr val="081A36"/>
                </a:solidFill>
                <a:latin typeface="Arial Black"/>
                <a:cs typeface="Arial Black"/>
              </a:rPr>
              <a:t> </a:t>
            </a:r>
            <a:r>
              <a:rPr dirty="0" sz="1850" spc="-425">
                <a:solidFill>
                  <a:srgbClr val="182854"/>
                </a:solidFill>
                <a:latin typeface="Arial Black"/>
                <a:cs typeface="Arial Black"/>
              </a:rPr>
              <a:t>same</a:t>
            </a:r>
            <a:endParaRPr sz="185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224" y="995362"/>
            <a:ext cx="2451100" cy="2279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2545">
              <a:lnSpc>
                <a:spcPts val="1560"/>
              </a:lnSpc>
              <a:spcBef>
                <a:spcPts val="100"/>
              </a:spcBef>
            </a:pPr>
            <a:r>
              <a:rPr dirty="0" sz="1400" spc="-305">
                <a:solidFill>
                  <a:srgbClr val="363636"/>
                </a:solidFill>
                <a:latin typeface="Arial Black"/>
                <a:cs typeface="Arial Black"/>
              </a:rPr>
              <a:t>A</a:t>
            </a:r>
            <a:r>
              <a:rPr dirty="0" sz="1400" spc="-5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1400" spc="-235">
                <a:solidFill>
                  <a:srgbClr val="161616"/>
                </a:solidFill>
                <a:latin typeface="Arial Black"/>
                <a:cs typeface="Arial Black"/>
              </a:rPr>
              <a:t>director</a:t>
            </a:r>
            <a:r>
              <a:rPr dirty="0" sz="1400" spc="120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1400" spc="-220">
                <a:latin typeface="Arial Black"/>
                <a:cs typeface="Arial Black"/>
              </a:rPr>
              <a:t>doesn't</a:t>
            </a:r>
            <a:r>
              <a:rPr dirty="0" sz="1400" spc="5">
                <a:latin typeface="Arial Black"/>
                <a:cs typeface="Arial Black"/>
              </a:rPr>
              <a:t> </a:t>
            </a:r>
            <a:r>
              <a:rPr dirty="0" sz="1400" spc="-210">
                <a:solidFill>
                  <a:srgbClr val="262626"/>
                </a:solidFill>
                <a:latin typeface="Arial Black"/>
                <a:cs typeface="Arial Black"/>
              </a:rPr>
              <a:t>do</a:t>
            </a:r>
            <a:r>
              <a:rPr dirty="0" sz="1400" spc="-70">
                <a:solidFill>
                  <a:srgbClr val="262626"/>
                </a:solidFill>
                <a:latin typeface="Arial Black"/>
                <a:cs typeface="Arial Black"/>
              </a:rPr>
              <a:t> </a:t>
            </a:r>
            <a:r>
              <a:rPr dirty="0" sz="1400" spc="-240">
                <a:solidFill>
                  <a:srgbClr val="151515"/>
                </a:solidFill>
                <a:latin typeface="Arial Black"/>
                <a:cs typeface="Arial Black"/>
              </a:rPr>
              <a:t>every</a:t>
            </a:r>
            <a:r>
              <a:rPr dirty="0" sz="1400" spc="-15">
                <a:solidFill>
                  <a:srgbClr val="151515"/>
                </a:solidFill>
                <a:latin typeface="Arial Black"/>
                <a:cs typeface="Arial Black"/>
              </a:rPr>
              <a:t> </a:t>
            </a:r>
            <a:r>
              <a:rPr dirty="0" sz="1400" spc="-160">
                <a:solidFill>
                  <a:srgbClr val="0F0F0F"/>
                </a:solidFill>
                <a:latin typeface="Arial Black"/>
                <a:cs typeface="Arial Black"/>
              </a:rPr>
              <a:t>task.</a:t>
            </a:r>
            <a:endParaRPr sz="1400">
              <a:latin typeface="Arial Black"/>
              <a:cs typeface="Arial Black"/>
            </a:endParaRPr>
          </a:p>
          <a:p>
            <a:pPr algn="ctr" marL="1905">
              <a:lnSpc>
                <a:spcPts val="1560"/>
              </a:lnSpc>
            </a:pPr>
            <a:r>
              <a:rPr dirty="0" sz="1400" spc="-270">
                <a:solidFill>
                  <a:srgbClr val="161616"/>
                </a:solidFill>
                <a:latin typeface="Arial Black"/>
                <a:cs typeface="Arial Black"/>
              </a:rPr>
              <a:t>They</a:t>
            </a:r>
            <a:r>
              <a:rPr dirty="0" sz="1400" spc="30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C38728"/>
                </a:solidFill>
                <a:latin typeface="Arial Black"/>
                <a:cs typeface="Arial Black"/>
              </a:rPr>
              <a:t>gui</a:t>
            </a:r>
            <a:r>
              <a:rPr dirty="0" sz="1400" spc="200">
                <a:solidFill>
                  <a:srgbClr val="C38728"/>
                </a:solidFill>
                <a:latin typeface="Arial Black"/>
                <a:cs typeface="Arial Black"/>
              </a:rPr>
              <a:t> </a:t>
            </a:r>
            <a:r>
              <a:rPr dirty="0" sz="1400" spc="-360">
                <a:solidFill>
                  <a:srgbClr val="C38728"/>
                </a:solidFill>
                <a:latin typeface="Arial Black"/>
                <a:cs typeface="Arial Black"/>
              </a:rPr>
              <a:t>o</a:t>
            </a:r>
            <a:r>
              <a:rPr dirty="0" sz="1400" spc="-100">
                <a:solidFill>
                  <a:srgbClr val="C38728"/>
                </a:solidFill>
                <a:latin typeface="Arial Black"/>
                <a:cs typeface="Arial Black"/>
              </a:rPr>
              <a:t> </a:t>
            </a:r>
            <a:r>
              <a:rPr dirty="0" sz="1400" spc="-220">
                <a:solidFill>
                  <a:srgbClr val="1A1A1A"/>
                </a:solidFill>
                <a:latin typeface="Arial Black"/>
                <a:cs typeface="Arial Black"/>
              </a:rPr>
              <a:t>the</a:t>
            </a:r>
            <a:r>
              <a:rPr dirty="0" sz="1400" spc="-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80">
                <a:solidFill>
                  <a:srgbClr val="212121"/>
                </a:solidFill>
                <a:latin typeface="Arial Black"/>
                <a:cs typeface="Arial Black"/>
              </a:rPr>
              <a:t>work.</a:t>
            </a:r>
            <a:endParaRPr sz="1400">
              <a:latin typeface="Arial Black"/>
              <a:cs typeface="Arial Black"/>
            </a:endParaRPr>
          </a:p>
          <a:p>
            <a:pPr marL="1132205">
              <a:lnSpc>
                <a:spcPct val="100000"/>
              </a:lnSpc>
              <a:spcBef>
                <a:spcPts val="865"/>
              </a:spcBef>
            </a:pPr>
            <a:r>
              <a:rPr dirty="0" sz="1350" spc="-260">
                <a:solidFill>
                  <a:srgbClr val="1A2D44"/>
                </a:solidFill>
                <a:latin typeface="Arial Black"/>
                <a:cs typeface="Arial Black"/>
              </a:rPr>
              <a:t>Set</a:t>
            </a:r>
            <a:r>
              <a:rPr dirty="0" sz="1350" spc="-95">
                <a:solidFill>
                  <a:srgbClr val="1A2D44"/>
                </a:solidFill>
                <a:latin typeface="Arial Black"/>
                <a:cs typeface="Arial Black"/>
              </a:rPr>
              <a:t> </a:t>
            </a:r>
            <a:r>
              <a:rPr dirty="0" sz="1350" spc="-235">
                <a:solidFill>
                  <a:srgbClr val="0E1531"/>
                </a:solidFill>
                <a:latin typeface="Arial Black"/>
                <a:cs typeface="Arial Black"/>
              </a:rPr>
              <a:t>the</a:t>
            </a:r>
            <a:r>
              <a:rPr dirty="0" sz="1350" spc="-105">
                <a:solidFill>
                  <a:srgbClr val="0E1531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solidFill>
                  <a:srgbClr val="0F0F0F"/>
                </a:solidFill>
                <a:latin typeface="Arial Black"/>
                <a:cs typeface="Arial Black"/>
              </a:rPr>
              <a:t>vision</a:t>
            </a:r>
            <a:endParaRPr sz="1350">
              <a:latin typeface="Arial Black"/>
              <a:cs typeface="Arial Black"/>
            </a:endParaRPr>
          </a:p>
          <a:p>
            <a:pPr marL="1136015" marR="643255" indent="1905">
              <a:lnSpc>
                <a:spcPct val="102600"/>
              </a:lnSpc>
              <a:spcBef>
                <a:spcPts val="80"/>
              </a:spcBef>
            </a:pPr>
            <a:r>
              <a:rPr dirty="0" sz="950" spc="-135">
                <a:solidFill>
                  <a:srgbClr val="3D3D3D"/>
                </a:solidFill>
                <a:latin typeface="Arial Black"/>
                <a:cs typeface="Arial Black"/>
              </a:rPr>
              <a:t>What</a:t>
            </a:r>
            <a:r>
              <a:rPr dirty="0" sz="950" spc="3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950" spc="-130">
                <a:solidFill>
                  <a:srgbClr val="2A2A2A"/>
                </a:solidFill>
                <a:latin typeface="Arial Black"/>
                <a:cs typeface="Arial Black"/>
              </a:rPr>
              <a:t>should</a:t>
            </a:r>
            <a:r>
              <a:rPr dirty="0" sz="950" spc="5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950" spc="-130">
                <a:solidFill>
                  <a:srgbClr val="484848"/>
                </a:solidFill>
                <a:latin typeface="Arial Black"/>
                <a:cs typeface="Arial Black"/>
              </a:rPr>
              <a:t>it</a:t>
            </a:r>
            <a:r>
              <a:rPr dirty="0" sz="950" spc="-4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950" spc="-140">
                <a:solidFill>
                  <a:srgbClr val="2D2D2D"/>
                </a:solidFill>
                <a:latin typeface="Arial Black"/>
                <a:cs typeface="Arial Black"/>
              </a:rPr>
              <a:t>look</a:t>
            </a:r>
            <a:r>
              <a:rPr dirty="0" sz="950" spc="60">
                <a:solidFill>
                  <a:srgbClr val="2D2D2D"/>
                </a:solidFill>
                <a:latin typeface="Arial Black"/>
                <a:cs typeface="Arial Black"/>
              </a:rPr>
              <a:t> </a:t>
            </a:r>
            <a:r>
              <a:rPr dirty="0" sz="950" spc="-20">
                <a:solidFill>
                  <a:srgbClr val="212121"/>
                </a:solidFill>
                <a:latin typeface="Arial Black"/>
                <a:cs typeface="Arial Black"/>
              </a:rPr>
              <a:t>like?</a:t>
            </a:r>
            <a:endParaRPr sz="9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Arial Black"/>
              <a:cs typeface="Arial Black"/>
            </a:endParaRPr>
          </a:p>
          <a:p>
            <a:pPr marL="1132205">
              <a:lnSpc>
                <a:spcPct val="100000"/>
              </a:lnSpc>
            </a:pPr>
            <a:r>
              <a:rPr dirty="0" sz="1300" spc="-225">
                <a:solidFill>
                  <a:srgbClr val="161616"/>
                </a:solidFill>
                <a:latin typeface="Arial Black"/>
                <a:cs typeface="Arial Black"/>
              </a:rPr>
              <a:t>Let</a:t>
            </a:r>
            <a:r>
              <a:rPr dirty="0" sz="1300" spc="-95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1300" spc="-195">
                <a:solidFill>
                  <a:srgbClr val="152656"/>
                </a:solidFill>
                <a:latin typeface="Arial Black"/>
                <a:cs typeface="Arial Black"/>
              </a:rPr>
              <a:t>the</a:t>
            </a:r>
            <a:r>
              <a:rPr dirty="0" sz="1300" spc="-125">
                <a:solidFill>
                  <a:srgbClr val="152656"/>
                </a:solidFill>
                <a:latin typeface="Arial Black"/>
                <a:cs typeface="Arial Black"/>
              </a:rPr>
              <a:t> </a:t>
            </a:r>
            <a:r>
              <a:rPr dirty="0" sz="1300" spc="-240">
                <a:solidFill>
                  <a:srgbClr val="1A1A1A"/>
                </a:solidFill>
                <a:latin typeface="Arial Black"/>
                <a:cs typeface="Arial Black"/>
              </a:rPr>
              <a:t>team</a:t>
            </a:r>
            <a:r>
              <a:rPr dirty="0" sz="1300" spc="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300" spc="-275">
                <a:solidFill>
                  <a:srgbClr val="131313"/>
                </a:solidFill>
                <a:latin typeface="Arial Black"/>
                <a:cs typeface="Arial Black"/>
              </a:rPr>
              <a:t>work</a:t>
            </a:r>
            <a:endParaRPr sz="1300">
              <a:latin typeface="Arial Black"/>
              <a:cs typeface="Arial Black"/>
            </a:endParaRPr>
          </a:p>
          <a:p>
            <a:pPr marL="1135380">
              <a:lnSpc>
                <a:spcPct val="100000"/>
              </a:lnSpc>
              <a:spcBef>
                <a:spcPts val="130"/>
              </a:spcBef>
            </a:pPr>
            <a:r>
              <a:rPr dirty="0" sz="1050" spc="-195">
                <a:solidFill>
                  <a:srgbClr val="1C1C1C"/>
                </a:solidFill>
                <a:latin typeface="Arial Black"/>
                <a:cs typeface="Arial Black"/>
              </a:rPr>
              <a:t>They</a:t>
            </a:r>
            <a:r>
              <a:rPr dirty="0" sz="1050" spc="-55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sz="1050" spc="-180">
                <a:solidFill>
                  <a:srgbClr val="565656"/>
                </a:solidFill>
                <a:latin typeface="Arial Black"/>
                <a:cs typeface="Arial Black"/>
              </a:rPr>
              <a:t>do</a:t>
            </a:r>
            <a:r>
              <a:rPr dirty="0" sz="1050" spc="-45">
                <a:solidFill>
                  <a:srgbClr val="565656"/>
                </a:solidFill>
                <a:latin typeface="Arial Black"/>
                <a:cs typeface="Arial Black"/>
              </a:rPr>
              <a:t> </a:t>
            </a:r>
            <a:r>
              <a:rPr dirty="0" sz="1050" spc="-180">
                <a:solidFill>
                  <a:srgbClr val="4D4D4D"/>
                </a:solidFill>
                <a:latin typeface="Arial Black"/>
                <a:cs typeface="Arial Black"/>
              </a:rPr>
              <a:t>the</a:t>
            </a:r>
            <a:r>
              <a:rPr dirty="0" sz="1050" spc="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1050" spc="-20">
                <a:solidFill>
                  <a:srgbClr val="3D3D3D"/>
                </a:solidFill>
                <a:latin typeface="Arial Black"/>
                <a:cs typeface="Arial Black"/>
              </a:rPr>
              <a:t>work</a:t>
            </a:r>
            <a:endParaRPr sz="10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50">
              <a:latin typeface="Arial Black"/>
              <a:cs typeface="Arial Black"/>
            </a:endParaRPr>
          </a:p>
          <a:p>
            <a:pPr marL="1131570">
              <a:lnSpc>
                <a:spcPct val="100000"/>
              </a:lnSpc>
            </a:pPr>
            <a:r>
              <a:rPr dirty="0" sz="1300" spc="-260">
                <a:solidFill>
                  <a:srgbClr val="131313"/>
                </a:solidFill>
                <a:latin typeface="Arial Black"/>
                <a:cs typeface="Arial Black"/>
              </a:rPr>
              <a:t>Review</a:t>
            </a:r>
            <a:r>
              <a:rPr dirty="0" sz="1300" spc="15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1300" spc="-220">
                <a:solidFill>
                  <a:srgbClr val="0F2344"/>
                </a:solidFill>
                <a:latin typeface="Arial Black"/>
                <a:cs typeface="Arial Black"/>
              </a:rPr>
              <a:t>the</a:t>
            </a:r>
            <a:r>
              <a:rPr dirty="0" sz="1300" spc="-135">
                <a:solidFill>
                  <a:srgbClr val="0F2344"/>
                </a:solidFill>
                <a:latin typeface="Arial Black"/>
                <a:cs typeface="Arial Black"/>
              </a:rPr>
              <a:t> </a:t>
            </a:r>
            <a:r>
              <a:rPr dirty="0" sz="1300" spc="-185">
                <a:solidFill>
                  <a:srgbClr val="131313"/>
                </a:solidFill>
                <a:latin typeface="Arial Black"/>
                <a:cs typeface="Arial Black"/>
              </a:rPr>
              <a:t>final</a:t>
            </a:r>
            <a:r>
              <a:rPr dirty="0" sz="1300" spc="-9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1300" spc="-180">
                <a:solidFill>
                  <a:srgbClr val="1C1C1C"/>
                </a:solidFill>
                <a:latin typeface="Arial Black"/>
                <a:cs typeface="Arial Black"/>
              </a:rPr>
              <a:t>cut</a:t>
            </a:r>
            <a:endParaRPr sz="1300">
              <a:latin typeface="Arial Black"/>
              <a:cs typeface="Arial Black"/>
            </a:endParaRPr>
          </a:p>
          <a:p>
            <a:pPr marL="1132205">
              <a:lnSpc>
                <a:spcPct val="100000"/>
              </a:lnSpc>
              <a:spcBef>
                <a:spcPts val="105"/>
              </a:spcBef>
            </a:pPr>
            <a:r>
              <a:rPr dirty="0" sz="1050" spc="-200">
                <a:solidFill>
                  <a:srgbClr val="3A3A3A"/>
                </a:solidFill>
                <a:latin typeface="Arial Black"/>
                <a:cs typeface="Arial Black"/>
              </a:rPr>
              <a:t>Check</a:t>
            </a:r>
            <a:r>
              <a:rPr dirty="0" sz="1050" spc="2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1050" spc="-204">
                <a:solidFill>
                  <a:srgbClr val="424242"/>
                </a:solidFill>
                <a:latin typeface="Arial Black"/>
                <a:cs typeface="Arial Black"/>
              </a:rPr>
              <a:t>and</a:t>
            </a:r>
            <a:r>
              <a:rPr dirty="0" sz="1050" spc="1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050" spc="-45">
                <a:solidFill>
                  <a:srgbClr val="313131"/>
                </a:solidFill>
                <a:latin typeface="Arial Black"/>
                <a:cs typeface="Arial Black"/>
              </a:rPr>
              <a:t>approve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79600" y="3906273"/>
            <a:ext cx="1032510" cy="4756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850" spc="-370">
                <a:solidFill>
                  <a:srgbClr val="151515"/>
                </a:solidFill>
                <a:latin typeface="Arial Black"/>
                <a:cs typeface="Arial Black"/>
              </a:rPr>
              <a:t>Last</a:t>
            </a:r>
            <a:r>
              <a:rPr dirty="0" sz="1850" spc="-215">
                <a:solidFill>
                  <a:srgbClr val="151515"/>
                </a:solidFill>
                <a:latin typeface="Arial Black"/>
                <a:cs typeface="Arial Black"/>
              </a:rPr>
              <a:t> </a:t>
            </a:r>
            <a:r>
              <a:rPr dirty="0" sz="1850" spc="-620">
                <a:solidFill>
                  <a:srgbClr val="0F0F0F"/>
                </a:solidFill>
                <a:latin typeface="Arial Black"/>
                <a:cs typeface="Arial Black"/>
              </a:rPr>
              <a:t>10%</a:t>
            </a:r>
            <a:endParaRPr sz="1850">
              <a:latin typeface="Arial Black"/>
              <a:cs typeface="Arial Black"/>
            </a:endParaRPr>
          </a:p>
          <a:p>
            <a:pPr marL="17780">
              <a:lnSpc>
                <a:spcPct val="100000"/>
              </a:lnSpc>
              <a:spcBef>
                <a:spcPts val="80"/>
              </a:spcBef>
            </a:pPr>
            <a:r>
              <a:rPr dirty="0" sz="900" spc="-195">
                <a:solidFill>
                  <a:srgbClr val="161616"/>
                </a:solidFill>
                <a:latin typeface="Arial Black"/>
                <a:cs typeface="Arial Black"/>
              </a:rPr>
              <a:t>You</a:t>
            </a:r>
            <a:r>
              <a:rPr dirty="0" sz="900" spc="-25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900" spc="-180">
                <a:solidFill>
                  <a:srgbClr val="161616"/>
                </a:solidFill>
                <a:latin typeface="Arial Black"/>
                <a:cs typeface="Arial Black"/>
              </a:rPr>
              <a:t>review</a:t>
            </a:r>
            <a:r>
              <a:rPr dirty="0" sz="900" spc="15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900" spc="-300">
                <a:solidFill>
                  <a:srgbClr val="232323"/>
                </a:solidFill>
                <a:latin typeface="Arial Black"/>
                <a:cs typeface="Arial Black"/>
              </a:rPr>
              <a:t>&amp;</a:t>
            </a:r>
            <a:r>
              <a:rPr dirty="0" sz="900" spc="-3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900" spc="-135">
                <a:solidFill>
                  <a:srgbClr val="1A1A1A"/>
                </a:solidFill>
                <a:latin typeface="Arial Black"/>
                <a:cs typeface="Arial Black"/>
              </a:rPr>
              <a:t>approve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9652" y="4585017"/>
            <a:ext cx="6357620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0035">
              <a:lnSpc>
                <a:spcPct val="100000"/>
              </a:lnSpc>
              <a:spcBef>
                <a:spcPts val="100"/>
              </a:spcBef>
              <a:tabLst>
                <a:tab pos="3274695" algn="l"/>
              </a:tabLst>
            </a:pPr>
            <a:r>
              <a:rPr dirty="0" sz="1350" spc="-10">
                <a:latin typeface="Arial Black"/>
                <a:cs typeface="Arial Black"/>
              </a:rPr>
              <a:t>.................................................</a:t>
            </a:r>
            <a:r>
              <a:rPr dirty="0" sz="1350">
                <a:latin typeface="Arial Black"/>
                <a:cs typeface="Arial Black"/>
              </a:rPr>
              <a:t>	</a:t>
            </a:r>
            <a:r>
              <a:rPr dirty="0" sz="1350" spc="-25">
                <a:latin typeface="Arial Black"/>
                <a:cs typeface="Arial Black"/>
              </a:rPr>
              <a:t>....................................</a:t>
            </a:r>
            <a:r>
              <a:rPr dirty="0" sz="1350" spc="-15">
                <a:latin typeface="Arial Black"/>
                <a:cs typeface="Arial Black"/>
              </a:rPr>
              <a:t> </a:t>
            </a:r>
            <a:r>
              <a:rPr dirty="0" sz="1350" spc="-10">
                <a:solidFill>
                  <a:srgbClr val="363636"/>
                </a:solidFill>
                <a:latin typeface="Arial Black"/>
                <a:cs typeface="Arial Black"/>
              </a:rPr>
              <a:t>...................</a:t>
            </a:r>
            <a:endParaRPr sz="13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2865120" algn="l"/>
              </a:tabLst>
            </a:pPr>
            <a:r>
              <a:rPr dirty="0" sz="800" spc="-10">
                <a:solidFill>
                  <a:srgbClr val="496783"/>
                </a:solidFill>
                <a:latin typeface="Arial Black"/>
                <a:cs typeface="Arial Black"/>
              </a:rPr>
              <a:t>START</a:t>
            </a:r>
            <a:r>
              <a:rPr dirty="0" sz="800">
                <a:solidFill>
                  <a:srgbClr val="496783"/>
                </a:solidFill>
                <a:latin typeface="Arial Black"/>
                <a:cs typeface="Arial Black"/>
              </a:rPr>
              <a:t>	</a:t>
            </a:r>
            <a:r>
              <a:rPr dirty="0" sz="800" spc="-120">
                <a:solidFill>
                  <a:srgbClr val="151515"/>
                </a:solidFill>
                <a:latin typeface="Arial Black"/>
                <a:cs typeface="Arial Black"/>
              </a:rPr>
              <a:t>IN</a:t>
            </a:r>
            <a:r>
              <a:rPr dirty="0" sz="800" spc="-10">
                <a:solidFill>
                  <a:srgbClr val="151515"/>
                </a:solidFill>
                <a:latin typeface="Arial Black"/>
                <a:cs typeface="Arial Black"/>
              </a:rPr>
              <a:t> </a:t>
            </a:r>
            <a:r>
              <a:rPr dirty="0" sz="800" spc="-30">
                <a:solidFill>
                  <a:srgbClr val="1A1A1A"/>
                </a:solidFill>
                <a:latin typeface="Arial Black"/>
                <a:cs typeface="Arial Black"/>
              </a:rPr>
              <a:t>PROGRESS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3575" y="4877752"/>
            <a:ext cx="3181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35">
                <a:solidFill>
                  <a:srgbClr val="6B8764"/>
                </a:solidFill>
                <a:latin typeface="Arial Black"/>
                <a:cs typeface="Arial Black"/>
              </a:rPr>
              <a:t>FINISIJ</a:t>
            </a:r>
            <a:endParaRPr sz="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694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The</a:t>
            </a:r>
            <a:r>
              <a:rPr dirty="0" sz="2800" spc="-10"/>
              <a:t> 10-80-</a:t>
            </a:r>
            <a:r>
              <a:rPr dirty="0" sz="2800"/>
              <a:t>10</a:t>
            </a:r>
            <a:r>
              <a:rPr dirty="0" sz="2800" spc="5"/>
              <a:t> </a:t>
            </a:r>
            <a:r>
              <a:rPr dirty="0" sz="2800" spc="-10"/>
              <a:t>Split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31519" y="1188719"/>
            <a:ext cx="1463675" cy="1188720"/>
          </a:xfrm>
          <a:prstGeom prst="rect">
            <a:avLst/>
          </a:prstGeom>
          <a:solidFill>
            <a:srgbClr val="FFF6ED"/>
          </a:solidFill>
        </p:spPr>
        <p:txBody>
          <a:bodyPr wrap="square" lIns="0" tIns="46355" rIns="0" bIns="0" rtlCol="0" vert="horz">
            <a:spAutoFit/>
          </a:bodyPr>
          <a:lstStyle/>
          <a:p>
            <a:pPr marL="400685">
              <a:lnSpc>
                <a:spcPct val="100000"/>
              </a:lnSpc>
              <a:spcBef>
                <a:spcPts val="365"/>
              </a:spcBef>
            </a:pPr>
            <a:r>
              <a:rPr dirty="0" sz="2800" spc="-25">
                <a:solidFill>
                  <a:srgbClr val="F97316"/>
                </a:solidFill>
                <a:latin typeface="Georgia"/>
                <a:cs typeface="Georgia"/>
              </a:rPr>
              <a:t>10%</a:t>
            </a:r>
            <a:endParaRPr sz="2800">
              <a:latin typeface="Georgia"/>
              <a:cs typeface="Georgia"/>
            </a:endParaRPr>
          </a:p>
          <a:p>
            <a:pPr marL="454659" marR="359410" indent="-88900">
              <a:lnSpc>
                <a:spcPct val="100000"/>
              </a:lnSpc>
              <a:spcBef>
                <a:spcPts val="905"/>
              </a:spcBef>
            </a:pPr>
            <a:r>
              <a:rPr dirty="0" sz="1200">
                <a:solidFill>
                  <a:srgbClr val="F97316"/>
                </a:solidFill>
                <a:latin typeface="Calibri"/>
                <a:cs typeface="Calibri"/>
              </a:rPr>
              <a:t>Human</a:t>
            </a:r>
            <a:r>
              <a:rPr dirty="0" sz="1200" spc="-35">
                <a:solidFill>
                  <a:srgbClr val="F97316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97316"/>
                </a:solidFill>
                <a:latin typeface="Calibri"/>
                <a:cs typeface="Calibri"/>
              </a:rPr>
              <a:t>sets </a:t>
            </a:r>
            <a:r>
              <a:rPr dirty="0" sz="1200" spc="-10">
                <a:solidFill>
                  <a:srgbClr val="F97316"/>
                </a:solidFill>
                <a:latin typeface="Calibri"/>
                <a:cs typeface="Calibri"/>
              </a:rPr>
              <a:t>direction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7439" y="1188719"/>
            <a:ext cx="4572000" cy="1188720"/>
          </a:xfrm>
          <a:prstGeom prst="rect">
            <a:avLst/>
          </a:prstGeom>
          <a:solidFill>
            <a:srgbClr val="CCFAF1"/>
          </a:solidFill>
        </p:spPr>
        <p:txBody>
          <a:bodyPr wrap="square" lIns="0" tIns="46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dirty="0" sz="2800" spc="-25">
                <a:solidFill>
                  <a:srgbClr val="0F766E"/>
                </a:solidFill>
                <a:latin typeface="Georgia"/>
                <a:cs typeface="Georgia"/>
              </a:rPr>
              <a:t>80%</a:t>
            </a:r>
            <a:endParaRPr sz="2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625"/>
              </a:spcBef>
            </a:pPr>
            <a:r>
              <a:rPr dirty="0" sz="1200">
                <a:solidFill>
                  <a:srgbClr val="0F766E"/>
                </a:solidFill>
                <a:latin typeface="Calibri"/>
                <a:cs typeface="Calibri"/>
              </a:rPr>
              <a:t>AI</a:t>
            </a:r>
            <a:r>
              <a:rPr dirty="0" sz="12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F766E"/>
                </a:solidFill>
                <a:latin typeface="Calibri"/>
                <a:cs typeface="Calibri"/>
              </a:rPr>
              <a:t>does</a:t>
            </a:r>
            <a:r>
              <a:rPr dirty="0" sz="1200" spc="-2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F766E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F766E"/>
                </a:solidFill>
                <a:latin typeface="Calibri"/>
                <a:cs typeface="Calibri"/>
              </a:rPr>
              <a:t>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32319" y="1188719"/>
            <a:ext cx="1280160" cy="1188720"/>
          </a:xfrm>
          <a:prstGeom prst="rect">
            <a:avLst/>
          </a:prstGeom>
          <a:solidFill>
            <a:srgbClr val="FFF6ED"/>
          </a:solidFill>
        </p:spPr>
        <p:txBody>
          <a:bodyPr wrap="square" lIns="0" tIns="46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dirty="0" sz="2800" spc="-25">
                <a:solidFill>
                  <a:srgbClr val="F97316"/>
                </a:solidFill>
                <a:latin typeface="Georgia"/>
                <a:cs typeface="Georgia"/>
              </a:rPr>
              <a:t>10%</a:t>
            </a:r>
            <a:endParaRPr sz="2800">
              <a:latin typeface="Georgia"/>
              <a:cs typeface="Georgia"/>
            </a:endParaRPr>
          </a:p>
          <a:p>
            <a:pPr algn="ctr" marL="229235" marR="221615">
              <a:lnSpc>
                <a:spcPct val="100000"/>
              </a:lnSpc>
              <a:spcBef>
                <a:spcPts val="1030"/>
              </a:spcBef>
            </a:pPr>
            <a:r>
              <a:rPr dirty="0" sz="1100">
                <a:solidFill>
                  <a:srgbClr val="F97316"/>
                </a:solidFill>
                <a:latin typeface="Calibri"/>
                <a:cs typeface="Calibri"/>
              </a:rPr>
              <a:t>Human</a:t>
            </a:r>
            <a:r>
              <a:rPr dirty="0" sz="1100" spc="-25">
                <a:solidFill>
                  <a:srgbClr val="F9731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97316"/>
                </a:solidFill>
                <a:latin typeface="Calibri"/>
                <a:cs typeface="Calibri"/>
              </a:rPr>
              <a:t>checks </a:t>
            </a:r>
            <a:r>
              <a:rPr dirty="0" sz="1100">
                <a:solidFill>
                  <a:srgbClr val="F97316"/>
                </a:solidFill>
                <a:latin typeface="Calibri"/>
                <a:cs typeface="Calibri"/>
              </a:rPr>
              <a:t>&amp;</a:t>
            </a:r>
            <a:r>
              <a:rPr dirty="0" sz="1100" spc="-5">
                <a:solidFill>
                  <a:srgbClr val="F9731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97316"/>
                </a:solidFill>
                <a:latin typeface="Calibri"/>
                <a:cs typeface="Calibri"/>
              </a:rPr>
              <a:t>approves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545" y="2796540"/>
            <a:ext cx="5133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E11C48"/>
                </a:solidFill>
                <a:latin typeface="Georgia"/>
                <a:cs typeface="Georgia"/>
              </a:rPr>
              <a:t>Three</a:t>
            </a:r>
            <a:r>
              <a:rPr dirty="0" sz="2000" spc="-45">
                <a:solidFill>
                  <a:srgbClr val="E11C48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E11C48"/>
                </a:solidFill>
                <a:latin typeface="Georgia"/>
                <a:cs typeface="Georgia"/>
              </a:rPr>
              <a:t>Things</a:t>
            </a:r>
            <a:r>
              <a:rPr dirty="0" sz="2000" spc="-40">
                <a:solidFill>
                  <a:srgbClr val="E11C48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E11C48"/>
                </a:solidFill>
                <a:latin typeface="Georgia"/>
                <a:cs typeface="Georgia"/>
              </a:rPr>
              <a:t>That</a:t>
            </a:r>
            <a:r>
              <a:rPr dirty="0" sz="2000" spc="-40">
                <a:solidFill>
                  <a:srgbClr val="E11C48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E11C48"/>
                </a:solidFill>
                <a:latin typeface="Georgia"/>
                <a:cs typeface="Georgia"/>
              </a:rPr>
              <a:t>Always</a:t>
            </a:r>
            <a:r>
              <a:rPr dirty="0" sz="2000" spc="-40">
                <a:solidFill>
                  <a:srgbClr val="E11C48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E11C48"/>
                </a:solidFill>
                <a:latin typeface="Georgia"/>
                <a:cs typeface="Georgia"/>
              </a:rPr>
              <a:t>Stay</a:t>
            </a:r>
            <a:r>
              <a:rPr dirty="0" sz="2000" spc="-40">
                <a:solidFill>
                  <a:srgbClr val="E11C48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E11C48"/>
                </a:solidFill>
                <a:latin typeface="Georgia"/>
                <a:cs typeface="Georgia"/>
              </a:rPr>
              <a:t>With</a:t>
            </a:r>
            <a:r>
              <a:rPr dirty="0" sz="2000" spc="-45">
                <a:solidFill>
                  <a:srgbClr val="E11C48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E11C48"/>
                </a:solidFill>
                <a:latin typeface="Georgia"/>
                <a:cs typeface="Georgia"/>
              </a:rPr>
              <a:t>Humans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5320" y="3281679"/>
            <a:ext cx="2712720" cy="1432560"/>
            <a:chOff x="655320" y="3281679"/>
            <a:chExt cx="2712720" cy="14325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" y="3281679"/>
              <a:ext cx="2712600" cy="1432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20" y="3383279"/>
              <a:ext cx="2560320" cy="1280160"/>
            </a:xfrm>
            <a:custGeom>
              <a:avLst/>
              <a:gdLst/>
              <a:ahLst/>
              <a:cxnLst/>
              <a:rect l="l" t="t" r="r" b="b"/>
              <a:pathLst>
                <a:path w="2560320" h="1280160">
                  <a:moveTo>
                    <a:pt x="2560199" y="1280099"/>
                  </a:moveTo>
                  <a:lnTo>
                    <a:pt x="0" y="1280099"/>
                  </a:lnTo>
                  <a:lnTo>
                    <a:pt x="0" y="0"/>
                  </a:lnTo>
                  <a:lnTo>
                    <a:pt x="2560199" y="0"/>
                  </a:lnTo>
                  <a:lnTo>
                    <a:pt x="2560199" y="1280099"/>
                  </a:lnTo>
                  <a:close/>
                </a:path>
              </a:pathLst>
            </a:custGeom>
            <a:solidFill>
              <a:srgbClr val="FFF6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3566159"/>
              <a:ext cx="365759" cy="36575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31519" y="3383279"/>
            <a:ext cx="2560320" cy="128016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725805">
              <a:lnSpc>
                <a:spcPct val="100000"/>
              </a:lnSpc>
              <a:spcBef>
                <a:spcPts val="1560"/>
              </a:spcBef>
            </a:pPr>
            <a:r>
              <a:rPr dirty="0" sz="1500" spc="-10" b="1">
                <a:solidFill>
                  <a:srgbClr val="F97316"/>
                </a:solidFill>
                <a:latin typeface="Calibri"/>
                <a:cs typeface="Calibri"/>
              </a:rPr>
              <a:t>Intent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500">
              <a:latin typeface="Calibri"/>
              <a:cs typeface="Calibri"/>
            </a:endParaRPr>
          </a:p>
          <a:p>
            <a:pPr marL="725805">
              <a:lnSpc>
                <a:spcPct val="100000"/>
              </a:lnSpc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Knowing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what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you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want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44240" y="3281679"/>
            <a:ext cx="2712720" cy="1432560"/>
            <a:chOff x="3444240" y="3281679"/>
            <a:chExt cx="2712720" cy="143256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4240" y="3281679"/>
              <a:ext cx="2712600" cy="1432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20440" y="3383279"/>
              <a:ext cx="2560320" cy="1280160"/>
            </a:xfrm>
            <a:custGeom>
              <a:avLst/>
              <a:gdLst/>
              <a:ahLst/>
              <a:cxnLst/>
              <a:rect l="l" t="t" r="r" b="b"/>
              <a:pathLst>
                <a:path w="2560320" h="1280160">
                  <a:moveTo>
                    <a:pt x="2560199" y="1280099"/>
                  </a:moveTo>
                  <a:lnTo>
                    <a:pt x="0" y="1280099"/>
                  </a:lnTo>
                  <a:lnTo>
                    <a:pt x="0" y="0"/>
                  </a:lnTo>
                  <a:lnTo>
                    <a:pt x="2560199" y="0"/>
                  </a:lnTo>
                  <a:lnTo>
                    <a:pt x="2560199" y="128009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3320" y="3566159"/>
              <a:ext cx="365759" cy="36575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520440" y="3383279"/>
            <a:ext cx="2560320" cy="128016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725805">
              <a:lnSpc>
                <a:spcPct val="100000"/>
              </a:lnSpc>
              <a:spcBef>
                <a:spcPts val="1560"/>
              </a:spcBef>
            </a:pPr>
            <a:r>
              <a:rPr dirty="0" sz="1500" spc="-10" b="1">
                <a:solidFill>
                  <a:srgbClr val="16A34A"/>
                </a:solidFill>
                <a:latin typeface="Calibri"/>
                <a:cs typeface="Calibri"/>
              </a:rPr>
              <a:t>Verification</a:t>
            </a:r>
            <a:endParaRPr sz="1500">
              <a:latin typeface="Calibri"/>
              <a:cs typeface="Calibri"/>
            </a:endParaRPr>
          </a:p>
          <a:p>
            <a:pPr marL="725805" marR="439420">
              <a:lnSpc>
                <a:spcPct val="100000"/>
              </a:lnSpc>
              <a:spcBef>
                <a:spcPts val="127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Checking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if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work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is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good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33160" y="3281679"/>
            <a:ext cx="2712720" cy="1432560"/>
            <a:chOff x="6233160" y="3281679"/>
            <a:chExt cx="2712720" cy="143256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3160" y="3281679"/>
              <a:ext cx="2712600" cy="14325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309360" y="3383279"/>
              <a:ext cx="2560320" cy="1280160"/>
            </a:xfrm>
            <a:custGeom>
              <a:avLst/>
              <a:gdLst/>
              <a:ahLst/>
              <a:cxnLst/>
              <a:rect l="l" t="t" r="r" b="b"/>
              <a:pathLst>
                <a:path w="2560320" h="1280160">
                  <a:moveTo>
                    <a:pt x="2560199" y="1280099"/>
                  </a:moveTo>
                  <a:lnTo>
                    <a:pt x="0" y="1280099"/>
                  </a:lnTo>
                  <a:lnTo>
                    <a:pt x="0" y="0"/>
                  </a:lnTo>
                  <a:lnTo>
                    <a:pt x="2560199" y="0"/>
                  </a:lnTo>
                  <a:lnTo>
                    <a:pt x="2560199" y="1280099"/>
                  </a:lnTo>
                  <a:close/>
                </a:path>
              </a:pathLst>
            </a:custGeom>
            <a:solidFill>
              <a:srgbClr val="FF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2240" y="3566159"/>
              <a:ext cx="365759" cy="36575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309359" y="3383279"/>
            <a:ext cx="2560320" cy="128016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725805">
              <a:lnSpc>
                <a:spcPct val="100000"/>
              </a:lnSpc>
              <a:spcBef>
                <a:spcPts val="1560"/>
              </a:spcBef>
            </a:pPr>
            <a:r>
              <a:rPr dirty="0" sz="1500" spc="-10" b="1">
                <a:solidFill>
                  <a:srgbClr val="E11C48"/>
                </a:solidFill>
                <a:latin typeface="Calibri"/>
                <a:cs typeface="Calibri"/>
              </a:rPr>
              <a:t>Ownership</a:t>
            </a:r>
            <a:endParaRPr sz="1500">
              <a:latin typeface="Calibri"/>
              <a:cs typeface="Calibri"/>
            </a:endParaRPr>
          </a:p>
          <a:p>
            <a:pPr marL="725805" marR="283210">
              <a:lnSpc>
                <a:spcPct val="100000"/>
              </a:lnSpc>
              <a:spcBef>
                <a:spcPts val="127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Being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responsible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for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the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result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2414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You're</a:t>
            </a:r>
            <a:r>
              <a:rPr dirty="0" sz="2800" spc="-90"/>
              <a:t> </a:t>
            </a:r>
            <a:r>
              <a:rPr dirty="0" sz="2800" spc="-10"/>
              <a:t>Promoted,</a:t>
            </a:r>
            <a:r>
              <a:rPr dirty="0" sz="2800" spc="-85"/>
              <a:t> </a:t>
            </a:r>
            <a:r>
              <a:rPr dirty="0" sz="2800"/>
              <a:t>Not</a:t>
            </a:r>
            <a:r>
              <a:rPr dirty="0" sz="2800" spc="-85"/>
              <a:t> </a:t>
            </a:r>
            <a:r>
              <a:rPr dirty="0" sz="2800" spc="-10"/>
              <a:t>Replaced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31519" y="1005839"/>
            <a:ext cx="7680959" cy="1463675"/>
            <a:chOff x="731519" y="1005839"/>
            <a:chExt cx="7680959" cy="1463675"/>
          </a:xfrm>
        </p:grpSpPr>
        <p:sp>
          <p:nvSpPr>
            <p:cNvPr id="4" name="object 4"/>
            <p:cNvSpPr/>
            <p:nvPr/>
          </p:nvSpPr>
          <p:spPr>
            <a:xfrm>
              <a:off x="786419" y="1005839"/>
              <a:ext cx="7626350" cy="1463675"/>
            </a:xfrm>
            <a:custGeom>
              <a:avLst/>
              <a:gdLst/>
              <a:ahLst/>
              <a:cxnLst/>
              <a:rect l="l" t="t" r="r" b="b"/>
              <a:pathLst>
                <a:path w="7626350" h="1463675">
                  <a:moveTo>
                    <a:pt x="0" y="1463099"/>
                  </a:moveTo>
                  <a:lnTo>
                    <a:pt x="7625999" y="1463099"/>
                  </a:lnTo>
                  <a:lnTo>
                    <a:pt x="7625999" y="0"/>
                  </a:lnTo>
                  <a:lnTo>
                    <a:pt x="0" y="0"/>
                  </a:lnTo>
                  <a:lnTo>
                    <a:pt x="0" y="14630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19" y="1005839"/>
              <a:ext cx="55244" cy="1463675"/>
            </a:xfrm>
            <a:custGeom>
              <a:avLst/>
              <a:gdLst/>
              <a:ahLst/>
              <a:cxnLst/>
              <a:rect l="l" t="t" r="r" b="b"/>
              <a:pathLst>
                <a:path w="55245" h="1463675">
                  <a:moveTo>
                    <a:pt x="54899" y="1463099"/>
                  </a:moveTo>
                  <a:lnTo>
                    <a:pt x="0" y="1463099"/>
                  </a:lnTo>
                  <a:lnTo>
                    <a:pt x="0" y="0"/>
                  </a:lnTo>
                  <a:lnTo>
                    <a:pt x="54899" y="0"/>
                  </a:lnTo>
                  <a:lnTo>
                    <a:pt x="54899" y="1463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840" y="1188720"/>
              <a:ext cx="457199" cy="4571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86420" y="1119344"/>
            <a:ext cx="7626350" cy="126746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944880">
              <a:lnSpc>
                <a:spcPct val="100000"/>
              </a:lnSpc>
              <a:spcBef>
                <a:spcPts val="475"/>
              </a:spcBef>
            </a:pPr>
            <a:r>
              <a:rPr dirty="0" sz="1800" b="1">
                <a:solidFill>
                  <a:srgbClr val="0F766E"/>
                </a:solidFill>
                <a:latin typeface="Calibri"/>
                <a:cs typeface="Calibri"/>
              </a:rPr>
              <a:t>The</a:t>
            </a:r>
            <a:r>
              <a:rPr dirty="0" sz="1800" spc="-20" b="1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F766E"/>
                </a:solidFill>
                <a:latin typeface="Calibri"/>
                <a:cs typeface="Calibri"/>
              </a:rPr>
              <a:t>Human</a:t>
            </a:r>
            <a:r>
              <a:rPr dirty="0" sz="1800" spc="-20" b="1">
                <a:solidFill>
                  <a:srgbClr val="0F766E"/>
                </a:solidFill>
                <a:latin typeface="Calibri"/>
                <a:cs typeface="Calibri"/>
              </a:rPr>
              <a:t> Role</a:t>
            </a:r>
            <a:endParaRPr sz="1800">
              <a:latin typeface="Calibri"/>
              <a:cs typeface="Calibri"/>
            </a:endParaRPr>
          </a:p>
          <a:p>
            <a:pPr marL="944880">
              <a:lnSpc>
                <a:spcPct val="100000"/>
              </a:lnSpc>
              <a:spcBef>
                <a:spcPts val="330"/>
              </a:spcBef>
            </a:pP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You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are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promoted,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not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replaced.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From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typist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to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editor.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From</a:t>
            </a:r>
            <a:r>
              <a:rPr dirty="0" sz="1600" spc="-5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coder</a:t>
            </a:r>
            <a:r>
              <a:rPr dirty="0" sz="1600" spc="-6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  <a:p>
            <a:pPr marL="944880" marR="577850">
              <a:lnSpc>
                <a:spcPct val="130000"/>
              </a:lnSpc>
            </a:pP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architect.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From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worker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to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director.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AI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takes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over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middle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80%.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You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keep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parts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that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matter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most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—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direction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and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judgment.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640" y="2834639"/>
            <a:ext cx="1645920" cy="320675"/>
          </a:xfrm>
          <a:prstGeom prst="rect">
            <a:avLst/>
          </a:prstGeom>
          <a:solidFill>
            <a:srgbClr val="EEF1FF"/>
          </a:solidFill>
        </p:spPr>
        <p:txBody>
          <a:bodyPr wrap="square" lIns="0" tIns="62230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490"/>
              </a:spcBef>
            </a:pPr>
            <a:r>
              <a:rPr dirty="0" sz="1200">
                <a:solidFill>
                  <a:srgbClr val="4F46E4"/>
                </a:solidFill>
                <a:latin typeface="Consolas"/>
                <a:cs typeface="Consolas"/>
              </a:rPr>
              <a:t>REAL</a:t>
            </a:r>
            <a:r>
              <a:rPr dirty="0" sz="1200" spc="-50">
                <a:solidFill>
                  <a:srgbClr val="4F46E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Consolas"/>
                <a:cs typeface="Consolas"/>
              </a:rPr>
              <a:t>EXAMPLE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19" y="3383279"/>
            <a:ext cx="3657600" cy="1371600"/>
            <a:chOff x="731519" y="3383279"/>
            <a:chExt cx="3657600" cy="1371600"/>
          </a:xfrm>
        </p:grpSpPr>
        <p:sp>
          <p:nvSpPr>
            <p:cNvPr id="10" name="object 10"/>
            <p:cNvSpPr/>
            <p:nvPr/>
          </p:nvSpPr>
          <p:spPr>
            <a:xfrm>
              <a:off x="731519" y="3383279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36575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1371599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1519" y="3383279"/>
              <a:ext cx="3657600" cy="36830"/>
            </a:xfrm>
            <a:custGeom>
              <a:avLst/>
              <a:gdLst/>
              <a:ahLst/>
              <a:cxnLst/>
              <a:rect l="l" t="t" r="r" b="b"/>
              <a:pathLst>
                <a:path w="3657600" h="36829">
                  <a:moveTo>
                    <a:pt x="3657599" y="36599"/>
                  </a:moveTo>
                  <a:lnTo>
                    <a:pt x="0" y="36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36599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31519" y="3508278"/>
            <a:ext cx="3657600" cy="946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475568"/>
                </a:solidFill>
                <a:latin typeface="Consolas"/>
                <a:cs typeface="Consolas"/>
              </a:rPr>
              <a:t>Old</a:t>
            </a:r>
            <a:r>
              <a:rPr dirty="0" sz="1400" spc="-40" b="1">
                <a:solidFill>
                  <a:srgbClr val="475568"/>
                </a:solidFill>
                <a:latin typeface="Consolas"/>
                <a:cs typeface="Consolas"/>
              </a:rPr>
              <a:t> </a:t>
            </a:r>
            <a:r>
              <a:rPr dirty="0" sz="1400" spc="-25" b="1">
                <a:solidFill>
                  <a:srgbClr val="475568"/>
                </a:solidFill>
                <a:latin typeface="Consolas"/>
                <a:cs typeface="Consolas"/>
              </a:rPr>
              <a:t>Way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Consolas"/>
              <a:cs typeface="Consolas"/>
            </a:endParaRPr>
          </a:p>
          <a:p>
            <a:pPr marL="268605" marR="353695">
              <a:lnSpc>
                <a:spcPct val="100000"/>
              </a:lnSpc>
            </a:pPr>
            <a:r>
              <a:rPr dirty="0" sz="1600" spc="-25">
                <a:solidFill>
                  <a:srgbClr val="475568"/>
                </a:solidFill>
                <a:latin typeface="Calibri"/>
                <a:cs typeface="Calibri"/>
              </a:rPr>
              <a:t>You</a:t>
            </a:r>
            <a:r>
              <a:rPr dirty="0" sz="16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75568"/>
                </a:solidFill>
                <a:latin typeface="Calibri"/>
                <a:cs typeface="Calibri"/>
              </a:rPr>
              <a:t>spend</a:t>
            </a:r>
            <a:r>
              <a:rPr dirty="0" sz="16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75568"/>
                </a:solidFill>
                <a:latin typeface="Calibri"/>
                <a:cs typeface="Calibri"/>
              </a:rPr>
              <a:t>4</a:t>
            </a:r>
            <a:r>
              <a:rPr dirty="0" sz="16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75568"/>
                </a:solidFill>
                <a:latin typeface="Calibri"/>
                <a:cs typeface="Calibri"/>
              </a:rPr>
              <a:t>hours</a:t>
            </a:r>
            <a:r>
              <a:rPr dirty="0" sz="16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75568"/>
                </a:solidFill>
                <a:latin typeface="Calibri"/>
                <a:cs typeface="Calibri"/>
              </a:rPr>
              <a:t>writing</a:t>
            </a:r>
            <a:r>
              <a:rPr dirty="0" sz="16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75568"/>
                </a:solidFill>
                <a:latin typeface="Calibri"/>
                <a:cs typeface="Calibri"/>
              </a:rPr>
              <a:t>business report</a:t>
            </a:r>
            <a:r>
              <a:rPr dirty="0" sz="16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75568"/>
                </a:solidFill>
                <a:latin typeface="Calibri"/>
                <a:cs typeface="Calibri"/>
              </a:rPr>
              <a:t>yourself.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54879" y="3383279"/>
            <a:ext cx="3657600" cy="1371600"/>
            <a:chOff x="4754879" y="3383279"/>
            <a:chExt cx="3657600" cy="1371600"/>
          </a:xfrm>
        </p:grpSpPr>
        <p:sp>
          <p:nvSpPr>
            <p:cNvPr id="14" name="object 14"/>
            <p:cNvSpPr/>
            <p:nvPr/>
          </p:nvSpPr>
          <p:spPr>
            <a:xfrm>
              <a:off x="4754879" y="3383279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36575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13715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54879" y="3383279"/>
              <a:ext cx="3657600" cy="36830"/>
            </a:xfrm>
            <a:custGeom>
              <a:avLst/>
              <a:gdLst/>
              <a:ahLst/>
              <a:cxnLst/>
              <a:rect l="l" t="t" r="r" b="b"/>
              <a:pathLst>
                <a:path w="3657600" h="36829">
                  <a:moveTo>
                    <a:pt x="3657599" y="36599"/>
                  </a:moveTo>
                  <a:lnTo>
                    <a:pt x="0" y="365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365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754879" y="3457238"/>
            <a:ext cx="3657600" cy="117729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just" marL="268605">
              <a:lnSpc>
                <a:spcPct val="100000"/>
              </a:lnSpc>
              <a:spcBef>
                <a:spcPts val="500"/>
              </a:spcBef>
            </a:pPr>
            <a:r>
              <a:rPr dirty="0" sz="1400" b="1">
                <a:solidFill>
                  <a:srgbClr val="0F766E"/>
                </a:solidFill>
                <a:latin typeface="Consolas"/>
                <a:cs typeface="Consolas"/>
              </a:rPr>
              <a:t>New</a:t>
            </a:r>
            <a:r>
              <a:rPr dirty="0" sz="1400" spc="-40" b="1">
                <a:solidFill>
                  <a:srgbClr val="0F766E"/>
                </a:solidFill>
                <a:latin typeface="Consolas"/>
                <a:cs typeface="Consolas"/>
              </a:rPr>
              <a:t> </a:t>
            </a:r>
            <a:r>
              <a:rPr dirty="0" sz="1400" spc="-25" b="1">
                <a:solidFill>
                  <a:srgbClr val="0F766E"/>
                </a:solidFill>
                <a:latin typeface="Consolas"/>
                <a:cs typeface="Consolas"/>
              </a:rPr>
              <a:t>Way</a:t>
            </a:r>
            <a:endParaRPr sz="1400">
              <a:latin typeface="Consolas"/>
              <a:cs typeface="Consolas"/>
            </a:endParaRPr>
          </a:p>
          <a:p>
            <a:pPr algn="just" marL="181610">
              <a:lnSpc>
                <a:spcPct val="120000"/>
              </a:lnSpc>
              <a:spcBef>
                <a:spcPts val="75"/>
              </a:spcBef>
            </a:pP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20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min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writing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clear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instructions.</a:t>
            </a:r>
            <a:r>
              <a:rPr dirty="0" sz="16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AI</a:t>
            </a:r>
            <a:r>
              <a:rPr dirty="0" sz="16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writes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report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in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5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min.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20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min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reviewing</a:t>
            </a:r>
            <a:r>
              <a:rPr dirty="0" sz="1600" spc="-25">
                <a:solidFill>
                  <a:srgbClr val="1E293B"/>
                </a:solidFill>
                <a:latin typeface="Calibri"/>
                <a:cs typeface="Calibri"/>
              </a:rPr>
              <a:t> and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fixing.</a:t>
            </a:r>
            <a:r>
              <a:rPr dirty="0" sz="1600" spc="-4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Same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quality.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E293B"/>
                </a:solidFill>
                <a:latin typeface="Calibri"/>
                <a:cs typeface="Calibri"/>
              </a:rPr>
              <a:t>One-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tenth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E293B"/>
                </a:solidFill>
                <a:latin typeface="Calibri"/>
                <a:cs typeface="Calibri"/>
              </a:rPr>
              <a:t>time.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085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05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429768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From</a:t>
            </a:r>
            <a:r>
              <a:rPr dirty="0" sz="4000" spc="-7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"Smart</a:t>
            </a:r>
            <a:r>
              <a:rPr dirty="0" sz="4000" spc="-75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Tool" </a:t>
            </a:r>
            <a:r>
              <a:rPr dirty="0" sz="4000">
                <a:solidFill>
                  <a:srgbClr val="FFFFFF"/>
                </a:solidFill>
              </a:rPr>
              <a:t>to</a:t>
            </a:r>
            <a:r>
              <a:rPr dirty="0" sz="4000" spc="-4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"Smart</a:t>
            </a:r>
            <a:r>
              <a:rPr dirty="0" sz="4000" spc="-4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Worker"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915" cy="55244"/>
          </a:xfrm>
          <a:custGeom>
            <a:avLst/>
            <a:gdLst/>
            <a:ahLst/>
            <a:cxnLst/>
            <a:rect l="l" t="t" r="r" b="b"/>
            <a:pathLst>
              <a:path w="1097914" h="55245">
                <a:moveTo>
                  <a:pt x="1097399" y="54899"/>
                </a:moveTo>
                <a:lnTo>
                  <a:pt x="0" y="54899"/>
                </a:lnTo>
                <a:lnTo>
                  <a:pt x="0" y="0"/>
                </a:lnTo>
                <a:lnTo>
                  <a:pt x="1097399" y="0"/>
                </a:lnTo>
                <a:lnTo>
                  <a:pt x="1097399" y="54899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65" y="4463415"/>
            <a:ext cx="8555355" cy="5829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5090" y="3920490"/>
            <a:ext cx="308610" cy="3086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200" y="994410"/>
            <a:ext cx="2794635" cy="2457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4884" y="1194435"/>
            <a:ext cx="891540" cy="2457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6475" y="1171575"/>
            <a:ext cx="2788920" cy="22802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65759" y="3628644"/>
            <a:ext cx="3011805" cy="0"/>
          </a:xfrm>
          <a:custGeom>
            <a:avLst/>
            <a:gdLst/>
            <a:ahLst/>
            <a:cxnLst/>
            <a:rect l="l" t="t" r="r" b="b"/>
            <a:pathLst>
              <a:path w="3011804" h="0">
                <a:moveTo>
                  <a:pt x="0" y="0"/>
                </a:moveTo>
                <a:lnTo>
                  <a:pt x="3011424" y="0"/>
                </a:lnTo>
              </a:path>
            </a:pathLst>
          </a:custGeom>
          <a:ln w="12192">
            <a:solidFill>
              <a:srgbClr val="70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85103" y="3628644"/>
            <a:ext cx="3030220" cy="0"/>
          </a:xfrm>
          <a:custGeom>
            <a:avLst/>
            <a:gdLst/>
            <a:ahLst/>
            <a:cxnLst/>
            <a:rect l="l" t="t" r="r" b="b"/>
            <a:pathLst>
              <a:path w="3030220" h="0">
                <a:moveTo>
                  <a:pt x="0" y="0"/>
                </a:moveTo>
                <a:lnTo>
                  <a:pt x="3029712" y="0"/>
                </a:lnTo>
              </a:path>
            </a:pathLst>
          </a:custGeom>
          <a:ln w="12192">
            <a:solidFill>
              <a:srgbClr val="70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672" y="1714500"/>
            <a:ext cx="984885" cy="0"/>
          </a:xfrm>
          <a:custGeom>
            <a:avLst/>
            <a:gdLst/>
            <a:ahLst/>
            <a:cxnLst/>
            <a:rect l="l" t="t" r="r" b="b"/>
            <a:pathLst>
              <a:path w="984885" h="0">
                <a:moveTo>
                  <a:pt x="0" y="0"/>
                </a:moveTo>
                <a:lnTo>
                  <a:pt x="984504" y="0"/>
                </a:lnTo>
              </a:path>
            </a:pathLst>
          </a:custGeom>
          <a:ln w="12192">
            <a:solidFill>
              <a:srgbClr val="70838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06696" y="2016251"/>
            <a:ext cx="1079500" cy="0"/>
          </a:xfrm>
          <a:custGeom>
            <a:avLst/>
            <a:gdLst/>
            <a:ahLst/>
            <a:cxnLst/>
            <a:rect l="l" t="t" r="r" b="b"/>
            <a:pathLst>
              <a:path w="1079500" h="0">
                <a:moveTo>
                  <a:pt x="0" y="0"/>
                </a:moveTo>
                <a:lnTo>
                  <a:pt x="1078992" y="0"/>
                </a:lnTo>
              </a:path>
            </a:pathLst>
          </a:custGeom>
          <a:ln w="12192">
            <a:solidFill>
              <a:srgbClr val="577C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12791" y="175260"/>
            <a:ext cx="1356360" cy="0"/>
          </a:xfrm>
          <a:custGeom>
            <a:avLst/>
            <a:gdLst/>
            <a:ahLst/>
            <a:cxnLst/>
            <a:rect l="l" t="t" r="r" b="b"/>
            <a:pathLst>
              <a:path w="1356360" h="0">
                <a:moveTo>
                  <a:pt x="0" y="0"/>
                </a:moveTo>
                <a:lnTo>
                  <a:pt x="1356360" y="0"/>
                </a:lnTo>
              </a:path>
            </a:pathLst>
          </a:custGeom>
          <a:ln w="12192">
            <a:solidFill>
              <a:srgbClr val="57746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69480" y="175260"/>
            <a:ext cx="1542415" cy="0"/>
          </a:xfrm>
          <a:custGeom>
            <a:avLst/>
            <a:gdLst/>
            <a:ahLst/>
            <a:cxnLst/>
            <a:rect l="l" t="t" r="r" b="b"/>
            <a:pathLst>
              <a:path w="1542415" h="0">
                <a:moveTo>
                  <a:pt x="0" y="0"/>
                </a:moveTo>
                <a:lnTo>
                  <a:pt x="1542288" y="0"/>
                </a:lnTo>
              </a:path>
            </a:pathLst>
          </a:custGeom>
          <a:ln w="12192">
            <a:solidFill>
              <a:srgbClr val="57706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40554" y="3931920"/>
            <a:ext cx="902970" cy="12573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06315" y="2743200"/>
            <a:ext cx="194310" cy="2228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1480" y="800100"/>
            <a:ext cx="925830" cy="2628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8625" y="2606039"/>
            <a:ext cx="182879" cy="21145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2909" y="3051810"/>
            <a:ext cx="188595" cy="1943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77439" y="3886200"/>
            <a:ext cx="1720214" cy="3771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77865" y="3989070"/>
            <a:ext cx="320039" cy="18288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98406" y="1135697"/>
            <a:ext cx="97980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2260">
              <a:lnSpc>
                <a:spcPct val="105000"/>
              </a:lnSpc>
              <a:spcBef>
                <a:spcPts val="100"/>
              </a:spcBef>
            </a:pPr>
            <a:r>
              <a:rPr dirty="0" sz="1000" spc="-45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dirty="0" sz="1000" spc="-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81818"/>
                </a:solidFill>
                <a:latin typeface="Arial MT"/>
                <a:cs typeface="Arial MT"/>
              </a:rPr>
              <a:t>hold</a:t>
            </a:r>
            <a:r>
              <a:rPr dirty="0" sz="1000" spc="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C0C0C"/>
                </a:solidFill>
                <a:latin typeface="Arial MT"/>
                <a:cs typeface="Arial MT"/>
              </a:rPr>
              <a:t>it. </a:t>
            </a:r>
            <a:r>
              <a:rPr dirty="0" sz="1000" spc="-25">
                <a:solidFill>
                  <a:srgbClr val="2F2F2F"/>
                </a:solidFill>
                <a:latin typeface="Arial MT"/>
                <a:cs typeface="Arial MT"/>
              </a:rPr>
              <a:t>You</a:t>
            </a:r>
            <a:r>
              <a:rPr dirty="0" sz="1000" spc="-4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C1C1C"/>
                </a:solidFill>
                <a:latin typeface="Arial MT"/>
                <a:cs typeface="Arial MT"/>
              </a:rPr>
              <a:t>decide.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000" spc="-25">
                <a:solidFill>
                  <a:srgbClr val="2A2A2A"/>
                </a:solidFill>
                <a:latin typeface="Arial MT"/>
                <a:cs typeface="Arial MT"/>
              </a:rPr>
              <a:t>You</a:t>
            </a:r>
            <a:r>
              <a:rPr dirty="0" sz="10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A2A2A"/>
                </a:solidFill>
                <a:latin typeface="Arial MT"/>
                <a:cs typeface="Arial MT"/>
              </a:rPr>
              <a:t>do</a:t>
            </a:r>
            <a:r>
              <a:rPr dirty="0" sz="1000" spc="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work.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8966" y="1794827"/>
            <a:ext cx="8591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AI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B2B2B"/>
                </a:solidFill>
                <a:latin typeface="Arial MT"/>
                <a:cs typeface="Arial MT"/>
              </a:rPr>
              <a:t>as</a:t>
            </a:r>
            <a:r>
              <a:rPr dirty="0" sz="1000" spc="-45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2D2D"/>
                </a:solidFill>
                <a:latin typeface="Arial MT"/>
                <a:cs typeface="Arial MT"/>
              </a:rPr>
              <a:t>a</a:t>
            </a:r>
            <a:r>
              <a:rPr dirty="0" sz="1000" spc="20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165B60"/>
                </a:solidFill>
                <a:latin typeface="Arial MT"/>
                <a:cs typeface="Arial MT"/>
              </a:rPr>
              <a:t>TOOL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4173" y="2092007"/>
            <a:ext cx="528320" cy="3149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 indent="3810">
              <a:lnSpc>
                <a:spcPts val="1080"/>
              </a:lnSpc>
              <a:spcBef>
                <a:spcPts val="235"/>
              </a:spcBef>
            </a:pPr>
            <a:r>
              <a:rPr dirty="0" sz="1000" spc="-175">
                <a:solidFill>
                  <a:srgbClr val="131313"/>
                </a:solidFill>
                <a:latin typeface="Arial MT"/>
                <a:cs typeface="Arial MT"/>
              </a:rPr>
              <a:t>You</a:t>
            </a:r>
            <a:r>
              <a:rPr dirty="0" sz="1000" spc="-4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control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120">
                <a:latin typeface="Arial MT"/>
                <a:cs typeface="Arial MT"/>
              </a:rPr>
              <a:t>every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0A0A0A"/>
                </a:solidFill>
                <a:latin typeface="Arial MT"/>
                <a:cs typeface="Arial MT"/>
              </a:rPr>
              <a:t>step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4608" y="2552064"/>
            <a:ext cx="673100" cy="3124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 indent="635">
              <a:lnSpc>
                <a:spcPts val="1060"/>
              </a:lnSpc>
              <a:spcBef>
                <a:spcPts val="250"/>
              </a:spcBef>
            </a:pPr>
            <a:r>
              <a:rPr dirty="0" sz="1000" spc="-140">
                <a:solidFill>
                  <a:srgbClr val="0F0F0F"/>
                </a:solidFill>
                <a:latin typeface="Arial MT"/>
                <a:cs typeface="Arial MT"/>
              </a:rPr>
              <a:t>Tool</a:t>
            </a:r>
            <a:r>
              <a:rPr dirty="0" sz="1000" spc="-10">
                <a:solidFill>
                  <a:srgbClr val="0F0F0F"/>
                </a:solidFill>
                <a:latin typeface="Arial MT"/>
                <a:cs typeface="Arial MT"/>
              </a:rPr>
              <a:t> makes </a:t>
            </a:r>
            <a:r>
              <a:rPr dirty="0" sz="1000" spc="-120">
                <a:solidFill>
                  <a:srgbClr val="262626"/>
                </a:solidFill>
                <a:latin typeface="Arial MT"/>
                <a:cs typeface="Arial MT"/>
              </a:rPr>
              <a:t>one</a:t>
            </a:r>
            <a:r>
              <a:rPr dirty="0" sz="1000" spc="-10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2D2D2D"/>
                </a:solidFill>
                <a:latin typeface="Arial MT"/>
                <a:cs typeface="Arial MT"/>
              </a:rPr>
              <a:t>part</a:t>
            </a:r>
            <a:r>
              <a:rPr dirty="0" sz="100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000" spc="-100">
                <a:solidFill>
                  <a:srgbClr val="181818"/>
                </a:solidFill>
                <a:latin typeface="Arial MT"/>
                <a:cs typeface="Arial MT"/>
              </a:rPr>
              <a:t>faster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483" y="2983547"/>
            <a:ext cx="477520" cy="30924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 indent="3810">
              <a:lnSpc>
                <a:spcPts val="1030"/>
              </a:lnSpc>
              <a:spcBef>
                <a:spcPts val="275"/>
              </a:spcBef>
            </a:pPr>
            <a:r>
              <a:rPr dirty="0" sz="1000" spc="-17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dirty="0" sz="1000" spc="-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11111"/>
                </a:solidFill>
                <a:latin typeface="Arial MT"/>
                <a:cs typeface="Arial MT"/>
              </a:rPr>
              <a:t>still </a:t>
            </a:r>
            <a:r>
              <a:rPr dirty="0" sz="1000" spc="-120">
                <a:solidFill>
                  <a:srgbClr val="212121"/>
                </a:solidFill>
                <a:latin typeface="Arial MT"/>
                <a:cs typeface="Arial MT"/>
              </a:rPr>
              <a:t>do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the </a:t>
            </a:r>
            <a:r>
              <a:rPr dirty="0" sz="1000" spc="-80">
                <a:latin typeface="Arial MT"/>
                <a:cs typeface="Arial MT"/>
              </a:rPr>
              <a:t>job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2327" y="3986212"/>
            <a:ext cx="33083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660">
                <a:solidFill>
                  <a:srgbClr val="93DDDF"/>
                </a:solidFill>
                <a:latin typeface="Arial Black"/>
                <a:cs typeface="Arial Black"/>
              </a:rPr>
              <a:t>!**O</a:t>
            </a:r>
            <a:endParaRPr sz="215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12161" y="3867467"/>
            <a:ext cx="8426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20000"/>
              </a:lnSpc>
              <a:spcBef>
                <a:spcPts val="100"/>
              </a:spcBef>
            </a:pPr>
            <a:r>
              <a:rPr dirty="0" sz="1000">
                <a:solidFill>
                  <a:srgbClr val="18504B"/>
                </a:solidFill>
                <a:latin typeface="Arial MT"/>
                <a:cs typeface="Arial MT"/>
              </a:rPr>
              <a:t>Give</a:t>
            </a:r>
            <a:r>
              <a:rPr dirty="0" sz="1000" spc="150">
                <a:solidFill>
                  <a:srgbClr val="18504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C5B50"/>
                </a:solidFill>
                <a:latin typeface="Arial MT"/>
                <a:cs typeface="Arial MT"/>
              </a:rPr>
              <a:t>the</a:t>
            </a:r>
            <a:r>
              <a:rPr dirty="0" sz="1000" spc="335">
                <a:solidFill>
                  <a:srgbClr val="1C5B50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B5756"/>
                </a:solidFill>
                <a:latin typeface="Arial MT"/>
                <a:cs typeface="Arial MT"/>
              </a:rPr>
              <a:t>job </a:t>
            </a:r>
            <a:r>
              <a:rPr dirty="0" sz="1000" spc="-70">
                <a:solidFill>
                  <a:srgbClr val="313131"/>
                </a:solidFill>
                <a:latin typeface="Arial MT"/>
                <a:cs typeface="Arial MT"/>
              </a:rPr>
              <a:t>Define</a:t>
            </a:r>
            <a:r>
              <a:rPr dirty="0" sz="1000" spc="1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232323"/>
                </a:solidFill>
                <a:latin typeface="Arial MT"/>
                <a:cs typeface="Arial MT"/>
              </a:rPr>
              <a:t>what</a:t>
            </a:r>
            <a:r>
              <a:rPr dirty="0" sz="1000" spc="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494949"/>
                </a:solidFill>
                <a:latin typeface="Arial MT"/>
                <a:cs typeface="Arial MT"/>
              </a:rPr>
              <a:t>you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68084" y="79057"/>
            <a:ext cx="84899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14" b="1">
                <a:solidFill>
                  <a:srgbClr val="18675D"/>
                </a:solidFill>
                <a:latin typeface="Arial"/>
                <a:cs typeface="Arial"/>
              </a:rPr>
              <a:t>ANALOGY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4773255" y="246379"/>
            <a:ext cx="3994785" cy="8750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254"/>
              </a:lnSpc>
              <a:spcBef>
                <a:spcPts val="100"/>
              </a:spcBef>
            </a:pPr>
            <a:r>
              <a:rPr dirty="0" sz="3000" spc="-95">
                <a:solidFill>
                  <a:srgbClr val="080808"/>
                </a:solidFill>
                <a:latin typeface="Arial MT"/>
                <a:cs typeface="Arial MT"/>
              </a:rPr>
              <a:t>The</a:t>
            </a:r>
            <a:r>
              <a:rPr dirty="0" sz="3000" spc="-12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3000" spc="-35">
                <a:solidFill>
                  <a:srgbClr val="0C0C0C"/>
                </a:solidFill>
                <a:latin typeface="Arial MT"/>
                <a:cs typeface="Arial MT"/>
              </a:rPr>
              <a:t>Carpenter's</a:t>
            </a:r>
            <a:r>
              <a:rPr dirty="0" sz="300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0F0F0F"/>
                </a:solidFill>
                <a:latin typeface="Arial MT"/>
                <a:cs typeface="Arial MT"/>
              </a:rPr>
              <a:t>Drill</a:t>
            </a:r>
            <a:r>
              <a:rPr dirty="0" sz="3000" spc="114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000" spc="-35">
                <a:solidFill>
                  <a:srgbClr val="015B5D"/>
                </a:solidFill>
                <a:latin typeface="Arial MT"/>
                <a:cs typeface="Arial MT"/>
              </a:rPr>
              <a:t>vs.</a:t>
            </a:r>
            <a:endParaRPr sz="3000">
              <a:latin typeface="Arial MT"/>
              <a:cs typeface="Arial MT"/>
            </a:endParaRPr>
          </a:p>
          <a:p>
            <a:pPr marL="20320">
              <a:lnSpc>
                <a:spcPts val="3435"/>
              </a:lnSpc>
            </a:pPr>
            <a:r>
              <a:rPr dirty="0" sz="3150" spc="-100" b="1">
                <a:solidFill>
                  <a:srgbClr val="036462"/>
                </a:solidFill>
                <a:latin typeface="Arial"/>
                <a:cs typeface="Arial"/>
              </a:rPr>
              <a:t>Hiring</a:t>
            </a:r>
            <a:r>
              <a:rPr dirty="0" sz="3150" spc="-85" b="1">
                <a:solidFill>
                  <a:srgbClr val="036462"/>
                </a:solidFill>
                <a:latin typeface="Arial"/>
                <a:cs typeface="Arial"/>
              </a:rPr>
              <a:t> </a:t>
            </a:r>
            <a:r>
              <a:rPr dirty="0" sz="3150" spc="-95" b="1">
                <a:solidFill>
                  <a:srgbClr val="086260"/>
                </a:solidFill>
                <a:latin typeface="Arial"/>
                <a:cs typeface="Arial"/>
              </a:rPr>
              <a:t>a</a:t>
            </a:r>
            <a:r>
              <a:rPr dirty="0" sz="3150" spc="-150" b="1">
                <a:solidFill>
                  <a:srgbClr val="086260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1595B"/>
                </a:solidFill>
                <a:latin typeface="Arial"/>
                <a:cs typeface="Arial"/>
              </a:rPr>
              <a:t>Contractor</a:t>
            </a:r>
            <a:endParaRPr sz="3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76056" y="1486217"/>
            <a:ext cx="1122045" cy="4838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214629" indent="5715">
              <a:lnSpc>
                <a:spcPct val="101200"/>
              </a:lnSpc>
              <a:spcBef>
                <a:spcPts val="85"/>
              </a:spcBef>
            </a:pPr>
            <a:r>
              <a:rPr dirty="0" sz="1000" spc="-100">
                <a:latin typeface="Arial MT"/>
                <a:cs typeface="Arial MT"/>
              </a:rPr>
              <a:t>You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give </a:t>
            </a:r>
            <a:r>
              <a:rPr dirty="0" sz="100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job.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0A0A0A"/>
                </a:solidFill>
                <a:latin typeface="Arial MT"/>
                <a:cs typeface="Arial MT"/>
              </a:rPr>
              <a:t>does</a:t>
            </a:r>
            <a:r>
              <a:rPr dirty="0" sz="10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0C0C0C"/>
                </a:solidFill>
                <a:latin typeface="Arial MT"/>
                <a:cs typeface="Arial MT"/>
              </a:rPr>
              <a:t>work.</a:t>
            </a:r>
            <a:endParaRPr sz="1000">
              <a:latin typeface="Arial MT"/>
              <a:cs typeface="Arial MT"/>
            </a:endParaRPr>
          </a:p>
          <a:p>
            <a:pPr marL="18415">
              <a:lnSpc>
                <a:spcPts val="1195"/>
              </a:lnSpc>
            </a:pPr>
            <a:r>
              <a:rPr dirty="0" sz="1000" spc="-100">
                <a:latin typeface="Arial MT"/>
                <a:cs typeface="Arial MT"/>
              </a:rPr>
              <a:t>You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161616"/>
                </a:solidFill>
                <a:latin typeface="Arial MT"/>
                <a:cs typeface="Arial MT"/>
              </a:rPr>
              <a:t>check</a:t>
            </a:r>
            <a:r>
              <a:rPr dirty="0" sz="1000" spc="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C0C0C"/>
                </a:solidFill>
                <a:latin typeface="Arial MT"/>
                <a:cs typeface="Arial MT"/>
              </a:rPr>
              <a:t>result.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82371" y="2086292"/>
            <a:ext cx="10585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latin typeface="Arial MT"/>
                <a:cs typeface="Arial MT"/>
              </a:rPr>
              <a:t>AI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80">
                <a:solidFill>
                  <a:srgbClr val="2A2A2A"/>
                </a:solidFill>
                <a:latin typeface="Arial MT"/>
                <a:cs typeface="Arial MT"/>
              </a:rPr>
              <a:t>as</a:t>
            </a:r>
            <a:r>
              <a:rPr dirty="0" sz="10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dirty="0" sz="1000" spc="1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07605B"/>
                </a:solidFill>
                <a:latin typeface="Arial MT"/>
                <a:cs typeface="Arial MT"/>
              </a:rPr>
              <a:t>WORKER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0593" y="2269172"/>
            <a:ext cx="27495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90">
                <a:solidFill>
                  <a:srgbClr val="036954"/>
                </a:solidFill>
                <a:latin typeface="Arial MT"/>
                <a:cs typeface="Arial MT"/>
              </a:rPr>
              <a:t>€i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46395" y="2309177"/>
            <a:ext cx="706755" cy="107505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145" marR="127000" indent="-4445">
              <a:lnSpc>
                <a:spcPts val="1040"/>
              </a:lnSpc>
              <a:spcBef>
                <a:spcPts val="265"/>
              </a:spcBef>
            </a:pPr>
            <a:r>
              <a:rPr dirty="0" sz="1000" spc="-170">
                <a:solidFill>
                  <a:srgbClr val="0F0F0F"/>
                </a:solidFill>
                <a:latin typeface="Arial MT"/>
                <a:cs typeface="Arial MT"/>
              </a:rPr>
              <a:t>You</a:t>
            </a:r>
            <a:r>
              <a:rPr dirty="0" sz="1000" spc="-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define </a:t>
            </a:r>
            <a:r>
              <a:rPr dirty="0" sz="1000" spc="-10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dirty="0" sz="1000" spc="-4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000" spc="-120">
                <a:solidFill>
                  <a:srgbClr val="161616"/>
                </a:solidFill>
                <a:latin typeface="Arial MT"/>
                <a:cs typeface="Arial MT"/>
              </a:rPr>
              <a:t>outcome</a:t>
            </a:r>
            <a:endParaRPr sz="1000">
              <a:latin typeface="Arial MT"/>
              <a:cs typeface="Arial MT"/>
            </a:endParaRPr>
          </a:p>
          <a:p>
            <a:pPr marL="17145" marR="5080" indent="-5080">
              <a:lnSpc>
                <a:spcPts val="1080"/>
              </a:lnSpc>
              <a:spcBef>
                <a:spcPts val="860"/>
              </a:spcBef>
            </a:pPr>
            <a:r>
              <a:rPr dirty="0" sz="1000" spc="-140">
                <a:latin typeface="Arial MT"/>
                <a:cs typeface="Arial MT"/>
              </a:rPr>
              <a:t>Worker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130">
                <a:solidFill>
                  <a:srgbClr val="131313"/>
                </a:solidFill>
                <a:latin typeface="Arial MT"/>
                <a:cs typeface="Arial MT"/>
              </a:rPr>
              <a:t>handles</a:t>
            </a:r>
            <a:r>
              <a:rPr dirty="0" sz="1000" spc="5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80808"/>
                </a:solidFill>
                <a:latin typeface="Arial MT"/>
                <a:cs typeface="Arial MT"/>
              </a:rPr>
              <a:t>task</a:t>
            </a:r>
            <a:endParaRPr sz="1000">
              <a:latin typeface="Arial MT"/>
              <a:cs typeface="Arial MT"/>
            </a:endParaRPr>
          </a:p>
          <a:p>
            <a:pPr marL="17145" marR="219710" indent="-4445">
              <a:lnSpc>
                <a:spcPts val="1060"/>
              </a:lnSpc>
              <a:spcBef>
                <a:spcPts val="895"/>
              </a:spcBef>
            </a:pPr>
            <a:r>
              <a:rPr dirty="0" sz="1000" spc="-175">
                <a:latin typeface="Arial MT"/>
                <a:cs typeface="Arial MT"/>
              </a:rPr>
              <a:t>You</a:t>
            </a:r>
            <a:r>
              <a:rPr dirty="0" sz="1000" spc="-75">
                <a:latin typeface="Arial MT"/>
                <a:cs typeface="Arial MT"/>
              </a:rPr>
              <a:t> </a:t>
            </a:r>
            <a:r>
              <a:rPr dirty="0" sz="1000" spc="-125">
                <a:latin typeface="Arial MT"/>
                <a:cs typeface="Arial MT"/>
              </a:rPr>
              <a:t>reyiew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105">
                <a:latin typeface="Arial MT"/>
                <a:cs typeface="Arial MT"/>
              </a:rPr>
              <a:t>the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Arial MT"/>
                <a:cs typeface="Arial MT"/>
              </a:rPr>
              <a:t>result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00088" y="3517582"/>
            <a:ext cx="214058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45">
                <a:solidFill>
                  <a:srgbClr val="0A5656"/>
                </a:solidFill>
                <a:latin typeface="Arial MT"/>
                <a:cs typeface="Arial MT"/>
              </a:rPr>
              <a:t>Working</a:t>
            </a:r>
            <a:r>
              <a:rPr dirty="0" sz="1250" spc="185">
                <a:solidFill>
                  <a:srgbClr val="0A5656"/>
                </a:solidFill>
                <a:latin typeface="Arial MT"/>
                <a:cs typeface="Arial MT"/>
              </a:rPr>
              <a:t> </a:t>
            </a:r>
            <a:r>
              <a:rPr dirty="0" sz="1250" spc="75">
                <a:solidFill>
                  <a:srgbClr val="1C6967"/>
                </a:solidFill>
                <a:latin typeface="Arial MT"/>
                <a:cs typeface="Arial MT"/>
              </a:rPr>
              <a:t>with</a:t>
            </a:r>
            <a:r>
              <a:rPr dirty="0" sz="1250" spc="120">
                <a:solidFill>
                  <a:srgbClr val="1C6967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0F5054"/>
                </a:solidFill>
                <a:latin typeface="Arial MT"/>
                <a:cs typeface="Arial MT"/>
              </a:rPr>
              <a:t>Al</a:t>
            </a:r>
            <a:r>
              <a:rPr dirty="0" sz="1250" spc="40">
                <a:solidFill>
                  <a:srgbClr val="0F505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86060"/>
                </a:solidFill>
                <a:latin typeface="Arial MT"/>
                <a:cs typeface="Arial MT"/>
              </a:rPr>
              <a:t>is</a:t>
            </a:r>
            <a:r>
              <a:rPr dirty="0" sz="1250" spc="40">
                <a:solidFill>
                  <a:srgbClr val="286060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D6260"/>
                </a:solidFill>
                <a:latin typeface="Arial MT"/>
                <a:cs typeface="Arial MT"/>
              </a:rPr>
              <a:t>the</a:t>
            </a:r>
            <a:r>
              <a:rPr dirty="0" sz="1250" spc="100">
                <a:solidFill>
                  <a:srgbClr val="1D6260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2F6460"/>
                </a:solidFill>
                <a:latin typeface="Arial MT"/>
                <a:cs typeface="Arial MT"/>
              </a:rPr>
              <a:t>same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44559" y="4080827"/>
            <a:ext cx="7861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It</a:t>
            </a:r>
            <a:r>
              <a:rPr dirty="0" sz="10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hddees </a:t>
            </a:r>
            <a:r>
              <a:rPr dirty="0" sz="1000" spc="-100">
                <a:solidFill>
                  <a:srgbClr val="212121"/>
                </a:solidFill>
                <a:latin typeface="Arial MT"/>
                <a:cs typeface="Arial MT"/>
              </a:rPr>
              <a:t>he</a:t>
            </a:r>
            <a:r>
              <a:rPr dirty="0" sz="10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39423" y="3948747"/>
            <a:ext cx="6159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212121"/>
                </a:solidFill>
                <a:latin typeface="Arial MT"/>
                <a:cs typeface="Arial MT"/>
              </a:rPr>
              <a:t>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50895" y="3885247"/>
            <a:ext cx="1301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5">
                <a:solidFill>
                  <a:srgbClr val="236464"/>
                </a:solidFill>
                <a:latin typeface="Arial MT"/>
                <a:cs typeface="Arial MT"/>
              </a:rPr>
              <a:t>Al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84694" y="3878897"/>
            <a:ext cx="107505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2500"/>
              </a:lnSpc>
              <a:spcBef>
                <a:spcPts val="100"/>
              </a:spcBef>
            </a:pPr>
            <a:r>
              <a:rPr dirty="0" sz="1000" spc="60">
                <a:solidFill>
                  <a:srgbClr val="1F5459"/>
                </a:solidFill>
                <a:latin typeface="Arial MT"/>
                <a:cs typeface="Arial MT"/>
              </a:rPr>
              <a:t>Check</a:t>
            </a:r>
            <a:r>
              <a:rPr dirty="0" sz="1000" spc="30">
                <a:solidFill>
                  <a:srgbClr val="1F5459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0F443F"/>
                </a:solidFill>
                <a:latin typeface="Arial MT"/>
                <a:cs typeface="Arial MT"/>
              </a:rPr>
              <a:t>the</a:t>
            </a:r>
            <a:r>
              <a:rPr dirty="0" sz="1000" spc="160">
                <a:solidFill>
                  <a:srgbClr val="0F443F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65D56"/>
                </a:solidFill>
                <a:latin typeface="Arial MT"/>
                <a:cs typeface="Arial MT"/>
              </a:rPr>
              <a:t>result </a:t>
            </a:r>
            <a:r>
              <a:rPr dirty="0" sz="1000" spc="-85">
                <a:solidFill>
                  <a:srgbClr val="2F2F2F"/>
                </a:solidFill>
                <a:latin typeface="Arial MT"/>
                <a:cs typeface="Arial MT"/>
              </a:rPr>
              <a:t>Review</a:t>
            </a:r>
            <a:r>
              <a:rPr dirty="0" sz="1000" spc="3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2B2B2B"/>
                </a:solidFill>
                <a:latin typeface="Arial MT"/>
                <a:cs typeface="Arial MT"/>
              </a:rPr>
              <a:t>approve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6F7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70280" y="749300"/>
            <a:ext cx="7204075" cy="3454400"/>
            <a:chOff x="970280" y="749300"/>
            <a:chExt cx="7204075" cy="3454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280" y="749300"/>
              <a:ext cx="7203500" cy="3454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7279" y="969299"/>
              <a:ext cx="6950075" cy="3145790"/>
            </a:xfrm>
            <a:custGeom>
              <a:avLst/>
              <a:gdLst/>
              <a:ahLst/>
              <a:cxnLst/>
              <a:rect l="l" t="t" r="r" b="b"/>
              <a:pathLst>
                <a:path w="6950075" h="3145790">
                  <a:moveTo>
                    <a:pt x="0" y="3145499"/>
                  </a:moveTo>
                  <a:lnTo>
                    <a:pt x="6949499" y="3145499"/>
                  </a:lnTo>
                  <a:lnTo>
                    <a:pt x="6949499" y="0"/>
                  </a:lnTo>
                  <a:lnTo>
                    <a:pt x="0" y="0"/>
                  </a:lnTo>
                  <a:lnTo>
                    <a:pt x="0" y="314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7279" y="914399"/>
              <a:ext cx="6950075" cy="55244"/>
            </a:xfrm>
            <a:custGeom>
              <a:avLst/>
              <a:gdLst/>
              <a:ahLst/>
              <a:cxnLst/>
              <a:rect l="l" t="t" r="r" b="b"/>
              <a:pathLst>
                <a:path w="6950075" h="55244">
                  <a:moveTo>
                    <a:pt x="6949499" y="54899"/>
                  </a:moveTo>
                  <a:lnTo>
                    <a:pt x="0" y="54899"/>
                  </a:lnTo>
                  <a:lnTo>
                    <a:pt x="0" y="0"/>
                  </a:lnTo>
                  <a:lnTo>
                    <a:pt x="6949499" y="0"/>
                  </a:lnTo>
                  <a:lnTo>
                    <a:pt x="6949499" y="548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44625" y="1246661"/>
            <a:ext cx="9461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11C48"/>
                </a:solidFill>
                <a:latin typeface="Consolas"/>
                <a:cs typeface="Consolas"/>
              </a:rPr>
              <a:t>KEY</a:t>
            </a:r>
            <a:r>
              <a:rPr dirty="0" sz="1100" spc="-25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E11C48"/>
                </a:solidFill>
                <a:latin typeface="Consolas"/>
                <a:cs typeface="Consolas"/>
              </a:rPr>
              <a:t>TAKEAWAY</a:t>
            </a:r>
            <a:endParaRPr sz="1100">
              <a:latin typeface="Consolas"/>
              <a:cs typeface="Consola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6240" y="1371945"/>
            <a:ext cx="731519" cy="7315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72816" y="2236724"/>
            <a:ext cx="5195570" cy="173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The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biggest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shift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in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AI</a:t>
            </a:r>
            <a:r>
              <a:rPr dirty="0" sz="18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right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now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isn't</a:t>
            </a:r>
            <a:r>
              <a:rPr dirty="0" sz="1800" spc="-4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about</a:t>
            </a:r>
            <a:r>
              <a:rPr dirty="0" sz="1800" spc="-3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1E293B"/>
                </a:solidFill>
                <a:latin typeface="Georgia"/>
                <a:cs typeface="Georgia"/>
              </a:rPr>
              <a:t>making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smarter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tools.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It's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about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turning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AI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from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a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tool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 spc="-25">
                <a:solidFill>
                  <a:srgbClr val="1E293B"/>
                </a:solidFill>
                <a:latin typeface="Georgia"/>
                <a:cs typeface="Georgia"/>
              </a:rPr>
              <a:t>you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use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into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a</a:t>
            </a:r>
            <a:r>
              <a:rPr dirty="0" sz="1800" spc="-4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worker</a:t>
            </a:r>
            <a:r>
              <a:rPr dirty="0" sz="1800" spc="-50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1E293B"/>
                </a:solidFill>
                <a:latin typeface="Georgia"/>
                <a:cs typeface="Georgia"/>
              </a:rPr>
              <a:t>you</a:t>
            </a:r>
            <a:r>
              <a:rPr dirty="0" sz="1800" spc="-45">
                <a:solidFill>
                  <a:srgbClr val="1E293B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1E293B"/>
                </a:solidFill>
                <a:latin typeface="Georgia"/>
                <a:cs typeface="Georgia"/>
              </a:rPr>
              <a:t>hire.</a:t>
            </a:r>
            <a:endParaRPr sz="1800">
              <a:latin typeface="Georgia"/>
              <a:cs typeface="Georgia"/>
            </a:endParaRPr>
          </a:p>
          <a:p>
            <a:pPr algn="ctr" marL="1104900" marR="1096010">
              <a:lnSpc>
                <a:spcPct val="130000"/>
              </a:lnSpc>
              <a:spcBef>
                <a:spcPts val="355"/>
              </a:spcBef>
            </a:pPr>
            <a:r>
              <a:rPr dirty="0" sz="1500" spc="-30">
                <a:solidFill>
                  <a:srgbClr val="94A3B8"/>
                </a:solidFill>
                <a:latin typeface="Calibri"/>
                <a:cs typeface="Calibri"/>
              </a:rPr>
              <a:t>You</a:t>
            </a:r>
            <a:r>
              <a:rPr dirty="0" sz="1500" spc="-5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stop</a:t>
            </a:r>
            <a:r>
              <a:rPr dirty="0" sz="150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paying</a:t>
            </a:r>
            <a:r>
              <a:rPr dirty="0" sz="150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dirty="0" sz="1500" spc="-5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access</a:t>
            </a:r>
            <a:r>
              <a:rPr dirty="0" sz="150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to</a:t>
            </a:r>
            <a:r>
              <a:rPr dirty="0" sz="150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94A3B8"/>
                </a:solidFill>
                <a:latin typeface="Calibri"/>
                <a:cs typeface="Calibri"/>
              </a:rPr>
              <a:t>software. </a:t>
            </a:r>
            <a:r>
              <a:rPr dirty="0" sz="1500" spc="-30">
                <a:solidFill>
                  <a:srgbClr val="94A3B8"/>
                </a:solidFill>
                <a:latin typeface="Calibri"/>
                <a:cs typeface="Calibri"/>
              </a:rPr>
              <a:t>You</a:t>
            </a:r>
            <a:r>
              <a:rPr dirty="0" sz="150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start</a:t>
            </a:r>
            <a:r>
              <a:rPr dirty="0" sz="15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paying</a:t>
            </a:r>
            <a:r>
              <a:rPr dirty="0" sz="150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dirty="0" sz="15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94A3B8"/>
                </a:solidFill>
                <a:latin typeface="Calibri"/>
                <a:cs typeface="Calibri"/>
              </a:rPr>
              <a:t>finished</a:t>
            </a:r>
            <a:r>
              <a:rPr dirty="0" sz="15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94A3B8"/>
                </a:solidFill>
                <a:latin typeface="Calibri"/>
                <a:cs typeface="Calibri"/>
              </a:rPr>
              <a:t>results.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563" y="967480"/>
            <a:ext cx="1207982" cy="20060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346" y="1601536"/>
            <a:ext cx="1945890" cy="743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7574" y="1049470"/>
            <a:ext cx="1459417" cy="12845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1202" y="1104130"/>
            <a:ext cx="901887" cy="10276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97522" y="2536220"/>
            <a:ext cx="5465" cy="601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65788" y="3470904"/>
            <a:ext cx="5465" cy="3470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8281" y="3541962"/>
            <a:ext cx="399016" cy="1694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51003" y="2191862"/>
            <a:ext cx="289697" cy="4810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1812" y="1596069"/>
            <a:ext cx="1874832" cy="7105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8104" y="1607002"/>
            <a:ext cx="749300" cy="694690"/>
            <a:chOff x="3438104" y="1607002"/>
            <a:chExt cx="749300" cy="694690"/>
          </a:xfrm>
        </p:grpSpPr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09162" y="1607002"/>
              <a:ext cx="677782" cy="3498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38104" y="1967757"/>
              <a:ext cx="748840" cy="333425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65788" y="3399847"/>
            <a:ext cx="377153" cy="4181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49233" y="2191862"/>
            <a:ext cx="278765" cy="48100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214274" y="2372240"/>
            <a:ext cx="136649" cy="12571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82461" y="3536496"/>
            <a:ext cx="798033" cy="20224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64451" y="2465162"/>
            <a:ext cx="1115060" cy="52473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81124" y="3539229"/>
            <a:ext cx="333425" cy="17217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651827" y="1388362"/>
            <a:ext cx="142115" cy="15304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504247" y="3539229"/>
            <a:ext cx="552064" cy="194042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5056036" y="1984155"/>
            <a:ext cx="984250" cy="989965"/>
            <a:chOff x="5056036" y="1984155"/>
            <a:chExt cx="984250" cy="989965"/>
          </a:xfrm>
        </p:grpSpPr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38654" y="1984155"/>
              <a:ext cx="426346" cy="31156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56036" y="2306648"/>
              <a:ext cx="983877" cy="666851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8281" y="3541962"/>
            <a:ext cx="399016" cy="16944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171096" y="3405313"/>
            <a:ext cx="60125" cy="6012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728627" y="1836573"/>
            <a:ext cx="1852969" cy="53020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083641" y="2858714"/>
            <a:ext cx="2497955" cy="45914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833031" y="3804330"/>
            <a:ext cx="5465" cy="9838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57530" y="3367051"/>
            <a:ext cx="1699921" cy="24050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64254" y="4334531"/>
            <a:ext cx="497404" cy="50287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520369" y="1552341"/>
            <a:ext cx="213173" cy="24050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466535" y="4591433"/>
            <a:ext cx="508336" cy="213173"/>
          </a:xfrm>
          <a:prstGeom prst="rect">
            <a:avLst/>
          </a:prstGeom>
        </p:spPr>
      </p:pic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474508" y="42210"/>
            <a:ext cx="8161020" cy="717550"/>
          </a:xfrm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2800" spc="-150">
                <a:solidFill>
                  <a:srgbClr val="0049E2"/>
                </a:solidFill>
                <a:latin typeface="Arial MT"/>
                <a:cs typeface="Arial MT"/>
              </a:rPr>
              <a:t>Mode</a:t>
            </a:r>
            <a:r>
              <a:rPr dirty="0" sz="2800" spc="40">
                <a:solidFill>
                  <a:srgbClr val="0049E2"/>
                </a:solidFill>
                <a:latin typeface="Arial MT"/>
                <a:cs typeface="Arial MT"/>
              </a:rPr>
              <a:t> </a:t>
            </a:r>
            <a:r>
              <a:rPr dirty="0" sz="2800" spc="-125">
                <a:solidFill>
                  <a:srgbClr val="0550DF"/>
                </a:solidFill>
                <a:latin typeface="Arial MT"/>
                <a:cs typeface="Arial MT"/>
              </a:rPr>
              <a:t>2:</a:t>
            </a:r>
            <a:r>
              <a:rPr dirty="0" sz="2800" spc="-95">
                <a:solidFill>
                  <a:srgbClr val="0550DF"/>
                </a:solidFill>
                <a:latin typeface="Arial MT"/>
                <a:cs typeface="Arial MT"/>
              </a:rPr>
              <a:t> </a:t>
            </a:r>
            <a:r>
              <a:rPr dirty="0" sz="2800" spc="-200">
                <a:solidFill>
                  <a:srgbClr val="050505"/>
                </a:solidFill>
                <a:latin typeface="Arial MT"/>
                <a:cs typeface="Arial MT"/>
              </a:rPr>
              <a:t>Using</a:t>
            </a:r>
            <a:r>
              <a:rPr dirty="0" sz="2800" spc="-8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800" spc="-225">
                <a:solidFill>
                  <a:srgbClr val="000000"/>
                </a:solidFill>
                <a:latin typeface="Arial MT"/>
                <a:cs typeface="Arial MT"/>
              </a:rPr>
              <a:t>General</a:t>
            </a:r>
            <a:r>
              <a:rPr dirty="0" sz="2800" spc="-6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spc="-180">
                <a:solidFill>
                  <a:srgbClr val="000000"/>
                </a:solidFill>
                <a:latin typeface="Arial MT"/>
                <a:cs typeface="Arial MT"/>
              </a:rPr>
              <a:t>Agents</a:t>
            </a:r>
            <a:r>
              <a:rPr dirty="0" sz="2800" spc="-1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spc="-35">
                <a:solidFill>
                  <a:srgbClr val="0C0C0C"/>
                </a:solidFill>
                <a:latin typeface="Arial MT"/>
                <a:cs typeface="Arial MT"/>
              </a:rPr>
              <a:t>to</a:t>
            </a:r>
            <a:r>
              <a:rPr dirty="0" sz="2800" spc="-2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800" spc="-175">
                <a:solidFill>
                  <a:srgbClr val="000000"/>
                </a:solidFill>
                <a:latin typeface="Arial MT"/>
                <a:cs typeface="Arial MT"/>
              </a:rPr>
              <a:t>Manufacture</a:t>
            </a:r>
            <a:r>
              <a:rPr dirty="0" sz="2800" spc="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spc="-90">
                <a:solidFill>
                  <a:srgbClr val="0A0A0A"/>
                </a:solidFill>
                <a:latin typeface="Arial MT"/>
                <a:cs typeface="Arial MT"/>
              </a:rPr>
              <a:t>Al</a:t>
            </a:r>
            <a:r>
              <a:rPr dirty="0" sz="2800" spc="-17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800" spc="-125">
                <a:solidFill>
                  <a:srgbClr val="000000"/>
                </a:solidFill>
                <a:latin typeface="Arial MT"/>
                <a:cs typeface="Arial MT"/>
              </a:rPr>
              <a:t>Workers</a:t>
            </a:r>
            <a:endParaRPr sz="2800">
              <a:latin typeface="Arial MT"/>
              <a:cs typeface="Arial MT"/>
            </a:endParaRPr>
          </a:p>
          <a:p>
            <a:pPr algn="ctr" marL="117475">
              <a:lnSpc>
                <a:spcPct val="100000"/>
              </a:lnSpc>
              <a:spcBef>
                <a:spcPts val="210"/>
              </a:spcBef>
            </a:pPr>
            <a:r>
              <a:rPr dirty="0" sz="1100" spc="-50">
                <a:solidFill>
                  <a:srgbClr val="000000"/>
                </a:solidFill>
                <a:latin typeface="Arial MT"/>
                <a:cs typeface="Arial MT"/>
              </a:rPr>
              <a:t>General</a:t>
            </a:r>
            <a:r>
              <a:rPr dirty="0" sz="1100" spc="-2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000000"/>
                </a:solidFill>
                <a:latin typeface="Arial MT"/>
                <a:cs typeface="Arial MT"/>
              </a:rPr>
              <a:t>agents</a:t>
            </a:r>
            <a:r>
              <a:rPr dirty="0" sz="1100" spc="-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000000"/>
                </a:solidFill>
                <a:latin typeface="Arial MT"/>
                <a:cs typeface="Arial MT"/>
              </a:rPr>
              <a:t>such</a:t>
            </a:r>
            <a:r>
              <a:rPr dirty="0" sz="1100" spc="-2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90">
                <a:solidFill>
                  <a:srgbClr val="0C0C0C"/>
                </a:solidFill>
                <a:latin typeface="Arial MT"/>
                <a:cs typeface="Arial MT"/>
              </a:rPr>
              <a:t>as</a:t>
            </a:r>
            <a:r>
              <a:rPr dirty="0" sz="110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000000"/>
                </a:solidFill>
                <a:latin typeface="Arial MT"/>
                <a:cs typeface="Arial MT"/>
              </a:rPr>
              <a:t>Claude</a:t>
            </a:r>
            <a:r>
              <a:rPr dirty="0" sz="1100" spc="2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000000"/>
                </a:solidFill>
                <a:latin typeface="Arial MT"/>
                <a:cs typeface="Arial MT"/>
              </a:rPr>
              <a:t>Code</a:t>
            </a:r>
            <a:r>
              <a:rPr dirty="0" sz="1100" spc="-2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000000"/>
                </a:solidFill>
                <a:latin typeface="Arial MT"/>
                <a:cs typeface="Arial MT"/>
              </a:rPr>
              <a:t>OpenCode</a:t>
            </a:r>
            <a:r>
              <a:rPr dirty="0" sz="1100" spc="4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080808"/>
                </a:solidFill>
                <a:latin typeface="Arial MT"/>
                <a:cs typeface="Arial MT"/>
              </a:rPr>
              <a:t>are</a:t>
            </a:r>
            <a:r>
              <a:rPr dirty="0" sz="1100" spc="-2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000000"/>
                </a:solidFill>
                <a:latin typeface="Arial MT"/>
                <a:cs typeface="Arial MT"/>
              </a:rPr>
              <a:t>used</a:t>
            </a:r>
            <a:r>
              <a:rPr dirty="0" sz="1100" spc="-2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1100" spc="-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000000"/>
                </a:solidFill>
                <a:latin typeface="Arial MT"/>
                <a:cs typeface="Arial MT"/>
              </a:rPr>
              <a:t>build,</a:t>
            </a:r>
            <a:r>
              <a:rPr dirty="0" sz="1100" spc="-4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000000"/>
                </a:solidFill>
                <a:latin typeface="Arial MT"/>
                <a:cs typeface="Arial MT"/>
              </a:rPr>
              <a:t>configure,</a:t>
            </a:r>
            <a:r>
              <a:rPr dirty="0" sz="1100" spc="3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000000"/>
                </a:solidFill>
                <a:latin typeface="Arial MT"/>
                <a:cs typeface="Arial MT"/>
              </a:rPr>
              <a:t> deploy</a:t>
            </a:r>
            <a:r>
              <a:rPr dirty="0" sz="1100" spc="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000000"/>
                </a:solidFill>
                <a:latin typeface="Arial MT"/>
                <a:cs typeface="Arial MT"/>
              </a:rPr>
              <a:t>AI</a:t>
            </a:r>
            <a:r>
              <a:rPr dirty="0" sz="1100" spc="-2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00000"/>
                </a:solidFill>
                <a:latin typeface="Arial MT"/>
                <a:cs typeface="Arial MT"/>
              </a:rPr>
              <a:t>Workers.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5470" y="1207735"/>
            <a:ext cx="1529715" cy="30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-75">
                <a:latin typeface="Arial MT"/>
                <a:cs typeface="Arial MT"/>
              </a:rPr>
              <a:t>General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Agents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11621" y="1840574"/>
            <a:ext cx="98107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90">
                <a:latin typeface="Arial MT"/>
                <a:cs typeface="Arial MT"/>
              </a:rPr>
              <a:t>Claude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450" spc="-95">
                <a:solidFill>
                  <a:srgbClr val="030303"/>
                </a:solidFill>
                <a:latin typeface="Arial MT"/>
                <a:cs typeface="Arial MT"/>
              </a:rPr>
              <a:t>Code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4643" y="2659259"/>
            <a:ext cx="3365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550" spc="-505">
                <a:solidFill>
                  <a:srgbClr val="5BA79C"/>
                </a:solidFill>
                <a:latin typeface="Arial MT"/>
                <a:cs typeface="Arial MT"/>
              </a:rPr>
              <a:t>›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2242" y="2659259"/>
            <a:ext cx="820419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55">
                <a:latin typeface="Arial MT"/>
                <a:cs typeface="Arial MT"/>
              </a:rPr>
              <a:t>OpenCode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5670" y="3654677"/>
            <a:ext cx="1850389" cy="35750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276225" marR="5080" indent="-264160">
              <a:lnSpc>
                <a:spcPts val="1290"/>
              </a:lnSpc>
              <a:spcBef>
                <a:spcPts val="165"/>
              </a:spcBef>
            </a:pPr>
            <a:r>
              <a:rPr dirty="0" sz="1100" spc="-125">
                <a:solidFill>
                  <a:srgbClr val="080808"/>
                </a:solidFill>
                <a:latin typeface="Arial MT"/>
                <a:cs typeface="Arial MT"/>
              </a:rPr>
              <a:t>Work</a:t>
            </a:r>
            <a:r>
              <a:rPr dirty="0" sz="1100" spc="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100" spc="-100">
                <a:solidFill>
                  <a:srgbClr val="0C0C0C"/>
                </a:solidFill>
                <a:latin typeface="Arial MT"/>
                <a:cs typeface="Arial MT"/>
              </a:rPr>
              <a:t>inside</a:t>
            </a:r>
            <a:r>
              <a:rPr dirty="0" sz="110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files,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131313"/>
                </a:solidFill>
                <a:latin typeface="Arial MT"/>
                <a:cs typeface="Arial MT"/>
              </a:rPr>
              <a:t>tools,</a:t>
            </a:r>
            <a:r>
              <a:rPr dirty="0" sz="1100" spc="-1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commands,</a:t>
            </a:r>
            <a:r>
              <a:rPr dirty="0" sz="1100" spc="-85">
                <a:latin typeface="Arial MT"/>
                <a:cs typeface="Arial MT"/>
              </a:rPr>
              <a:t> workflows,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and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projects.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14582" y="3585441"/>
            <a:ext cx="857885" cy="433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spc="-20">
                <a:solidFill>
                  <a:srgbClr val="030303"/>
                </a:solidFill>
                <a:latin typeface="Arial MT"/>
                <a:cs typeface="Arial MT"/>
              </a:rPr>
              <a:t>f:</a:t>
            </a:r>
            <a:r>
              <a:rPr dirty="0" sz="2650" spc="-36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650" spc="-370">
                <a:solidFill>
                  <a:srgbClr val="030303"/>
                </a:solidFill>
                <a:latin typeface="Arial MT"/>
                <a:cs typeface="Arial MT"/>
              </a:rPr>
              <a:t>:.ttg‹!n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50668" y="3339471"/>
            <a:ext cx="1999614" cy="433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09395" algn="l"/>
                <a:tab pos="1821814" algn="l"/>
              </a:tabLst>
            </a:pPr>
            <a:r>
              <a:rPr dirty="0" sz="2650" spc="-550">
                <a:latin typeface="Arial MT"/>
                <a:cs typeface="Arial MT"/>
              </a:rPr>
              <a:t>Build</a:t>
            </a:r>
            <a:r>
              <a:rPr dirty="0" sz="2650"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030303"/>
                </a:solidFill>
                <a:latin typeface="Arial MT"/>
                <a:cs typeface="Arial MT"/>
              </a:rPr>
              <a:t>M</a:t>
            </a:r>
            <a:r>
              <a:rPr dirty="0" sz="1550">
                <a:solidFill>
                  <a:srgbClr val="030303"/>
                </a:solidFill>
                <a:latin typeface="Arial MT"/>
                <a:cs typeface="Arial MT"/>
              </a:rPr>
              <a:t>	</a:t>
            </a:r>
            <a:r>
              <a:rPr dirty="0" sz="2650" spc="-630">
                <a:solidFill>
                  <a:srgbClr val="030303"/>
                </a:solidFill>
                <a:latin typeface="Arial MT"/>
                <a:cs typeface="Arial MT"/>
              </a:rPr>
              <a:t>e</a:t>
            </a:r>
            <a:r>
              <a:rPr dirty="0" sz="1550" spc="-630">
                <a:solidFill>
                  <a:srgbClr val="030303"/>
                </a:solidFill>
                <a:latin typeface="Arial MT"/>
                <a:cs typeface="Arial MT"/>
              </a:rPr>
              <a:t>A</a:t>
            </a:r>
            <a:r>
              <a:rPr dirty="0" sz="1550">
                <a:solidFill>
                  <a:srgbClr val="030303"/>
                </a:solidFill>
                <a:latin typeface="Arial MT"/>
                <a:cs typeface="Arial MT"/>
              </a:rPr>
              <a:t>	</a:t>
            </a:r>
            <a:r>
              <a:rPr dirty="0" sz="2650" spc="-375">
                <a:solidFill>
                  <a:srgbClr val="030303"/>
                </a:solidFill>
                <a:latin typeface="Arial MT"/>
                <a:cs typeface="Arial MT"/>
              </a:rPr>
              <a:t>T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25283" y="3585441"/>
            <a:ext cx="688340" cy="433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spc="-215">
                <a:solidFill>
                  <a:srgbClr val="030303"/>
                </a:solidFill>
                <a:latin typeface="Arial MT"/>
                <a:cs typeface="Arial MT"/>
              </a:rPr>
              <a:t>é:</a:t>
            </a:r>
            <a:r>
              <a:rPr dirty="0" sz="1250" spc="-215">
                <a:solidFill>
                  <a:srgbClr val="030303"/>
                </a:solidFill>
                <a:latin typeface="Arial MT"/>
                <a:cs typeface="Arial MT"/>
              </a:rPr>
              <a:t>k</a:t>
            </a:r>
            <a:r>
              <a:rPr dirty="0" sz="2650" spc="-215">
                <a:solidFill>
                  <a:srgbClr val="030303"/>
                </a:solidFill>
                <a:latin typeface="Arial MT"/>
                <a:cs typeface="Arial MT"/>
              </a:rPr>
              <a:t>m:.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87884" y="3339471"/>
            <a:ext cx="862330" cy="433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spc="-300">
                <a:solidFill>
                  <a:srgbClr val="030303"/>
                </a:solidFill>
                <a:latin typeface="Arial MT"/>
                <a:cs typeface="Arial MT"/>
              </a:rPr>
              <a:t>Deploy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54604" y="4368293"/>
            <a:ext cx="434721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68575" algn="l"/>
                <a:tab pos="2778125" algn="l"/>
              </a:tabLst>
            </a:pPr>
            <a:r>
              <a:rPr dirty="0" sz="1300">
                <a:latin typeface="Arial MT"/>
                <a:cs typeface="Arial MT"/>
              </a:rPr>
              <a:t>Browser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30303"/>
                </a:solidFill>
                <a:latin typeface="Arial MT"/>
                <a:cs typeface="Arial MT"/>
              </a:rPr>
              <a:t>chat </a:t>
            </a:r>
            <a:r>
              <a:rPr dirty="0" sz="1300" spc="-20">
                <a:latin typeface="Arial MT"/>
                <a:cs typeface="Arial MT"/>
              </a:rPr>
              <a:t>answers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questions.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50">
                <a:solidFill>
                  <a:srgbClr val="232323"/>
                </a:solidFill>
                <a:latin typeface="Arial MT"/>
                <a:cs typeface="Arial MT"/>
              </a:rPr>
              <a:t>!</a:t>
            </a:r>
            <a:r>
              <a:rPr dirty="0" sz="1300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1300">
                <a:solidFill>
                  <a:srgbClr val="0864E6"/>
                </a:solidFill>
                <a:latin typeface="Arial MT"/>
                <a:cs typeface="Arial MT"/>
              </a:rPr>
              <a:t>Mode</a:t>
            </a:r>
            <a:r>
              <a:rPr dirty="0" sz="1300" spc="60">
                <a:solidFill>
                  <a:srgbClr val="0864E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370FF"/>
                </a:solidFill>
                <a:latin typeface="Arial MT"/>
                <a:cs typeface="Arial MT"/>
              </a:rPr>
              <a:t>2 </a:t>
            </a:r>
            <a:r>
              <a:rPr dirty="0" sz="1300" spc="-95">
                <a:latin typeface="Arial MT"/>
                <a:cs typeface="Arial MT"/>
              </a:rPr>
              <a:t>general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 spc="-80">
                <a:latin typeface="Arial MT"/>
                <a:cs typeface="Arial MT"/>
              </a:rPr>
              <a:t>agents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96742" y="4587540"/>
            <a:ext cx="2540000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solidFill>
                  <a:srgbClr val="0C0C0C"/>
                </a:solidFill>
                <a:latin typeface="Arial MT"/>
                <a:cs typeface="Arial MT"/>
              </a:rPr>
              <a:t>create</a:t>
            </a:r>
            <a:r>
              <a:rPr dirty="0" sz="12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12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030303"/>
                </a:solidFill>
                <a:latin typeface="Arial MT"/>
                <a:cs typeface="Arial MT"/>
              </a:rPr>
              <a:t>workers</a:t>
            </a:r>
            <a:r>
              <a:rPr dirty="0" sz="1250" spc="3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dirty="0" sz="125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050821"/>
                </a:solidFill>
                <a:latin typeface="Arial MT"/>
                <a:cs typeface="Arial MT"/>
              </a:rPr>
              <a:t>do</a:t>
            </a:r>
            <a:r>
              <a:rPr dirty="0" sz="1250" spc="-30">
                <a:solidFill>
                  <a:srgbClr val="0508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01031F"/>
                </a:solidFill>
                <a:latin typeface="Arial MT"/>
                <a:cs typeface="Arial MT"/>
              </a:rPr>
              <a:t>the</a:t>
            </a:r>
            <a:r>
              <a:rPr dirty="0" sz="1250" spc="-10">
                <a:solidFill>
                  <a:srgbClr val="01031F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work.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66107" y="1201054"/>
            <a:ext cx="1118235" cy="482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2270"/>
              </a:lnSpc>
              <a:spcBef>
                <a:spcPts val="110"/>
              </a:spcBef>
            </a:pPr>
            <a:r>
              <a:rPr dirty="0" sz="1900">
                <a:latin typeface="Arial MT"/>
                <a:cs typeface="Arial MT"/>
              </a:rPr>
              <a:t>Al</a:t>
            </a:r>
            <a:r>
              <a:rPr dirty="0" sz="1900" spc="-114"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Workers</a:t>
            </a:r>
            <a:endParaRPr sz="1900">
              <a:latin typeface="Arial MT"/>
              <a:cs typeface="Arial MT"/>
            </a:endParaRPr>
          </a:p>
          <a:p>
            <a:pPr algn="ctr" marL="15240">
              <a:lnSpc>
                <a:spcPts val="1310"/>
              </a:lnSpc>
            </a:pPr>
            <a:r>
              <a:rPr dirty="0" sz="1100">
                <a:solidFill>
                  <a:srgbClr val="0CA375"/>
                </a:solidFill>
                <a:latin typeface="Arial MT"/>
                <a:cs typeface="Arial MT"/>
              </a:rPr>
              <a:t>Digital</a:t>
            </a:r>
            <a:r>
              <a:rPr dirty="0" sz="1100" spc="15">
                <a:solidFill>
                  <a:srgbClr val="0CA375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269E7B"/>
                </a:solidFill>
                <a:latin typeface="Arial MT"/>
                <a:cs typeface="Arial MT"/>
              </a:rPr>
              <a:t>FTEs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63606" y="2411467"/>
            <a:ext cx="83058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35">
                <a:latin typeface="Arial MT"/>
                <a:cs typeface="Arial MT"/>
              </a:rPr>
              <a:t>Research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Worker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20076" y="2411467"/>
            <a:ext cx="73406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>
                <a:latin typeface="Arial MT"/>
                <a:cs typeface="Arial MT"/>
              </a:rPr>
              <a:t>Coding</a:t>
            </a:r>
            <a:r>
              <a:rPr dirty="0" sz="850" spc="-5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Worker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77948" y="3334612"/>
            <a:ext cx="1882139" cy="707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9350" algn="l"/>
              </a:tabLst>
            </a:pPr>
            <a:r>
              <a:rPr dirty="0" sz="900" spc="-25">
                <a:latin typeface="Arial MT"/>
                <a:cs typeface="Arial MT"/>
              </a:rPr>
              <a:t>Support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Worker</a:t>
            </a:r>
            <a:r>
              <a:rPr dirty="0" sz="900">
                <a:latin typeface="Arial MT"/>
                <a:cs typeface="Arial MT"/>
              </a:rPr>
              <a:t>	</a:t>
            </a:r>
            <a:r>
              <a:rPr dirty="0" sz="900" spc="-35">
                <a:latin typeface="Arial MT"/>
                <a:cs typeface="Arial MT"/>
              </a:rPr>
              <a:t>Analyst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30">
                <a:latin typeface="Arial MT"/>
                <a:cs typeface="Arial MT"/>
              </a:rPr>
              <a:t>Worker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900">
              <a:latin typeface="Arial MT"/>
              <a:cs typeface="Arial MT"/>
            </a:endParaRPr>
          </a:p>
          <a:p>
            <a:pPr marL="535305" marR="229870" indent="-371475">
              <a:lnSpc>
                <a:spcPct val="100000"/>
              </a:lnSpc>
            </a:pPr>
            <a:r>
              <a:rPr dirty="0" sz="1100" spc="-110">
                <a:solidFill>
                  <a:srgbClr val="111111"/>
                </a:solidFill>
                <a:latin typeface="Arial MT"/>
                <a:cs typeface="Arial MT"/>
              </a:rPr>
              <a:t>Specialized</a:t>
            </a:r>
            <a:r>
              <a:rPr dirty="0" sz="1100" spc="1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workers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1A1A1A"/>
                </a:solidFill>
                <a:latin typeface="Arial MT"/>
                <a:cs typeface="Arial MT"/>
              </a:rPr>
              <a:t>created </a:t>
            </a:r>
            <a:r>
              <a:rPr dirty="0" sz="1100" spc="-55">
                <a:solidFill>
                  <a:srgbClr val="161616"/>
                </a:solidFill>
                <a:latin typeface="Arial MT"/>
                <a:cs typeface="Arial MT"/>
              </a:rPr>
              <a:t>for</a:t>
            </a:r>
            <a:r>
              <a:rPr dirty="0" sz="1100" spc="-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100" spc="-95">
                <a:solidFill>
                  <a:srgbClr val="111111"/>
                </a:solidFill>
                <a:latin typeface="Arial MT"/>
                <a:cs typeface="Arial MT"/>
              </a:rPr>
              <a:t>real</a:t>
            </a:r>
            <a:r>
              <a:rPr dirty="0" sz="1100" spc="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F0F0F"/>
                </a:solidFill>
                <a:latin typeface="Arial MT"/>
                <a:cs typeface="Arial MT"/>
              </a:rPr>
              <a:t>tasks.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45469" y="4433581"/>
            <a:ext cx="3505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45">
                <a:solidFill>
                  <a:srgbClr val="038A72"/>
                </a:solidFill>
                <a:latin typeface="Arial MT"/>
                <a:cs typeface="Arial MT"/>
              </a:rPr>
              <a:t>O</a:t>
            </a:r>
            <a:r>
              <a:rPr dirty="0" sz="1100" spc="-100">
                <a:solidFill>
                  <a:srgbClr val="038A72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D8E7C"/>
                </a:solidFill>
                <a:latin typeface="Arial MT"/>
                <a:cs typeface="Arial MT"/>
              </a:rPr>
              <a:t>O</a:t>
            </a:r>
            <a:r>
              <a:rPr dirty="0" sz="1100" spc="-135">
                <a:solidFill>
                  <a:srgbClr val="1D8E7C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1A8274"/>
                </a:solidFill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116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06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525526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The</a:t>
            </a:r>
            <a:r>
              <a:rPr dirty="0" sz="4000" spc="-13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Agent</a:t>
            </a:r>
            <a:r>
              <a:rPr dirty="0" sz="4000" spc="-12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Factory</a:t>
            </a:r>
            <a:r>
              <a:rPr dirty="0" sz="4000" spc="-130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Idea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6" y="4465355"/>
            <a:ext cx="8914306" cy="6125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569" y="3699709"/>
            <a:ext cx="853148" cy="716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2899" y="3743461"/>
            <a:ext cx="596110" cy="6343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3018" y="3120006"/>
            <a:ext cx="1585981" cy="5031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05641" y="3130943"/>
            <a:ext cx="1044559" cy="3281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46" y="1812938"/>
            <a:ext cx="4347775" cy="12359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37627" y="1834814"/>
            <a:ext cx="4391526" cy="12250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5823" y="128517"/>
            <a:ext cx="311727" cy="31172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846" y="648063"/>
            <a:ext cx="8914306" cy="11265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46273" y="3885652"/>
            <a:ext cx="153129" cy="7109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278297" y="3776273"/>
            <a:ext cx="662305" cy="607060"/>
            <a:chOff x="6278297" y="3776273"/>
            <a:chExt cx="662305" cy="607060"/>
          </a:xfrm>
        </p:grpSpPr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46273" y="4137221"/>
              <a:ext cx="98440" cy="820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8297" y="3776273"/>
              <a:ext cx="661736" cy="6070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46273" y="3885652"/>
              <a:ext cx="153129" cy="710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46273" y="4137221"/>
              <a:ext cx="98440" cy="82033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017744" y="-565867"/>
            <a:ext cx="5594985" cy="1375410"/>
          </a:xfrm>
          <a:prstGeom prst="rect"/>
        </p:spPr>
        <p:txBody>
          <a:bodyPr wrap="square" lIns="0" tIns="4483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29"/>
              </a:spcBef>
            </a:pPr>
            <a:r>
              <a:rPr dirty="0" sz="5100" spc="-620">
                <a:solidFill>
                  <a:srgbClr val="000C34"/>
                </a:solidFill>
                <a:latin typeface="Arial Black"/>
                <a:cs typeface="Arial Black"/>
              </a:rPr>
              <a:t>Th</a:t>
            </a:r>
            <a:r>
              <a:rPr dirty="0" sz="5100" spc="-620">
                <a:solidFill>
                  <a:srgbClr val="000C34"/>
                </a:solidFill>
                <a:latin typeface="Arial Black"/>
                <a:cs typeface="Arial Black"/>
              </a:rPr>
              <a:t>e</a:t>
            </a:r>
            <a:r>
              <a:rPr dirty="0" sz="5100" spc="-620">
                <a:solidFill>
                  <a:srgbClr val="01727E"/>
                </a:solidFill>
                <a:latin typeface="Arial Black"/>
                <a:cs typeface="Arial Black"/>
              </a:rPr>
              <a:t>Agect</a:t>
            </a:r>
            <a:r>
              <a:rPr dirty="0" sz="5100" spc="-170">
                <a:solidFill>
                  <a:srgbClr val="01727E"/>
                </a:solidFill>
                <a:latin typeface="Arial Black"/>
                <a:cs typeface="Arial Black"/>
              </a:rPr>
              <a:t> </a:t>
            </a:r>
            <a:r>
              <a:rPr dirty="0" baseline="1089" sz="7650" spc="-187">
                <a:solidFill>
                  <a:srgbClr val="000A34"/>
                </a:solidFill>
                <a:latin typeface="Arial Black"/>
                <a:cs typeface="Arial Black"/>
              </a:rPr>
              <a:t>F</a:t>
            </a:r>
            <a:r>
              <a:rPr dirty="0" sz="5100" spc="-125">
                <a:solidFill>
                  <a:srgbClr val="000A34"/>
                </a:solidFill>
                <a:latin typeface="Arial Black"/>
                <a:cs typeface="Arial Black"/>
              </a:rPr>
              <a:t>actory</a:t>
            </a:r>
            <a:endParaRPr sz="5100">
              <a:latin typeface="Arial Black"/>
              <a:cs typeface="Arial Black"/>
            </a:endParaRPr>
          </a:p>
          <a:p>
            <a:pPr marL="1577975">
              <a:lnSpc>
                <a:spcPct val="100000"/>
              </a:lnSpc>
              <a:spcBef>
                <a:spcPts val="409"/>
              </a:spcBef>
              <a:tabLst>
                <a:tab pos="1767205" algn="l"/>
                <a:tab pos="2266950" algn="l"/>
                <a:tab pos="2511425" algn="l"/>
                <a:tab pos="2792730" algn="l"/>
                <a:tab pos="3156585" algn="l"/>
                <a:tab pos="3382645" algn="l"/>
              </a:tabLst>
            </a:pPr>
            <a:r>
              <a:rPr dirty="0" sz="550" spc="-50">
                <a:solidFill>
                  <a:srgbClr val="1C6E79"/>
                </a:solidFill>
                <a:latin typeface="Arial Black"/>
                <a:cs typeface="Arial Black"/>
              </a:rPr>
              <a:t>’</a:t>
            </a:r>
            <a:r>
              <a:rPr dirty="0" sz="550">
                <a:solidFill>
                  <a:srgbClr val="1C6E79"/>
                </a:solidFill>
                <a:latin typeface="Arial Black"/>
                <a:cs typeface="Arial Black"/>
              </a:rPr>
              <a:t>	</a:t>
            </a:r>
            <a:r>
              <a:rPr dirty="0" sz="550">
                <a:solidFill>
                  <a:srgbClr val="287B82"/>
                </a:solidFill>
                <a:latin typeface="Arial Black"/>
                <a:cs typeface="Arial Black"/>
              </a:rPr>
              <a:t>.</a:t>
            </a:r>
            <a:r>
              <a:rPr dirty="0" sz="550" spc="210">
                <a:solidFill>
                  <a:srgbClr val="287B82"/>
                </a:solidFill>
                <a:latin typeface="Arial Black"/>
                <a:cs typeface="Arial Black"/>
              </a:rPr>
              <a:t>  </a:t>
            </a:r>
            <a:r>
              <a:rPr dirty="0" sz="550">
                <a:solidFill>
                  <a:srgbClr val="007E91"/>
                </a:solidFill>
                <a:latin typeface="Arial Black"/>
                <a:cs typeface="Arial Black"/>
              </a:rPr>
              <a:t>e</a:t>
            </a:r>
            <a:r>
              <a:rPr dirty="0" sz="550" spc="210">
                <a:solidFill>
                  <a:srgbClr val="007E91"/>
                </a:solidFill>
                <a:latin typeface="Arial Black"/>
                <a:cs typeface="Arial Black"/>
              </a:rPr>
              <a:t> </a:t>
            </a:r>
            <a:r>
              <a:rPr dirty="0" sz="550" spc="-50">
                <a:solidFill>
                  <a:srgbClr val="087B8E"/>
                </a:solidFill>
                <a:latin typeface="Arial Black"/>
                <a:cs typeface="Arial Black"/>
              </a:rPr>
              <a:t>e</a:t>
            </a:r>
            <a:r>
              <a:rPr dirty="0" sz="550">
                <a:solidFill>
                  <a:srgbClr val="087B8E"/>
                </a:solidFill>
                <a:latin typeface="Arial Black"/>
                <a:cs typeface="Arial Black"/>
              </a:rPr>
              <a:t>	</a:t>
            </a:r>
            <a:r>
              <a:rPr dirty="0" sz="550" spc="-50">
                <a:solidFill>
                  <a:srgbClr val="266E79"/>
                </a:solidFill>
                <a:latin typeface="Arial Black"/>
                <a:cs typeface="Arial Black"/>
              </a:rPr>
              <a:t>’</a:t>
            </a:r>
            <a:r>
              <a:rPr dirty="0" sz="550">
                <a:solidFill>
                  <a:srgbClr val="266E79"/>
                </a:solidFill>
                <a:latin typeface="Arial Black"/>
                <a:cs typeface="Arial Black"/>
              </a:rPr>
              <a:t>	</a:t>
            </a:r>
            <a:r>
              <a:rPr dirty="0" sz="550" spc="-50">
                <a:solidFill>
                  <a:srgbClr val="1F8589"/>
                </a:solidFill>
                <a:latin typeface="Arial Black"/>
                <a:cs typeface="Arial Black"/>
              </a:rPr>
              <a:t>.</a:t>
            </a:r>
            <a:r>
              <a:rPr dirty="0" sz="550">
                <a:solidFill>
                  <a:srgbClr val="1F8589"/>
                </a:solidFill>
                <a:latin typeface="Arial Black"/>
                <a:cs typeface="Arial Black"/>
              </a:rPr>
              <a:t>	</a:t>
            </a:r>
            <a:r>
              <a:rPr dirty="0" sz="550">
                <a:solidFill>
                  <a:srgbClr val="318085"/>
                </a:solidFill>
                <a:latin typeface="Arial Black"/>
                <a:cs typeface="Arial Black"/>
              </a:rPr>
              <a:t>-	</a:t>
            </a:r>
            <a:r>
              <a:rPr dirty="0" sz="550" spc="-50">
                <a:solidFill>
                  <a:srgbClr val="2B8593"/>
                </a:solidFill>
                <a:latin typeface="Arial Black"/>
                <a:cs typeface="Arial Black"/>
              </a:rPr>
              <a:t>.</a:t>
            </a:r>
            <a:r>
              <a:rPr dirty="0" sz="550">
                <a:solidFill>
                  <a:srgbClr val="2B8593"/>
                </a:solidFill>
                <a:latin typeface="Arial Black"/>
                <a:cs typeface="Arial Black"/>
              </a:rPr>
              <a:t>	</a:t>
            </a:r>
            <a:r>
              <a:rPr dirty="0" sz="550" spc="-50">
                <a:solidFill>
                  <a:srgbClr val="168099"/>
                </a:solidFill>
                <a:latin typeface="Arial Black"/>
                <a:cs typeface="Arial Black"/>
              </a:rPr>
              <a:t>e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3931" y="1187418"/>
            <a:ext cx="31375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8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0C0C0C"/>
                </a:solidFill>
                <a:latin typeface="Arial MT"/>
                <a:cs typeface="Arial MT"/>
              </a:rPr>
              <a:t>garment</a:t>
            </a:r>
            <a:r>
              <a:rPr dirty="0" sz="110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F0F0F"/>
                </a:solidFill>
                <a:latin typeface="Arial MT"/>
                <a:cs typeface="Arial MT"/>
              </a:rPr>
              <a:t>factory</a:t>
            </a:r>
            <a:r>
              <a:rPr dirty="0" sz="11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doesn't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070526"/>
                </a:solidFill>
                <a:latin typeface="Arial MT"/>
                <a:cs typeface="Arial MT"/>
              </a:rPr>
              <a:t>make</a:t>
            </a:r>
            <a:r>
              <a:rPr dirty="0" sz="1100" spc="-65">
                <a:solidFill>
                  <a:srgbClr val="070526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030303"/>
                </a:solidFill>
                <a:latin typeface="Arial MT"/>
                <a:cs typeface="Arial MT"/>
              </a:rPr>
              <a:t>one</a:t>
            </a:r>
            <a:r>
              <a:rPr dirty="0" sz="1100" spc="-5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shirt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232149"/>
                </a:solidFill>
                <a:latin typeface="Arial MT"/>
                <a:cs typeface="Arial MT"/>
              </a:rPr>
              <a:t>by</a:t>
            </a:r>
            <a:r>
              <a:rPr dirty="0" sz="1100" spc="-35">
                <a:solidFill>
                  <a:srgbClr val="23214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accident.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9940" y="1343282"/>
            <a:ext cx="9563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A6B64"/>
                </a:solidFill>
                <a:latin typeface="Arial MT"/>
                <a:cs typeface="Arial MT"/>
              </a:rPr>
              <a:t>It</a:t>
            </a:r>
            <a:r>
              <a:rPr dirty="0" sz="1100" spc="65">
                <a:solidFill>
                  <a:srgbClr val="0A6B6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136E64"/>
                </a:solidFill>
                <a:latin typeface="Arial MT"/>
                <a:cs typeface="Arial MT"/>
              </a:rPr>
              <a:t>has </a:t>
            </a:r>
            <a:r>
              <a:rPr dirty="0" sz="1100">
                <a:solidFill>
                  <a:srgbClr val="166E62"/>
                </a:solidFill>
                <a:latin typeface="Arial MT"/>
                <a:cs typeface="Arial MT"/>
              </a:rPr>
              <a:t>a</a:t>
            </a:r>
            <a:r>
              <a:rPr dirty="0" sz="1100" spc="-45">
                <a:solidFill>
                  <a:srgbClr val="166E62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0F756B"/>
                </a:solidFill>
                <a:latin typeface="Arial MT"/>
                <a:cs typeface="Arial MT"/>
              </a:rPr>
              <a:t>system.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9804" y="1285858"/>
            <a:ext cx="23272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00028"/>
                </a:solidFill>
                <a:latin typeface="Arial MT"/>
                <a:cs typeface="Arial MT"/>
              </a:rPr>
              <a:t>The</a:t>
            </a:r>
            <a:r>
              <a:rPr dirty="0" sz="1100" spc="15">
                <a:solidFill>
                  <a:srgbClr val="000028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0C0C0C"/>
                </a:solidFill>
                <a:latin typeface="Arial MT"/>
                <a:cs typeface="Arial MT"/>
              </a:rPr>
              <a:t>same</a:t>
            </a:r>
            <a:r>
              <a:rPr dirty="0" sz="11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30303"/>
                </a:solidFill>
                <a:latin typeface="Arial MT"/>
                <a:cs typeface="Arial MT"/>
              </a:rPr>
              <a:t>idea</a:t>
            </a:r>
            <a:r>
              <a:rPr dirty="0" sz="1100" spc="7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1100" spc="-135">
                <a:solidFill>
                  <a:srgbClr val="070707"/>
                </a:solidFill>
                <a:latin typeface="Arial MT"/>
                <a:cs typeface="Arial MT"/>
              </a:rPr>
              <a:t>—</a:t>
            </a:r>
            <a:r>
              <a:rPr dirty="0" sz="1100" spc="7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31313"/>
                </a:solidFill>
                <a:latin typeface="Arial MT"/>
                <a:cs typeface="Arial MT"/>
              </a:rPr>
              <a:t>but</a:t>
            </a:r>
            <a:r>
              <a:rPr dirty="0" sz="1100" spc="4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D42BA"/>
                </a:solidFill>
                <a:latin typeface="Arial MT"/>
                <a:cs typeface="Arial MT"/>
              </a:rPr>
              <a:t>AI</a:t>
            </a:r>
            <a:r>
              <a:rPr dirty="0" sz="1100" spc="20">
                <a:solidFill>
                  <a:srgbClr val="1D42B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E49C8"/>
                </a:solidFill>
                <a:latin typeface="Arial MT"/>
                <a:cs typeface="Arial MT"/>
              </a:rPr>
              <a:t>workers.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4537" y="1462686"/>
            <a:ext cx="820991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6280" b="1" i="1">
                <a:solidFill>
                  <a:srgbClr val="007C6E"/>
                </a:solidFill>
                <a:latin typeface="Arial"/>
                <a:cs typeface="Arial"/>
              </a:rPr>
              <a:t>OOOOOOOO</a:t>
            </a:r>
            <a:endParaRPr sz="2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11057" y="1894121"/>
            <a:ext cx="10731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050505"/>
                </a:solidFill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4098" y="1767122"/>
            <a:ext cx="61798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3465" algn="l"/>
                <a:tab pos="2097405" algn="l"/>
                <a:tab pos="3366135" algn="l"/>
                <a:tab pos="4531360" algn="l"/>
                <a:tab pos="4839335" algn="l"/>
                <a:tab pos="5600065" algn="l"/>
              </a:tabLst>
            </a:pPr>
            <a:r>
              <a:rPr dirty="0" sz="1100" spc="-10">
                <a:solidFill>
                  <a:srgbClr val="0E0E0E"/>
                </a:solidFill>
                <a:latin typeface="Arial MT"/>
                <a:cs typeface="Arial MT"/>
              </a:rPr>
              <a:t>Cutting</a:t>
            </a:r>
            <a:r>
              <a:rPr dirty="0" sz="1100">
                <a:solidFill>
                  <a:srgbClr val="0E0E0E"/>
                </a:solidFill>
                <a:latin typeface="Arial MT"/>
                <a:cs typeface="Arial MT"/>
              </a:rPr>
              <a:t>	</a:t>
            </a:r>
            <a:r>
              <a:rPr dirty="0" sz="1100" spc="-10" b="1">
                <a:solidFill>
                  <a:srgbClr val="0A0A0A"/>
                </a:solidFill>
                <a:latin typeface="Arial"/>
                <a:cs typeface="Arial"/>
              </a:rPr>
              <a:t>Stitching</a:t>
            </a:r>
            <a:r>
              <a:rPr dirty="0" sz="1100" b="1">
                <a:solidFill>
                  <a:srgbClr val="0A0A0A"/>
                </a:solidFill>
                <a:latin typeface="Arial"/>
                <a:cs typeface="Arial"/>
              </a:rPr>
              <a:t>	</a:t>
            </a:r>
            <a:r>
              <a:rPr dirty="0" sz="1100" spc="-130" b="1">
                <a:latin typeface="Arial"/>
                <a:cs typeface="Arial"/>
              </a:rPr>
              <a:t>gual'ity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Check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10">
                <a:latin typeface="Arial MT"/>
                <a:cs typeface="Arial MT"/>
              </a:rPr>
              <a:t>Packing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50">
                <a:solidFill>
                  <a:srgbClr val="050505"/>
                </a:solidFill>
                <a:latin typeface="Arial MT"/>
                <a:cs typeface="Arial MT"/>
              </a:rPr>
              <a:t>)</a:t>
            </a:r>
            <a:r>
              <a:rPr dirty="0" sz="1100">
                <a:solidFill>
                  <a:srgbClr val="050505"/>
                </a:solidFill>
                <a:latin typeface="Arial MT"/>
                <a:cs typeface="Arial MT"/>
              </a:rPr>
              <a:t>	</a:t>
            </a:r>
            <a:r>
              <a:rPr dirty="0" sz="1100" spc="-50">
                <a:solidFill>
                  <a:srgbClr val="050505"/>
                </a:solidFill>
                <a:latin typeface="Arial MT"/>
                <a:cs typeface="Arial MT"/>
              </a:rPr>
              <a:t>n</a:t>
            </a:r>
            <a:r>
              <a:rPr dirty="0" sz="1100">
                <a:solidFill>
                  <a:srgbClr val="050505"/>
                </a:solidFill>
                <a:latin typeface="Arial MT"/>
                <a:cs typeface="Arial MT"/>
              </a:rPr>
              <a:t>	</a:t>
            </a:r>
            <a:r>
              <a:rPr dirty="0" sz="1100" spc="-105">
                <a:solidFill>
                  <a:srgbClr val="030303"/>
                </a:solidFill>
                <a:latin typeface="Arial MT"/>
                <a:cs typeface="Arial MT"/>
              </a:rPr>
              <a:t>Train</a:t>
            </a:r>
            <a:r>
              <a:rPr dirty="0" sz="1100" spc="-10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1100" spc="-130">
                <a:solidFill>
                  <a:srgbClr val="00001A"/>
                </a:solidFill>
                <a:latin typeface="Arial MT"/>
                <a:cs typeface="Arial MT"/>
              </a:rPr>
              <a:t>Them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38409" y="3715754"/>
            <a:ext cx="1334770" cy="6896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600" spc="-35">
                <a:solidFill>
                  <a:srgbClr val="056938"/>
                </a:solidFill>
                <a:latin typeface="Arial MT"/>
                <a:cs typeface="Arial MT"/>
              </a:rPr>
              <a:t>NOT</a:t>
            </a:r>
            <a:r>
              <a:rPr dirty="0" sz="1600" spc="-65">
                <a:solidFill>
                  <a:srgbClr val="056938"/>
                </a:solidFill>
                <a:latin typeface="Arial MT"/>
                <a:cs typeface="Arial MT"/>
              </a:rPr>
              <a:t> </a:t>
            </a:r>
            <a:r>
              <a:rPr dirty="0" sz="1600" spc="-210">
                <a:solidFill>
                  <a:srgbClr val="008249"/>
                </a:solidFill>
                <a:latin typeface="Arial MT"/>
                <a:cs typeface="Arial MT"/>
              </a:rPr>
              <a:t>a</a:t>
            </a:r>
            <a:r>
              <a:rPr dirty="0" sz="1600" spc="-150">
                <a:solidFill>
                  <a:srgbClr val="008249"/>
                </a:solidFill>
                <a:latin typeface="Arial MT"/>
                <a:cs typeface="Arial MT"/>
              </a:rPr>
              <a:t> </a:t>
            </a:r>
            <a:r>
              <a:rPr dirty="0" sz="1600" spc="-145">
                <a:solidFill>
                  <a:srgbClr val="1F8959"/>
                </a:solidFill>
                <a:latin typeface="Arial MT"/>
                <a:cs typeface="Arial MT"/>
              </a:rPr>
              <a:t>product</a:t>
            </a:r>
            <a:r>
              <a:rPr dirty="0" sz="1600" spc="80">
                <a:solidFill>
                  <a:srgbClr val="1F8959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347C64"/>
                </a:solidFill>
                <a:latin typeface="Arial MT"/>
                <a:cs typeface="Arial MT"/>
              </a:rPr>
              <a:t>’"</a:t>
            </a:r>
            <a:endParaRPr sz="1600">
              <a:latin typeface="Arial MT"/>
              <a:cs typeface="Arial MT"/>
            </a:endParaRPr>
          </a:p>
          <a:p>
            <a:pPr marL="15240" marR="418465" indent="-3175">
              <a:lnSpc>
                <a:spcPct val="104400"/>
              </a:lnSpc>
              <a:spcBef>
                <a:spcPts val="180"/>
              </a:spcBef>
            </a:pPr>
            <a:r>
              <a:rPr dirty="0" sz="1100">
                <a:solidFill>
                  <a:srgbClr val="0C0C0C"/>
                </a:solidFill>
                <a:latin typeface="Arial MT"/>
                <a:cs typeface="Arial MT"/>
              </a:rPr>
              <a:t>Not</a:t>
            </a:r>
            <a:r>
              <a:rPr dirty="0" sz="110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080808"/>
                </a:solidFill>
                <a:latin typeface="Arial MT"/>
                <a:cs typeface="Arial MT"/>
              </a:rPr>
              <a:t>something </a:t>
            </a:r>
            <a:r>
              <a:rPr dirty="0" sz="1100" spc="-10">
                <a:solidFill>
                  <a:srgbClr val="0C0C0C"/>
                </a:solidFill>
                <a:latin typeface="Arial MT"/>
                <a:cs typeface="Arial MT"/>
              </a:rPr>
              <a:t>you</a:t>
            </a:r>
            <a:r>
              <a:rPr dirty="0" sz="1100" spc="-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080808"/>
                </a:solidFill>
                <a:latin typeface="Arial MT"/>
                <a:cs typeface="Arial MT"/>
              </a:rPr>
              <a:t>buy.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29793" y="3154399"/>
            <a:ext cx="2302510" cy="4356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930"/>
              </a:lnSpc>
              <a:spcBef>
                <a:spcPts val="125"/>
              </a:spcBef>
            </a:pPr>
            <a:r>
              <a:rPr dirty="0" sz="1650" spc="-215">
                <a:solidFill>
                  <a:srgbClr val="0A6474"/>
                </a:solidFill>
                <a:latin typeface="Arial Black"/>
                <a:cs typeface="Arial Black"/>
              </a:rPr>
              <a:t>REPEATABLE</a:t>
            </a:r>
            <a:r>
              <a:rPr dirty="0" sz="1650" spc="105">
                <a:solidFill>
                  <a:srgbClr val="0A6474"/>
                </a:solidFill>
                <a:latin typeface="Arial Black"/>
                <a:cs typeface="Arial Black"/>
              </a:rPr>
              <a:t> </a:t>
            </a:r>
            <a:r>
              <a:rPr dirty="0" sz="1650" spc="-210">
                <a:solidFill>
                  <a:srgbClr val="0C6670"/>
                </a:solidFill>
                <a:latin typeface="Arial Black"/>
                <a:cs typeface="Arial Black"/>
              </a:rPr>
              <a:t>PROCESS</a:t>
            </a:r>
            <a:endParaRPr sz="1650">
              <a:latin typeface="Arial Black"/>
              <a:cs typeface="Arial Black"/>
            </a:endParaRPr>
          </a:p>
          <a:p>
            <a:pPr marL="23495">
              <a:lnSpc>
                <a:spcPts val="1270"/>
              </a:lnSpc>
            </a:pPr>
            <a:r>
              <a:rPr dirty="0" sz="1100">
                <a:solidFill>
                  <a:srgbClr val="036E67"/>
                </a:solidFill>
                <a:latin typeface="Arial MT"/>
                <a:cs typeface="Arial MT"/>
              </a:rPr>
              <a:t>Design</a:t>
            </a:r>
            <a:r>
              <a:rPr dirty="0" sz="1100" spc="50">
                <a:solidFill>
                  <a:srgbClr val="036E67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016670"/>
                </a:solidFill>
                <a:latin typeface="Arial MT"/>
                <a:cs typeface="Arial MT"/>
              </a:rPr>
              <a:t>-</a:t>
            </a:r>
            <a:r>
              <a:rPr dirty="0" sz="1100">
                <a:solidFill>
                  <a:srgbClr val="016670"/>
                </a:solidFill>
                <a:latin typeface="Arial MT"/>
                <a:cs typeface="Arial MT"/>
              </a:rPr>
              <a:t>+</a:t>
            </a:r>
            <a:r>
              <a:rPr dirty="0" sz="1100" spc="125">
                <a:solidFill>
                  <a:srgbClr val="01667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6772"/>
                </a:solidFill>
                <a:latin typeface="Arial MT"/>
                <a:cs typeface="Arial MT"/>
              </a:rPr>
              <a:t>Train</a:t>
            </a:r>
            <a:r>
              <a:rPr dirty="0" sz="1100" spc="110">
                <a:solidFill>
                  <a:srgbClr val="15677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1696E"/>
                </a:solidFill>
                <a:latin typeface="Arial MT"/>
                <a:cs typeface="Arial MT"/>
              </a:rPr>
              <a:t>-+</a:t>
            </a:r>
            <a:r>
              <a:rPr dirty="0" sz="1100" spc="45">
                <a:solidFill>
                  <a:srgbClr val="01696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3727E"/>
                </a:solidFill>
                <a:latin typeface="Arial MT"/>
                <a:cs typeface="Arial MT"/>
              </a:rPr>
              <a:t>Deploy</a:t>
            </a:r>
            <a:r>
              <a:rPr dirty="0" sz="1100" spc="130">
                <a:solidFill>
                  <a:srgbClr val="13727E"/>
                </a:solidFill>
                <a:latin typeface="Arial MT"/>
                <a:cs typeface="Arial MT"/>
              </a:rPr>
              <a:t> </a:t>
            </a:r>
            <a:r>
              <a:rPr dirty="0" sz="1100" spc="-480">
                <a:solidFill>
                  <a:srgbClr val="16777E"/>
                </a:solidFill>
                <a:latin typeface="Arial MT"/>
                <a:cs typeface="Arial MT"/>
              </a:rPr>
              <a:t>—</a:t>
            </a:r>
            <a:r>
              <a:rPr dirty="0" sz="1100" spc="-275">
                <a:solidFill>
                  <a:srgbClr val="16777E"/>
                </a:solidFill>
                <a:latin typeface="Arial MT"/>
                <a:cs typeface="Arial MT"/>
              </a:rPr>
              <a:t>+</a:t>
            </a:r>
            <a:r>
              <a:rPr dirty="0" sz="1100" spc="155">
                <a:solidFill>
                  <a:srgbClr val="16777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55E60"/>
                </a:solidFill>
                <a:latin typeface="Arial MT"/>
                <a:cs typeface="Arial MT"/>
              </a:rPr>
              <a:t>Verify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83800" y="3714710"/>
            <a:ext cx="1589405" cy="68770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550" spc="-80">
                <a:solidFill>
                  <a:srgbClr val="0046CA"/>
                </a:solidFill>
                <a:latin typeface="Arial MT"/>
                <a:cs typeface="Arial MT"/>
              </a:rPr>
              <a:t>A</a:t>
            </a:r>
            <a:r>
              <a:rPr dirty="0" sz="1550" spc="-85">
                <a:solidFill>
                  <a:srgbClr val="0046CA"/>
                </a:solidFill>
                <a:latin typeface="Arial MT"/>
                <a:cs typeface="Arial MT"/>
              </a:rPr>
              <a:t> </a:t>
            </a:r>
            <a:r>
              <a:rPr dirty="0" sz="1550" spc="-65">
                <a:solidFill>
                  <a:srgbClr val="0A49E4"/>
                </a:solidFill>
                <a:latin typeface="Arial MT"/>
                <a:cs typeface="Arial MT"/>
              </a:rPr>
              <a:t>practice</a:t>
            </a:r>
            <a:r>
              <a:rPr dirty="0" sz="1550" spc="-30">
                <a:solidFill>
                  <a:srgbClr val="0A49E4"/>
                </a:solidFill>
                <a:latin typeface="Arial MT"/>
                <a:cs typeface="Arial MT"/>
              </a:rPr>
              <a:t> </a:t>
            </a:r>
            <a:r>
              <a:rPr dirty="0" sz="1550" spc="-145">
                <a:solidFill>
                  <a:srgbClr val="1344C1"/>
                </a:solidFill>
                <a:latin typeface="Arial MT"/>
                <a:cs typeface="Arial MT"/>
              </a:rPr>
              <a:t>you</a:t>
            </a:r>
            <a:r>
              <a:rPr dirty="0" sz="1550" spc="-185">
                <a:solidFill>
                  <a:srgbClr val="1344C1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F4DD6"/>
                </a:solidFill>
                <a:latin typeface="Arial MT"/>
                <a:cs typeface="Arial MT"/>
              </a:rPr>
              <a:t>learn</a:t>
            </a:r>
            <a:endParaRPr sz="1550">
              <a:latin typeface="Arial MT"/>
              <a:cs typeface="Arial MT"/>
            </a:endParaRPr>
          </a:p>
          <a:p>
            <a:pPr marL="12700" marR="5080" indent="5080">
              <a:lnSpc>
                <a:spcPct val="102800"/>
              </a:lnSpc>
              <a:spcBef>
                <a:spcPts val="229"/>
              </a:spcBef>
            </a:pPr>
            <a:r>
              <a:rPr dirty="0" sz="1100">
                <a:solidFill>
                  <a:srgbClr val="131313"/>
                </a:solidFill>
                <a:latin typeface="Arial MT"/>
                <a:cs typeface="Arial MT"/>
              </a:rPr>
              <a:t>A</a:t>
            </a:r>
            <a:r>
              <a:rPr dirty="0" sz="1100" spc="-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0C0C0C"/>
                </a:solidFill>
                <a:latin typeface="Arial MT"/>
                <a:cs typeface="Arial MT"/>
              </a:rPr>
              <a:t>repeatable</a:t>
            </a:r>
            <a:r>
              <a:rPr dirty="0" sz="110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00001A"/>
                </a:solidFill>
                <a:latin typeface="Arial MT"/>
                <a:cs typeface="Arial MT"/>
              </a:rPr>
              <a:t>way</a:t>
            </a:r>
            <a:r>
              <a:rPr dirty="0" sz="1100" spc="-35">
                <a:solidFill>
                  <a:srgbClr val="00001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70524"/>
                </a:solidFill>
                <a:latin typeface="Arial MT"/>
                <a:cs typeface="Arial MT"/>
              </a:rPr>
              <a:t>to</a:t>
            </a:r>
            <a:r>
              <a:rPr dirty="0" sz="1100" spc="60">
                <a:solidFill>
                  <a:srgbClr val="07052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F0F0F"/>
                </a:solidFill>
                <a:latin typeface="Arial MT"/>
                <a:cs typeface="Arial MT"/>
              </a:rPr>
              <a:t>build </a:t>
            </a:r>
            <a:r>
              <a:rPr dirty="0" sz="1100" spc="-2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110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0F0F0F"/>
                </a:solidFill>
                <a:latin typeface="Arial MT"/>
                <a:cs typeface="Arial MT"/>
              </a:rPr>
              <a:t>manage</a:t>
            </a:r>
            <a:r>
              <a:rPr dirty="0" sz="110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C0F33"/>
                </a:solidFill>
                <a:latin typeface="Arial MT"/>
                <a:cs typeface="Arial MT"/>
              </a:rPr>
              <a:t>Al</a:t>
            </a:r>
            <a:r>
              <a:rPr dirty="0" sz="1100" spc="-40">
                <a:solidFill>
                  <a:srgbClr val="0C0F3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C0C0C"/>
                </a:solidFill>
                <a:latin typeface="Arial MT"/>
                <a:cs typeface="Arial MT"/>
              </a:rPr>
              <a:t>workers.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18899" y="1756184"/>
            <a:ext cx="502284" cy="31940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48260" marR="5080" indent="-36195">
              <a:lnSpc>
                <a:spcPct val="75000"/>
              </a:lnSpc>
              <a:spcBef>
                <a:spcPts val="430"/>
              </a:spcBef>
            </a:pPr>
            <a:r>
              <a:rPr dirty="0" sz="1100" spc="-114">
                <a:latin typeface="Arial MT"/>
                <a:cs typeface="Arial MT"/>
              </a:rPr>
              <a:t>PutThem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C0C0C"/>
                </a:solidFill>
                <a:latin typeface="Arial MT"/>
                <a:cs typeface="Arial MT"/>
              </a:rPr>
              <a:t>to</a:t>
            </a:r>
            <a:r>
              <a:rPr dirty="0" sz="1100" spc="-114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¥\fork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27439" y="1756184"/>
            <a:ext cx="536575" cy="31940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79375" marR="5080" indent="-67310">
              <a:lnSpc>
                <a:spcPct val="75000"/>
              </a:lnSpc>
              <a:spcBef>
                <a:spcPts val="430"/>
              </a:spcBef>
            </a:pPr>
            <a:r>
              <a:rPr dirty="0" sz="1100" spc="-150">
                <a:latin typeface="Arial MT"/>
                <a:cs typeface="Arial MT"/>
              </a:rPr>
              <a:t>Check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60">
                <a:solidFill>
                  <a:srgbClr val="000018"/>
                </a:solidFill>
                <a:latin typeface="Arial MT"/>
                <a:cs typeface="Arial MT"/>
              </a:rPr>
              <a:t>the </a:t>
            </a:r>
            <a:r>
              <a:rPr dirty="0" sz="1100" spc="-40">
                <a:solidFill>
                  <a:srgbClr val="030303"/>
                </a:solidFill>
                <a:latin typeface="Arial MT"/>
                <a:cs typeface="Arial MT"/>
              </a:rPr>
              <a:t>Results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68259" y="3747277"/>
            <a:ext cx="1670050" cy="65786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550" spc="-55">
                <a:solidFill>
                  <a:srgbClr val="5941D6"/>
                </a:solidFill>
                <a:latin typeface="Arial MT"/>
                <a:cs typeface="Arial MT"/>
              </a:rPr>
              <a:t>Al-</a:t>
            </a:r>
            <a:r>
              <a:rPr dirty="0" sz="1550" spc="-60">
                <a:solidFill>
                  <a:srgbClr val="5941D6"/>
                </a:solidFill>
                <a:latin typeface="Arial MT"/>
                <a:cs typeface="Arial MT"/>
              </a:rPr>
              <a:t>Native</a:t>
            </a:r>
            <a:r>
              <a:rPr dirty="0" sz="1550" spc="-75">
                <a:solidFill>
                  <a:srgbClr val="5941D6"/>
                </a:solidFill>
                <a:latin typeface="Arial MT"/>
                <a:cs typeface="Arial MT"/>
              </a:rPr>
              <a:t> </a:t>
            </a:r>
            <a:r>
              <a:rPr dirty="0" sz="1550" spc="-140">
                <a:solidFill>
                  <a:srgbClr val="543DCC"/>
                </a:solidFill>
                <a:latin typeface="Arial MT"/>
                <a:cs typeface="Arial MT"/>
              </a:rPr>
              <a:t>Company</a:t>
            </a:r>
            <a:r>
              <a:rPr dirty="0" sz="1550" spc="185">
                <a:solidFill>
                  <a:srgbClr val="543DCC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A168C"/>
                </a:solidFill>
                <a:latin typeface="Arial MT"/>
                <a:cs typeface="Arial MT"/>
              </a:rPr>
              <a:t>-</a:t>
            </a:r>
            <a:endParaRPr sz="1550">
              <a:latin typeface="Arial MT"/>
              <a:cs typeface="Arial MT"/>
            </a:endParaRPr>
          </a:p>
          <a:p>
            <a:pPr marL="18415" marR="410209" indent="4445">
              <a:lnSpc>
                <a:spcPts val="1360"/>
              </a:lnSpc>
              <a:spcBef>
                <a:spcPts val="240"/>
              </a:spcBef>
            </a:pPr>
            <a:r>
              <a:rPr dirty="0" sz="1200" spc="-105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r>
              <a:rPr dirty="0" sz="1200" spc="-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company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where </a:t>
            </a:r>
            <a:r>
              <a:rPr dirty="0" sz="1200" spc="-75">
                <a:solidFill>
                  <a:srgbClr val="080808"/>
                </a:solidFill>
                <a:latin typeface="Arial MT"/>
                <a:cs typeface="Arial MT"/>
              </a:rPr>
              <a:t>most</a:t>
            </a:r>
            <a:r>
              <a:rPr dirty="0" sz="1200" spc="2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200" spc="-80">
                <a:solidFill>
                  <a:srgbClr val="0C0C0C"/>
                </a:solidFill>
                <a:latin typeface="Arial MT"/>
                <a:cs typeface="Arial MT"/>
              </a:rPr>
              <a:t>workers</a:t>
            </a:r>
            <a:r>
              <a:rPr dirty="0" sz="1200" spc="-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200" spc="-95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120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45">
                <a:latin typeface="Arial MT"/>
                <a:cs typeface="Arial MT"/>
              </a:rPr>
              <a:t>AI.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574" y="4109877"/>
            <a:ext cx="967995" cy="7711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3608" y="4355977"/>
            <a:ext cx="311727" cy="3117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201" y="3338762"/>
            <a:ext cx="317196" cy="2898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32196" y="3202039"/>
            <a:ext cx="393760" cy="2953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2225" y="3196570"/>
            <a:ext cx="328133" cy="2953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1913" y="1517618"/>
            <a:ext cx="2701636" cy="12250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47814" y="1249643"/>
            <a:ext cx="1520353" cy="51954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817133" y="4539732"/>
            <a:ext cx="382270" cy="0"/>
          </a:xfrm>
          <a:custGeom>
            <a:avLst/>
            <a:gdLst/>
            <a:ahLst/>
            <a:cxnLst/>
            <a:rect l="l" t="t" r="r" b="b"/>
            <a:pathLst>
              <a:path w="382269" h="0">
                <a:moveTo>
                  <a:pt x="0" y="0"/>
                </a:moveTo>
                <a:lnTo>
                  <a:pt x="382093" y="0"/>
                </a:lnTo>
              </a:path>
            </a:pathLst>
          </a:custGeom>
          <a:ln w="116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8449" y="987135"/>
            <a:ext cx="968375" cy="246379"/>
          </a:xfrm>
          <a:prstGeom prst="rect">
            <a:avLst/>
          </a:prstGeom>
          <a:solidFill>
            <a:srgbClr val="FFEFE4"/>
          </a:solidFill>
        </p:spPr>
        <p:txBody>
          <a:bodyPr wrap="square" lIns="0" tIns="1778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40"/>
              </a:spcBef>
            </a:pPr>
            <a:r>
              <a:rPr dirty="0" sz="1150" spc="-20">
                <a:solidFill>
                  <a:srgbClr val="CA7950"/>
                </a:solidFill>
                <a:latin typeface="Times New Roman"/>
                <a:cs typeface="Times New Roman"/>
              </a:rPr>
              <a:t>Old</a:t>
            </a:r>
            <a:r>
              <a:rPr dirty="0" sz="1150" spc="-50">
                <a:solidFill>
                  <a:srgbClr val="CA7950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93875" y="987135"/>
            <a:ext cx="1006475" cy="252095"/>
            <a:chOff x="4593875" y="987135"/>
            <a:chExt cx="1006475" cy="25209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93875" y="987135"/>
              <a:ext cx="1006277" cy="2515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93875" y="987135"/>
              <a:ext cx="1001394" cy="246379"/>
            </a:xfrm>
            <a:custGeom>
              <a:avLst/>
              <a:gdLst/>
              <a:ahLst/>
              <a:cxnLst/>
              <a:rect l="l" t="t" r="r" b="b"/>
              <a:pathLst>
                <a:path w="1001395" h="246380">
                  <a:moveTo>
                    <a:pt x="1000808" y="246100"/>
                  </a:moveTo>
                  <a:lnTo>
                    <a:pt x="0" y="246100"/>
                  </a:lnTo>
                  <a:lnTo>
                    <a:pt x="0" y="0"/>
                  </a:lnTo>
                  <a:lnTo>
                    <a:pt x="1000808" y="0"/>
                  </a:lnTo>
                  <a:lnTo>
                    <a:pt x="1000808" y="24610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593875" y="987135"/>
            <a:ext cx="1001394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"/>
              </a:spcBef>
            </a:pPr>
            <a:r>
              <a:rPr dirty="0" sz="1150" spc="-50">
                <a:solidFill>
                  <a:srgbClr val="A8E4DF"/>
                </a:solidFill>
                <a:latin typeface="Times New Roman"/>
                <a:cs typeface="Times New Roman"/>
              </a:rPr>
              <a:t>New</a:t>
            </a:r>
            <a:r>
              <a:rPr dirty="0" sz="1150" spc="-25">
                <a:solidFill>
                  <a:srgbClr val="A8E4D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85210" y="3295011"/>
            <a:ext cx="334010" cy="437515"/>
            <a:chOff x="1985210" y="3295011"/>
            <a:chExt cx="334010" cy="43751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54746" y="3295011"/>
              <a:ext cx="38282" cy="765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85210" y="3415327"/>
              <a:ext cx="333602" cy="31719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33679" y="3316887"/>
            <a:ext cx="678143" cy="31719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98575" y="1938723"/>
            <a:ext cx="114846" cy="12031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801694" y="3295011"/>
            <a:ext cx="339090" cy="426720"/>
            <a:chOff x="4801694" y="3295011"/>
            <a:chExt cx="339090" cy="426720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1694" y="3557519"/>
              <a:ext cx="339071" cy="16406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39976" y="3295011"/>
              <a:ext cx="257038" cy="251569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07971" y="1998882"/>
            <a:ext cx="1908646" cy="984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07971" y="2223107"/>
            <a:ext cx="1908646" cy="14219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07971" y="2556709"/>
            <a:ext cx="1908646" cy="8750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17985" y="2195762"/>
            <a:ext cx="535952" cy="2023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99441" y="3191102"/>
            <a:ext cx="366416" cy="31719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04086" y="1444153"/>
            <a:ext cx="530860" cy="4895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05"/>
              </a:lnSpc>
              <a:spcBef>
                <a:spcPts val="100"/>
              </a:spcBef>
            </a:pPr>
            <a:r>
              <a:rPr dirty="0" sz="2200" spc="75">
                <a:solidFill>
                  <a:srgbClr val="E98742"/>
                </a:solidFill>
                <a:latin typeface="Cambria"/>
                <a:cs typeface="Cambria"/>
              </a:rPr>
              <a:t>200</a:t>
            </a:r>
            <a:endParaRPr sz="2200">
              <a:latin typeface="Cambria"/>
              <a:cs typeface="Cambria"/>
            </a:endParaRPr>
          </a:p>
          <a:p>
            <a:pPr marL="39370">
              <a:lnSpc>
                <a:spcPts val="1045"/>
              </a:lnSpc>
            </a:pPr>
            <a:r>
              <a:rPr dirty="0" sz="900" spc="60">
                <a:solidFill>
                  <a:srgbClr val="D47E4F"/>
                </a:solidFill>
                <a:latin typeface="Cambria"/>
                <a:cs typeface="Cambria"/>
              </a:rPr>
              <a:t>Humans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8665" y="2453772"/>
            <a:ext cx="73025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25">
                <a:solidFill>
                  <a:srgbClr val="424242"/>
                </a:solidFill>
                <a:latin typeface="Cambria"/>
                <a:cs typeface="Cambria"/>
              </a:rPr>
              <a:t>Phones</a:t>
            </a:r>
            <a:r>
              <a:rPr dirty="0" sz="850" spc="5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282828"/>
                </a:solidFill>
                <a:latin typeface="Cambria"/>
                <a:cs typeface="Cambria"/>
              </a:rPr>
              <a:t>+</a:t>
            </a:r>
            <a:r>
              <a:rPr dirty="0" sz="850" spc="-3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282828"/>
                </a:solidFill>
                <a:latin typeface="Cambria"/>
                <a:cs typeface="Cambria"/>
              </a:rPr>
              <a:t>emails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1352143" y="36215"/>
            <a:ext cx="6617970" cy="5213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>
                <a:solidFill>
                  <a:srgbClr val="0A234B"/>
                </a:solidFill>
                <a:latin typeface="Cambria"/>
                <a:cs typeface="Cambria"/>
              </a:rPr>
              <a:t>The</a:t>
            </a:r>
            <a:r>
              <a:rPr dirty="0" sz="3250" spc="-160">
                <a:solidFill>
                  <a:srgbClr val="0A234B"/>
                </a:solidFill>
                <a:latin typeface="Cambria"/>
                <a:cs typeface="Cambria"/>
              </a:rPr>
              <a:t> </a:t>
            </a:r>
            <a:r>
              <a:rPr dirty="0" sz="3250" spc="-80">
                <a:solidFill>
                  <a:srgbClr val="0A2A59"/>
                </a:solidFill>
                <a:latin typeface="Cambria"/>
                <a:cs typeface="Cambria"/>
              </a:rPr>
              <a:t>Company</a:t>
            </a:r>
            <a:r>
              <a:rPr dirty="0" sz="3250" spc="-15">
                <a:solidFill>
                  <a:srgbClr val="0A2A59"/>
                </a:solidFill>
                <a:latin typeface="Cambria"/>
                <a:cs typeface="Cambria"/>
              </a:rPr>
              <a:t> </a:t>
            </a:r>
            <a:r>
              <a:rPr dirty="0" sz="3250">
                <a:solidFill>
                  <a:srgbClr val="051F36"/>
                </a:solidFill>
                <a:latin typeface="Cambria"/>
                <a:cs typeface="Cambria"/>
              </a:rPr>
              <a:t>With</a:t>
            </a:r>
            <a:r>
              <a:rPr dirty="0" sz="3250" spc="-105">
                <a:solidFill>
                  <a:srgbClr val="051F36"/>
                </a:solidFill>
                <a:latin typeface="Cambria"/>
                <a:cs typeface="Cambria"/>
              </a:rPr>
              <a:t> </a:t>
            </a:r>
            <a:r>
              <a:rPr dirty="0" sz="3250" spc="-114">
                <a:solidFill>
                  <a:srgbClr val="0A285B"/>
                </a:solidFill>
                <a:latin typeface="Cambria"/>
                <a:cs typeface="Cambria"/>
              </a:rPr>
              <a:t>Invisible</a:t>
            </a:r>
            <a:r>
              <a:rPr dirty="0" sz="3250" spc="-10">
                <a:solidFill>
                  <a:srgbClr val="0A285B"/>
                </a:solidFill>
                <a:latin typeface="Cambria"/>
                <a:cs typeface="Cambria"/>
              </a:rPr>
              <a:t> </a:t>
            </a:r>
            <a:r>
              <a:rPr dirty="0" sz="3250" spc="-160">
                <a:solidFill>
                  <a:srgbClr val="001C4B"/>
                </a:solidFill>
                <a:latin typeface="Cambria"/>
                <a:cs typeface="Cambria"/>
              </a:rPr>
              <a:t>Employees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03522" y="3301453"/>
            <a:ext cx="475615" cy="309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 marR="5080" indent="-1270">
              <a:lnSpc>
                <a:spcPct val="109800"/>
              </a:lnSpc>
              <a:spcBef>
                <a:spcPts val="95"/>
              </a:spcBef>
            </a:pPr>
            <a:r>
              <a:rPr dirty="0" sz="850" spc="-10">
                <a:latin typeface="Cambria"/>
                <a:cs typeface="Cambria"/>
              </a:rPr>
              <a:t>Routine</a:t>
            </a:r>
            <a:r>
              <a:rPr dirty="0" sz="850" spc="500">
                <a:latin typeface="Cambria"/>
                <a:cs typeface="Cambria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Cambria"/>
                <a:cs typeface="Cambria"/>
              </a:rPr>
              <a:t>questions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60431" y="3312390"/>
            <a:ext cx="4762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50">
                <a:solidFill>
                  <a:srgbClr val="9AC1BD"/>
                </a:solidFill>
                <a:latin typeface="Cambria"/>
                <a:cs typeface="Cambria"/>
              </a:rPr>
              <a:t>.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12266" y="3317859"/>
            <a:ext cx="707390" cy="2933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110"/>
              </a:spcBef>
            </a:pPr>
            <a:r>
              <a:rPr dirty="0" sz="850" spc="-10">
                <a:solidFill>
                  <a:srgbClr val="232323"/>
                </a:solidFill>
                <a:latin typeface="Cambria"/>
                <a:cs typeface="Cambria"/>
              </a:rPr>
              <a:t>AI</a:t>
            </a:r>
            <a:r>
              <a:rPr dirty="0" sz="850" spc="-15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850" spc="-10">
                <a:latin typeface="Cambria"/>
                <a:cs typeface="Cambria"/>
              </a:rPr>
              <a:t>handles</a:t>
            </a:r>
            <a:endParaRPr sz="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226060" algn="l"/>
              </a:tabLst>
            </a:pPr>
            <a:r>
              <a:rPr dirty="0" sz="850" spc="-50">
                <a:solidFill>
                  <a:srgbClr val="004856"/>
                </a:solidFill>
                <a:latin typeface="Cambria"/>
                <a:cs typeface="Cambria"/>
              </a:rPr>
              <a:t>!</a:t>
            </a:r>
            <a:r>
              <a:rPr dirty="0" sz="850">
                <a:solidFill>
                  <a:srgbClr val="004856"/>
                </a:solidFill>
                <a:latin typeface="Cambria"/>
                <a:cs typeface="Cambria"/>
              </a:rPr>
              <a:t>	</a:t>
            </a:r>
            <a:r>
              <a:rPr dirty="0" sz="850" spc="-10">
                <a:solidFill>
                  <a:srgbClr val="111111"/>
                </a:solidFill>
                <a:latin typeface="Cambria"/>
                <a:cs typeface="Cambria"/>
              </a:rPr>
              <a:t>instantly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18852" y="1859182"/>
            <a:ext cx="21844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35">
                <a:solidFill>
                  <a:srgbClr val="0E2149"/>
                </a:solidFill>
                <a:latin typeface="Courier New"/>
                <a:cs typeface="Courier New"/>
              </a:rPr>
              <a:t>VS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06408" y="3308441"/>
            <a:ext cx="563880" cy="304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4399"/>
              </a:lnSpc>
              <a:spcBef>
                <a:spcPts val="95"/>
              </a:spcBef>
            </a:pPr>
            <a:r>
              <a:rPr dirty="0" sz="800">
                <a:solidFill>
                  <a:srgbClr val="0F0F0F"/>
                </a:solidFill>
                <a:latin typeface="Cambria"/>
                <a:cs typeface="Cambria"/>
              </a:rPr>
              <a:t>Complex</a:t>
            </a:r>
            <a:r>
              <a:rPr dirty="0" sz="800" spc="37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DDA5AA"/>
                </a:solidFill>
                <a:latin typeface="Cambria"/>
                <a:cs typeface="Cambria"/>
              </a:rPr>
              <a:t>,</a:t>
            </a:r>
            <a:r>
              <a:rPr dirty="0" sz="800" spc="204">
                <a:solidFill>
                  <a:srgbClr val="DDA5AA"/>
                </a:solidFill>
                <a:latin typeface="Cambria"/>
                <a:cs typeface="Cambria"/>
              </a:rPr>
              <a:t> </a:t>
            </a:r>
            <a:r>
              <a:rPr dirty="0" sz="800" spc="-135">
                <a:solidFill>
                  <a:srgbClr val="FDA1AC"/>
                </a:solidFill>
                <a:latin typeface="Cambria"/>
                <a:cs typeface="Cambria"/>
              </a:rPr>
              <a:t>-</a:t>
            </a:r>
            <a:r>
              <a:rPr dirty="0" sz="800" spc="500">
                <a:solidFill>
                  <a:srgbClr val="FDA1AC"/>
                </a:solidFill>
                <a:latin typeface="Cambria"/>
                <a:cs typeface="Cambria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Cambria"/>
                <a:cs typeface="Cambria"/>
              </a:rPr>
              <a:t>cases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78725" y="3463392"/>
            <a:ext cx="9017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20">
                <a:solidFill>
                  <a:srgbClr val="F09A9E"/>
                </a:solidFill>
                <a:latin typeface="Cambria"/>
                <a:cs typeface="Cambria"/>
              </a:rPr>
              <a:t>^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26283" y="1355739"/>
            <a:ext cx="467359" cy="462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3335">
              <a:lnSpc>
                <a:spcPts val="2435"/>
              </a:lnSpc>
              <a:spcBef>
                <a:spcPts val="105"/>
              </a:spcBef>
            </a:pPr>
            <a:r>
              <a:rPr dirty="0" sz="2050" spc="-320">
                <a:solidFill>
                  <a:srgbClr val="008E85"/>
                </a:solidFill>
                <a:latin typeface="Arial Black"/>
                <a:cs typeface="Arial Black"/>
              </a:rPr>
              <a:t>10</a:t>
            </a:r>
            <a:endParaRPr sz="2050">
              <a:latin typeface="Arial Black"/>
              <a:cs typeface="Arial Black"/>
            </a:endParaRPr>
          </a:p>
          <a:p>
            <a:pPr algn="ctr">
              <a:lnSpc>
                <a:spcPts val="994"/>
              </a:lnSpc>
            </a:pPr>
            <a:r>
              <a:rPr dirty="0" sz="850" spc="60">
                <a:solidFill>
                  <a:srgbClr val="235E56"/>
                </a:solidFill>
                <a:latin typeface="Cambria"/>
                <a:cs typeface="Cambria"/>
              </a:rPr>
              <a:t>Humans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39417" y="2064265"/>
            <a:ext cx="634365" cy="499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0645">
              <a:lnSpc>
                <a:spcPts val="2645"/>
              </a:lnSpc>
              <a:spcBef>
                <a:spcPts val="95"/>
              </a:spcBef>
            </a:pPr>
            <a:r>
              <a:rPr dirty="0" sz="2250" spc="-25">
                <a:solidFill>
                  <a:srgbClr val="00776B"/>
                </a:solidFill>
                <a:latin typeface="Cambria"/>
                <a:cs typeface="Cambria"/>
              </a:rPr>
              <a:t>190</a:t>
            </a:r>
            <a:endParaRPr sz="2250">
              <a:latin typeface="Cambria"/>
              <a:cs typeface="Cambria"/>
            </a:endParaRPr>
          </a:p>
          <a:p>
            <a:pPr marL="12700">
              <a:lnSpc>
                <a:spcPts val="1085"/>
              </a:lnSpc>
            </a:pPr>
            <a:r>
              <a:rPr dirty="0" sz="950">
                <a:solidFill>
                  <a:srgbClr val="3F8783"/>
                </a:solidFill>
                <a:latin typeface="Cambria"/>
                <a:cs typeface="Cambria"/>
              </a:rPr>
              <a:t>AI</a:t>
            </a:r>
            <a:r>
              <a:rPr dirty="0" sz="950" spc="75">
                <a:solidFill>
                  <a:srgbClr val="3F8783"/>
                </a:solidFill>
                <a:latin typeface="Cambria"/>
                <a:cs typeface="Cambria"/>
              </a:rPr>
              <a:t> </a:t>
            </a:r>
            <a:r>
              <a:rPr dirty="0" sz="950" spc="-10">
                <a:solidFill>
                  <a:srgbClr val="188A7E"/>
                </a:solidFill>
                <a:latin typeface="Cambria"/>
                <a:cs typeface="Cambria"/>
              </a:rPr>
              <a:t>Workers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47388" y="3317859"/>
            <a:ext cx="378460" cy="2933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4604" marR="5080" indent="-2540">
              <a:lnSpc>
                <a:spcPct val="105500"/>
              </a:lnSpc>
              <a:spcBef>
                <a:spcPts val="55"/>
              </a:spcBef>
            </a:pPr>
            <a:r>
              <a:rPr dirty="0" sz="850" spc="-55">
                <a:solidFill>
                  <a:srgbClr val="2F2F2F"/>
                </a:solidFill>
                <a:latin typeface="Cambria"/>
                <a:cs typeface="Cambria"/>
              </a:rPr>
              <a:t>Humans</a:t>
            </a:r>
            <a:r>
              <a:rPr dirty="0" sz="850" spc="50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Cambria"/>
                <a:cs typeface="Cambria"/>
              </a:rPr>
              <a:t>review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82664" y="4269447"/>
            <a:ext cx="3796029" cy="222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solidFill>
                  <a:srgbClr val="131313"/>
                </a:solidFill>
                <a:latin typeface="Cambria"/>
                <a:cs typeface="Cambria"/>
              </a:rPr>
              <a:t>Most</a:t>
            </a:r>
            <a:r>
              <a:rPr dirty="0" sz="1300" spc="5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300" spc="-20">
                <a:solidFill>
                  <a:srgbClr val="182148"/>
                </a:solidFill>
                <a:latin typeface="Cambria"/>
                <a:cs typeface="Cambria"/>
              </a:rPr>
              <a:t>workers</a:t>
            </a:r>
            <a:r>
              <a:rPr dirty="0" sz="1300" spc="50">
                <a:solidFill>
                  <a:srgbClr val="182148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0F133B"/>
                </a:solidFill>
                <a:latin typeface="Cambria"/>
                <a:cs typeface="Cambria"/>
              </a:rPr>
              <a:t>are</a:t>
            </a:r>
            <a:r>
              <a:rPr dirty="0" sz="1300" spc="25">
                <a:solidFill>
                  <a:srgbClr val="0F133B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0F0F0F"/>
                </a:solidFill>
                <a:latin typeface="Cambria"/>
                <a:cs typeface="Cambria"/>
              </a:rPr>
              <a:t>AI.</a:t>
            </a:r>
            <a:r>
              <a:rPr dirty="0" sz="1300" spc="26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212A52"/>
                </a:solidFill>
                <a:latin typeface="Cambria"/>
                <a:cs typeface="Cambria"/>
              </a:rPr>
              <a:t>Humans</a:t>
            </a:r>
            <a:r>
              <a:rPr dirty="0" sz="1300" spc="25">
                <a:solidFill>
                  <a:srgbClr val="212A52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051138"/>
                </a:solidFill>
                <a:latin typeface="Cambria"/>
                <a:cs typeface="Cambria"/>
              </a:rPr>
              <a:t>handle</a:t>
            </a:r>
            <a:r>
              <a:rPr dirty="0" sz="1300" spc="35">
                <a:solidFill>
                  <a:srgbClr val="051138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030A36"/>
                </a:solidFill>
                <a:latin typeface="Cambria"/>
                <a:cs typeface="Cambria"/>
              </a:rPr>
              <a:t>the</a:t>
            </a:r>
            <a:r>
              <a:rPr dirty="0" sz="1300" spc="10">
                <a:solidFill>
                  <a:srgbClr val="030A36"/>
                </a:solidFill>
                <a:latin typeface="Cambria"/>
                <a:cs typeface="Cambria"/>
              </a:rPr>
              <a:t> </a:t>
            </a:r>
            <a:r>
              <a:rPr dirty="0" sz="1300" spc="-35">
                <a:solidFill>
                  <a:srgbClr val="00002B"/>
                </a:solidFill>
                <a:latin typeface="Cambria"/>
                <a:cs typeface="Cambria"/>
              </a:rPr>
              <a:t>tricky</a:t>
            </a:r>
            <a:r>
              <a:rPr dirty="0" sz="1300" spc="20">
                <a:solidFill>
                  <a:srgbClr val="00002B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000024"/>
                </a:solidFill>
                <a:latin typeface="Cambria"/>
                <a:cs typeface="Cambria"/>
              </a:rPr>
              <a:t>cases.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91451" y="4618242"/>
            <a:ext cx="374459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0">
                <a:solidFill>
                  <a:srgbClr val="1F1F1F"/>
                </a:solidFill>
                <a:latin typeface="Arial MT"/>
                <a:cs typeface="Arial MT"/>
              </a:rPr>
              <a:t>Customers</a:t>
            </a:r>
            <a:r>
              <a:rPr dirty="0" sz="950" spc="-2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F1F1F"/>
                </a:solidFill>
                <a:latin typeface="Arial MT"/>
                <a:cs typeface="Arial MT"/>
              </a:rPr>
              <a:t>barely</a:t>
            </a:r>
            <a:r>
              <a:rPr dirty="0" sz="950" spc="1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F1F1F"/>
                </a:solidFill>
                <a:latin typeface="Arial MT"/>
                <a:cs typeface="Arial MT"/>
              </a:rPr>
              <a:t>notice</a:t>
            </a:r>
            <a:r>
              <a:rPr dirty="0" sz="950" spc="-4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D3D3D"/>
                </a:solidFill>
                <a:latin typeface="Arial MT"/>
                <a:cs typeface="Arial MT"/>
              </a:rPr>
              <a:t>the</a:t>
            </a:r>
            <a:r>
              <a:rPr dirty="0" sz="950" spc="-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0F0F0F"/>
                </a:solidFill>
                <a:latin typeface="Arial MT"/>
                <a:cs typeface="Arial MT"/>
              </a:rPr>
              <a:t>difference</a:t>
            </a:r>
            <a:r>
              <a:rPr dirty="0" sz="9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-375">
                <a:solidFill>
                  <a:srgbClr val="575757"/>
                </a:solidFill>
                <a:latin typeface="Arial MT"/>
                <a:cs typeface="Arial MT"/>
              </a:rPr>
              <a:t>—</a:t>
            </a:r>
            <a:r>
              <a:rPr dirty="0" sz="950" spc="-5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B2B2B"/>
                </a:solidFill>
                <a:latin typeface="Arial MT"/>
                <a:cs typeface="Arial MT"/>
              </a:rPr>
              <a:t>they</a:t>
            </a:r>
            <a:r>
              <a:rPr dirty="0" sz="950" spc="-3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just</a:t>
            </a:r>
            <a:r>
              <a:rPr dirty="0" sz="950" spc="-2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A0A0A"/>
                </a:solidFill>
                <a:latin typeface="Arial MT"/>
                <a:cs typeface="Arial MT"/>
              </a:rPr>
              <a:t>get</a:t>
            </a:r>
            <a:r>
              <a:rPr dirty="0" sz="950" spc="-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A0A0A"/>
                </a:solidFill>
                <a:latin typeface="Arial MT"/>
                <a:cs typeface="Arial MT"/>
              </a:rPr>
              <a:t>fast,</a:t>
            </a:r>
            <a:r>
              <a:rPr dirty="0" sz="950" spc="-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C1C"/>
                </a:solidFill>
                <a:latin typeface="Arial MT"/>
                <a:cs typeface="Arial MT"/>
              </a:rPr>
              <a:t>good</a:t>
            </a:r>
            <a:r>
              <a:rPr dirty="0" sz="950" spc="-3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61616"/>
                </a:solidFill>
                <a:latin typeface="Arial MT"/>
                <a:cs typeface="Arial MT"/>
              </a:rPr>
              <a:t>service.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66884" y="1265807"/>
            <a:ext cx="1048385" cy="4470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6510" marR="5080" indent="-4445">
              <a:lnSpc>
                <a:spcPct val="114399"/>
              </a:lnSpc>
              <a:spcBef>
                <a:spcPts val="114"/>
              </a:spcBef>
            </a:pPr>
            <a:r>
              <a:rPr dirty="0" sz="800">
                <a:solidFill>
                  <a:srgbClr val="15756B"/>
                </a:solidFill>
                <a:latin typeface="Arial MT"/>
                <a:cs typeface="Arial MT"/>
              </a:rPr>
              <a:t>10</a:t>
            </a:r>
            <a:r>
              <a:rPr dirty="0" sz="800" spc="-15">
                <a:solidFill>
                  <a:srgbClr val="15756B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28277"/>
                </a:solidFill>
                <a:latin typeface="Arial MT"/>
                <a:cs typeface="Arial MT"/>
              </a:rPr>
              <a:t>human</a:t>
            </a:r>
            <a:r>
              <a:rPr dirty="0" sz="800" spc="45">
                <a:solidFill>
                  <a:srgbClr val="4282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EB5B1"/>
                </a:solidFill>
                <a:latin typeface="Arial MT"/>
                <a:cs typeface="Arial MT"/>
              </a:rPr>
              <a:t>supervisors </a:t>
            </a:r>
            <a:r>
              <a:rPr dirty="0" sz="800" spc="-20">
                <a:solidFill>
                  <a:srgbClr val="1A1A1A"/>
                </a:solidFill>
                <a:latin typeface="Arial MT"/>
                <a:cs typeface="Arial MT"/>
              </a:rPr>
              <a:t>handle</a:t>
            </a:r>
            <a:r>
              <a:rPr dirty="0" sz="8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C1C1C"/>
                </a:solidFill>
                <a:latin typeface="Arial MT"/>
                <a:cs typeface="Arial MT"/>
              </a:rPr>
              <a:t>tricky</a:t>
            </a:r>
            <a:r>
              <a:rPr dirty="0" sz="800" spc="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2D2D2D"/>
                </a:solidFill>
                <a:latin typeface="Arial MT"/>
                <a:cs typeface="Arial MT"/>
              </a:rPr>
              <a:t>cases</a:t>
            </a:r>
            <a:r>
              <a:rPr dirty="0" sz="800" spc="50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dirty="0" sz="8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131313"/>
                </a:solidFill>
                <a:latin typeface="Arial MT"/>
                <a:cs typeface="Arial MT"/>
              </a:rPr>
              <a:t>oversee</a:t>
            </a:r>
            <a:r>
              <a:rPr dirty="0" sz="800" spc="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282828"/>
                </a:solidFill>
                <a:latin typeface="Arial MT"/>
                <a:cs typeface="Arial MT"/>
              </a:rPr>
              <a:t>AI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50175" y="3501615"/>
            <a:ext cx="669290" cy="445134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 indent="62865">
              <a:lnSpc>
                <a:spcPct val="116100"/>
              </a:lnSpc>
              <a:spcBef>
                <a:spcPts val="220"/>
              </a:spcBef>
            </a:pPr>
            <a:r>
              <a:rPr dirty="0" sz="850" spc="-25">
                <a:solidFill>
                  <a:srgbClr val="B56B31"/>
                </a:solidFill>
                <a:latin typeface="Cambria"/>
                <a:cs typeface="Cambria"/>
              </a:rPr>
              <a:t>Fast</a:t>
            </a:r>
            <a:r>
              <a:rPr dirty="0" sz="850" spc="15">
                <a:solidFill>
                  <a:srgbClr val="B56B31"/>
                </a:solidFill>
                <a:latin typeface="Cambria"/>
                <a:cs typeface="Cambria"/>
              </a:rPr>
              <a:t> </a:t>
            </a:r>
            <a:r>
              <a:rPr dirty="0" sz="850" spc="-10">
                <a:solidFill>
                  <a:srgbClr val="E88C66"/>
                </a:solidFill>
                <a:latin typeface="Cambria"/>
                <a:cs typeface="Cambria"/>
              </a:rPr>
              <a:t>service</a:t>
            </a:r>
            <a:r>
              <a:rPr dirty="0" sz="850" spc="500">
                <a:solidFill>
                  <a:srgbClr val="E88C66"/>
                </a:solidFill>
                <a:latin typeface="Cambria"/>
                <a:cs typeface="Cambria"/>
              </a:rPr>
              <a:t> </a:t>
            </a:r>
            <a:r>
              <a:rPr dirty="0" sz="700" spc="-10">
                <a:solidFill>
                  <a:srgbClr val="3D3D3D"/>
                </a:solidFill>
                <a:latin typeface="Cambria"/>
                <a:cs typeface="Cambria"/>
              </a:rPr>
              <a:t>Instant</a:t>
            </a:r>
            <a:r>
              <a:rPr dirty="0" sz="700" spc="5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dirty="0" sz="700" spc="-10">
                <a:solidFill>
                  <a:srgbClr val="484848"/>
                </a:solidFill>
                <a:latin typeface="Cambria"/>
                <a:cs typeface="Cambria"/>
              </a:rPr>
              <a:t>answers</a:t>
            </a:r>
            <a:r>
              <a:rPr dirty="0" sz="700" spc="500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4D4D4D"/>
                </a:solidFill>
                <a:latin typeface="Cambria"/>
                <a:cs typeface="Cambria"/>
              </a:rPr>
              <a:t>most</a:t>
            </a:r>
            <a:r>
              <a:rPr dirty="0" sz="700" spc="40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595959"/>
                </a:solidFill>
                <a:latin typeface="Cambria"/>
                <a:cs typeface="Cambria"/>
              </a:rPr>
              <a:t>of</a:t>
            </a:r>
            <a:r>
              <a:rPr dirty="0" sz="700" spc="75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2B2B2B"/>
                </a:solidFill>
                <a:latin typeface="Cambria"/>
                <a:cs typeface="Cambria"/>
              </a:rPr>
              <a:t>the</a:t>
            </a:r>
            <a:r>
              <a:rPr dirty="0" sz="700" spc="25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dirty="0" sz="700" spc="-20">
                <a:solidFill>
                  <a:srgbClr val="464646"/>
                </a:solidFill>
                <a:latin typeface="Cambria"/>
                <a:cs typeface="Cambria"/>
              </a:rPr>
              <a:t>time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49293" y="3508259"/>
            <a:ext cx="603885" cy="438784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 indent="42545">
              <a:lnSpc>
                <a:spcPct val="117300"/>
              </a:lnSpc>
              <a:spcBef>
                <a:spcPts val="215"/>
              </a:spcBef>
            </a:pPr>
            <a:r>
              <a:rPr dirty="0" sz="800" spc="-10">
                <a:solidFill>
                  <a:srgbClr val="3F9554"/>
                </a:solidFill>
                <a:latin typeface="Cambria"/>
                <a:cs typeface="Cambria"/>
              </a:rPr>
              <a:t>Lower</a:t>
            </a:r>
            <a:r>
              <a:rPr dirty="0" sz="800" spc="-25">
                <a:solidFill>
                  <a:srgbClr val="3F9554"/>
                </a:solidFill>
                <a:latin typeface="Cambria"/>
                <a:cs typeface="Cambria"/>
              </a:rPr>
              <a:t> </a:t>
            </a:r>
            <a:r>
              <a:rPr dirty="0" sz="800" spc="-20">
                <a:solidFill>
                  <a:srgbClr val="4F9769"/>
                </a:solidFill>
                <a:latin typeface="Cambria"/>
                <a:cs typeface="Cambria"/>
              </a:rPr>
              <a:t>cost</a:t>
            </a:r>
            <a:r>
              <a:rPr dirty="0" sz="800" spc="500">
                <a:solidFill>
                  <a:srgbClr val="4F9769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131313"/>
                </a:solidFill>
                <a:latin typeface="Cambria"/>
                <a:cs typeface="Cambria"/>
              </a:rPr>
              <a:t>Fewer</a:t>
            </a:r>
            <a:r>
              <a:rPr dirty="0" sz="700" spc="7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700" spc="-10">
                <a:solidFill>
                  <a:srgbClr val="4B4B4B"/>
                </a:solidFill>
                <a:latin typeface="Cambria"/>
                <a:cs typeface="Cambria"/>
              </a:rPr>
              <a:t>humans</a:t>
            </a:r>
            <a:r>
              <a:rPr dirty="0" sz="700" spc="50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464646"/>
                </a:solidFill>
                <a:latin typeface="Cambria"/>
                <a:cs typeface="Cambria"/>
              </a:rPr>
              <a:t>to</a:t>
            </a:r>
            <a:r>
              <a:rPr dirty="0" sz="700" spc="15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3F3F3F"/>
                </a:solidFill>
                <a:latin typeface="Cambria"/>
                <a:cs typeface="Cambria"/>
              </a:rPr>
              <a:t>do</a:t>
            </a:r>
            <a:r>
              <a:rPr dirty="0" sz="700" spc="9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dirty="0" sz="700">
                <a:solidFill>
                  <a:srgbClr val="575757"/>
                </a:solidFill>
                <a:latin typeface="Cambria"/>
                <a:cs typeface="Cambria"/>
              </a:rPr>
              <a:t>the</a:t>
            </a:r>
            <a:r>
              <a:rPr dirty="0" sz="700" spc="70">
                <a:solidFill>
                  <a:srgbClr val="575757"/>
                </a:solidFill>
                <a:latin typeface="Cambria"/>
                <a:cs typeface="Cambria"/>
              </a:rPr>
              <a:t> </a:t>
            </a:r>
            <a:r>
              <a:rPr dirty="0" sz="700" spc="-20">
                <a:solidFill>
                  <a:srgbClr val="1A1A1A"/>
                </a:solidFill>
                <a:latin typeface="Cambria"/>
                <a:cs typeface="Cambria"/>
              </a:rPr>
              <a:t>work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949707" y="2168174"/>
            <a:ext cx="728345" cy="44259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4604" marR="5080" indent="-2540">
              <a:lnSpc>
                <a:spcPct val="109500"/>
              </a:lnSpc>
              <a:spcBef>
                <a:spcPts val="165"/>
              </a:spcBef>
            </a:pPr>
            <a:r>
              <a:rPr dirty="0" sz="800">
                <a:solidFill>
                  <a:srgbClr val="70B8B1"/>
                </a:solidFill>
                <a:latin typeface="Arial MT"/>
                <a:cs typeface="Arial MT"/>
              </a:rPr>
              <a:t>190</a:t>
            </a:r>
            <a:r>
              <a:rPr dirty="0" sz="800" spc="20">
                <a:solidFill>
                  <a:srgbClr val="70B8B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37E74"/>
                </a:solidFill>
                <a:latin typeface="Arial MT"/>
                <a:cs typeface="Arial MT"/>
              </a:rPr>
              <a:t>AI</a:t>
            </a:r>
            <a:r>
              <a:rPr dirty="0" sz="800" spc="15">
                <a:solidFill>
                  <a:srgbClr val="137E7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157569"/>
                </a:solidFill>
                <a:latin typeface="Arial MT"/>
                <a:cs typeface="Arial MT"/>
              </a:rPr>
              <a:t>workers </a:t>
            </a:r>
            <a:r>
              <a:rPr dirty="0" sz="800" spc="-25">
                <a:solidFill>
                  <a:srgbClr val="2D2D2D"/>
                </a:solidFill>
                <a:latin typeface="Arial MT"/>
                <a:cs typeface="Arial MT"/>
              </a:rPr>
              <a:t>handle</a:t>
            </a:r>
            <a:r>
              <a:rPr dirty="0" sz="80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routine </a:t>
            </a:r>
            <a:r>
              <a:rPr dirty="0" sz="850" spc="-45">
                <a:solidFill>
                  <a:srgbClr val="1A1A1A"/>
                </a:solidFill>
                <a:latin typeface="Arial MT"/>
                <a:cs typeface="Arial MT"/>
              </a:rPr>
              <a:t>questions</a:t>
            </a:r>
            <a:r>
              <a:rPr dirty="0" sz="8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24/7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10349" y="3510639"/>
            <a:ext cx="550545" cy="438784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850" spc="-20">
                <a:solidFill>
                  <a:srgbClr val="C32F50"/>
                </a:solidFill>
                <a:latin typeface="Cambria"/>
                <a:cs typeface="Cambria"/>
              </a:rPr>
              <a:t>24/7</a:t>
            </a:r>
            <a:endParaRPr sz="850">
              <a:latin typeface="Cambria"/>
              <a:cs typeface="Cambria"/>
            </a:endParaRPr>
          </a:p>
          <a:p>
            <a:pPr algn="ctr" marL="1270">
              <a:lnSpc>
                <a:spcPts val="875"/>
              </a:lnSpc>
              <a:spcBef>
                <a:spcPts val="200"/>
              </a:spcBef>
            </a:pPr>
            <a:r>
              <a:rPr dirty="0" sz="750" spc="-30">
                <a:solidFill>
                  <a:srgbClr val="1C1C1C"/>
                </a:solidFill>
                <a:latin typeface="Cambria"/>
                <a:cs typeface="Cambria"/>
              </a:rPr>
              <a:t>Always</a:t>
            </a:r>
            <a:r>
              <a:rPr dirty="0" sz="750" spc="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750" spc="-25">
                <a:solidFill>
                  <a:srgbClr val="494949"/>
                </a:solidFill>
                <a:latin typeface="Cambria"/>
                <a:cs typeface="Cambria"/>
              </a:rPr>
              <a:t>on.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ts val="935"/>
              </a:lnSpc>
            </a:pPr>
            <a:r>
              <a:rPr dirty="0" sz="800" spc="-50">
                <a:solidFill>
                  <a:srgbClr val="1D1D1D"/>
                </a:solidFill>
                <a:latin typeface="Cambria"/>
                <a:cs typeface="Cambria"/>
              </a:rPr>
              <a:t>day</a:t>
            </a:r>
            <a:r>
              <a:rPr dirty="0" sz="800" spc="15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dirty="0" sz="800" spc="-60">
                <a:solidFill>
                  <a:srgbClr val="313131"/>
                </a:solidFill>
                <a:latin typeface="Cambria"/>
                <a:cs typeface="Cambria"/>
              </a:rPr>
              <a:t>and</a:t>
            </a:r>
            <a:r>
              <a:rPr dirty="0" sz="800" spc="3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dirty="0" sz="800" spc="-25">
                <a:solidFill>
                  <a:srgbClr val="3A3A3A"/>
                </a:solidFill>
                <a:latin typeface="Cambria"/>
                <a:cs typeface="Cambria"/>
              </a:rPr>
              <a:t>night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39757" y="4214326"/>
            <a:ext cx="1450340" cy="58229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480"/>
              </a:spcBef>
            </a:pPr>
            <a:r>
              <a:rPr dirty="0" sz="1300">
                <a:solidFill>
                  <a:srgbClr val="0F9385"/>
                </a:solidFill>
                <a:latin typeface="Cambria"/>
                <a:cs typeface="Cambria"/>
              </a:rPr>
              <a:t>Al-Native</a:t>
            </a:r>
            <a:r>
              <a:rPr dirty="0" sz="1300" spc="409">
                <a:solidFill>
                  <a:srgbClr val="0F9385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0F807B"/>
                </a:solidFill>
                <a:latin typeface="Cambria"/>
                <a:cs typeface="Cambria"/>
              </a:rPr>
              <a:t>Company</a:t>
            </a:r>
            <a:endParaRPr sz="1300">
              <a:latin typeface="Cambria"/>
              <a:cs typeface="Cambria"/>
            </a:endParaRPr>
          </a:p>
          <a:p>
            <a:pPr marL="12700" marR="15875" indent="127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343434"/>
                </a:solidFill>
                <a:latin typeface="Cambria"/>
                <a:cs typeface="Cambria"/>
              </a:rPr>
              <a:t>A </a:t>
            </a:r>
            <a:r>
              <a:rPr dirty="0" sz="900" spc="-20">
                <a:solidFill>
                  <a:srgbClr val="383838"/>
                </a:solidFill>
                <a:latin typeface="Cambria"/>
                <a:cs typeface="Cambria"/>
              </a:rPr>
              <a:t>company</a:t>
            </a:r>
            <a:r>
              <a:rPr dirty="0" sz="900" spc="4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900" spc="-35">
                <a:solidFill>
                  <a:srgbClr val="545454"/>
                </a:solidFill>
                <a:latin typeface="Cambria"/>
                <a:cs typeface="Cambria"/>
              </a:rPr>
              <a:t>where</a:t>
            </a:r>
            <a:r>
              <a:rPr dirty="0" sz="900" spc="10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900" spc="-25">
                <a:solidFill>
                  <a:srgbClr val="444444"/>
                </a:solidFill>
                <a:latin typeface="Cambria"/>
                <a:cs typeface="Cambria"/>
              </a:rPr>
              <a:t>most</a:t>
            </a:r>
            <a:r>
              <a:rPr dirty="0" sz="900" spc="2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626262"/>
                </a:solidFill>
                <a:latin typeface="Cambria"/>
                <a:cs typeface="Cambria"/>
              </a:rPr>
              <a:t>of</a:t>
            </a:r>
            <a:r>
              <a:rPr dirty="0" sz="900" spc="10">
                <a:solidFill>
                  <a:srgbClr val="626262"/>
                </a:solidFill>
                <a:latin typeface="Cambria"/>
                <a:cs typeface="Cambria"/>
              </a:rPr>
              <a:t> </a:t>
            </a:r>
            <a:r>
              <a:rPr dirty="0" sz="900" spc="-25">
                <a:solidFill>
                  <a:srgbClr val="4F4F4F"/>
                </a:solidFill>
                <a:latin typeface="Cambria"/>
                <a:cs typeface="Cambria"/>
              </a:rPr>
              <a:t>the</a:t>
            </a:r>
            <a:r>
              <a:rPr dirty="0" sz="900" spc="50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1C1C1C"/>
                </a:solidFill>
                <a:latin typeface="Cambria"/>
                <a:cs typeface="Cambria"/>
              </a:rPr>
              <a:t>workers</a:t>
            </a:r>
            <a:r>
              <a:rPr dirty="0" sz="90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363636"/>
                </a:solidFill>
                <a:latin typeface="Cambria"/>
                <a:cs typeface="Cambria"/>
              </a:rPr>
              <a:t>are </a:t>
            </a:r>
            <a:r>
              <a:rPr dirty="0" sz="900">
                <a:solidFill>
                  <a:srgbClr val="262626"/>
                </a:solidFill>
                <a:latin typeface="Cambria"/>
                <a:cs typeface="Cambria"/>
              </a:rPr>
              <a:t>AI,</a:t>
            </a:r>
            <a:r>
              <a:rPr dirty="0" sz="900" spc="-25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900" spc="-20">
                <a:solidFill>
                  <a:srgbClr val="333333"/>
                </a:solidFill>
                <a:latin typeface="Cambria"/>
                <a:cs typeface="Cambria"/>
              </a:rPr>
              <a:t>not</a:t>
            </a:r>
            <a:r>
              <a:rPr dirty="0" sz="900" spc="-5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2F2F2F"/>
                </a:solidFill>
                <a:latin typeface="Cambria"/>
                <a:cs typeface="Cambria"/>
              </a:rPr>
              <a:t>human.</a:t>
            </a:r>
            <a:endParaRPr sz="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90" y="2575852"/>
            <a:ext cx="546890" cy="4867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736" y="2127402"/>
            <a:ext cx="344540" cy="3664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07105" y="2072712"/>
            <a:ext cx="1503947" cy="9953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3105" y="2668823"/>
            <a:ext cx="995339" cy="4320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50200" y="2225842"/>
            <a:ext cx="907837" cy="7328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6593" y="1361756"/>
            <a:ext cx="295320" cy="2953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08684" y="1356287"/>
            <a:ext cx="306258" cy="3062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74369" y="1356287"/>
            <a:ext cx="306258" cy="30625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56460" y="1356287"/>
            <a:ext cx="295320" cy="30625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50028" y="3297016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679" y="0"/>
                </a:lnTo>
              </a:path>
            </a:pathLst>
          </a:custGeom>
          <a:ln w="11666">
            <a:solidFill>
              <a:srgbClr val="CF64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07590" y="3291183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 h="0">
                <a:moveTo>
                  <a:pt x="0" y="0"/>
                </a:moveTo>
                <a:lnTo>
                  <a:pt x="291674" y="0"/>
                </a:lnTo>
              </a:path>
            </a:pathLst>
          </a:custGeom>
          <a:ln w="11666">
            <a:solidFill>
              <a:srgbClr val="3F8C8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82861" y="1832081"/>
            <a:ext cx="1290660" cy="35547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65760" y="1903177"/>
            <a:ext cx="1279723" cy="295320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60901" y="264391"/>
            <a:ext cx="4643755" cy="57277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70">
                <a:solidFill>
                  <a:srgbClr val="00183D"/>
                </a:solidFill>
                <a:latin typeface="Cambria"/>
                <a:cs typeface="Cambria"/>
              </a:rPr>
              <a:t>The</a:t>
            </a:r>
            <a:r>
              <a:rPr dirty="0" sz="3550" spc="-15">
                <a:solidFill>
                  <a:srgbClr val="00183D"/>
                </a:solidFill>
                <a:latin typeface="Cambria"/>
                <a:cs typeface="Cambria"/>
              </a:rPr>
              <a:t> </a:t>
            </a:r>
            <a:r>
              <a:rPr dirty="0" sz="3550">
                <a:solidFill>
                  <a:srgbClr val="00152B"/>
                </a:solidFill>
                <a:latin typeface="Cambria"/>
                <a:cs typeface="Cambria"/>
              </a:rPr>
              <a:t>Agent</a:t>
            </a:r>
            <a:r>
              <a:rPr dirty="0" sz="3550" spc="140">
                <a:solidFill>
                  <a:srgbClr val="00152B"/>
                </a:solidFill>
                <a:latin typeface="Cambria"/>
                <a:cs typeface="Cambria"/>
              </a:rPr>
              <a:t> </a:t>
            </a:r>
            <a:r>
              <a:rPr dirty="0" sz="3550">
                <a:solidFill>
                  <a:srgbClr val="00133B"/>
                </a:solidFill>
                <a:latin typeface="Cambria"/>
                <a:cs typeface="Cambria"/>
              </a:rPr>
              <a:t>Factory</a:t>
            </a:r>
            <a:r>
              <a:rPr dirty="0" sz="3550" spc="55">
                <a:solidFill>
                  <a:srgbClr val="00133B"/>
                </a:solidFill>
                <a:latin typeface="Cambria"/>
                <a:cs typeface="Cambria"/>
              </a:rPr>
              <a:t> </a:t>
            </a:r>
            <a:r>
              <a:rPr dirty="0" sz="3550" spc="-25">
                <a:solidFill>
                  <a:srgbClr val="00112B"/>
                </a:solidFill>
                <a:latin typeface="Cambria"/>
                <a:cs typeface="Cambria"/>
              </a:rPr>
              <a:t>Flow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568" y="3417212"/>
            <a:ext cx="965835" cy="47434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65735" marR="5080" indent="-153670">
              <a:lnSpc>
                <a:spcPct val="107700"/>
              </a:lnSpc>
              <a:spcBef>
                <a:spcPts val="5"/>
              </a:spcBef>
            </a:pPr>
            <a:r>
              <a:rPr dirty="0" sz="1400">
                <a:solidFill>
                  <a:srgbClr val="151D3D"/>
                </a:solidFill>
                <a:latin typeface="Arial MT"/>
                <a:cs typeface="Arial MT"/>
              </a:rPr>
              <a:t>Human</a:t>
            </a:r>
            <a:r>
              <a:rPr dirty="0" sz="1400" spc="-95">
                <a:solidFill>
                  <a:srgbClr val="151D3D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62349"/>
                </a:solidFill>
                <a:latin typeface="Arial MT"/>
                <a:cs typeface="Arial MT"/>
              </a:rPr>
              <a:t>sets </a:t>
            </a:r>
            <a:r>
              <a:rPr dirty="0" sz="1400">
                <a:solidFill>
                  <a:srgbClr val="010A36"/>
                </a:solidFill>
                <a:latin typeface="Arial MT"/>
                <a:cs typeface="Arial MT"/>
              </a:rPr>
              <a:t>the</a:t>
            </a:r>
            <a:r>
              <a:rPr dirty="0" sz="1400" spc="5">
                <a:solidFill>
                  <a:srgbClr val="010A36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0A1134"/>
                </a:solidFill>
                <a:latin typeface="Arial MT"/>
                <a:cs typeface="Arial MT"/>
              </a:rPr>
              <a:t>goal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8278" y="3398982"/>
            <a:ext cx="1123315" cy="49593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56540" marR="5080" indent="-244475">
              <a:lnSpc>
                <a:spcPts val="1810"/>
              </a:lnSpc>
              <a:spcBef>
                <a:spcPts val="229"/>
              </a:spcBef>
            </a:pPr>
            <a:r>
              <a:rPr dirty="0" sz="1550" spc="-285">
                <a:solidFill>
                  <a:srgbClr val="1C2452"/>
                </a:solidFill>
                <a:latin typeface="Arial Black"/>
                <a:cs typeface="Arial Black"/>
              </a:rPr>
              <a:t>Factory</a:t>
            </a:r>
            <a:r>
              <a:rPr dirty="0" sz="1550" spc="-60">
                <a:solidFill>
                  <a:srgbClr val="1C2452"/>
                </a:solidFill>
                <a:latin typeface="Arial Black"/>
                <a:cs typeface="Arial Black"/>
              </a:rPr>
              <a:t> </a:t>
            </a:r>
            <a:r>
              <a:rPr dirty="0" sz="1550" spc="-245">
                <a:solidFill>
                  <a:srgbClr val="0C1A36"/>
                </a:solidFill>
                <a:latin typeface="Arial Black"/>
                <a:cs typeface="Arial Black"/>
              </a:rPr>
              <a:t>builds </a:t>
            </a:r>
            <a:r>
              <a:rPr dirty="0" sz="1550" spc="-315">
                <a:solidFill>
                  <a:srgbClr val="0F1A48"/>
                </a:solidFill>
                <a:latin typeface="Arial Black"/>
                <a:cs typeface="Arial Black"/>
              </a:rPr>
              <a:t>workers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6445" y="3398982"/>
            <a:ext cx="916305" cy="49593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37795" marR="5080" indent="-125730">
              <a:lnSpc>
                <a:spcPts val="1810"/>
              </a:lnSpc>
              <a:spcBef>
                <a:spcPts val="229"/>
              </a:spcBef>
            </a:pPr>
            <a:r>
              <a:rPr dirty="0" sz="1550" spc="-285">
                <a:solidFill>
                  <a:srgbClr val="131A44"/>
                </a:solidFill>
                <a:latin typeface="Arial Black"/>
                <a:cs typeface="Arial Black"/>
              </a:rPr>
              <a:t>Workers</a:t>
            </a:r>
            <a:r>
              <a:rPr dirty="0" sz="1550" spc="-95">
                <a:solidFill>
                  <a:srgbClr val="131A44"/>
                </a:solidFill>
                <a:latin typeface="Arial Black"/>
                <a:cs typeface="Arial Black"/>
              </a:rPr>
              <a:t> </a:t>
            </a:r>
            <a:r>
              <a:rPr dirty="0" sz="1550" spc="-290">
                <a:solidFill>
                  <a:srgbClr val="11133B"/>
                </a:solidFill>
                <a:latin typeface="Arial Black"/>
                <a:cs typeface="Arial Black"/>
              </a:rPr>
              <a:t>do </a:t>
            </a:r>
            <a:r>
              <a:rPr dirty="0" sz="1550" spc="-250">
                <a:solidFill>
                  <a:srgbClr val="0C1842"/>
                </a:solidFill>
                <a:latin typeface="Arial Black"/>
                <a:cs typeface="Arial Black"/>
              </a:rPr>
              <a:t>the</a:t>
            </a:r>
            <a:r>
              <a:rPr dirty="0" sz="1550" spc="-145">
                <a:solidFill>
                  <a:srgbClr val="0C1842"/>
                </a:solidFill>
                <a:latin typeface="Arial Black"/>
                <a:cs typeface="Arial Black"/>
              </a:rPr>
              <a:t> </a:t>
            </a:r>
            <a:r>
              <a:rPr dirty="0" sz="1550" spc="-275">
                <a:solidFill>
                  <a:srgbClr val="081638"/>
                </a:solidFill>
                <a:latin typeface="Arial Black"/>
                <a:cs typeface="Arial Black"/>
              </a:rPr>
              <a:t>jobs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29533" y="3405059"/>
            <a:ext cx="734060" cy="48640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dirty="0" sz="1500" spc="-270">
                <a:solidFill>
                  <a:srgbClr val="181818"/>
                </a:solidFill>
                <a:latin typeface="Arial Black"/>
                <a:cs typeface="Arial Black"/>
              </a:rPr>
              <a:t>Results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70">
                <a:solidFill>
                  <a:srgbClr val="000A24"/>
                </a:solidFill>
                <a:latin typeface="Arial Black"/>
                <a:cs typeface="Arial Black"/>
              </a:rPr>
              <a:t>delivered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9024" y="4508257"/>
            <a:ext cx="53492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 i="1">
                <a:solidFill>
                  <a:srgbClr val="00001C"/>
                </a:solidFill>
                <a:latin typeface="Calibri"/>
                <a:cs typeface="Calibri"/>
              </a:rPr>
              <a:t>Human</a:t>
            </a:r>
            <a:r>
              <a:rPr dirty="0" sz="1400" spc="-60" i="1">
                <a:solidFill>
                  <a:srgbClr val="00001C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31313"/>
                </a:solidFill>
                <a:latin typeface="Calibri"/>
                <a:cs typeface="Calibri"/>
              </a:rPr>
              <a:t>gives</a:t>
            </a:r>
            <a:r>
              <a:rPr dirty="0" sz="1400" spc="-10" i="1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081631"/>
                </a:solidFill>
                <a:latin typeface="Calibri"/>
                <a:cs typeface="Calibri"/>
              </a:rPr>
              <a:t>direction</a:t>
            </a:r>
            <a:r>
              <a:rPr dirty="0" sz="1400" spc="130" i="1">
                <a:solidFill>
                  <a:srgbClr val="081631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3837E"/>
                </a:solidFill>
                <a:latin typeface="Calibri"/>
                <a:cs typeface="Calibri"/>
              </a:rPr>
              <a:t>-</a:t>
            </a:r>
            <a:r>
              <a:rPr dirty="0" sz="1400" i="1">
                <a:solidFill>
                  <a:srgbClr val="13837E"/>
                </a:solidFill>
                <a:latin typeface="Calibri"/>
                <a:cs typeface="Calibri"/>
              </a:rPr>
              <a:t>+</a:t>
            </a:r>
            <a:r>
              <a:rPr dirty="0" sz="1400" spc="160" i="1">
                <a:solidFill>
                  <a:srgbClr val="13837E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00001F"/>
                </a:solidFill>
                <a:latin typeface="Calibri"/>
                <a:cs typeface="Calibri"/>
              </a:rPr>
              <a:t>system</a:t>
            </a:r>
            <a:r>
              <a:rPr dirty="0" sz="1400" spc="40" i="1">
                <a:solidFill>
                  <a:srgbClr val="00001F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00011A"/>
                </a:solidFill>
                <a:latin typeface="Calibri"/>
                <a:cs typeface="Calibri"/>
              </a:rPr>
              <a:t>builds</a:t>
            </a:r>
            <a:r>
              <a:rPr dirty="0" sz="1400" spc="-30" i="1">
                <a:solidFill>
                  <a:srgbClr val="00011A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01082D"/>
                </a:solidFill>
                <a:latin typeface="Calibri"/>
                <a:cs typeface="Calibri"/>
              </a:rPr>
              <a:t>Al</a:t>
            </a:r>
            <a:r>
              <a:rPr dirty="0" sz="1400" spc="10" i="1">
                <a:solidFill>
                  <a:srgbClr val="01082D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11111"/>
                </a:solidFill>
                <a:latin typeface="Calibri"/>
                <a:cs typeface="Calibri"/>
              </a:rPr>
              <a:t>workers</a:t>
            </a:r>
            <a:r>
              <a:rPr dirty="0" sz="1400" spc="160" i="1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30" i="1">
                <a:solidFill>
                  <a:srgbClr val="26936D"/>
                </a:solidFill>
                <a:latin typeface="Calibri"/>
                <a:cs typeface="Calibri"/>
              </a:rPr>
              <a:t>-</a:t>
            </a:r>
            <a:r>
              <a:rPr dirty="0" sz="1400" i="1">
                <a:solidFill>
                  <a:srgbClr val="26936D"/>
                </a:solidFill>
                <a:latin typeface="Calibri"/>
                <a:cs typeface="Calibri"/>
              </a:rPr>
              <a:t>+</a:t>
            </a:r>
            <a:r>
              <a:rPr dirty="0" sz="1400" spc="155" i="1">
                <a:solidFill>
                  <a:srgbClr val="26936D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181818"/>
                </a:solidFill>
                <a:latin typeface="Calibri"/>
                <a:cs typeface="Calibri"/>
              </a:rPr>
              <a:t>workers</a:t>
            </a:r>
            <a:r>
              <a:rPr dirty="0" sz="1400" spc="10" i="1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030C2A"/>
                </a:solidFill>
                <a:latin typeface="Calibri"/>
                <a:cs typeface="Calibri"/>
              </a:rPr>
              <a:t>do</a:t>
            </a:r>
            <a:r>
              <a:rPr dirty="0" sz="1400" spc="-30" i="1">
                <a:solidFill>
                  <a:srgbClr val="030C2A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080C24"/>
                </a:solidFill>
                <a:latin typeface="Calibri"/>
                <a:cs typeface="Calibri"/>
              </a:rPr>
              <a:t>the</a:t>
            </a:r>
            <a:r>
              <a:rPr dirty="0" sz="1400" spc="-60" i="1">
                <a:solidFill>
                  <a:srgbClr val="080C24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11153B"/>
                </a:solidFill>
                <a:latin typeface="Calibri"/>
                <a:cs typeface="Calibri"/>
              </a:rPr>
              <a:t>work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59931" y="4508257"/>
            <a:ext cx="223075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5" i="1">
                <a:solidFill>
                  <a:srgbClr val="00032D"/>
                </a:solidFill>
                <a:latin typeface="Calibri"/>
                <a:cs typeface="Calibri"/>
              </a:rPr>
              <a:t>results</a:t>
            </a:r>
            <a:r>
              <a:rPr dirty="0" sz="1400" i="1">
                <a:solidFill>
                  <a:srgbClr val="00032D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000318"/>
                </a:solidFill>
                <a:latin typeface="Calibri"/>
                <a:cs typeface="Calibri"/>
              </a:rPr>
              <a:t>return </a:t>
            </a:r>
            <a:r>
              <a:rPr dirty="0" sz="1400" spc="-20" i="1">
                <a:solidFill>
                  <a:srgbClr val="131313"/>
                </a:solidFill>
                <a:latin typeface="Calibri"/>
                <a:cs typeface="Calibri"/>
              </a:rPr>
              <a:t>for</a:t>
            </a:r>
            <a:r>
              <a:rPr dirty="0" sz="1400" spc="-55" i="1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0F0F0F"/>
                </a:solidFill>
                <a:latin typeface="Calibri"/>
                <a:cs typeface="Calibri"/>
              </a:rPr>
              <a:t>human</a:t>
            </a:r>
            <a:r>
              <a:rPr dirty="0" sz="1400" spc="-25" i="1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000C31"/>
                </a:solidFill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79" y="4263474"/>
            <a:ext cx="8816633" cy="7269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183" y="1049470"/>
            <a:ext cx="8882225" cy="30554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13" y="185844"/>
            <a:ext cx="8827565" cy="48647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45116" y="-175763"/>
            <a:ext cx="6095365" cy="1148080"/>
          </a:xfrm>
          <a:prstGeom prst="rect"/>
        </p:spPr>
        <p:txBody>
          <a:bodyPr wrap="square" lIns="0" tIns="177165" rIns="0" bIns="0" rtlCol="0" vert="horz">
            <a:spAutoFit/>
          </a:bodyPr>
          <a:lstStyle/>
          <a:p>
            <a:pPr algn="ctr" marL="254635">
              <a:lnSpc>
                <a:spcPct val="100000"/>
              </a:lnSpc>
              <a:spcBef>
                <a:spcPts val="1395"/>
              </a:spcBef>
            </a:pPr>
            <a:r>
              <a:rPr dirty="0" sz="4700">
                <a:solidFill>
                  <a:srgbClr val="010A46"/>
                </a:solidFill>
                <a:latin typeface="Arial MT"/>
                <a:cs typeface="Arial MT"/>
              </a:rPr>
              <a:t>Agent</a:t>
            </a:r>
            <a:r>
              <a:rPr dirty="0" sz="4700" spc="55">
                <a:solidFill>
                  <a:srgbClr val="010A46"/>
                </a:solidFill>
                <a:latin typeface="Arial MT"/>
                <a:cs typeface="Arial MT"/>
              </a:rPr>
              <a:t> </a:t>
            </a:r>
            <a:r>
              <a:rPr dirty="0" sz="4700">
                <a:solidFill>
                  <a:srgbClr val="000C42"/>
                </a:solidFill>
                <a:latin typeface="Arial MT"/>
                <a:cs typeface="Arial MT"/>
              </a:rPr>
              <a:t>Factory</a:t>
            </a:r>
            <a:r>
              <a:rPr dirty="0" sz="4700" spc="509">
                <a:solidFill>
                  <a:srgbClr val="000C42"/>
                </a:solidFill>
                <a:latin typeface="Arial MT"/>
                <a:cs typeface="Arial MT"/>
              </a:rPr>
              <a:t> </a:t>
            </a:r>
            <a:r>
              <a:rPr dirty="0" sz="4700" spc="-50">
                <a:solidFill>
                  <a:srgbClr val="00A1A7"/>
                </a:solidFill>
                <a:latin typeface="Arial MT"/>
                <a:cs typeface="Arial MT"/>
              </a:rPr>
              <a:t>-</a:t>
            </a:r>
            <a:endParaRPr sz="4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300" spc="-114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300" spc="-95">
                <a:solidFill>
                  <a:srgbClr val="131313"/>
                </a:solidFill>
                <a:latin typeface="Arial MT"/>
                <a:cs typeface="Arial MT"/>
              </a:rPr>
              <a:t>process</a:t>
            </a:r>
            <a:r>
              <a:rPr dirty="0" sz="13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dirty="0" sz="1300" spc="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300" spc="-65">
                <a:solidFill>
                  <a:srgbClr val="181818"/>
                </a:solidFill>
                <a:latin typeface="Arial MT"/>
                <a:cs typeface="Arial MT"/>
              </a:rPr>
              <a:t>manufactures</a:t>
            </a:r>
            <a:r>
              <a:rPr dirty="0" sz="1300" spc="9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62626"/>
                </a:solidFill>
                <a:latin typeface="Arial MT"/>
                <a:cs typeface="Arial MT"/>
              </a:rPr>
              <a:t>Al</a:t>
            </a:r>
            <a:r>
              <a:rPr dirty="0" sz="1300" spc="-5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300" spc="-80">
                <a:solidFill>
                  <a:srgbClr val="181818"/>
                </a:solidFill>
                <a:latin typeface="Arial MT"/>
                <a:cs typeface="Arial MT"/>
              </a:rPr>
              <a:t>Workers</a:t>
            </a:r>
            <a:r>
              <a:rPr dirty="0" sz="1300" spc="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300" spc="-90">
                <a:solidFill>
                  <a:srgbClr val="1D1D1D"/>
                </a:solidFill>
                <a:latin typeface="Arial MT"/>
                <a:cs typeface="Arial MT"/>
              </a:rPr>
              <a:t>and</a:t>
            </a:r>
            <a:r>
              <a:rPr dirty="0" sz="1300" spc="-2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300" spc="-95">
                <a:solidFill>
                  <a:srgbClr val="1C1C1C"/>
                </a:solidFill>
                <a:latin typeface="Arial MT"/>
                <a:cs typeface="Arial MT"/>
              </a:rPr>
              <a:t>composes</a:t>
            </a:r>
            <a:r>
              <a:rPr dirty="0" sz="1300" spc="4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1C1C1C"/>
                </a:solidFill>
                <a:latin typeface="Arial MT"/>
                <a:cs typeface="Arial MT"/>
              </a:rPr>
              <a:t>them</a:t>
            </a:r>
            <a:r>
              <a:rPr dirty="0" sz="1300" spc="-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161616"/>
                </a:solidFill>
                <a:latin typeface="Arial MT"/>
                <a:cs typeface="Arial MT"/>
              </a:rPr>
              <a:t>into</a:t>
            </a:r>
            <a:r>
              <a:rPr dirty="0" sz="1300" spc="-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300" spc="-90">
                <a:solidFill>
                  <a:srgbClr val="2D2D2D"/>
                </a:solidFill>
                <a:latin typeface="Arial MT"/>
                <a:cs typeface="Arial MT"/>
              </a:rPr>
              <a:t>an</a:t>
            </a:r>
            <a:r>
              <a:rPr dirty="0" sz="130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300" spc="-55">
                <a:solidFill>
                  <a:srgbClr val="181818"/>
                </a:solidFill>
                <a:latin typeface="Arial MT"/>
                <a:cs typeface="Arial MT"/>
              </a:rPr>
              <a:t>Al-Native</a:t>
            </a:r>
            <a:r>
              <a:rPr dirty="0" sz="1300" spc="-3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300" spc="-65">
                <a:solidFill>
                  <a:srgbClr val="161616"/>
                </a:solidFill>
                <a:latin typeface="Arial MT"/>
                <a:cs typeface="Arial MT"/>
              </a:rPr>
              <a:t>Company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668" y="1815674"/>
            <a:ext cx="78359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170">
                <a:latin typeface="Arial MT"/>
                <a:cs typeface="Arial MT"/>
              </a:rPr>
              <a:t>Claude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55">
                <a:latin typeface="Arial MT"/>
                <a:cs typeface="Arial MT"/>
              </a:rPr>
              <a:t>Code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8203" y="2647112"/>
            <a:ext cx="64452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50">
                <a:latin typeface="Arial MT"/>
                <a:cs typeface="Arial MT"/>
              </a:rPr>
              <a:t>OpenCode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938" y="3575420"/>
            <a:ext cx="1416050" cy="36576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2555" marR="5080" indent="-110489">
              <a:lnSpc>
                <a:spcPct val="102699"/>
              </a:lnSpc>
              <a:spcBef>
                <a:spcPts val="65"/>
              </a:spcBef>
            </a:pPr>
            <a:r>
              <a:rPr dirty="0" sz="1100" spc="-165">
                <a:solidFill>
                  <a:srgbClr val="151515"/>
                </a:solidFill>
                <a:latin typeface="Arial MT"/>
                <a:cs typeface="Arial MT"/>
              </a:rPr>
              <a:t>Used</a:t>
            </a:r>
            <a:r>
              <a:rPr dirty="0" sz="1100" spc="-2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100" spc="-90">
                <a:solidFill>
                  <a:srgbClr val="566277"/>
                </a:solidFill>
                <a:latin typeface="Arial MT"/>
                <a:cs typeface="Arial MT"/>
              </a:rPr>
              <a:t>in</a:t>
            </a:r>
            <a:r>
              <a:rPr dirty="0" sz="1100" spc="-70">
                <a:solidFill>
                  <a:srgbClr val="566277"/>
                </a:solidFill>
                <a:latin typeface="Arial MT"/>
                <a:cs typeface="Arial MT"/>
              </a:rPr>
              <a:t> </a:t>
            </a:r>
            <a:r>
              <a:rPr dirty="0" sz="1100" spc="-155">
                <a:solidFill>
                  <a:srgbClr val="131313"/>
                </a:solidFill>
                <a:latin typeface="Arial MT"/>
                <a:cs typeface="Arial MT"/>
              </a:rPr>
              <a:t>Mode</a:t>
            </a:r>
            <a:r>
              <a:rPr dirty="0" sz="1100" spc="2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100" spc="-130">
                <a:solidFill>
                  <a:srgbClr val="36386B"/>
                </a:solidFill>
                <a:latin typeface="Arial MT"/>
                <a:cs typeface="Arial MT"/>
              </a:rPr>
              <a:t>2</a:t>
            </a:r>
            <a:r>
              <a:rPr dirty="0" sz="1100" spc="-90">
                <a:solidFill>
                  <a:srgbClr val="36386B"/>
                </a:solidFill>
                <a:latin typeface="Arial MT"/>
                <a:cs typeface="Arial MT"/>
              </a:rPr>
              <a:t> </a:t>
            </a:r>
            <a:r>
              <a:rPr dirty="0" sz="1100" spc="-65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10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Arial MT"/>
                <a:cs typeface="Arial MT"/>
              </a:rPr>
              <a:t>build</a:t>
            </a:r>
            <a:r>
              <a:rPr dirty="0" sz="110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10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11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105">
                <a:solidFill>
                  <a:srgbClr val="0F0F0F"/>
                </a:solidFill>
                <a:latin typeface="Arial MT"/>
                <a:cs typeface="Arial MT"/>
              </a:rPr>
              <a:t>orchestrate</a:t>
            </a:r>
            <a:r>
              <a:rPr dirty="0" sz="1100" spc="9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114">
                <a:solidFill>
                  <a:srgbClr val="00002A"/>
                </a:solidFill>
                <a:latin typeface="Arial MT"/>
                <a:cs typeface="Arial MT"/>
              </a:rPr>
              <a:t>AI</a:t>
            </a:r>
            <a:r>
              <a:rPr dirty="0" sz="1100" spc="-5">
                <a:solidFill>
                  <a:srgbClr val="00002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1818"/>
                </a:solidFill>
                <a:latin typeface="Arial MT"/>
                <a:cs typeface="Arial MT"/>
              </a:rPr>
              <a:t>Workers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3718" y="3567221"/>
            <a:ext cx="1928495" cy="3683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47015" marR="5080" indent="-234950">
              <a:lnSpc>
                <a:spcPct val="104299"/>
              </a:lnSpc>
              <a:spcBef>
                <a:spcPts val="40"/>
              </a:spcBef>
            </a:pPr>
            <a:r>
              <a:rPr dirty="0" sz="1100" spc="-95">
                <a:latin typeface="Arial MT"/>
                <a:cs typeface="Arial MT"/>
              </a:rPr>
              <a:t>Transforms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general-</a:t>
            </a:r>
            <a:r>
              <a:rPr dirty="0" sz="1100" spc="-70">
                <a:latin typeface="Arial MT"/>
                <a:cs typeface="Arial MT"/>
              </a:rPr>
              <a:t>agent</a:t>
            </a:r>
            <a:r>
              <a:rPr dirty="0" sz="1100" spc="114"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050505"/>
                </a:solidFill>
                <a:latin typeface="Arial MT"/>
                <a:cs typeface="Arial MT"/>
              </a:rPr>
              <a:t>capability </a:t>
            </a:r>
            <a:r>
              <a:rPr dirty="0" sz="1100" spc="-55">
                <a:solidFill>
                  <a:srgbClr val="0C0C0C"/>
                </a:solidFill>
                <a:latin typeface="Arial MT"/>
                <a:cs typeface="Arial MT"/>
              </a:rPr>
              <a:t>into</a:t>
            </a:r>
            <a:r>
              <a:rPr dirty="0" sz="110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105">
                <a:solidFill>
                  <a:srgbClr val="050505"/>
                </a:solidFill>
                <a:latin typeface="Arial MT"/>
                <a:cs typeface="Arial MT"/>
              </a:rPr>
              <a:t>specialized</a:t>
            </a:r>
            <a:r>
              <a:rPr dirty="0" sz="1100" spc="7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100" spc="-90">
                <a:solidFill>
                  <a:srgbClr val="1C1C1C"/>
                </a:solidFill>
                <a:latin typeface="Arial MT"/>
                <a:cs typeface="Arial MT"/>
              </a:rPr>
              <a:t>AI</a:t>
            </a:r>
            <a:r>
              <a:rPr dirty="0" sz="1100" spc="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C0C0C"/>
                </a:solidFill>
                <a:latin typeface="Arial MT"/>
                <a:cs typeface="Arial MT"/>
              </a:rPr>
              <a:t>Workers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174" y="1169472"/>
            <a:ext cx="565467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82800" algn="l"/>
                <a:tab pos="4870450" algn="l"/>
              </a:tabLst>
            </a:pPr>
            <a:r>
              <a:rPr dirty="0" sz="1350" spc="-80">
                <a:latin typeface="Arial MT"/>
                <a:cs typeface="Arial MT"/>
              </a:rPr>
              <a:t>General</a:t>
            </a:r>
            <a:r>
              <a:rPr dirty="0" sz="1350" spc="10">
                <a:latin typeface="Arial MT"/>
                <a:cs typeface="Arial MT"/>
              </a:rPr>
              <a:t> </a:t>
            </a:r>
            <a:r>
              <a:rPr dirty="0" sz="1350" spc="-10">
                <a:latin typeface="Arial MT"/>
                <a:cs typeface="Arial MT"/>
              </a:rPr>
              <a:t>Agents</a:t>
            </a:r>
            <a:r>
              <a:rPr dirty="0" sz="1350">
                <a:latin typeface="Arial MT"/>
                <a:cs typeface="Arial MT"/>
              </a:rPr>
              <a:t>	</a:t>
            </a:r>
            <a:r>
              <a:rPr dirty="0" sz="1350" spc="-50">
                <a:latin typeface="Arial MT"/>
                <a:cs typeface="Arial MT"/>
              </a:rPr>
              <a:t>Agent</a:t>
            </a:r>
            <a:r>
              <a:rPr dirty="0" sz="1350" spc="-45">
                <a:latin typeface="Arial MT"/>
                <a:cs typeface="Arial MT"/>
              </a:rPr>
              <a:t> </a:t>
            </a:r>
            <a:r>
              <a:rPr dirty="0" sz="1350" spc="-40">
                <a:latin typeface="Arial MT"/>
                <a:cs typeface="Arial MT"/>
              </a:rPr>
              <a:t>Factory</a:t>
            </a:r>
            <a:r>
              <a:rPr dirty="0" sz="1350" spc="-25">
                <a:latin typeface="Arial MT"/>
                <a:cs typeface="Arial MT"/>
              </a:rPr>
              <a:t> </a:t>
            </a:r>
            <a:r>
              <a:rPr dirty="0" sz="1350" spc="-10">
                <a:latin typeface="Arial MT"/>
                <a:cs typeface="Arial MT"/>
              </a:rPr>
              <a:t>Process</a:t>
            </a:r>
            <a:r>
              <a:rPr dirty="0" sz="1350">
                <a:latin typeface="Arial MT"/>
                <a:cs typeface="Arial MT"/>
              </a:rPr>
              <a:t>	Al</a:t>
            </a:r>
            <a:r>
              <a:rPr dirty="0" sz="1350" spc="-60">
                <a:latin typeface="Arial MT"/>
                <a:cs typeface="Arial MT"/>
              </a:rPr>
              <a:t> </a:t>
            </a:r>
            <a:r>
              <a:rPr dirty="0" sz="1350" spc="-65">
                <a:latin typeface="Arial MT"/>
                <a:cs typeface="Arial MT"/>
              </a:rPr>
              <a:t>Workers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2430" y="1599464"/>
            <a:ext cx="9226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35">
                <a:latin typeface="Arial MT"/>
                <a:cs typeface="Arial MT"/>
              </a:rPr>
              <a:t>Research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Worker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00987" y="2031276"/>
            <a:ext cx="868044" cy="62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90">
                <a:latin typeface="Arial MT"/>
                <a:cs typeface="Arial MT"/>
              </a:rPr>
              <a:t>Coding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Worker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1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dirty="0" sz="1100" spc="-85">
                <a:latin typeface="Arial MT"/>
                <a:cs typeface="Arial MT"/>
              </a:rPr>
              <a:t>Support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Worker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8149" y="2894904"/>
            <a:ext cx="8293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90">
                <a:latin typeface="Arial MT"/>
                <a:cs typeface="Arial MT"/>
              </a:rPr>
              <a:t>Analyst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Worker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01191" y="3310319"/>
            <a:ext cx="101091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95">
                <a:latin typeface="Arial MT"/>
                <a:cs typeface="Arial MT"/>
              </a:rPr>
              <a:t>Operations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Worker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68244" y="3657410"/>
            <a:ext cx="1240155" cy="36576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73025" marR="5080" indent="-60960">
              <a:lnSpc>
                <a:spcPct val="102699"/>
              </a:lnSpc>
              <a:spcBef>
                <a:spcPts val="65"/>
              </a:spcBef>
            </a:pPr>
            <a:r>
              <a:rPr dirty="0" sz="1100" spc="-125">
                <a:latin typeface="Arial MT"/>
                <a:cs typeface="Arial MT"/>
              </a:rPr>
              <a:t>Specialized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Digital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55">
                <a:solidFill>
                  <a:srgbClr val="0E0E0E"/>
                </a:solidFill>
                <a:latin typeface="Arial MT"/>
                <a:cs typeface="Arial MT"/>
              </a:rPr>
              <a:t>FTEs</a:t>
            </a:r>
            <a:r>
              <a:rPr dirty="0" sz="11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100" spc="-100">
                <a:solidFill>
                  <a:srgbClr val="030303"/>
                </a:solidFill>
                <a:latin typeface="Arial MT"/>
                <a:cs typeface="Arial MT"/>
              </a:rPr>
              <a:t>created</a:t>
            </a:r>
            <a:r>
              <a:rPr dirty="0" sz="1100" spc="5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1100" spc="-70">
                <a:solidFill>
                  <a:srgbClr val="050505"/>
                </a:solidFill>
                <a:latin typeface="Arial MT"/>
                <a:cs typeface="Arial MT"/>
              </a:rPr>
              <a:t>for</a:t>
            </a:r>
            <a:r>
              <a:rPr dirty="0" sz="1100" spc="-2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100" spc="-110">
                <a:solidFill>
                  <a:srgbClr val="161616"/>
                </a:solidFill>
                <a:latin typeface="Arial MT"/>
                <a:cs typeface="Arial MT"/>
              </a:rPr>
              <a:t>real</a:t>
            </a:r>
            <a:r>
              <a:rPr dirty="0" sz="1100" spc="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31313"/>
                </a:solidFill>
                <a:latin typeface="Arial MT"/>
                <a:cs typeface="Arial MT"/>
              </a:rPr>
              <a:t>tasks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0441" y="1245996"/>
            <a:ext cx="13525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35">
                <a:solidFill>
                  <a:srgbClr val="03879A"/>
                </a:solidFill>
                <a:latin typeface="Arial MT"/>
                <a:cs typeface="Arial MT"/>
              </a:rPr>
              <a:t>O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6764" y="1169472"/>
            <a:ext cx="134620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60">
                <a:latin typeface="Arial MT"/>
                <a:cs typeface="Arial MT"/>
              </a:rPr>
              <a:t>Al-</a:t>
            </a:r>
            <a:r>
              <a:rPr dirty="0" sz="1350" spc="-65">
                <a:latin typeface="Arial MT"/>
                <a:cs typeface="Arial MT"/>
              </a:rPr>
              <a:t>Native</a:t>
            </a:r>
            <a:r>
              <a:rPr dirty="0" sz="1350" spc="5">
                <a:latin typeface="Arial MT"/>
                <a:cs typeface="Arial MT"/>
              </a:rPr>
              <a:t> </a:t>
            </a:r>
            <a:r>
              <a:rPr dirty="0" sz="1350" spc="-95">
                <a:latin typeface="Arial MT"/>
                <a:cs typeface="Arial MT"/>
              </a:rPr>
              <a:t>Company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54999" y="3381681"/>
            <a:ext cx="106299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28980" algn="l"/>
              </a:tabLst>
            </a:pPr>
            <a:r>
              <a:rPr dirty="0" sz="850" spc="-10">
                <a:latin typeface="Arial MT"/>
                <a:cs typeface="Arial MT"/>
              </a:rPr>
              <a:t>Operations</a:t>
            </a:r>
            <a:r>
              <a:rPr dirty="0" sz="850">
                <a:latin typeface="Arial MT"/>
                <a:cs typeface="Arial MT"/>
              </a:rPr>
              <a:t>	</a:t>
            </a:r>
            <a:r>
              <a:rPr dirty="0" sz="850" spc="-65">
                <a:latin typeface="Arial MT"/>
                <a:cs typeface="Arial MT"/>
              </a:rPr>
              <a:t>Support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01799" y="3126298"/>
            <a:ext cx="506095" cy="412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00025">
              <a:lnSpc>
                <a:spcPts val="2080"/>
              </a:lnSpc>
              <a:spcBef>
                <a:spcPts val="114"/>
              </a:spcBef>
            </a:pPr>
            <a:r>
              <a:rPr dirty="0" sz="1800" spc="-25">
                <a:solidFill>
                  <a:srgbClr val="0A59C6"/>
                </a:solidFill>
                <a:latin typeface="Arial MT"/>
                <a:cs typeface="Arial MT"/>
              </a:rPr>
              <a:t>4ll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940"/>
              </a:lnSpc>
            </a:pPr>
            <a:r>
              <a:rPr dirty="0" sz="850">
                <a:solidFill>
                  <a:srgbClr val="8C83BC"/>
                </a:solidFill>
                <a:latin typeface="Arial MT"/>
                <a:cs typeface="Arial MT"/>
              </a:rPr>
              <a:t>I</a:t>
            </a:r>
            <a:r>
              <a:rPr dirty="0" sz="850" spc="380">
                <a:solidFill>
                  <a:srgbClr val="8C83BC"/>
                </a:solidFill>
                <a:latin typeface="Arial MT"/>
                <a:cs typeface="Arial MT"/>
              </a:rPr>
              <a:t> </a:t>
            </a:r>
            <a:r>
              <a:rPr dirty="0" sz="850" spc="-55">
                <a:latin typeface="Arial MT"/>
                <a:cs typeface="Arial MT"/>
              </a:rPr>
              <a:t>Analytics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15361" y="3654677"/>
            <a:ext cx="1625600" cy="3683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 indent="37465">
              <a:lnSpc>
                <a:spcPct val="104299"/>
              </a:lnSpc>
              <a:spcBef>
                <a:spcPts val="40"/>
              </a:spcBef>
            </a:pPr>
            <a:r>
              <a:rPr dirty="0" sz="1100" spc="-114">
                <a:solidFill>
                  <a:srgbClr val="0F0F0F"/>
                </a:solidFill>
                <a:latin typeface="Arial MT"/>
                <a:cs typeface="Arial MT"/>
              </a:rPr>
              <a:t>AI</a:t>
            </a:r>
            <a:r>
              <a:rPr dirty="0" sz="110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125">
                <a:solidFill>
                  <a:srgbClr val="050505"/>
                </a:solidFill>
                <a:latin typeface="Arial MT"/>
                <a:cs typeface="Arial MT"/>
              </a:rPr>
              <a:t>Workers</a:t>
            </a:r>
            <a:r>
              <a:rPr dirty="0" sz="1100" spc="3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100" spc="-125">
                <a:solidFill>
                  <a:srgbClr val="050505"/>
                </a:solidFill>
                <a:latin typeface="Arial MT"/>
                <a:cs typeface="Arial MT"/>
              </a:rPr>
              <a:t>are</a:t>
            </a:r>
            <a:r>
              <a:rPr dirty="0" sz="1100" spc="-1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100" spc="-130">
                <a:solidFill>
                  <a:srgbClr val="0F0F0F"/>
                </a:solidFill>
                <a:latin typeface="Arial MT"/>
                <a:cs typeface="Arial MT"/>
              </a:rPr>
              <a:t>composed</a:t>
            </a:r>
            <a:r>
              <a:rPr dirty="0" sz="1100" spc="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0F0F0F"/>
                </a:solidFill>
                <a:latin typeface="Arial MT"/>
                <a:cs typeface="Arial MT"/>
              </a:rPr>
              <a:t>into </a:t>
            </a:r>
            <a:r>
              <a:rPr dirty="0" sz="1100" spc="-185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r>
              <a:rPr dirty="0" sz="110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100" spc="-110">
                <a:solidFill>
                  <a:srgbClr val="080808"/>
                </a:solidFill>
                <a:latin typeface="Arial MT"/>
                <a:cs typeface="Arial MT"/>
              </a:rPr>
              <a:t>coordinated</a:t>
            </a:r>
            <a:r>
              <a:rPr dirty="0" sz="1100" spc="10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100" spc="-125">
                <a:solidFill>
                  <a:srgbClr val="050505"/>
                </a:solidFill>
                <a:latin typeface="Arial MT"/>
                <a:cs typeface="Arial MT"/>
              </a:rPr>
              <a:t>company</a:t>
            </a:r>
            <a:r>
              <a:rPr dirty="0" sz="1100" spc="8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100" spc="-100">
                <a:solidFill>
                  <a:srgbClr val="0F0F0F"/>
                </a:solidFill>
                <a:latin typeface="Arial MT"/>
                <a:cs typeface="Arial MT"/>
              </a:rPr>
              <a:t>system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6770" y="4483989"/>
            <a:ext cx="26339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60">
                <a:latin typeface="Arial MT"/>
                <a:cs typeface="Arial MT"/>
              </a:rPr>
              <a:t>General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30">
                <a:latin typeface="Arial MT"/>
                <a:cs typeface="Arial MT"/>
              </a:rPr>
              <a:t>agents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create </a:t>
            </a:r>
            <a:r>
              <a:rPr dirty="0" sz="1400">
                <a:solidFill>
                  <a:srgbClr val="080808"/>
                </a:solidFill>
                <a:latin typeface="Arial MT"/>
                <a:cs typeface="Arial MT"/>
              </a:rPr>
              <a:t>AI</a:t>
            </a:r>
            <a:r>
              <a:rPr dirty="0" sz="1400" spc="-6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Workers.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51035" y="4483989"/>
            <a:ext cx="360552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134FD4"/>
                </a:solidFill>
                <a:latin typeface="Arial MT"/>
                <a:cs typeface="Arial MT"/>
              </a:rPr>
              <a:t>Agent</a:t>
            </a:r>
            <a:r>
              <a:rPr dirty="0" sz="1400" spc="-40">
                <a:solidFill>
                  <a:srgbClr val="134FD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C4BD4"/>
                </a:solidFill>
                <a:latin typeface="Arial MT"/>
                <a:cs typeface="Arial MT"/>
              </a:rPr>
              <a:t>Factory</a:t>
            </a:r>
            <a:r>
              <a:rPr dirty="0" sz="1400" spc="155">
                <a:solidFill>
                  <a:srgbClr val="0C4BD4"/>
                </a:solidFill>
                <a:latin typeface="Arial MT"/>
                <a:cs typeface="Arial MT"/>
              </a:rPr>
              <a:t> </a:t>
            </a:r>
            <a:r>
              <a:rPr dirty="0" sz="1400" spc="-229">
                <a:latin typeface="Arial MT"/>
                <a:cs typeface="Arial MT"/>
              </a:rPr>
              <a:t>organizes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215">
                <a:latin typeface="Arial MT"/>
                <a:cs typeface="Arial MT"/>
              </a:rPr>
              <a:t>them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 spc="-150">
                <a:latin typeface="Arial MT"/>
                <a:cs typeface="Arial MT"/>
              </a:rPr>
              <a:t>into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 spc="-254">
                <a:latin typeface="Arial MT"/>
                <a:cs typeface="Arial MT"/>
              </a:rPr>
              <a:t>an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80">
                <a:latin typeface="Arial MT"/>
                <a:cs typeface="Arial MT"/>
              </a:rPr>
              <a:t>Al-</a:t>
            </a:r>
            <a:r>
              <a:rPr dirty="0" sz="1400" spc="-204">
                <a:latin typeface="Arial MT"/>
                <a:cs typeface="Arial MT"/>
              </a:rPr>
              <a:t>Native</a:t>
            </a:r>
            <a:r>
              <a:rPr dirty="0" sz="1400" spc="-105">
                <a:latin typeface="Arial MT"/>
                <a:cs typeface="Arial MT"/>
              </a:rPr>
              <a:t> </a:t>
            </a:r>
            <a:r>
              <a:rPr dirty="0" sz="1400" spc="-270">
                <a:latin typeface="Arial MT"/>
                <a:cs typeface="Arial MT"/>
              </a:rPr>
              <a:t>Company.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116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07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592518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Your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Personal</a:t>
            </a:r>
            <a:r>
              <a:rPr dirty="0" sz="4000" spc="-114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AI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Delegate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932" y="4422966"/>
            <a:ext cx="350033" cy="3602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7232" y="4334285"/>
            <a:ext cx="579742" cy="5875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994" y="1989781"/>
            <a:ext cx="1947059" cy="19232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1785" y="1967610"/>
            <a:ext cx="1788452" cy="167385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2509" y="2017494"/>
            <a:ext cx="2127545" cy="19288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37398" y="831385"/>
            <a:ext cx="207832" cy="2050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31707" y="1019831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5" h="0">
                <a:moveTo>
                  <a:pt x="0" y="0"/>
                </a:moveTo>
                <a:lnTo>
                  <a:pt x="268358" y="0"/>
                </a:lnTo>
              </a:path>
            </a:pathLst>
          </a:custGeom>
          <a:ln w="11824">
            <a:solidFill>
              <a:srgbClr val="23807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50033" y="133022"/>
            <a:ext cx="897255" cy="255270"/>
            <a:chOff x="350033" y="133022"/>
            <a:chExt cx="897255" cy="25527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0261" y="133022"/>
              <a:ext cx="136731" cy="25495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0033" y="133022"/>
              <a:ext cx="825859" cy="2549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0033" y="133022"/>
              <a:ext cx="896960" cy="25495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36798" y="4389711"/>
            <a:ext cx="1313180" cy="405130"/>
            <a:chOff x="836798" y="4389711"/>
            <a:chExt cx="1313180" cy="40513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6798" y="4578158"/>
              <a:ext cx="1312625" cy="216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6831" y="4389711"/>
              <a:ext cx="109385" cy="22724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37131" y="2760197"/>
            <a:ext cx="125793" cy="1829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48880" y="2710314"/>
            <a:ext cx="76569" cy="9976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71567" y="2167143"/>
            <a:ext cx="158608" cy="17736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74740" y="2006408"/>
            <a:ext cx="180485" cy="18844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02087" y="2250281"/>
            <a:ext cx="21877" cy="4434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977913" y="2161601"/>
            <a:ext cx="191424" cy="2050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534025" y="2970814"/>
            <a:ext cx="311748" cy="7759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370823" y="3026241"/>
            <a:ext cx="339094" cy="7759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56845" y="2726941"/>
            <a:ext cx="153139" cy="17736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011605" y="1463236"/>
            <a:ext cx="218770" cy="80367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8439084" y="836927"/>
            <a:ext cx="290195" cy="310515"/>
            <a:chOff x="8439084" y="836927"/>
            <a:chExt cx="290195" cy="310515"/>
          </a:xfrm>
        </p:grpSpPr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39084" y="1069715"/>
              <a:ext cx="289871" cy="7759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88307" y="836927"/>
              <a:ext cx="191424" cy="193989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842057" y="903438"/>
            <a:ext cx="158608" cy="7205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807488" y="1463236"/>
            <a:ext cx="224240" cy="22724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599656" y="2810080"/>
            <a:ext cx="1520456" cy="8313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480208" y="3536156"/>
            <a:ext cx="809452" cy="22170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006135" y="1543603"/>
            <a:ext cx="229709" cy="14687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519371" y="825841"/>
            <a:ext cx="216036" cy="216160"/>
          </a:xfrm>
          <a:prstGeom prst="rect">
            <a:avLst/>
          </a:prstGeom>
        </p:spPr>
      </p:pic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363065" y="321393"/>
            <a:ext cx="5662930" cy="7054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450" spc="-35">
                <a:solidFill>
                  <a:srgbClr val="001836"/>
                </a:solidFill>
                <a:latin typeface="Cambria"/>
                <a:cs typeface="Cambria"/>
              </a:rPr>
              <a:t>The</a:t>
            </a:r>
            <a:r>
              <a:rPr dirty="0" sz="4450" spc="-300">
                <a:solidFill>
                  <a:srgbClr val="001836"/>
                </a:solidFill>
                <a:latin typeface="Cambria"/>
                <a:cs typeface="Cambria"/>
              </a:rPr>
              <a:t> </a:t>
            </a:r>
            <a:r>
              <a:rPr dirty="0" sz="4450">
                <a:solidFill>
                  <a:srgbClr val="001634"/>
                </a:solidFill>
                <a:latin typeface="Cambria"/>
                <a:cs typeface="Cambria"/>
              </a:rPr>
              <a:t>Executive</a:t>
            </a:r>
            <a:r>
              <a:rPr dirty="0" sz="4450" spc="-105">
                <a:solidFill>
                  <a:srgbClr val="001634"/>
                </a:solidFill>
                <a:latin typeface="Cambria"/>
                <a:cs typeface="Cambria"/>
              </a:rPr>
              <a:t> </a:t>
            </a:r>
            <a:r>
              <a:rPr dirty="0" sz="4450" spc="-25">
                <a:solidFill>
                  <a:srgbClr val="03163F"/>
                </a:solidFill>
                <a:latin typeface="Cambria"/>
                <a:cs typeface="Cambria"/>
              </a:rPr>
              <a:t>Assis</a:t>
            </a:r>
            <a:r>
              <a:rPr dirty="0" sz="4450" spc="-25">
                <a:solidFill>
                  <a:srgbClr val="03163F"/>
                </a:solidFill>
                <a:latin typeface="Cambria"/>
                <a:cs typeface="Cambria"/>
              </a:rPr>
              <a:t>t</a:t>
            </a:r>
            <a:r>
              <a:rPr dirty="0" sz="4450" spc="-25">
                <a:solidFill>
                  <a:srgbClr val="03163F"/>
                </a:solidFill>
                <a:latin typeface="Cambria"/>
                <a:cs typeface="Cambria"/>
              </a:rPr>
              <a:t>ant</a:t>
            </a:r>
            <a:endParaRPr sz="44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8383" y="1381344"/>
            <a:ext cx="1111250" cy="45847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810"/>
              </a:spcBef>
            </a:pPr>
            <a:r>
              <a:rPr dirty="0" sz="1250" spc="-290">
                <a:solidFill>
                  <a:srgbClr val="070C26"/>
                </a:solidFill>
                <a:latin typeface="Arial Black"/>
                <a:cs typeface="Arial Black"/>
              </a:rPr>
              <a:t>You</a:t>
            </a:r>
            <a:r>
              <a:rPr dirty="0" sz="1250">
                <a:solidFill>
                  <a:srgbClr val="070C26"/>
                </a:solidFill>
                <a:latin typeface="Arial Black"/>
                <a:cs typeface="Arial Black"/>
              </a:rPr>
              <a:t> </a:t>
            </a:r>
            <a:r>
              <a:rPr dirty="0" sz="1250" spc="-240">
                <a:solidFill>
                  <a:srgbClr val="0A112A"/>
                </a:solidFill>
                <a:latin typeface="Arial Black"/>
                <a:cs typeface="Arial Black"/>
              </a:rPr>
              <a:t>set</a:t>
            </a:r>
            <a:r>
              <a:rPr dirty="0" sz="1250" spc="-135">
                <a:solidFill>
                  <a:srgbClr val="0A112A"/>
                </a:solidFill>
                <a:latin typeface="Arial Black"/>
                <a:cs typeface="Arial Black"/>
              </a:rPr>
              <a:t> </a:t>
            </a:r>
            <a:r>
              <a:rPr dirty="0" sz="1250" spc="-170">
                <a:solidFill>
                  <a:srgbClr val="00072A"/>
                </a:solidFill>
                <a:latin typeface="Arial Black"/>
                <a:cs typeface="Arial Black"/>
              </a:rPr>
              <a:t>direction</a:t>
            </a:r>
            <a:endParaRPr sz="12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650" spc="-120">
                <a:solidFill>
                  <a:srgbClr val="1F1F1F"/>
                </a:solidFill>
                <a:latin typeface="Arial Black"/>
                <a:cs typeface="Arial Black"/>
              </a:rPr>
              <a:t>You</a:t>
            </a:r>
            <a:r>
              <a:rPr dirty="0" sz="650" spc="-2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650" spc="-85">
                <a:solidFill>
                  <a:srgbClr val="050505"/>
                </a:solidFill>
                <a:latin typeface="Arial Black"/>
                <a:cs typeface="Arial Black"/>
              </a:rPr>
              <a:t>provide</a:t>
            </a:r>
            <a:r>
              <a:rPr dirty="0" sz="650" spc="50">
                <a:solidFill>
                  <a:srgbClr val="050505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383838"/>
                </a:solidFill>
                <a:latin typeface="Arial Black"/>
                <a:cs typeface="Arial Black"/>
              </a:rPr>
              <a:t>goals</a:t>
            </a:r>
            <a:r>
              <a:rPr dirty="0" sz="650" spc="1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650" spc="-65">
                <a:solidFill>
                  <a:srgbClr val="444966"/>
                </a:solidFill>
                <a:latin typeface="Arial Black"/>
                <a:cs typeface="Arial Black"/>
              </a:rPr>
              <a:t>+</a:t>
            </a:r>
            <a:r>
              <a:rPr dirty="0" sz="650" spc="-25">
                <a:solidFill>
                  <a:srgbClr val="444966"/>
                </a:solidFill>
                <a:latin typeface="Arial Black"/>
                <a:cs typeface="Arial Black"/>
              </a:rPr>
              <a:t> </a:t>
            </a:r>
            <a:r>
              <a:rPr dirty="0" sz="650" spc="-75">
                <a:solidFill>
                  <a:srgbClr val="0E0E0E"/>
                </a:solidFill>
                <a:latin typeface="Arial Black"/>
                <a:cs typeface="Arial Black"/>
              </a:rPr>
              <a:t>guardrails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5922" y="1979236"/>
            <a:ext cx="85216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350" spc="-90">
                <a:solidFill>
                  <a:srgbClr val="088087"/>
                </a:solidFill>
                <a:latin typeface="Arial Black"/>
                <a:cs typeface="Arial Black"/>
              </a:rPr>
              <a:t>O</a:t>
            </a:r>
            <a:r>
              <a:rPr dirty="0" sz="1350" spc="-75">
                <a:solidFill>
                  <a:srgbClr val="088087"/>
                </a:solidFill>
                <a:latin typeface="Arial Black"/>
                <a:cs typeface="Arial Black"/>
              </a:rPr>
              <a:t> </a:t>
            </a:r>
            <a:r>
              <a:rPr dirty="0" sz="1350" spc="-229">
                <a:solidFill>
                  <a:srgbClr val="0F0F0F"/>
                </a:solidFill>
                <a:latin typeface="Arial Black"/>
                <a:cs typeface="Arial Black"/>
              </a:rPr>
              <a:t>|$/e</a:t>
            </a:r>
            <a:r>
              <a:rPr dirty="0" baseline="-25925" sz="1125" spc="-345">
                <a:solidFill>
                  <a:srgbClr val="0F0F0F"/>
                </a:solidFill>
                <a:latin typeface="Arial Black"/>
                <a:cs typeface="Arial Black"/>
              </a:rPr>
              <a:t>d</a:t>
            </a:r>
            <a:r>
              <a:rPr dirty="0" sz="1350" spc="-229">
                <a:solidFill>
                  <a:srgbClr val="0F0F0F"/>
                </a:solidFill>
                <a:latin typeface="Arial Black"/>
                <a:cs typeface="Arial Black"/>
              </a:rPr>
              <a:t>Q,</a:t>
            </a:r>
            <a:r>
              <a:rPr dirty="0" baseline="39682" sz="1050" spc="-345">
                <a:solidFill>
                  <a:srgbClr val="0F0F0F"/>
                </a:solidFill>
                <a:latin typeface="Arial Black"/>
                <a:cs typeface="Arial Black"/>
              </a:rPr>
              <a:t>1</a:t>
            </a:r>
            <a:r>
              <a:rPr dirty="0" sz="1350" spc="-229">
                <a:solidFill>
                  <a:srgbClr val="0F0F0F"/>
                </a:solidFill>
                <a:latin typeface="Arial Black"/>
                <a:cs typeface="Arial Black"/>
              </a:rPr>
              <a:t>°</a:t>
            </a:r>
            <a:r>
              <a:rPr dirty="0" sz="1350" spc="-9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350" spc="-50">
                <a:solidFill>
                  <a:srgbClr val="0F0F0F"/>
                </a:solidFill>
                <a:latin typeface="Arial Black"/>
                <a:cs typeface="Arial Black"/>
              </a:rPr>
              <a:t>"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6474" y="2196628"/>
            <a:ext cx="74739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5555" sz="1875">
                <a:solidFill>
                  <a:srgbClr val="007C85"/>
                </a:solidFill>
                <a:latin typeface="Arial Black"/>
                <a:cs typeface="Arial Black"/>
              </a:rPr>
              <a:t>O</a:t>
            </a:r>
            <a:r>
              <a:rPr dirty="0" baseline="-15555" sz="1875" spc="-30">
                <a:solidFill>
                  <a:srgbClr val="007C85"/>
                </a:solidFill>
                <a:latin typeface="Arial Black"/>
                <a:cs typeface="Arial Black"/>
              </a:rPr>
              <a:t> </a:t>
            </a:r>
            <a:r>
              <a:rPr dirty="0" sz="650" spc="-95">
                <a:latin typeface="Arial Black"/>
                <a:cs typeface="Arial Black"/>
              </a:rPr>
              <a:t>Budget</a:t>
            </a:r>
            <a:r>
              <a:rPr dirty="0" sz="650" spc="15">
                <a:latin typeface="Arial Black"/>
                <a:cs typeface="Arial Black"/>
              </a:rPr>
              <a:t> </a:t>
            </a:r>
            <a:r>
              <a:rPr dirty="0" sz="650" spc="-35">
                <a:solidFill>
                  <a:srgbClr val="111111"/>
                </a:solidFill>
                <a:latin typeface="Arial Black"/>
                <a:cs typeface="Arial Black"/>
              </a:rPr>
              <a:t>under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6584" y="2375837"/>
            <a:ext cx="235585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155">
                <a:solidFill>
                  <a:srgbClr val="242424"/>
                </a:solidFill>
                <a:latin typeface="Arial Black"/>
                <a:cs typeface="Arial Black"/>
              </a:rPr>
              <a:t>S</a:t>
            </a:r>
            <a:r>
              <a:rPr dirty="0" sz="650" spc="-50">
                <a:solidFill>
                  <a:srgbClr val="242424"/>
                </a:solidFill>
                <a:latin typeface="Arial Black"/>
                <a:cs typeface="Arial Black"/>
              </a:rPr>
              <a:t> </a:t>
            </a:r>
            <a:r>
              <a:rPr dirty="0" sz="650" spc="-85">
                <a:solidFill>
                  <a:srgbClr val="1A1A1A"/>
                </a:solidFill>
                <a:latin typeface="Arial Black"/>
                <a:cs typeface="Arial Black"/>
              </a:rPr>
              <a:t>lakh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3229" y="2520868"/>
            <a:ext cx="481965" cy="259715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 marR="5080" indent="333375">
              <a:lnSpc>
                <a:spcPts val="850"/>
              </a:lnSpc>
              <a:spcBef>
                <a:spcPts val="244"/>
              </a:spcBef>
            </a:pPr>
            <a:r>
              <a:rPr dirty="0" sz="800" spc="-220">
                <a:solidFill>
                  <a:srgbClr val="161616"/>
                </a:solidFill>
                <a:latin typeface="Arial Black"/>
                <a:cs typeface="Arial Black"/>
              </a:rPr>
              <a:t>ngs</a:t>
            </a:r>
            <a:r>
              <a:rPr dirty="0" sz="800" spc="500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111111"/>
                </a:solidFill>
                <a:latin typeface="Arial Black"/>
                <a:cs typeface="Arial Black"/>
              </a:rPr>
              <a:t>before</a:t>
            </a:r>
            <a:r>
              <a:rPr dirty="0" sz="800" spc="-15">
                <a:solidFill>
                  <a:srgbClr val="111111"/>
                </a:solidFill>
                <a:latin typeface="Arial Black"/>
                <a:cs typeface="Arial Black"/>
              </a:rPr>
              <a:t> </a:t>
            </a:r>
            <a:r>
              <a:rPr dirty="0" sz="800" spc="-210">
                <a:solidFill>
                  <a:srgbClr val="333333"/>
                </a:solidFill>
                <a:latin typeface="Arial Black"/>
                <a:cs typeface="Arial Black"/>
              </a:rPr>
              <a:t>10am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3912" y="4316350"/>
            <a:ext cx="13303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130" algn="l"/>
              </a:tabLst>
            </a:pPr>
            <a:r>
              <a:rPr dirty="0" sz="1500" spc="-295">
                <a:solidFill>
                  <a:srgbClr val="007977"/>
                </a:solidFill>
                <a:latin typeface="Arial Black"/>
                <a:cs typeface="Arial Black"/>
              </a:rPr>
              <a:t>A</a:t>
            </a:r>
            <a:r>
              <a:rPr dirty="0" sz="1500">
                <a:solidFill>
                  <a:srgbClr val="007977"/>
                </a:solidFill>
                <a:latin typeface="Arial Black"/>
                <a:cs typeface="Arial Black"/>
              </a:rPr>
              <a:t> </a:t>
            </a:r>
            <a:r>
              <a:rPr dirty="0" sz="1500" spc="-345">
                <a:solidFill>
                  <a:srgbClr val="018985"/>
                </a:solidFill>
                <a:latin typeface="Arial Black"/>
                <a:cs typeface="Arial Black"/>
              </a:rPr>
              <a:t>A</a:t>
            </a:r>
            <a:r>
              <a:rPr dirty="0" sz="1500">
                <a:solidFill>
                  <a:srgbClr val="018985"/>
                </a:solidFill>
                <a:latin typeface="Arial Black"/>
                <a:cs typeface="Arial Black"/>
              </a:rPr>
              <a:t>	</a:t>
            </a:r>
            <a:r>
              <a:rPr dirty="0" sz="1500" spc="-330">
                <a:solidFill>
                  <a:srgbClr val="037B80"/>
                </a:solidFill>
                <a:latin typeface="Arial Black"/>
                <a:cs typeface="Arial Black"/>
              </a:rPr>
              <a:t>A</a:t>
            </a:r>
            <a:r>
              <a:rPr dirty="0" sz="1500" spc="-10">
                <a:solidFill>
                  <a:srgbClr val="037B80"/>
                </a:solidFill>
                <a:latin typeface="Arial Black"/>
                <a:cs typeface="Arial Black"/>
              </a:rPr>
              <a:t> </a:t>
            </a:r>
            <a:r>
              <a:rPr dirty="0" sz="1500" spc="-330">
                <a:solidFill>
                  <a:srgbClr val="017270"/>
                </a:solidFill>
                <a:latin typeface="Arial Black"/>
                <a:cs typeface="Arial Black"/>
              </a:rPr>
              <a:t>A</a:t>
            </a:r>
            <a:r>
              <a:rPr dirty="0" sz="1500" spc="40">
                <a:solidFill>
                  <a:srgbClr val="017270"/>
                </a:solidFill>
                <a:latin typeface="Arial Black"/>
                <a:cs typeface="Arial Black"/>
              </a:rPr>
              <a:t> </a:t>
            </a:r>
            <a:r>
              <a:rPr dirty="0" sz="1500" spc="-330">
                <a:solidFill>
                  <a:srgbClr val="007B70"/>
                </a:solidFill>
                <a:latin typeface="Arial Black"/>
                <a:cs typeface="Arial Black"/>
              </a:rPr>
              <a:t>A</a:t>
            </a:r>
            <a:r>
              <a:rPr dirty="0" sz="1500" spc="-5">
                <a:solidFill>
                  <a:srgbClr val="007B70"/>
                </a:solidFill>
                <a:latin typeface="Arial Black"/>
                <a:cs typeface="Arial Black"/>
              </a:rPr>
              <a:t> </a:t>
            </a:r>
            <a:r>
              <a:rPr dirty="0" sz="1500" spc="-330">
                <a:solidFill>
                  <a:srgbClr val="008282"/>
                </a:solidFill>
                <a:latin typeface="Arial Black"/>
                <a:cs typeface="Arial Black"/>
              </a:rPr>
              <a:t>A</a:t>
            </a:r>
            <a:r>
              <a:rPr dirty="0" sz="1500" spc="-5">
                <a:solidFill>
                  <a:srgbClr val="008282"/>
                </a:solidFill>
                <a:latin typeface="Arial Black"/>
                <a:cs typeface="Arial Black"/>
              </a:rPr>
              <a:t> </a:t>
            </a:r>
            <a:r>
              <a:rPr dirty="0" sz="1500" spc="-425">
                <a:solidFill>
                  <a:srgbClr val="00776B"/>
                </a:solidFill>
                <a:latin typeface="Arial Black"/>
                <a:cs typeface="Arial Black"/>
              </a:rPr>
              <a:t>A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46020" y="1397179"/>
            <a:ext cx="1102995" cy="44259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50" spc="-260">
                <a:solidFill>
                  <a:srgbClr val="212121"/>
                </a:solidFill>
                <a:latin typeface="Arial Black"/>
                <a:cs typeface="Arial Black"/>
              </a:rPr>
              <a:t>Your</a:t>
            </a:r>
            <a:r>
              <a:rPr dirty="0" sz="1250" spc="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250" spc="-145">
                <a:solidFill>
                  <a:srgbClr val="036962"/>
                </a:solidFill>
                <a:latin typeface="Arial Black"/>
                <a:cs typeface="Arial Black"/>
              </a:rPr>
              <a:t>Al</a:t>
            </a:r>
            <a:r>
              <a:rPr dirty="0" sz="1250" spc="-70">
                <a:solidFill>
                  <a:srgbClr val="036962"/>
                </a:solidFill>
                <a:latin typeface="Arial Black"/>
                <a:cs typeface="Arial Black"/>
              </a:rPr>
              <a:t> </a:t>
            </a:r>
            <a:r>
              <a:rPr dirty="0" sz="1250" spc="-195">
                <a:solidFill>
                  <a:srgbClr val="16625B"/>
                </a:solidFill>
                <a:latin typeface="Arial Black"/>
                <a:cs typeface="Arial Black"/>
              </a:rPr>
              <a:t>delegate</a:t>
            </a:r>
            <a:endParaRPr sz="1250">
              <a:latin typeface="Arial Black"/>
              <a:cs typeface="Arial Black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dirty="0" sz="650" spc="-90">
                <a:solidFill>
                  <a:srgbClr val="0E0E0E"/>
                </a:solidFill>
                <a:latin typeface="Arial Black"/>
                <a:cs typeface="Arial Black"/>
              </a:rPr>
              <a:t>Understands</a:t>
            </a:r>
            <a:r>
              <a:rPr dirty="0" sz="650" spc="85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1C1C1C"/>
                </a:solidFill>
                <a:latin typeface="Arial Black"/>
                <a:cs typeface="Arial Black"/>
              </a:rPr>
              <a:t>your</a:t>
            </a:r>
            <a:r>
              <a:rPr dirty="0" sz="650" spc="15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sz="650" spc="-10">
                <a:solidFill>
                  <a:srgbClr val="1C1C1C"/>
                </a:solidFill>
                <a:latin typeface="Arial Black"/>
                <a:cs typeface="Arial Black"/>
              </a:rPr>
              <a:t>intent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5612" y="1106281"/>
            <a:ext cx="5848350" cy="530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330">
                <a:solidFill>
                  <a:srgbClr val="0A0A0A"/>
                </a:solidFill>
                <a:latin typeface="Arial Black"/>
                <a:cs typeface="Arial Black"/>
              </a:rPr>
              <a:t>You</a:t>
            </a:r>
            <a:r>
              <a:rPr dirty="0" sz="1350" spc="-30">
                <a:solidFill>
                  <a:srgbClr val="0A0A0A"/>
                </a:solidFill>
                <a:latin typeface="Arial Black"/>
                <a:cs typeface="Arial Black"/>
              </a:rPr>
              <a:t> </a:t>
            </a:r>
            <a:r>
              <a:rPr dirty="0" sz="1350" spc="-285">
                <a:solidFill>
                  <a:srgbClr val="000113"/>
                </a:solidFill>
                <a:latin typeface="Arial Black"/>
                <a:cs typeface="Arial Black"/>
              </a:rPr>
              <a:t>set</a:t>
            </a:r>
            <a:r>
              <a:rPr dirty="0" sz="1350" spc="-50">
                <a:solidFill>
                  <a:srgbClr val="000113"/>
                </a:solidFill>
                <a:latin typeface="Arial Black"/>
                <a:cs typeface="Arial Black"/>
              </a:rPr>
              <a:t> </a:t>
            </a:r>
            <a:r>
              <a:rPr dirty="0" sz="1350" spc="-235">
                <a:latin typeface="Arial Black"/>
                <a:cs typeface="Arial Black"/>
              </a:rPr>
              <a:t>direction.</a:t>
            </a:r>
            <a:r>
              <a:rPr dirty="0" sz="1350" spc="5">
                <a:latin typeface="Arial Black"/>
                <a:cs typeface="Arial Black"/>
              </a:rPr>
              <a:t> </a:t>
            </a:r>
            <a:r>
              <a:rPr dirty="0" sz="1350" spc="-300">
                <a:latin typeface="Arial Black"/>
                <a:cs typeface="Arial Black"/>
              </a:rPr>
              <a:t>Your</a:t>
            </a:r>
            <a:r>
              <a:rPr dirty="0" sz="1350" spc="-5">
                <a:latin typeface="Arial Black"/>
                <a:cs typeface="Arial Black"/>
              </a:rPr>
              <a:t> </a:t>
            </a:r>
            <a:r>
              <a:rPr dirty="0" sz="1350" spc="-145">
                <a:solidFill>
                  <a:srgbClr val="08756E"/>
                </a:solidFill>
                <a:latin typeface="Arial Black"/>
                <a:cs typeface="Arial Black"/>
              </a:rPr>
              <a:t>AI</a:t>
            </a:r>
            <a:r>
              <a:rPr dirty="0" sz="1350" spc="-65">
                <a:solidFill>
                  <a:srgbClr val="08756E"/>
                </a:solidFill>
                <a:latin typeface="Arial Black"/>
                <a:cs typeface="Arial Black"/>
              </a:rPr>
              <a:t> </a:t>
            </a:r>
            <a:r>
              <a:rPr dirty="0" sz="1350" spc="-190">
                <a:solidFill>
                  <a:srgbClr val="017564"/>
                </a:solidFill>
                <a:latin typeface="Arial Black"/>
                <a:cs typeface="Arial Black"/>
              </a:rPr>
              <a:t>delegate</a:t>
            </a:r>
            <a:r>
              <a:rPr dirty="0" sz="1350" spc="90">
                <a:solidFill>
                  <a:srgbClr val="017564"/>
                </a:solidFill>
                <a:latin typeface="Arial Black"/>
                <a:cs typeface="Arial Black"/>
              </a:rPr>
              <a:t> </a:t>
            </a:r>
            <a:r>
              <a:rPr dirty="0" sz="1350" spc="-295">
                <a:solidFill>
                  <a:srgbClr val="111111"/>
                </a:solidFill>
                <a:latin typeface="Arial Black"/>
                <a:cs typeface="Arial Black"/>
              </a:rPr>
              <a:t>manages</a:t>
            </a:r>
            <a:r>
              <a:rPr dirty="0" sz="1350" spc="50">
                <a:solidFill>
                  <a:srgbClr val="111111"/>
                </a:solidFill>
                <a:latin typeface="Arial Black"/>
                <a:cs typeface="Arial Black"/>
              </a:rPr>
              <a:t> </a:t>
            </a:r>
            <a:r>
              <a:rPr dirty="0" sz="1350" spc="-250">
                <a:latin typeface="Arial Black"/>
                <a:cs typeface="Arial Black"/>
              </a:rPr>
              <a:t>the</a:t>
            </a:r>
            <a:r>
              <a:rPr dirty="0" sz="1350" spc="-10">
                <a:latin typeface="Arial Black"/>
                <a:cs typeface="Arial Black"/>
              </a:rPr>
              <a:t> </a:t>
            </a:r>
            <a:r>
              <a:rPr dirty="0" sz="1350" spc="-265">
                <a:latin typeface="Arial Black"/>
                <a:cs typeface="Arial Black"/>
              </a:rPr>
              <a:t>work.</a:t>
            </a:r>
            <a:r>
              <a:rPr dirty="0" sz="1350" spc="-20">
                <a:latin typeface="Arial Black"/>
                <a:cs typeface="Arial Black"/>
              </a:rPr>
              <a:t> </a:t>
            </a:r>
            <a:r>
              <a:rPr dirty="0" sz="1350" spc="-330">
                <a:latin typeface="Arial Black"/>
                <a:cs typeface="Arial Black"/>
              </a:rPr>
              <a:t>You</a:t>
            </a:r>
            <a:r>
              <a:rPr dirty="0" sz="1350" spc="-85">
                <a:latin typeface="Arial Black"/>
                <a:cs typeface="Arial Black"/>
              </a:rPr>
              <a:t> </a:t>
            </a:r>
            <a:r>
              <a:rPr dirty="0" sz="1350" spc="-295">
                <a:solidFill>
                  <a:srgbClr val="0F0F0F"/>
                </a:solidFill>
                <a:latin typeface="Arial Black"/>
                <a:cs typeface="Arial Black"/>
              </a:rPr>
              <a:t>review</a:t>
            </a:r>
            <a:r>
              <a:rPr dirty="0" sz="1350" spc="-4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1350" spc="-250">
                <a:solidFill>
                  <a:srgbClr val="000A2D"/>
                </a:solidFill>
                <a:latin typeface="Arial Black"/>
                <a:cs typeface="Arial Black"/>
              </a:rPr>
              <a:t>the</a:t>
            </a:r>
            <a:r>
              <a:rPr dirty="0" sz="1350" spc="-100">
                <a:solidFill>
                  <a:srgbClr val="000A2D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latin typeface="Arial Black"/>
                <a:cs typeface="Arial Black"/>
              </a:rPr>
              <a:t>result.</a:t>
            </a:r>
            <a:endParaRPr sz="1350">
              <a:latin typeface="Arial Black"/>
              <a:cs typeface="Arial Black"/>
            </a:endParaRPr>
          </a:p>
          <a:p>
            <a:pPr algn="r" marR="5080">
              <a:lnSpc>
                <a:spcPct val="100000"/>
              </a:lnSpc>
              <a:spcBef>
                <a:spcPts val="1080"/>
              </a:spcBef>
            </a:pPr>
            <a:r>
              <a:rPr dirty="0" sz="1050" spc="-160">
                <a:solidFill>
                  <a:srgbClr val="080C33"/>
                </a:solidFill>
                <a:latin typeface="Arial Black"/>
                <a:cs typeface="Arial Black"/>
              </a:rPr>
              <a:t>Delegate</a:t>
            </a:r>
            <a:r>
              <a:rPr dirty="0" sz="1050" spc="-25">
                <a:solidFill>
                  <a:srgbClr val="080C33"/>
                </a:solidFill>
                <a:latin typeface="Arial Black"/>
                <a:cs typeface="Arial Black"/>
              </a:rPr>
              <a:t> </a:t>
            </a:r>
            <a:r>
              <a:rPr dirty="0" sz="1050" spc="-85">
                <a:solidFill>
                  <a:srgbClr val="00082F"/>
                </a:solidFill>
                <a:latin typeface="Arial Black"/>
                <a:cs typeface="Arial Black"/>
              </a:rPr>
              <a:t>coordinates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86799" y="1578035"/>
            <a:ext cx="1207135" cy="34607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050" spc="-165">
                <a:latin typeface="Arial Black"/>
                <a:cs typeface="Arial Black"/>
              </a:rPr>
              <a:t>specialist</a:t>
            </a:r>
            <a:r>
              <a:rPr dirty="0" sz="1050" spc="75">
                <a:latin typeface="Arial Black"/>
                <a:cs typeface="Arial Black"/>
              </a:rPr>
              <a:t> </a:t>
            </a:r>
            <a:r>
              <a:rPr dirty="0" sz="1050" spc="-125">
                <a:solidFill>
                  <a:srgbClr val="00012F"/>
                </a:solidFill>
                <a:latin typeface="Arial Black"/>
                <a:cs typeface="Arial Black"/>
              </a:rPr>
              <a:t>AI</a:t>
            </a:r>
            <a:r>
              <a:rPr dirty="0" sz="1050" spc="-10">
                <a:solidFill>
                  <a:srgbClr val="00012F"/>
                </a:solidFill>
                <a:latin typeface="Arial Black"/>
                <a:cs typeface="Arial Black"/>
              </a:rPr>
              <a:t> </a:t>
            </a:r>
            <a:r>
              <a:rPr dirty="0" sz="1050" spc="-145">
                <a:solidFill>
                  <a:srgbClr val="1C1C1C"/>
                </a:solidFill>
                <a:latin typeface="Arial Black"/>
                <a:cs typeface="Arial Black"/>
              </a:rPr>
              <a:t>workers</a:t>
            </a:r>
            <a:endParaRPr sz="1050">
              <a:latin typeface="Arial Black"/>
              <a:cs typeface="Arial Black"/>
            </a:endParaRPr>
          </a:p>
          <a:p>
            <a:pPr marL="14604">
              <a:lnSpc>
                <a:spcPct val="100000"/>
              </a:lnSpc>
              <a:spcBef>
                <a:spcPts val="180"/>
              </a:spcBef>
            </a:pPr>
            <a:r>
              <a:rPr dirty="0" sz="700" spc="-125">
                <a:solidFill>
                  <a:srgbClr val="0F0F0F"/>
                </a:solidFill>
                <a:latin typeface="Arial Black"/>
                <a:cs typeface="Arial Black"/>
              </a:rPr>
              <a:t>Behind</a:t>
            </a:r>
            <a:r>
              <a:rPr dirty="0" sz="700" spc="2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700" spc="-120">
                <a:solidFill>
                  <a:srgbClr val="0F0F0F"/>
                </a:solidFill>
                <a:latin typeface="Arial Black"/>
                <a:cs typeface="Arial Black"/>
              </a:rPr>
              <a:t>the</a:t>
            </a:r>
            <a:r>
              <a:rPr dirty="0" sz="700" spc="5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282828"/>
                </a:solidFill>
                <a:latin typeface="Arial Black"/>
                <a:cs typeface="Arial Black"/>
              </a:rPr>
              <a:t>scenes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95966" y="2393081"/>
            <a:ext cx="2927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120">
                <a:solidFill>
                  <a:srgbClr val="0E0E0E"/>
                </a:solidFill>
                <a:latin typeface="Arial Black"/>
                <a:cs typeface="Arial Black"/>
              </a:rPr>
              <a:t>Schedule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00866" y="2192933"/>
            <a:ext cx="315595" cy="321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baseline="4273" sz="975" spc="-247">
                <a:solidFill>
                  <a:srgbClr val="1D1D1D"/>
                </a:solidFill>
                <a:latin typeface="Arial Black"/>
                <a:cs typeface="Arial Black"/>
              </a:rPr>
              <a:t>Re</a:t>
            </a:r>
            <a:r>
              <a:rPr dirty="0" baseline="4273" sz="975" spc="82">
                <a:solidFill>
                  <a:srgbClr val="1D1D1D"/>
                </a:solidFill>
                <a:latin typeface="Arial Black"/>
                <a:cs typeface="Arial Black"/>
              </a:rPr>
              <a:t> </a:t>
            </a:r>
            <a:r>
              <a:rPr dirty="0" baseline="4273" sz="975" spc="-142">
                <a:solidFill>
                  <a:srgbClr val="000A1D"/>
                </a:solidFill>
                <a:latin typeface="Arial Black"/>
                <a:cs typeface="Arial Black"/>
              </a:rPr>
              <a:t>e</a:t>
            </a:r>
            <a:r>
              <a:rPr dirty="0" sz="600" spc="-95">
                <a:solidFill>
                  <a:srgbClr val="363636"/>
                </a:solidFill>
                <a:latin typeface="Arial Black"/>
                <a:cs typeface="Arial Black"/>
              </a:rPr>
              <a:t>a</a:t>
            </a:r>
            <a:r>
              <a:rPr dirty="0" baseline="4273" sz="975" spc="-142">
                <a:solidFill>
                  <a:srgbClr val="232323"/>
                </a:solidFill>
                <a:latin typeface="Arial Black"/>
                <a:cs typeface="Arial Black"/>
              </a:rPr>
              <a:t>rch</a:t>
            </a:r>
            <a:endParaRPr baseline="4273" sz="975">
              <a:latin typeface="Arial Black"/>
              <a:cs typeface="Arial Black"/>
            </a:endParaRPr>
          </a:p>
          <a:p>
            <a:pPr algn="ctr" marL="3175">
              <a:lnSpc>
                <a:spcPct val="100000"/>
              </a:lnSpc>
              <a:spcBef>
                <a:spcPts val="800"/>
              </a:spcBef>
            </a:pPr>
            <a:r>
              <a:rPr dirty="0" sz="600" spc="-50">
                <a:solidFill>
                  <a:srgbClr val="2F6457"/>
                </a:solidFill>
                <a:latin typeface="Arial Black"/>
                <a:cs typeface="Arial Black"/>
              </a:rPr>
              <a:t>!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70691" y="2341658"/>
            <a:ext cx="18161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105">
                <a:solidFill>
                  <a:srgbClr val="111111"/>
                </a:solidFill>
                <a:latin typeface="Consolas"/>
                <a:cs typeface="Consolas"/>
              </a:rPr>
              <a:t>o,a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61617" y="3523763"/>
            <a:ext cx="249554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100">
                <a:solidFill>
                  <a:srgbClr val="161616"/>
                </a:solidFill>
                <a:latin typeface="Arial Black"/>
                <a:cs typeface="Arial Black"/>
              </a:rPr>
              <a:t>Update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27923" y="2891912"/>
            <a:ext cx="41529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75">
                <a:solidFill>
                  <a:srgbClr val="262626"/>
                </a:solidFill>
                <a:latin typeface="Arial Black"/>
                <a:cs typeface="Arial Black"/>
              </a:rPr>
              <a:t>coordinates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10674" y="2941795"/>
            <a:ext cx="27114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85">
                <a:solidFill>
                  <a:srgbClr val="161616"/>
                </a:solidFill>
                <a:latin typeface="Courier New"/>
                <a:cs typeface="Courier New"/>
              </a:rPr>
              <a:t>Analyze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43214" y="3965937"/>
            <a:ext cx="1210945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85">
                <a:solidFill>
                  <a:srgbClr val="1A1A1A"/>
                </a:solidFill>
                <a:latin typeface="Arial Black"/>
                <a:cs typeface="Arial Black"/>
              </a:rPr>
              <a:t>Secure</a:t>
            </a:r>
            <a:r>
              <a:rPr dirty="0" sz="700" spc="8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D1D1D"/>
                </a:solidFill>
                <a:latin typeface="Arial Black"/>
                <a:cs typeface="Arial Black"/>
              </a:rPr>
              <a:t>'</a:t>
            </a:r>
            <a:r>
              <a:rPr dirty="0" sz="700" spc="90">
                <a:solidFill>
                  <a:srgbClr val="1D1D1D"/>
                </a:solidFill>
                <a:latin typeface="Arial Black"/>
                <a:cs typeface="Arial Black"/>
              </a:rPr>
              <a:t> </a:t>
            </a:r>
            <a:r>
              <a:rPr dirty="0" sz="700" spc="-70">
                <a:solidFill>
                  <a:srgbClr val="0C0C0C"/>
                </a:solidFill>
                <a:latin typeface="Arial Black"/>
                <a:cs typeface="Arial Black"/>
              </a:rPr>
              <a:t>Private</a:t>
            </a:r>
            <a:r>
              <a:rPr dirty="0" sz="700" spc="114">
                <a:solidFill>
                  <a:srgbClr val="0C0C0C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1D1D1D"/>
                </a:solidFill>
                <a:latin typeface="Arial Black"/>
                <a:cs typeface="Arial Black"/>
              </a:rPr>
              <a:t>•</a:t>
            </a:r>
            <a:r>
              <a:rPr dirty="0" sz="700" spc="110">
                <a:solidFill>
                  <a:srgbClr val="1D1D1D"/>
                </a:solidFill>
                <a:latin typeface="Arial Black"/>
                <a:cs typeface="Arial Black"/>
              </a:rPr>
              <a:t> </a:t>
            </a:r>
            <a:r>
              <a:rPr dirty="0" sz="700" spc="-130">
                <a:solidFill>
                  <a:srgbClr val="0E0E0E"/>
                </a:solidFill>
                <a:latin typeface="Arial Black"/>
                <a:cs typeface="Arial Black"/>
              </a:rPr>
              <a:t>Always</a:t>
            </a:r>
            <a:r>
              <a:rPr dirty="0" sz="700" spc="-15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700" spc="-25">
                <a:solidFill>
                  <a:srgbClr val="0A0A0A"/>
                </a:solidFill>
                <a:latin typeface="Arial Black"/>
                <a:cs typeface="Arial Black"/>
              </a:rPr>
              <a:t>on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33504" y="4372392"/>
            <a:ext cx="1832610" cy="47434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15" marR="5080" indent="-6350">
              <a:lnSpc>
                <a:spcPct val="102800"/>
              </a:lnSpc>
              <a:spcBef>
                <a:spcPts val="55"/>
              </a:spcBef>
            </a:pPr>
            <a:r>
              <a:rPr dirty="0" sz="1450" spc="-225">
                <a:solidFill>
                  <a:srgbClr val="01081F"/>
                </a:solidFill>
                <a:latin typeface="Arial Black"/>
                <a:cs typeface="Arial Black"/>
              </a:rPr>
              <a:t>You</a:t>
            </a:r>
            <a:r>
              <a:rPr dirty="0" sz="1450" spc="-60">
                <a:solidFill>
                  <a:srgbClr val="01081F"/>
                </a:solidFill>
                <a:latin typeface="Arial Black"/>
                <a:cs typeface="Arial Black"/>
              </a:rPr>
              <a:t> </a:t>
            </a:r>
            <a:r>
              <a:rPr dirty="0" sz="1450" spc="-135">
                <a:solidFill>
                  <a:srgbClr val="050E33"/>
                </a:solidFill>
                <a:latin typeface="Arial Black"/>
                <a:cs typeface="Arial Black"/>
              </a:rPr>
              <a:t>do</a:t>
            </a:r>
            <a:r>
              <a:rPr dirty="0" sz="1450" spc="-80">
                <a:solidFill>
                  <a:srgbClr val="050E33"/>
                </a:solidFill>
                <a:latin typeface="Arial Black"/>
                <a:cs typeface="Arial Black"/>
              </a:rPr>
              <a:t> </a:t>
            </a:r>
            <a:r>
              <a:rPr dirty="0" sz="1450" spc="-160">
                <a:solidFill>
                  <a:srgbClr val="131D38"/>
                </a:solidFill>
                <a:latin typeface="Arial Black"/>
                <a:cs typeface="Arial Black"/>
              </a:rPr>
              <a:t>not</a:t>
            </a:r>
            <a:r>
              <a:rPr dirty="0" sz="1450" spc="-90">
                <a:solidFill>
                  <a:srgbClr val="131D38"/>
                </a:solidFill>
                <a:latin typeface="Arial Black"/>
                <a:cs typeface="Arial Black"/>
              </a:rPr>
              <a:t> </a:t>
            </a:r>
            <a:r>
              <a:rPr dirty="0" sz="1450" spc="-70">
                <a:solidFill>
                  <a:srgbClr val="03082A"/>
                </a:solidFill>
                <a:latin typeface="Arial Black"/>
                <a:cs typeface="Arial Black"/>
              </a:rPr>
              <a:t>manage </a:t>
            </a:r>
            <a:r>
              <a:rPr dirty="0" sz="1450" spc="-155">
                <a:solidFill>
                  <a:srgbClr val="0F1A48"/>
                </a:solidFill>
                <a:latin typeface="Arial Black"/>
                <a:cs typeface="Arial Black"/>
              </a:rPr>
              <a:t>20</a:t>
            </a:r>
            <a:r>
              <a:rPr dirty="0" sz="1450" spc="-50">
                <a:solidFill>
                  <a:srgbClr val="0F1A48"/>
                </a:solidFill>
                <a:latin typeface="Arial Black"/>
                <a:cs typeface="Arial Black"/>
              </a:rPr>
              <a:t> </a:t>
            </a:r>
            <a:r>
              <a:rPr dirty="0" sz="1450" spc="-180">
                <a:solidFill>
                  <a:srgbClr val="111836"/>
                </a:solidFill>
                <a:latin typeface="Arial Black"/>
                <a:cs typeface="Arial Black"/>
              </a:rPr>
              <a:t>AI</a:t>
            </a:r>
            <a:r>
              <a:rPr dirty="0" sz="1450" spc="-55">
                <a:solidFill>
                  <a:srgbClr val="111836"/>
                </a:solidFill>
                <a:latin typeface="Arial Black"/>
                <a:cs typeface="Arial Black"/>
              </a:rPr>
              <a:t> </a:t>
            </a:r>
            <a:r>
              <a:rPr dirty="0" sz="1450" spc="-229">
                <a:solidFill>
                  <a:srgbClr val="0F1644"/>
                </a:solidFill>
                <a:latin typeface="Arial Black"/>
                <a:cs typeface="Arial Black"/>
              </a:rPr>
              <a:t>workers</a:t>
            </a:r>
            <a:r>
              <a:rPr dirty="0" sz="1450" spc="10">
                <a:solidFill>
                  <a:srgbClr val="0F1644"/>
                </a:solidFill>
                <a:latin typeface="Arial Black"/>
                <a:cs typeface="Arial Black"/>
              </a:rPr>
              <a:t> </a:t>
            </a:r>
            <a:r>
              <a:rPr dirty="0" sz="1450" spc="-165">
                <a:solidFill>
                  <a:srgbClr val="151515"/>
                </a:solidFill>
                <a:latin typeface="Arial Black"/>
                <a:cs typeface="Arial Black"/>
              </a:rPr>
              <a:t>directly.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11128" y="1035153"/>
            <a:ext cx="21209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80">
                <a:solidFill>
                  <a:srgbClr val="111111"/>
                </a:solidFill>
                <a:latin typeface="Arial Black"/>
                <a:cs typeface="Arial Black"/>
              </a:rPr>
              <a:t>Intent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80395" y="855326"/>
            <a:ext cx="1039494" cy="30289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676275">
              <a:lnSpc>
                <a:spcPct val="100000"/>
              </a:lnSpc>
              <a:spcBef>
                <a:spcPts val="405"/>
              </a:spcBef>
              <a:tabLst>
                <a:tab pos="871855" algn="l"/>
              </a:tabLst>
            </a:pPr>
            <a:r>
              <a:rPr dirty="0" sz="650" spc="-50">
                <a:solidFill>
                  <a:srgbClr val="057979"/>
                </a:solidFill>
                <a:latin typeface="Arial Black"/>
                <a:cs typeface="Arial Black"/>
              </a:rPr>
              <a:t>C</a:t>
            </a:r>
            <a:r>
              <a:rPr dirty="0" sz="650">
                <a:solidFill>
                  <a:srgbClr val="057979"/>
                </a:solidFill>
                <a:latin typeface="Arial Black"/>
                <a:cs typeface="Arial Black"/>
              </a:rPr>
              <a:t>	</a:t>
            </a:r>
            <a:r>
              <a:rPr dirty="0" sz="650" spc="-50">
                <a:solidFill>
                  <a:srgbClr val="057979"/>
                </a:solidFill>
                <a:latin typeface="Arial Black"/>
                <a:cs typeface="Arial Black"/>
              </a:rPr>
              <a:t>W</a:t>
            </a:r>
            <a:endParaRPr sz="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598170" algn="l"/>
              </a:tabLst>
            </a:pPr>
            <a:r>
              <a:rPr dirty="0" sz="600" spc="-10">
                <a:solidFill>
                  <a:srgbClr val="262626"/>
                </a:solidFill>
                <a:latin typeface="Arial Black"/>
                <a:cs typeface="Arial Black"/>
              </a:rPr>
              <a:t>Delegate</a:t>
            </a:r>
            <a:r>
              <a:rPr dirty="0" sz="600">
                <a:solidFill>
                  <a:srgbClr val="262626"/>
                </a:solidFill>
                <a:latin typeface="Arial Black"/>
                <a:cs typeface="Arial Black"/>
              </a:rPr>
              <a:t>	</a:t>
            </a:r>
            <a:r>
              <a:rPr dirty="0" sz="650" spc="-85">
                <a:solidFill>
                  <a:srgbClr val="0E0E0E"/>
                </a:solidFill>
                <a:latin typeface="Arial Black"/>
                <a:cs typeface="Arial Black"/>
              </a:rPr>
              <a:t>AI</a:t>
            </a:r>
            <a:r>
              <a:rPr dirty="0" sz="650" spc="-75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131313"/>
                </a:solidFill>
                <a:latin typeface="Arial Black"/>
                <a:cs typeface="Arial Black"/>
              </a:rPr>
              <a:t>workforce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10503" y="1404174"/>
            <a:ext cx="1389380" cy="435609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200" spc="-254">
                <a:solidFill>
                  <a:srgbClr val="030828"/>
                </a:solidFill>
                <a:latin typeface="Arial Black"/>
                <a:cs typeface="Arial Black"/>
              </a:rPr>
              <a:t>You</a:t>
            </a:r>
            <a:r>
              <a:rPr dirty="0" sz="1200" spc="-35">
                <a:solidFill>
                  <a:srgbClr val="030828"/>
                </a:solidFill>
                <a:latin typeface="Arial Black"/>
                <a:cs typeface="Arial Black"/>
              </a:rPr>
              <a:t> </a:t>
            </a:r>
            <a:r>
              <a:rPr dirty="0" sz="1200" spc="-225">
                <a:solidFill>
                  <a:srgbClr val="131313"/>
                </a:solidFill>
                <a:latin typeface="Arial Black"/>
                <a:cs typeface="Arial Black"/>
              </a:rPr>
              <a:t>review</a:t>
            </a:r>
            <a:r>
              <a:rPr dirty="0" sz="1200" spc="-15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1200" spc="-250">
                <a:solidFill>
                  <a:srgbClr val="131C46"/>
                </a:solidFill>
                <a:latin typeface="Arial Black"/>
                <a:cs typeface="Arial Black"/>
              </a:rPr>
              <a:t>&amp;</a:t>
            </a:r>
            <a:r>
              <a:rPr dirty="0" sz="1200" spc="-75">
                <a:solidFill>
                  <a:srgbClr val="131C46"/>
                </a:solidFill>
                <a:latin typeface="Arial Black"/>
                <a:cs typeface="Arial Black"/>
              </a:rPr>
              <a:t> </a:t>
            </a:r>
            <a:r>
              <a:rPr dirty="0" sz="1200" spc="-180">
                <a:solidFill>
                  <a:srgbClr val="0A0A31"/>
                </a:solidFill>
                <a:latin typeface="Arial Black"/>
                <a:cs typeface="Arial Black"/>
              </a:rPr>
              <a:t>approve</a:t>
            </a:r>
            <a:endParaRPr sz="1200">
              <a:latin typeface="Arial Black"/>
              <a:cs typeface="Arial Black"/>
            </a:endParaRPr>
          </a:p>
          <a:p>
            <a:pPr marL="17780">
              <a:lnSpc>
                <a:spcPct val="100000"/>
              </a:lnSpc>
              <a:spcBef>
                <a:spcPts val="375"/>
              </a:spcBef>
            </a:pPr>
            <a:r>
              <a:rPr dirty="0" sz="650" spc="-125">
                <a:solidFill>
                  <a:srgbClr val="282828"/>
                </a:solidFill>
                <a:latin typeface="Arial Black"/>
                <a:cs typeface="Arial Black"/>
              </a:rPr>
              <a:t>You</a:t>
            </a:r>
            <a:r>
              <a:rPr dirty="0" sz="650" spc="-15">
                <a:solidFill>
                  <a:srgbClr val="282828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050505"/>
                </a:solidFill>
                <a:latin typeface="Arial Black"/>
                <a:cs typeface="Arial Black"/>
              </a:rPr>
              <a:t>review</a:t>
            </a:r>
            <a:r>
              <a:rPr dirty="0" sz="650" spc="30">
                <a:solidFill>
                  <a:srgbClr val="050505"/>
                </a:solidFill>
                <a:latin typeface="Arial Black"/>
                <a:cs typeface="Arial Black"/>
              </a:rPr>
              <a:t> </a:t>
            </a:r>
            <a:r>
              <a:rPr dirty="0" sz="650" spc="-95">
                <a:solidFill>
                  <a:srgbClr val="1C1C1C"/>
                </a:solidFill>
                <a:latin typeface="Arial Black"/>
                <a:cs typeface="Arial Black"/>
              </a:rPr>
              <a:t>the</a:t>
            </a:r>
            <a:r>
              <a:rPr dirty="0" sz="650" spc="-15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sz="650" spc="-65">
                <a:solidFill>
                  <a:srgbClr val="1C1C1C"/>
                </a:solidFill>
                <a:latin typeface="Arial Black"/>
                <a:cs typeface="Arial Black"/>
              </a:rPr>
              <a:t>final</a:t>
            </a:r>
            <a:r>
              <a:rPr dirty="0" sz="650" spc="-55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sz="650" spc="-25">
                <a:solidFill>
                  <a:srgbClr val="1A1A1A"/>
                </a:solidFill>
                <a:latin typeface="Arial Black"/>
                <a:cs typeface="Arial Black"/>
              </a:rPr>
              <a:t>cut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44926" y="3959779"/>
            <a:ext cx="955040" cy="144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170">
                <a:solidFill>
                  <a:srgbClr val="181818"/>
                </a:solidFill>
                <a:latin typeface="Arial Black"/>
                <a:cs typeface="Arial Black"/>
              </a:rPr>
              <a:t>You</a:t>
            </a:r>
            <a:r>
              <a:rPr dirty="0" sz="750" spc="5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750" spc="-105">
                <a:solidFill>
                  <a:srgbClr val="181818"/>
                </a:solidFill>
                <a:latin typeface="Arial Black"/>
                <a:cs typeface="Arial Black"/>
              </a:rPr>
              <a:t>approve</a:t>
            </a:r>
            <a:r>
              <a:rPr dirty="0" sz="750" spc="60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750" spc="-125">
                <a:solidFill>
                  <a:srgbClr val="494949"/>
                </a:solidFill>
                <a:latin typeface="Arial Black"/>
                <a:cs typeface="Arial Black"/>
              </a:rPr>
              <a:t>the</a:t>
            </a:r>
            <a:r>
              <a:rPr dirty="0" sz="75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750" spc="-90">
                <a:solidFill>
                  <a:srgbClr val="161616"/>
                </a:solidFill>
                <a:latin typeface="Arial Black"/>
                <a:cs typeface="Arial Black"/>
              </a:rPr>
              <a:t>result</a:t>
            </a:r>
            <a:endParaRPr sz="750">
              <a:latin typeface="Arial Black"/>
              <a:cs typeface="Arial Black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38828" y="4359459"/>
            <a:ext cx="1945005" cy="502284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 indent="635">
              <a:lnSpc>
                <a:spcPts val="1830"/>
              </a:lnSpc>
              <a:spcBef>
                <a:spcPts val="235"/>
              </a:spcBef>
            </a:pPr>
            <a:r>
              <a:rPr dirty="0" sz="1600" spc="-325">
                <a:solidFill>
                  <a:srgbClr val="212121"/>
                </a:solidFill>
                <a:latin typeface="Arial Black"/>
                <a:cs typeface="Arial Black"/>
              </a:rPr>
              <a:t>Your</a:t>
            </a:r>
            <a:r>
              <a:rPr dirty="0" sz="1600" spc="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600" spc="-235">
                <a:solidFill>
                  <a:srgbClr val="057569"/>
                </a:solidFill>
                <a:latin typeface="Arial Black"/>
                <a:cs typeface="Arial Black"/>
              </a:rPr>
              <a:t>one</a:t>
            </a:r>
            <a:r>
              <a:rPr dirty="0" sz="1600" spc="-25">
                <a:solidFill>
                  <a:srgbClr val="057569"/>
                </a:solidFill>
                <a:latin typeface="Arial Black"/>
                <a:cs typeface="Arial Black"/>
              </a:rPr>
              <a:t> </a:t>
            </a:r>
            <a:r>
              <a:rPr dirty="0" sz="1600" spc="-135">
                <a:solidFill>
                  <a:srgbClr val="076660"/>
                </a:solidFill>
                <a:latin typeface="Arial Black"/>
                <a:cs typeface="Arial Black"/>
              </a:rPr>
              <a:t>detegate </a:t>
            </a:r>
            <a:r>
              <a:rPr dirty="0" sz="1600" spc="-300">
                <a:solidFill>
                  <a:srgbClr val="23897B"/>
                </a:solidFill>
                <a:latin typeface="Arial Black"/>
                <a:cs typeface="Arial Black"/>
              </a:rPr>
              <a:t>manages</a:t>
            </a:r>
            <a:r>
              <a:rPr dirty="0" sz="1600" spc="15">
                <a:solidFill>
                  <a:srgbClr val="23897B"/>
                </a:solidFill>
                <a:latin typeface="Arial Black"/>
                <a:cs typeface="Arial Black"/>
              </a:rPr>
              <a:t> </a:t>
            </a:r>
            <a:r>
              <a:rPr dirty="0" sz="1600" spc="-270">
                <a:solidFill>
                  <a:srgbClr val="0E6E6B"/>
                </a:solidFill>
                <a:latin typeface="Arial Black"/>
                <a:cs typeface="Arial Black"/>
              </a:rPr>
              <a:t>them</a:t>
            </a:r>
            <a:r>
              <a:rPr dirty="0" sz="1600" spc="-35">
                <a:solidFill>
                  <a:srgbClr val="0E6E6B"/>
                </a:solidFill>
                <a:latin typeface="Arial Black"/>
                <a:cs typeface="Arial Black"/>
              </a:rPr>
              <a:t> </a:t>
            </a:r>
            <a:r>
              <a:rPr dirty="0" sz="1600" spc="-235">
                <a:solidFill>
                  <a:srgbClr val="1F234B"/>
                </a:solidFill>
                <a:latin typeface="Arial Black"/>
                <a:cs typeface="Arial Black"/>
              </a:rPr>
              <a:t>for</a:t>
            </a:r>
            <a:r>
              <a:rPr dirty="0" sz="1600" spc="-40">
                <a:solidFill>
                  <a:srgbClr val="1F234B"/>
                </a:solidFill>
                <a:latin typeface="Arial Black"/>
                <a:cs typeface="Arial Black"/>
              </a:rPr>
              <a:t> </a:t>
            </a:r>
            <a:r>
              <a:rPr dirty="0" sz="1600" spc="-245">
                <a:solidFill>
                  <a:srgbClr val="111111"/>
                </a:solidFill>
                <a:latin typeface="Arial Black"/>
                <a:cs typeface="Arial Black"/>
              </a:rPr>
              <a:t>you.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6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664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The</a:t>
            </a:r>
            <a:r>
              <a:rPr dirty="0" sz="2800" spc="-40"/>
              <a:t> </a:t>
            </a:r>
            <a:r>
              <a:rPr dirty="0" sz="2800" spc="-30"/>
              <a:t>Two-</a:t>
            </a:r>
            <a:r>
              <a:rPr dirty="0" sz="2800"/>
              <a:t>Layer</a:t>
            </a:r>
            <a:r>
              <a:rPr dirty="0" sz="2800" spc="-35"/>
              <a:t> </a:t>
            </a:r>
            <a:r>
              <a:rPr dirty="0" sz="2800" spc="-10"/>
              <a:t>Model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655320" y="904240"/>
            <a:ext cx="7833359" cy="1615440"/>
            <a:chOff x="655320" y="904240"/>
            <a:chExt cx="7833359" cy="1615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" y="904240"/>
              <a:ext cx="7833360" cy="1615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520" y="1005840"/>
              <a:ext cx="7680959" cy="1463040"/>
            </a:xfrm>
            <a:custGeom>
              <a:avLst/>
              <a:gdLst/>
              <a:ahLst/>
              <a:cxnLst/>
              <a:rect l="l" t="t" r="r" b="b"/>
              <a:pathLst>
                <a:path w="7680959" h="1463039">
                  <a:moveTo>
                    <a:pt x="7680959" y="1463039"/>
                  </a:moveTo>
                  <a:lnTo>
                    <a:pt x="0" y="1463039"/>
                  </a:lnTo>
                  <a:lnTo>
                    <a:pt x="0" y="0"/>
                  </a:lnTo>
                  <a:lnTo>
                    <a:pt x="7680959" y="0"/>
                  </a:lnTo>
                  <a:lnTo>
                    <a:pt x="7680959" y="14630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20" y="1005840"/>
              <a:ext cx="7680959" cy="45720"/>
            </a:xfrm>
            <a:custGeom>
              <a:avLst/>
              <a:gdLst/>
              <a:ahLst/>
              <a:cxnLst/>
              <a:rect l="l" t="t" r="r" b="b"/>
              <a:pathLst>
                <a:path w="7680959" h="45719">
                  <a:moveTo>
                    <a:pt x="7680959" y="45719"/>
                  </a:moveTo>
                  <a:lnTo>
                    <a:pt x="0" y="45719"/>
                  </a:lnTo>
                  <a:lnTo>
                    <a:pt x="0" y="0"/>
                  </a:lnTo>
                  <a:lnTo>
                    <a:pt x="7680959" y="0"/>
                  </a:lnTo>
                  <a:lnTo>
                    <a:pt x="7680959" y="45719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0125" y="1186179"/>
            <a:ext cx="7099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F46E4"/>
                </a:solidFill>
                <a:latin typeface="Consolas"/>
                <a:cs typeface="Consolas"/>
              </a:rPr>
              <a:t>EDGE</a:t>
            </a:r>
            <a:r>
              <a:rPr dirty="0" sz="1000" spc="-45">
                <a:solidFill>
                  <a:srgbClr val="4F46E4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4F46E4"/>
                </a:solidFill>
                <a:latin typeface="Consolas"/>
                <a:cs typeface="Consolas"/>
              </a:rPr>
              <a:t>LAYER</a:t>
            </a:r>
            <a:endParaRPr sz="1000">
              <a:latin typeface="Consolas"/>
              <a:cs typeface="Consola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1554480"/>
            <a:ext cx="457199" cy="457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88541" y="2038604"/>
            <a:ext cx="23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E293B"/>
                </a:solidFill>
                <a:latin typeface="Calibri"/>
                <a:cs typeface="Calibri"/>
              </a:rPr>
              <a:t>You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1725" y="1621027"/>
            <a:ext cx="317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94A3B8"/>
                </a:solidFill>
                <a:latin typeface="Arial MT"/>
                <a:cs typeface="Arial MT"/>
              </a:rPr>
              <a:t>→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0400" y="1554480"/>
            <a:ext cx="457199" cy="4571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990329" y="2038604"/>
            <a:ext cx="889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4F46E4"/>
                </a:solidFill>
                <a:latin typeface="Calibri"/>
                <a:cs typeface="Calibri"/>
              </a:rPr>
              <a:t>Your</a:t>
            </a:r>
            <a:r>
              <a:rPr dirty="0" sz="1200" spc="-40" b="1">
                <a:solidFill>
                  <a:srgbClr val="4F46E4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4F46E4"/>
                </a:solidFill>
                <a:latin typeface="Calibri"/>
                <a:cs typeface="Calibri"/>
              </a:rPr>
              <a:t>Delegate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0599" y="1687025"/>
            <a:ext cx="33286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475568"/>
                </a:solidFill>
                <a:latin typeface="Calibri"/>
                <a:cs typeface="Calibri"/>
              </a:rPr>
              <a:t>Your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personal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that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knows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your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preferences,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0599" y="1900385"/>
            <a:ext cx="32556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carries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your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8"/>
                </a:solidFill>
                <a:latin typeface="Calibri"/>
                <a:cs typeface="Calibri"/>
              </a:rPr>
              <a:t>authority,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manages</a:t>
            </a:r>
            <a:r>
              <a:rPr dirty="0" sz="1400" spc="-4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8"/>
                </a:solidFill>
                <a:latin typeface="Calibri"/>
                <a:cs typeface="Calibri"/>
              </a:rPr>
              <a:t>workers.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5320" y="2641600"/>
            <a:ext cx="7833359" cy="1981200"/>
            <a:chOff x="655320" y="2641600"/>
            <a:chExt cx="7833359" cy="19812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20" y="2641600"/>
              <a:ext cx="7833360" cy="1981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1520" y="2743199"/>
              <a:ext cx="7680959" cy="1828800"/>
            </a:xfrm>
            <a:custGeom>
              <a:avLst/>
              <a:gdLst/>
              <a:ahLst/>
              <a:cxnLst/>
              <a:rect l="l" t="t" r="r" b="b"/>
              <a:pathLst>
                <a:path w="7680959" h="1828800">
                  <a:moveTo>
                    <a:pt x="7680959" y="1828799"/>
                  </a:moveTo>
                  <a:lnTo>
                    <a:pt x="0" y="1828799"/>
                  </a:lnTo>
                  <a:lnTo>
                    <a:pt x="0" y="0"/>
                  </a:lnTo>
                  <a:lnTo>
                    <a:pt x="7680959" y="0"/>
                  </a:lnTo>
                  <a:lnTo>
                    <a:pt x="7680959" y="1828799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1520" y="2743199"/>
              <a:ext cx="7680959" cy="45720"/>
            </a:xfrm>
            <a:custGeom>
              <a:avLst/>
              <a:gdLst/>
              <a:ahLst/>
              <a:cxnLst/>
              <a:rect l="l" t="t" r="r" b="b"/>
              <a:pathLst>
                <a:path w="7680959" h="45719">
                  <a:moveTo>
                    <a:pt x="7680959" y="45719"/>
                  </a:moveTo>
                  <a:lnTo>
                    <a:pt x="0" y="45719"/>
                  </a:lnTo>
                  <a:lnTo>
                    <a:pt x="0" y="0"/>
                  </a:lnTo>
                  <a:lnTo>
                    <a:pt x="7680959" y="0"/>
                  </a:lnTo>
                  <a:lnTo>
                    <a:pt x="7680959" y="4571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31519" y="2923540"/>
            <a:ext cx="768095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D9488"/>
                </a:solidFill>
                <a:latin typeface="Consolas"/>
                <a:cs typeface="Consolas"/>
              </a:rPr>
              <a:t>AI</a:t>
            </a:r>
            <a:r>
              <a:rPr dirty="0" sz="1000" spc="-6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D9488"/>
                </a:solidFill>
                <a:latin typeface="Consolas"/>
                <a:cs typeface="Consolas"/>
              </a:rPr>
              <a:t>WORKFORCE</a:t>
            </a:r>
            <a:r>
              <a:rPr dirty="0" sz="1000" spc="-6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0D9488"/>
                </a:solidFill>
                <a:latin typeface="Consolas"/>
                <a:cs typeface="Consolas"/>
              </a:rPr>
              <a:t>LAYER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21080" y="3235960"/>
            <a:ext cx="1706880" cy="1066800"/>
            <a:chOff x="1021080" y="3235960"/>
            <a:chExt cx="1706880" cy="106680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1080" y="3235960"/>
              <a:ext cx="1706880" cy="10668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97279" y="3337559"/>
              <a:ext cx="1554480" cy="36830"/>
            </a:xfrm>
            <a:custGeom>
              <a:avLst/>
              <a:gdLst/>
              <a:ahLst/>
              <a:cxnLst/>
              <a:rect l="l" t="t" r="r" b="b"/>
              <a:pathLst>
                <a:path w="1554480" h="36829">
                  <a:moveTo>
                    <a:pt x="155447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554479" y="0"/>
                  </a:lnTo>
                  <a:lnTo>
                    <a:pt x="1554479" y="365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97280" y="3337559"/>
            <a:ext cx="1554480" cy="9144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523875" marR="516890">
              <a:lnSpc>
                <a:spcPct val="100000"/>
              </a:lnSpc>
            </a:pPr>
            <a:r>
              <a:rPr dirty="0" sz="1200" spc="-10" b="1">
                <a:solidFill>
                  <a:srgbClr val="0F766E"/>
                </a:solidFill>
                <a:latin typeface="Calibri"/>
                <a:cs typeface="Calibri"/>
              </a:rPr>
              <a:t>Support Worker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41320" y="3235960"/>
            <a:ext cx="1706880" cy="1066800"/>
            <a:chOff x="2941320" y="3235960"/>
            <a:chExt cx="1706880" cy="106680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1320" y="3235960"/>
              <a:ext cx="1706880" cy="10668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17519" y="3337559"/>
              <a:ext cx="1554480" cy="36830"/>
            </a:xfrm>
            <a:custGeom>
              <a:avLst/>
              <a:gdLst/>
              <a:ahLst/>
              <a:cxnLst/>
              <a:rect l="l" t="t" r="r" b="b"/>
              <a:pathLst>
                <a:path w="1554479" h="36829">
                  <a:moveTo>
                    <a:pt x="155447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554479" y="0"/>
                  </a:lnTo>
                  <a:lnTo>
                    <a:pt x="1554479" y="365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017520" y="3337559"/>
            <a:ext cx="1554480" cy="9144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533400" marR="526415">
              <a:lnSpc>
                <a:spcPct val="100000"/>
              </a:lnSpc>
            </a:pPr>
            <a:r>
              <a:rPr dirty="0" sz="1200" spc="-10" b="1">
                <a:solidFill>
                  <a:srgbClr val="0F766E"/>
                </a:solidFill>
                <a:latin typeface="Calibri"/>
                <a:cs typeface="Calibri"/>
              </a:rPr>
              <a:t>Finance Worker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61560" y="3235960"/>
            <a:ext cx="1706880" cy="1066800"/>
            <a:chOff x="4861560" y="3235960"/>
            <a:chExt cx="1706880" cy="106680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1560" y="3235960"/>
              <a:ext cx="1706880" cy="10668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937760" y="3337559"/>
              <a:ext cx="1554480" cy="36830"/>
            </a:xfrm>
            <a:custGeom>
              <a:avLst/>
              <a:gdLst/>
              <a:ahLst/>
              <a:cxnLst/>
              <a:rect l="l" t="t" r="r" b="b"/>
              <a:pathLst>
                <a:path w="1554479" h="36829">
                  <a:moveTo>
                    <a:pt x="155447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554479" y="0"/>
                  </a:lnTo>
                  <a:lnTo>
                    <a:pt x="1554479" y="365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937759" y="3337559"/>
            <a:ext cx="1554480" cy="9144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542925" marR="535940" indent="-635">
              <a:lnSpc>
                <a:spcPct val="100000"/>
              </a:lnSpc>
            </a:pPr>
            <a:r>
              <a:rPr dirty="0" sz="1200" spc="-10" b="1">
                <a:solidFill>
                  <a:srgbClr val="0F766E"/>
                </a:solidFill>
                <a:latin typeface="Calibri"/>
                <a:cs typeface="Calibri"/>
              </a:rPr>
              <a:t>Sales </a:t>
            </a:r>
            <a:r>
              <a:rPr dirty="0" sz="1200" spc="-25" b="1">
                <a:solidFill>
                  <a:srgbClr val="0F766E"/>
                </a:solidFill>
                <a:latin typeface="Calibri"/>
                <a:cs typeface="Calibri"/>
              </a:rPr>
              <a:t>Worker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81800" y="3235960"/>
            <a:ext cx="1706880" cy="1066800"/>
            <a:chOff x="6781800" y="3235960"/>
            <a:chExt cx="1706880" cy="106680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1800" y="3235960"/>
              <a:ext cx="1706880" cy="10668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857999" y="3337559"/>
              <a:ext cx="1554480" cy="36830"/>
            </a:xfrm>
            <a:custGeom>
              <a:avLst/>
              <a:gdLst/>
              <a:ahLst/>
              <a:cxnLst/>
              <a:rect l="l" t="t" r="r" b="b"/>
              <a:pathLst>
                <a:path w="1554479" h="36829">
                  <a:moveTo>
                    <a:pt x="155447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1554479" y="0"/>
                  </a:lnTo>
                  <a:lnTo>
                    <a:pt x="1554479" y="365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6858000" y="3337559"/>
            <a:ext cx="1554480" cy="9144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542925" marR="535940">
              <a:lnSpc>
                <a:spcPct val="100000"/>
              </a:lnSpc>
            </a:pPr>
            <a:r>
              <a:rPr dirty="0" sz="1200" spc="-20" b="1">
                <a:solidFill>
                  <a:srgbClr val="0F766E"/>
                </a:solidFill>
                <a:latin typeface="Calibri"/>
                <a:cs typeface="Calibri"/>
              </a:rPr>
              <a:t>Legal </a:t>
            </a:r>
            <a:r>
              <a:rPr dirty="0" sz="1200" spc="-25" b="1">
                <a:solidFill>
                  <a:srgbClr val="0F766E"/>
                </a:solidFill>
                <a:latin typeface="Calibri"/>
                <a:cs typeface="Calibri"/>
              </a:rPr>
              <a:t>Worker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545" y="1194984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08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4545" y="1814815"/>
            <a:ext cx="607949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The</a:t>
            </a:r>
            <a:r>
              <a:rPr dirty="0" sz="4000" spc="-9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7</a:t>
            </a:r>
            <a:r>
              <a:rPr dirty="0" sz="4000" spc="-9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Principles</a:t>
            </a:r>
            <a:r>
              <a:rPr dirty="0" sz="4000" spc="-9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of</a:t>
            </a:r>
            <a:r>
              <a:rPr dirty="0" sz="4000" spc="-9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General </a:t>
            </a:r>
            <a:r>
              <a:rPr dirty="0" sz="4000">
                <a:solidFill>
                  <a:srgbClr val="FFFFFF"/>
                </a:solidFill>
              </a:rPr>
              <a:t>Agent</a:t>
            </a:r>
            <a:r>
              <a:rPr dirty="0" sz="4000" spc="-16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Problem</a:t>
            </a:r>
            <a:r>
              <a:rPr dirty="0" sz="4000" spc="-15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Solving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950" y="152400"/>
            <a:ext cx="8597561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355718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09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674172"/>
            <a:ext cx="516382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The</a:t>
            </a:r>
            <a:r>
              <a:rPr dirty="0" sz="4000" spc="-10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7</a:t>
            </a:r>
            <a:r>
              <a:rPr dirty="0" sz="4000" spc="-9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Golden</a:t>
            </a:r>
            <a:r>
              <a:rPr dirty="0" sz="4000" spc="-10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Rules</a:t>
            </a:r>
            <a:r>
              <a:rPr dirty="0" sz="4000" spc="-95">
                <a:solidFill>
                  <a:srgbClr val="FFFFFF"/>
                </a:solidFill>
              </a:rPr>
              <a:t> </a:t>
            </a:r>
            <a:r>
              <a:rPr dirty="0" sz="4000" spc="-25">
                <a:solidFill>
                  <a:srgbClr val="FFFFFF"/>
                </a:solidFill>
              </a:rPr>
              <a:t>of </a:t>
            </a:r>
            <a:r>
              <a:rPr dirty="0" sz="4000">
                <a:solidFill>
                  <a:srgbClr val="FFFFFF"/>
                </a:solidFill>
              </a:rPr>
              <a:t>an</a:t>
            </a:r>
            <a:r>
              <a:rPr dirty="0" sz="4000" spc="-70">
                <a:solidFill>
                  <a:srgbClr val="FFFFFF"/>
                </a:solidFill>
              </a:rPr>
              <a:t> </a:t>
            </a:r>
            <a:r>
              <a:rPr dirty="0" sz="4000" spc="-30">
                <a:solidFill>
                  <a:srgbClr val="FFFFFF"/>
                </a:solidFill>
              </a:rPr>
              <a:t>AI-</a:t>
            </a:r>
            <a:r>
              <a:rPr dirty="0" sz="4000">
                <a:solidFill>
                  <a:srgbClr val="FFFFFF"/>
                </a:solidFill>
              </a:rPr>
              <a:t>Native</a:t>
            </a:r>
            <a:r>
              <a:rPr dirty="0" sz="4000" spc="-7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Company (Invariants)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915" cy="55244"/>
          </a:xfrm>
          <a:custGeom>
            <a:avLst/>
            <a:gdLst/>
            <a:ahLst/>
            <a:cxnLst/>
            <a:rect l="l" t="t" r="r" b="b"/>
            <a:pathLst>
              <a:path w="1097914" h="55245">
                <a:moveTo>
                  <a:pt x="1097399" y="54899"/>
                </a:moveTo>
                <a:lnTo>
                  <a:pt x="0" y="54899"/>
                </a:lnTo>
                <a:lnTo>
                  <a:pt x="0" y="0"/>
                </a:lnTo>
                <a:lnTo>
                  <a:pt x="1097399" y="0"/>
                </a:lnTo>
                <a:lnTo>
                  <a:pt x="1097399" y="54899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82" y="4407933"/>
            <a:ext cx="8575235" cy="5031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727" y="1394569"/>
            <a:ext cx="3828230" cy="29149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311" y="3489158"/>
            <a:ext cx="607047" cy="4156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55612" y="3434468"/>
            <a:ext cx="645330" cy="4757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7469" y="2373502"/>
            <a:ext cx="519545" cy="4156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48584" y="2351627"/>
            <a:ext cx="481263" cy="4320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08819" y="3680569"/>
            <a:ext cx="388291" cy="3445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22837" y="3133679"/>
            <a:ext cx="289851" cy="3171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11900" y="2510224"/>
            <a:ext cx="311727" cy="3336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51743" y="1859426"/>
            <a:ext cx="442980" cy="37735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69708" y="1334411"/>
            <a:ext cx="278913" cy="3117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33044" y="235163"/>
            <a:ext cx="464856" cy="50313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07201" y="2619603"/>
            <a:ext cx="38282" cy="1039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75177" y="3762603"/>
            <a:ext cx="1640669" cy="16953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91049" y="218512"/>
            <a:ext cx="5842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45">
                <a:solidFill>
                  <a:srgbClr val="006046"/>
                </a:solidFill>
                <a:latin typeface="Times New Roman"/>
                <a:cs typeface="Times New Roman"/>
              </a:rPr>
              <a:t>ANALOGY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303404" y="347281"/>
            <a:ext cx="5574665" cy="805815"/>
          </a:xfrm>
          <a:prstGeom prst="rect"/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100" spc="-10">
                <a:solidFill>
                  <a:srgbClr val="0E1C3B"/>
                </a:solidFill>
                <a:latin typeface="Times New Roman"/>
                <a:cs typeface="Times New Roman"/>
              </a:rPr>
              <a:t>Building</a:t>
            </a:r>
            <a:r>
              <a:rPr dirty="0" sz="3100" spc="-60">
                <a:solidFill>
                  <a:srgbClr val="0E1C3B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071538"/>
                </a:solidFill>
                <a:latin typeface="Times New Roman"/>
                <a:cs typeface="Times New Roman"/>
              </a:rPr>
              <a:t>Rules</a:t>
            </a:r>
            <a:r>
              <a:rPr dirty="0" sz="3100" spc="-155">
                <a:solidFill>
                  <a:srgbClr val="071538"/>
                </a:solidFill>
                <a:latin typeface="Times New Roman"/>
                <a:cs typeface="Times New Roman"/>
              </a:rPr>
              <a:t> </a:t>
            </a:r>
            <a:r>
              <a:rPr dirty="0" sz="3100" spc="80">
                <a:solidFill>
                  <a:srgbClr val="011836"/>
                </a:solidFill>
                <a:latin typeface="Times New Roman"/>
                <a:cs typeface="Times New Roman"/>
              </a:rPr>
              <a:t>That</a:t>
            </a:r>
            <a:r>
              <a:rPr dirty="0" sz="3100" spc="25">
                <a:solidFill>
                  <a:srgbClr val="011836"/>
                </a:solidFill>
                <a:latin typeface="Times New Roman"/>
                <a:cs typeface="Times New Roman"/>
              </a:rPr>
              <a:t> </a:t>
            </a:r>
            <a:r>
              <a:rPr dirty="0" sz="3100" spc="-20">
                <a:solidFill>
                  <a:srgbClr val="051A3D"/>
                </a:solidFill>
                <a:latin typeface="Times New Roman"/>
                <a:cs typeface="Times New Roman"/>
              </a:rPr>
              <a:t>Never</a:t>
            </a:r>
            <a:r>
              <a:rPr dirty="0" sz="3100" spc="-50">
                <a:solidFill>
                  <a:srgbClr val="051A3D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0A1C49"/>
                </a:solidFill>
                <a:latin typeface="Times New Roman"/>
                <a:cs typeface="Times New Roman"/>
              </a:rPr>
              <a:t>Change</a:t>
            </a:r>
            <a:endParaRPr sz="31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270"/>
              </a:spcBef>
            </a:pPr>
            <a:r>
              <a:rPr dirty="0" sz="1350">
                <a:solidFill>
                  <a:srgbClr val="183D49"/>
                </a:solidFill>
                <a:latin typeface="Arial MT"/>
                <a:cs typeface="Arial MT"/>
              </a:rPr>
              <a:t>Tools</a:t>
            </a:r>
            <a:r>
              <a:rPr dirty="0" sz="1350" spc="245">
                <a:solidFill>
                  <a:srgbClr val="183D49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3D3D"/>
                </a:solidFill>
                <a:latin typeface="Arial MT"/>
                <a:cs typeface="Arial MT"/>
              </a:rPr>
              <a:t>change.</a:t>
            </a:r>
            <a:r>
              <a:rPr dirty="0" sz="1350" spc="229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0A6254"/>
                </a:solidFill>
                <a:latin typeface="Arial MT"/>
                <a:cs typeface="Arial MT"/>
              </a:rPr>
              <a:t>Structural</a:t>
            </a:r>
            <a:r>
              <a:rPr dirty="0" sz="1350" spc="270">
                <a:solidFill>
                  <a:srgbClr val="0A6254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0E857E"/>
                </a:solidFill>
                <a:latin typeface="Arial MT"/>
                <a:cs typeface="Arial MT"/>
              </a:rPr>
              <a:t>rules</a:t>
            </a:r>
            <a:r>
              <a:rPr dirty="0" sz="1350" spc="175">
                <a:solidFill>
                  <a:srgbClr val="0E857E"/>
                </a:solidFill>
                <a:latin typeface="Arial MT"/>
                <a:cs typeface="Arial MT"/>
              </a:rPr>
              <a:t> </a:t>
            </a:r>
            <a:r>
              <a:rPr dirty="0" sz="1350" spc="65">
                <a:solidFill>
                  <a:srgbClr val="08726D"/>
                </a:solidFill>
                <a:latin typeface="Arial MT"/>
                <a:cs typeface="Arial MT"/>
              </a:rPr>
              <a:t>don't.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2536" y="1382781"/>
            <a:ext cx="14979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5">
                <a:solidFill>
                  <a:srgbClr val="165B5B"/>
                </a:solidFill>
                <a:latin typeface="Times New Roman"/>
                <a:cs typeface="Times New Roman"/>
              </a:rPr>
              <a:t>Non-</a:t>
            </a:r>
            <a:r>
              <a:rPr dirty="0" sz="1400" spc="-20">
                <a:solidFill>
                  <a:srgbClr val="165B5B"/>
                </a:solidFill>
                <a:latin typeface="Times New Roman"/>
                <a:cs typeface="Times New Roman"/>
              </a:rPr>
              <a:t>negotiable</a:t>
            </a:r>
            <a:r>
              <a:rPr dirty="0" sz="1400" spc="35">
                <a:solidFill>
                  <a:srgbClr val="165B5B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1564D"/>
                </a:solidFill>
                <a:latin typeface="Times New Roman"/>
                <a:cs typeface="Times New Roman"/>
              </a:rPr>
              <a:t>rules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089" y="1835484"/>
            <a:ext cx="552450" cy="45656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 indent="3810">
              <a:lnSpc>
                <a:spcPct val="95900"/>
              </a:lnSpc>
              <a:spcBef>
                <a:spcPts val="155"/>
              </a:spcBef>
            </a:pPr>
            <a:r>
              <a:rPr dirty="0" sz="1100" spc="-20">
                <a:solidFill>
                  <a:srgbClr val="161616"/>
                </a:solidFill>
                <a:latin typeface="Times New Roman"/>
                <a:cs typeface="Times New Roman"/>
              </a:rPr>
              <a:t>Roof </a:t>
            </a:r>
            <a:r>
              <a:rPr dirty="0" sz="900" spc="-10">
                <a:solidFill>
                  <a:srgbClr val="050505"/>
                </a:solidFill>
                <a:latin typeface="Times New Roman"/>
                <a:cs typeface="Times New Roman"/>
              </a:rPr>
              <a:t>Protects </a:t>
            </a:r>
            <a:r>
              <a:rPr dirty="0" sz="900" spc="-35">
                <a:solidFill>
                  <a:srgbClr val="1F1F1F"/>
                </a:solidFill>
                <a:latin typeface="Times New Roman"/>
                <a:cs typeface="Times New Roman"/>
              </a:rPr>
              <a:t>what's</a:t>
            </a:r>
            <a:r>
              <a:rPr dirty="0" sz="9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900" spc="-55">
                <a:solidFill>
                  <a:srgbClr val="080808"/>
                </a:solidFill>
                <a:latin typeface="Times New Roman"/>
                <a:cs typeface="Times New Roman"/>
              </a:rPr>
              <a:t>inside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2898" y="2495400"/>
            <a:ext cx="598170" cy="470534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Walls</a:t>
            </a:r>
            <a:endParaRPr sz="1150">
              <a:latin typeface="Times New Roman"/>
              <a:cs typeface="Times New Roman"/>
            </a:endParaRPr>
          </a:p>
          <a:p>
            <a:pPr marL="15875" marR="5080">
              <a:lnSpc>
                <a:spcPts val="930"/>
              </a:lnSpc>
              <a:spcBef>
                <a:spcPts val="185"/>
              </a:spcBef>
            </a:pPr>
            <a:r>
              <a:rPr dirty="0" sz="850" spc="-70">
                <a:solidFill>
                  <a:srgbClr val="111111"/>
                </a:solidFill>
                <a:latin typeface="Times New Roman"/>
                <a:cs typeface="Times New Roman"/>
              </a:rPr>
              <a:t>Give</a:t>
            </a:r>
            <a:r>
              <a:rPr dirty="0" sz="8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structure</a:t>
            </a:r>
            <a:r>
              <a:rPr dirty="0" sz="850" spc="500"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850" spc="-10">
                <a:solidFill>
                  <a:srgbClr val="161616"/>
                </a:solidFill>
                <a:latin typeface="Times New Roman"/>
                <a:cs typeface="Times New Roman"/>
              </a:rPr>
              <a:t>shape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3834" y="3198850"/>
            <a:ext cx="679450" cy="46355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dirty="0" sz="1100" spc="-10">
                <a:solidFill>
                  <a:srgbClr val="0C0C0C"/>
                </a:solidFill>
                <a:latin typeface="Times New Roman"/>
                <a:cs typeface="Times New Roman"/>
              </a:rPr>
              <a:t>Foundation</a:t>
            </a:r>
            <a:endParaRPr sz="1100">
              <a:latin typeface="Times New Roman"/>
              <a:cs typeface="Times New Roman"/>
            </a:endParaRPr>
          </a:p>
          <a:p>
            <a:pPr marL="15240" marR="222885" indent="-3175">
              <a:lnSpc>
                <a:spcPts val="950"/>
              </a:lnSpc>
              <a:spcBef>
                <a:spcPts val="140"/>
              </a:spcBef>
            </a:pPr>
            <a:r>
              <a:rPr dirty="0" sz="800" spc="-10">
                <a:solidFill>
                  <a:srgbClr val="080808"/>
                </a:solidFill>
                <a:latin typeface="Times New Roman"/>
                <a:cs typeface="Times New Roman"/>
              </a:rPr>
              <a:t>Supports</a:t>
            </a:r>
            <a:r>
              <a:rPr dirty="0" sz="800" spc="50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151515"/>
                </a:solidFill>
                <a:latin typeface="Times New Roman"/>
                <a:cs typeface="Times New Roman"/>
              </a:rPr>
              <a:t>everything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51294" y="1442635"/>
            <a:ext cx="1473200" cy="215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505" algn="l"/>
              </a:tabLst>
            </a:pPr>
            <a:r>
              <a:rPr dirty="0" sz="1250" spc="-50">
                <a:solidFill>
                  <a:srgbClr val="054B4D"/>
                </a:solidFill>
                <a:latin typeface="Cambria"/>
                <a:cs typeface="Cambria"/>
              </a:rPr>
              <a:t>+</a:t>
            </a:r>
            <a:r>
              <a:rPr dirty="0" sz="1250">
                <a:solidFill>
                  <a:srgbClr val="054B4D"/>
                </a:solidFill>
                <a:latin typeface="Cambria"/>
                <a:cs typeface="Cambria"/>
              </a:rPr>
              <a:t>	</a:t>
            </a:r>
            <a:r>
              <a:rPr dirty="0" sz="1250" spc="-10">
                <a:solidFill>
                  <a:srgbClr val="0C7567"/>
                </a:solidFill>
                <a:latin typeface="Cambria"/>
                <a:cs typeface="Cambria"/>
              </a:rPr>
              <a:t>Choices</a:t>
            </a:r>
            <a:r>
              <a:rPr dirty="0" sz="1250" spc="-20">
                <a:solidFill>
                  <a:srgbClr val="0C7567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247570"/>
                </a:solidFill>
                <a:latin typeface="Cambria"/>
                <a:cs typeface="Cambria"/>
              </a:rPr>
              <a:t>can</a:t>
            </a:r>
            <a:r>
              <a:rPr dirty="0" sz="1250" spc="-20">
                <a:solidFill>
                  <a:srgbClr val="247570"/>
                </a:solidFill>
                <a:latin typeface="Cambria"/>
                <a:cs typeface="Cambria"/>
              </a:rPr>
              <a:t> </a:t>
            </a:r>
            <a:r>
              <a:rPr dirty="0" sz="1250" spc="-20">
                <a:solidFill>
                  <a:srgbClr val="1C5E54"/>
                </a:solidFill>
                <a:latin typeface="Cambria"/>
                <a:cs typeface="Cambria"/>
              </a:rPr>
              <a:t>vary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60199" y="1907187"/>
            <a:ext cx="509270" cy="33909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905">
              <a:lnSpc>
                <a:spcPts val="1210"/>
              </a:lnSpc>
              <a:spcBef>
                <a:spcPts val="185"/>
              </a:spcBef>
            </a:pPr>
            <a:r>
              <a:rPr dirty="0" sz="1050" spc="-25">
                <a:solidFill>
                  <a:srgbClr val="131313"/>
                </a:solidFill>
                <a:latin typeface="Times New Roman"/>
                <a:cs typeface="Times New Roman"/>
              </a:rPr>
              <a:t>Bricks</a:t>
            </a:r>
            <a:r>
              <a:rPr dirty="0" sz="1050" spc="-2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000016"/>
                </a:solidFill>
                <a:latin typeface="Times New Roman"/>
                <a:cs typeface="Times New Roman"/>
              </a:rPr>
              <a:t>or </a:t>
            </a:r>
            <a:r>
              <a:rPr dirty="0" sz="1050" spc="-10">
                <a:latin typeface="Times New Roman"/>
                <a:cs typeface="Times New Roman"/>
              </a:rPr>
              <a:t>concrete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61218" y="3045933"/>
            <a:ext cx="626110" cy="32448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 indent="-635">
              <a:lnSpc>
                <a:spcPct val="105800"/>
              </a:lnSpc>
              <a:spcBef>
                <a:spcPts val="40"/>
              </a:spcBef>
            </a:pPr>
            <a:r>
              <a:rPr dirty="0" sz="950" spc="-105">
                <a:solidFill>
                  <a:srgbClr val="080808"/>
                </a:solidFill>
                <a:latin typeface="Arial Black"/>
                <a:cs typeface="Arial Black"/>
              </a:rPr>
              <a:t>Flat</a:t>
            </a:r>
            <a:r>
              <a:rPr dirty="0" sz="950" spc="-45">
                <a:solidFill>
                  <a:srgbClr val="080808"/>
                </a:solidFill>
                <a:latin typeface="Arial Black"/>
                <a:cs typeface="Arial Black"/>
              </a:rPr>
              <a:t> </a:t>
            </a:r>
            <a:r>
              <a:rPr dirty="0" sz="950" spc="-25">
                <a:solidFill>
                  <a:srgbClr val="0A0A0A"/>
                </a:solidFill>
                <a:latin typeface="Arial Black"/>
                <a:cs typeface="Arial Black"/>
              </a:rPr>
              <a:t>or </a:t>
            </a:r>
            <a:r>
              <a:rPr dirty="0" sz="950" spc="-125">
                <a:solidFill>
                  <a:srgbClr val="0F0F0F"/>
                </a:solidFill>
                <a:latin typeface="Arial Black"/>
                <a:cs typeface="Arial Black"/>
              </a:rPr>
              <a:t>sloped</a:t>
            </a:r>
            <a:r>
              <a:rPr dirty="0" sz="950" spc="-25">
                <a:solidFill>
                  <a:srgbClr val="0F0F0F"/>
                </a:solidFill>
                <a:latin typeface="Arial Black"/>
                <a:cs typeface="Arial Black"/>
              </a:rPr>
              <a:t> </a:t>
            </a:r>
            <a:r>
              <a:rPr dirty="0" sz="950" spc="-100">
                <a:solidFill>
                  <a:srgbClr val="0F0F0F"/>
                </a:solidFill>
                <a:latin typeface="Arial Black"/>
                <a:cs typeface="Arial Black"/>
              </a:rPr>
              <a:t>roof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7637" y="1373362"/>
            <a:ext cx="143510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10">
                <a:solidFill>
                  <a:srgbClr val="014D48"/>
                </a:solidFill>
                <a:latin typeface="Times New Roman"/>
                <a:cs typeface="Times New Roman"/>
              </a:rPr>
              <a:t>For</a:t>
            </a:r>
            <a:r>
              <a:rPr dirty="0" sz="1500" spc="-75">
                <a:solidFill>
                  <a:srgbClr val="014D4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A524F"/>
                </a:solidFill>
                <a:latin typeface="Times New Roman"/>
                <a:cs typeface="Times New Roman"/>
              </a:rPr>
              <a:t>AI</a:t>
            </a:r>
            <a:r>
              <a:rPr dirty="0" sz="1500" spc="-75">
                <a:solidFill>
                  <a:srgbClr val="0A524F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01494B"/>
                </a:solidFill>
                <a:latin typeface="Times New Roman"/>
                <a:cs typeface="Times New Roman"/>
              </a:rPr>
              <a:t>companies: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25761" y="1815432"/>
            <a:ext cx="1149350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590"/>
              </a:lnSpc>
              <a:spcBef>
                <a:spcPts val="135"/>
              </a:spcBef>
            </a:pPr>
            <a:r>
              <a:rPr dirty="0" sz="1350" spc="-180">
                <a:solidFill>
                  <a:srgbClr val="232323"/>
                </a:solidFill>
                <a:latin typeface="Arial Black"/>
                <a:cs typeface="Arial Black"/>
              </a:rPr>
              <a:t>7</a:t>
            </a:r>
            <a:r>
              <a:rPr dirty="0" sz="1350" spc="-20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1350" spc="-195">
                <a:solidFill>
                  <a:srgbClr val="1F1F1F"/>
                </a:solidFill>
                <a:latin typeface="Arial Black"/>
                <a:cs typeface="Arial Black"/>
              </a:rPr>
              <a:t>rules</a:t>
            </a:r>
            <a:r>
              <a:rPr dirty="0" sz="1350" spc="-8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350" spc="-50">
                <a:solidFill>
                  <a:srgbClr val="0F0F0F"/>
                </a:solidFill>
                <a:latin typeface="Arial Black"/>
                <a:cs typeface="Arial Black"/>
              </a:rPr>
              <a:t>=</a:t>
            </a:r>
            <a:endParaRPr sz="1350">
              <a:latin typeface="Arial Black"/>
              <a:cs typeface="Arial Black"/>
            </a:endParaRPr>
          </a:p>
          <a:p>
            <a:pPr marL="19685">
              <a:lnSpc>
                <a:spcPts val="1470"/>
              </a:lnSpc>
            </a:pPr>
            <a:r>
              <a:rPr dirty="0" sz="1250" spc="-254">
                <a:solidFill>
                  <a:srgbClr val="01082A"/>
                </a:solidFill>
                <a:latin typeface="Arial Black"/>
                <a:cs typeface="Arial Black"/>
              </a:rPr>
              <a:t>your</a:t>
            </a:r>
            <a:r>
              <a:rPr dirty="0" sz="1250" spc="-45">
                <a:solidFill>
                  <a:srgbClr val="01082A"/>
                </a:solidFill>
                <a:latin typeface="Arial Black"/>
                <a:cs typeface="Arial Black"/>
              </a:rPr>
              <a:t> </a:t>
            </a:r>
            <a:r>
              <a:rPr dirty="0" sz="1250" spc="-215">
                <a:solidFill>
                  <a:srgbClr val="1A1A1A"/>
                </a:solidFill>
                <a:latin typeface="Arial Black"/>
                <a:cs typeface="Arial Black"/>
              </a:rPr>
              <a:t>building</a:t>
            </a:r>
            <a:r>
              <a:rPr dirty="0" sz="1250" spc="-5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250" spc="-295">
                <a:solidFill>
                  <a:srgbClr val="0F0F0F"/>
                </a:solidFill>
                <a:latin typeface="Arial Black"/>
                <a:cs typeface="Arial Black"/>
              </a:rPr>
              <a:t>code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28499" y="2473523"/>
            <a:ext cx="847090" cy="4013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4604" marR="5080" indent="-2540">
              <a:lnSpc>
                <a:spcPts val="1460"/>
              </a:lnSpc>
              <a:spcBef>
                <a:spcPts val="175"/>
              </a:spcBef>
            </a:pPr>
            <a:r>
              <a:rPr dirty="0" sz="1250" spc="-65">
                <a:solidFill>
                  <a:srgbClr val="030303"/>
                </a:solidFill>
                <a:latin typeface="Cambria"/>
                <a:cs typeface="Cambria"/>
              </a:rPr>
              <a:t>Toois</a:t>
            </a:r>
            <a:r>
              <a:rPr dirty="0" sz="1250" spc="-35">
                <a:solidFill>
                  <a:srgbClr val="030303"/>
                </a:solidFill>
                <a:latin typeface="Cambria"/>
                <a:cs typeface="Cambria"/>
              </a:rPr>
              <a:t> </a:t>
            </a:r>
            <a:r>
              <a:rPr dirty="0" sz="1250" spc="-40">
                <a:solidFill>
                  <a:srgbClr val="050505"/>
                </a:solidFill>
                <a:latin typeface="Cambria"/>
                <a:cs typeface="Cambria"/>
              </a:rPr>
              <a:t>change </a:t>
            </a:r>
            <a:r>
              <a:rPr dirty="0" sz="1250" spc="-65">
                <a:solidFill>
                  <a:srgbClr val="0E0E0E"/>
                </a:solidFill>
                <a:latin typeface="Cambria"/>
                <a:cs typeface="Cambria"/>
              </a:rPr>
              <a:t>every</a:t>
            </a:r>
            <a:r>
              <a:rPr dirty="0" sz="1250" spc="-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1250" spc="-20">
                <a:solidFill>
                  <a:srgbClr val="111111"/>
                </a:solidFill>
                <a:latin typeface="Cambria"/>
                <a:cs typeface="Cambria"/>
              </a:rPr>
              <a:t>year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30421" y="3075101"/>
            <a:ext cx="126555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 marR="5080" indent="-1905">
              <a:lnSpc>
                <a:spcPct val="100000"/>
              </a:lnSpc>
              <a:spcBef>
                <a:spcPts val="95"/>
              </a:spcBef>
            </a:pPr>
            <a:r>
              <a:rPr dirty="0" sz="1250" spc="-65">
                <a:solidFill>
                  <a:srgbClr val="161616"/>
                </a:solidFill>
                <a:latin typeface="Cambria"/>
                <a:cs typeface="Cambria"/>
              </a:rPr>
              <a:t>Structural</a:t>
            </a:r>
            <a:r>
              <a:rPr dirty="0" sz="1250" spc="6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1250" spc="-75">
                <a:solidFill>
                  <a:srgbClr val="0A152F"/>
                </a:solidFill>
                <a:latin typeface="Cambria"/>
                <a:cs typeface="Cambria"/>
              </a:rPr>
              <a:t>principles</a:t>
            </a:r>
            <a:r>
              <a:rPr dirty="0" sz="1250" spc="-60">
                <a:solidFill>
                  <a:srgbClr val="0A152F"/>
                </a:solidFill>
                <a:latin typeface="Cambria"/>
                <a:cs typeface="Cambria"/>
              </a:rPr>
              <a:t> </a:t>
            </a:r>
            <a:r>
              <a:rPr dirty="0" sz="1250" spc="-60">
                <a:solidFill>
                  <a:srgbClr val="000311"/>
                </a:solidFill>
                <a:latin typeface="Cambria"/>
                <a:cs typeface="Cambria"/>
              </a:rPr>
              <a:t>stay</a:t>
            </a:r>
            <a:r>
              <a:rPr dirty="0" sz="1250">
                <a:solidFill>
                  <a:srgbClr val="000311"/>
                </a:solidFill>
                <a:latin typeface="Cambria"/>
                <a:cs typeface="Cambria"/>
              </a:rPr>
              <a:t> </a:t>
            </a:r>
            <a:r>
              <a:rPr dirty="0" sz="1250" spc="-45">
                <a:solidFill>
                  <a:srgbClr val="2F2F2F"/>
                </a:solidFill>
                <a:latin typeface="Cambria"/>
                <a:cs typeface="Cambria"/>
              </a:rPr>
              <a:t>the</a:t>
            </a:r>
            <a:r>
              <a:rPr dirty="0" sz="1250" spc="-15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1250" spc="-20">
                <a:latin typeface="Cambria"/>
                <a:cs typeface="Cambria"/>
              </a:rPr>
              <a:t>same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0709" y="4033678"/>
            <a:ext cx="65532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111111"/>
                </a:solidFill>
                <a:latin typeface="Times New Roman"/>
                <a:cs typeface="Times New Roman"/>
              </a:rPr>
              <a:t>Tools</a:t>
            </a:r>
            <a:r>
              <a:rPr dirty="0" sz="90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change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76848" y="4064364"/>
            <a:ext cx="48260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150">
                <a:solidFill>
                  <a:srgbClr val="1A1A1A"/>
                </a:solidFill>
                <a:latin typeface="Arial Black"/>
                <a:cs typeface="Arial Black"/>
              </a:rPr>
              <a:t>Rules</a:t>
            </a:r>
            <a:r>
              <a:rPr dirty="0" sz="850" spc="-2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850" spc="-120">
                <a:solidFill>
                  <a:srgbClr val="0F0F0F"/>
                </a:solidFill>
                <a:latin typeface="Arial Black"/>
                <a:cs typeface="Arial Black"/>
              </a:rPr>
              <a:t>stay</a:t>
            </a:r>
            <a:endParaRPr sz="8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176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The</a:t>
            </a:r>
            <a:r>
              <a:rPr dirty="0" sz="2400" spc="-45"/>
              <a:t> </a:t>
            </a:r>
            <a:r>
              <a:rPr dirty="0" sz="2400"/>
              <a:t>7</a:t>
            </a:r>
            <a:r>
              <a:rPr dirty="0" sz="2400" spc="-45"/>
              <a:t> </a:t>
            </a:r>
            <a:r>
              <a:rPr dirty="0" sz="2400"/>
              <a:t>Golden</a:t>
            </a:r>
            <a:r>
              <a:rPr dirty="0" sz="2400" spc="-45"/>
              <a:t> </a:t>
            </a:r>
            <a:r>
              <a:rPr dirty="0" sz="2400"/>
              <a:t>Rules</a:t>
            </a:r>
            <a:r>
              <a:rPr dirty="0" sz="2400" spc="-40"/>
              <a:t> </a:t>
            </a:r>
            <a:r>
              <a:rPr dirty="0" sz="2400"/>
              <a:t>(1–</a:t>
            </a:r>
            <a:r>
              <a:rPr dirty="0" sz="2400" spc="-25"/>
              <a:t>4)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731519" y="960119"/>
            <a:ext cx="7680959" cy="822960"/>
            <a:chOff x="731519" y="960119"/>
            <a:chExt cx="7680959" cy="822960"/>
          </a:xfrm>
        </p:grpSpPr>
        <p:sp>
          <p:nvSpPr>
            <p:cNvPr id="4" name="object 4"/>
            <p:cNvSpPr/>
            <p:nvPr/>
          </p:nvSpPr>
          <p:spPr>
            <a:xfrm>
              <a:off x="786383" y="960119"/>
              <a:ext cx="7626350" cy="822960"/>
            </a:xfrm>
            <a:custGeom>
              <a:avLst/>
              <a:gdLst/>
              <a:ahLst/>
              <a:cxnLst/>
              <a:rect l="l" t="t" r="r" b="b"/>
              <a:pathLst>
                <a:path w="7626350" h="822960">
                  <a:moveTo>
                    <a:pt x="0" y="822959"/>
                  </a:moveTo>
                  <a:lnTo>
                    <a:pt x="7626095" y="82295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FFF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19" y="960119"/>
              <a:ext cx="55244" cy="822960"/>
            </a:xfrm>
            <a:custGeom>
              <a:avLst/>
              <a:gdLst/>
              <a:ahLst/>
              <a:cxnLst/>
              <a:rect l="l" t="t" r="r" b="b"/>
              <a:pathLst>
                <a:path w="55245" h="822960">
                  <a:moveTo>
                    <a:pt x="54863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82295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91565" y="980947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F97316"/>
                </a:solidFill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8765" y="1058672"/>
            <a:ext cx="20910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Human</a:t>
            </a: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is</a:t>
            </a: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always</a:t>
            </a:r>
            <a:r>
              <a:rPr dirty="0" sz="1500" spc="-1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in</a:t>
            </a: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charge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8765" y="1439672"/>
            <a:ext cx="3976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Every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action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traces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back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human.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never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sets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its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own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goals.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19" y="1965960"/>
            <a:ext cx="7680959" cy="822960"/>
            <a:chOff x="731519" y="1965960"/>
            <a:chExt cx="7680959" cy="822960"/>
          </a:xfrm>
        </p:grpSpPr>
        <p:sp>
          <p:nvSpPr>
            <p:cNvPr id="10" name="object 10"/>
            <p:cNvSpPr/>
            <p:nvPr/>
          </p:nvSpPr>
          <p:spPr>
            <a:xfrm>
              <a:off x="786383" y="1965960"/>
              <a:ext cx="7626350" cy="822960"/>
            </a:xfrm>
            <a:custGeom>
              <a:avLst/>
              <a:gdLst/>
              <a:ahLst/>
              <a:cxnLst/>
              <a:rect l="l" t="t" r="r" b="b"/>
              <a:pathLst>
                <a:path w="7626350" h="822960">
                  <a:moveTo>
                    <a:pt x="0" y="822959"/>
                  </a:moveTo>
                  <a:lnTo>
                    <a:pt x="7626095" y="82295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1519" y="1965960"/>
              <a:ext cx="55244" cy="822960"/>
            </a:xfrm>
            <a:custGeom>
              <a:avLst/>
              <a:gdLst/>
              <a:ahLst/>
              <a:cxnLst/>
              <a:rect l="l" t="t" r="r" b="b"/>
              <a:pathLst>
                <a:path w="55245" h="822960">
                  <a:moveTo>
                    <a:pt x="54863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822959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91565" y="1986788"/>
            <a:ext cx="183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4F46E4"/>
                </a:solidFill>
                <a:latin typeface="Georgia"/>
                <a:cs typeface="Georgia"/>
              </a:rPr>
              <a:t>2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8765" y="2064512"/>
            <a:ext cx="31769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Every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human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gets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a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delegate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(identic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1E293B"/>
                </a:solidFill>
                <a:latin typeface="Calibri"/>
                <a:cs typeface="Calibri"/>
              </a:rPr>
              <a:t>AI)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8765" y="2445512"/>
            <a:ext cx="4057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You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can't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manage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20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workers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by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hand.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Your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delegate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coordinates.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1519" y="2971800"/>
            <a:ext cx="7680959" cy="822960"/>
            <a:chOff x="731519" y="2971800"/>
            <a:chExt cx="7680959" cy="822960"/>
          </a:xfrm>
        </p:grpSpPr>
        <p:sp>
          <p:nvSpPr>
            <p:cNvPr id="16" name="object 16"/>
            <p:cNvSpPr/>
            <p:nvPr/>
          </p:nvSpPr>
          <p:spPr>
            <a:xfrm>
              <a:off x="786383" y="2971800"/>
              <a:ext cx="7626350" cy="822960"/>
            </a:xfrm>
            <a:custGeom>
              <a:avLst/>
              <a:gdLst/>
              <a:ahLst/>
              <a:cxnLst/>
              <a:rect l="l" t="t" r="r" b="b"/>
              <a:pathLst>
                <a:path w="7626350" h="822960">
                  <a:moveTo>
                    <a:pt x="0" y="822959"/>
                  </a:moveTo>
                  <a:lnTo>
                    <a:pt x="7626095" y="82295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1519" y="2971800"/>
              <a:ext cx="55244" cy="822960"/>
            </a:xfrm>
            <a:custGeom>
              <a:avLst/>
              <a:gdLst/>
              <a:ahLst/>
              <a:cxnLst/>
              <a:rect l="l" t="t" r="r" b="b"/>
              <a:pathLst>
                <a:path w="55245" h="822960">
                  <a:moveTo>
                    <a:pt x="54863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82295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91565" y="2992628"/>
            <a:ext cx="180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0D9488"/>
                </a:solidFill>
                <a:latin typeface="Georgia"/>
                <a:cs typeface="Georgia"/>
              </a:rPr>
              <a:t>3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8765" y="3070352"/>
            <a:ext cx="3011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Workforce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needs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a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management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layer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8765" y="3451352"/>
            <a:ext cx="4362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Someone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hires,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assigns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tasks,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controls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budgets,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fires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underperformers.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1519" y="3977640"/>
            <a:ext cx="7680959" cy="822960"/>
            <a:chOff x="731519" y="3977640"/>
            <a:chExt cx="7680959" cy="822960"/>
          </a:xfrm>
        </p:grpSpPr>
        <p:sp>
          <p:nvSpPr>
            <p:cNvPr id="22" name="object 22"/>
            <p:cNvSpPr/>
            <p:nvPr/>
          </p:nvSpPr>
          <p:spPr>
            <a:xfrm>
              <a:off x="786383" y="3977640"/>
              <a:ext cx="7626350" cy="822960"/>
            </a:xfrm>
            <a:custGeom>
              <a:avLst/>
              <a:gdLst/>
              <a:ahLst/>
              <a:cxnLst/>
              <a:rect l="l" t="t" r="r" b="b"/>
              <a:pathLst>
                <a:path w="7626350" h="822960">
                  <a:moveTo>
                    <a:pt x="0" y="822959"/>
                  </a:moveTo>
                  <a:lnTo>
                    <a:pt x="7626095" y="82295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FF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31519" y="3977640"/>
              <a:ext cx="55244" cy="822960"/>
            </a:xfrm>
            <a:custGeom>
              <a:avLst/>
              <a:gdLst/>
              <a:ahLst/>
              <a:cxnLst/>
              <a:rect l="l" t="t" r="r" b="b"/>
              <a:pathLst>
                <a:path w="55245" h="822960">
                  <a:moveTo>
                    <a:pt x="54863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82295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91565" y="3998467"/>
            <a:ext cx="185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E11C48"/>
                </a:solidFill>
                <a:latin typeface="Georgia"/>
                <a:cs typeface="Georgia"/>
              </a:rPr>
              <a:t>4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8765" y="4076192"/>
            <a:ext cx="26708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Each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worker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uses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right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engine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48765" y="4457192"/>
            <a:ext cx="38823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Important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work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=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reliable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engine.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Simple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work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=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cheap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engine.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176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The</a:t>
            </a:r>
            <a:r>
              <a:rPr dirty="0" sz="2400" spc="-45"/>
              <a:t> </a:t>
            </a:r>
            <a:r>
              <a:rPr dirty="0" sz="2400"/>
              <a:t>7</a:t>
            </a:r>
            <a:r>
              <a:rPr dirty="0" sz="2400" spc="-45"/>
              <a:t> </a:t>
            </a:r>
            <a:r>
              <a:rPr dirty="0" sz="2400"/>
              <a:t>Golden</a:t>
            </a:r>
            <a:r>
              <a:rPr dirty="0" sz="2400" spc="-45"/>
              <a:t> </a:t>
            </a:r>
            <a:r>
              <a:rPr dirty="0" sz="2400"/>
              <a:t>Rules</a:t>
            </a:r>
            <a:r>
              <a:rPr dirty="0" sz="2400" spc="-40"/>
              <a:t> </a:t>
            </a:r>
            <a:r>
              <a:rPr dirty="0" sz="2400"/>
              <a:t>(5–</a:t>
            </a:r>
            <a:r>
              <a:rPr dirty="0" sz="2400" spc="-25"/>
              <a:t>7)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731519" y="960119"/>
            <a:ext cx="7680959" cy="1005840"/>
            <a:chOff x="731519" y="960119"/>
            <a:chExt cx="7680959" cy="1005840"/>
          </a:xfrm>
        </p:grpSpPr>
        <p:sp>
          <p:nvSpPr>
            <p:cNvPr id="4" name="object 4"/>
            <p:cNvSpPr/>
            <p:nvPr/>
          </p:nvSpPr>
          <p:spPr>
            <a:xfrm>
              <a:off x="786383" y="960119"/>
              <a:ext cx="7626350" cy="1005840"/>
            </a:xfrm>
            <a:custGeom>
              <a:avLst/>
              <a:gdLst/>
              <a:ahLst/>
              <a:cxnLst/>
              <a:rect l="l" t="t" r="r" b="b"/>
              <a:pathLst>
                <a:path w="7626350" h="1005839">
                  <a:moveTo>
                    <a:pt x="0" y="1005839"/>
                  </a:moveTo>
                  <a:lnTo>
                    <a:pt x="7626095" y="100583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19" y="960119"/>
              <a:ext cx="55244" cy="1005840"/>
            </a:xfrm>
            <a:custGeom>
              <a:avLst/>
              <a:gdLst/>
              <a:ahLst/>
              <a:cxnLst/>
              <a:rect l="l" t="t" r="r" b="b"/>
              <a:pathLst>
                <a:path w="55245" h="1005839">
                  <a:moveTo>
                    <a:pt x="54863" y="1005839"/>
                  </a:moveTo>
                  <a:lnTo>
                    <a:pt x="0" y="100583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05839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91565" y="1026667"/>
            <a:ext cx="173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16A34A"/>
                </a:solidFill>
                <a:latin typeface="Georgia"/>
                <a:cs typeface="Georgia"/>
              </a:rPr>
              <a:t>5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8765" y="1099820"/>
            <a:ext cx="2927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Every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worker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uses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a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system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of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record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8765" y="1558544"/>
            <a:ext cx="5264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2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workers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 read/write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company's official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memory.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Without</a:t>
            </a:r>
            <a:r>
              <a:rPr dirty="0" sz="12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it,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 makes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things</a:t>
            </a:r>
            <a:r>
              <a:rPr dirty="0" sz="12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up.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19" y="2148839"/>
            <a:ext cx="7680959" cy="1005840"/>
            <a:chOff x="731519" y="2148839"/>
            <a:chExt cx="7680959" cy="1005840"/>
          </a:xfrm>
        </p:grpSpPr>
        <p:sp>
          <p:nvSpPr>
            <p:cNvPr id="10" name="object 10"/>
            <p:cNvSpPr/>
            <p:nvPr/>
          </p:nvSpPr>
          <p:spPr>
            <a:xfrm>
              <a:off x="786383" y="2148839"/>
              <a:ext cx="7626350" cy="1005840"/>
            </a:xfrm>
            <a:custGeom>
              <a:avLst/>
              <a:gdLst/>
              <a:ahLst/>
              <a:cxnLst/>
              <a:rect l="l" t="t" r="r" b="b"/>
              <a:pathLst>
                <a:path w="7626350" h="1005839">
                  <a:moveTo>
                    <a:pt x="0" y="1005839"/>
                  </a:moveTo>
                  <a:lnTo>
                    <a:pt x="7626095" y="100583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solidFill>
              <a:srgbClr val="FFF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1519" y="2148839"/>
              <a:ext cx="55244" cy="1005840"/>
            </a:xfrm>
            <a:custGeom>
              <a:avLst/>
              <a:gdLst/>
              <a:ahLst/>
              <a:cxnLst/>
              <a:rect l="l" t="t" r="r" b="b"/>
              <a:pathLst>
                <a:path w="55245" h="1005839">
                  <a:moveTo>
                    <a:pt x="54863" y="1005839"/>
                  </a:moveTo>
                  <a:lnTo>
                    <a:pt x="0" y="100583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0583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91565" y="2215388"/>
            <a:ext cx="185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F97316"/>
                </a:solidFill>
                <a:latin typeface="Georgia"/>
                <a:cs typeface="Georgia"/>
              </a:rPr>
              <a:t>6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8765" y="2288540"/>
            <a:ext cx="25438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Workforce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can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grow</a:t>
            </a:r>
            <a:r>
              <a:rPr dirty="0" sz="15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under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rules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8765" y="2747264"/>
            <a:ext cx="5804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When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gap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appears,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system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hires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new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worker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automatically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—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within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human-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set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limits.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1519" y="3337559"/>
            <a:ext cx="7680959" cy="1005840"/>
            <a:chOff x="731519" y="3337559"/>
            <a:chExt cx="7680959" cy="1005840"/>
          </a:xfrm>
        </p:grpSpPr>
        <p:sp>
          <p:nvSpPr>
            <p:cNvPr id="16" name="object 16"/>
            <p:cNvSpPr/>
            <p:nvPr/>
          </p:nvSpPr>
          <p:spPr>
            <a:xfrm>
              <a:off x="786383" y="3337559"/>
              <a:ext cx="7626350" cy="1005840"/>
            </a:xfrm>
            <a:custGeom>
              <a:avLst/>
              <a:gdLst/>
              <a:ahLst/>
              <a:cxnLst/>
              <a:rect l="l" t="t" r="r" b="b"/>
              <a:pathLst>
                <a:path w="7626350" h="1005839">
                  <a:moveTo>
                    <a:pt x="0" y="1005839"/>
                  </a:moveTo>
                  <a:lnTo>
                    <a:pt x="7626095" y="100583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1519" y="3337559"/>
              <a:ext cx="55244" cy="1005840"/>
            </a:xfrm>
            <a:custGeom>
              <a:avLst/>
              <a:gdLst/>
              <a:ahLst/>
              <a:cxnLst/>
              <a:rect l="l" t="t" r="r" b="b"/>
              <a:pathLst>
                <a:path w="55245" h="1005839">
                  <a:moveTo>
                    <a:pt x="54863" y="1005839"/>
                  </a:moveTo>
                  <a:lnTo>
                    <a:pt x="0" y="100583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05839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91565" y="3404108"/>
            <a:ext cx="166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4F46E4"/>
                </a:solidFill>
                <a:latin typeface="Georgia"/>
                <a:cs typeface="Georgia"/>
              </a:rPr>
              <a:t>7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8765" y="3418205"/>
            <a:ext cx="6475095" cy="909319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Company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runs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on</a:t>
            </a:r>
            <a:r>
              <a:rPr dirty="0" sz="1500" spc="-3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a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nervous</a:t>
            </a:r>
            <a:r>
              <a:rPr dirty="0" sz="15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system</a:t>
            </a:r>
            <a:endParaRPr sz="150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  <a:spcBef>
                <a:spcPts val="37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Just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like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your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body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sends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signals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automatically,"hand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touched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something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hot,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pull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back!"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company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sends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work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between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workers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automatically.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No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human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needed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pass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tasks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along.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if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something breaks,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system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recovers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on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its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own.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6000" y="4343389"/>
            <a:ext cx="4572000" cy="457200"/>
          </a:xfrm>
          <a:prstGeom prst="rect">
            <a:avLst/>
          </a:prstGeom>
          <a:solidFill>
            <a:srgbClr val="CCFAF1"/>
          </a:solidFill>
        </p:spPr>
        <p:txBody>
          <a:bodyPr wrap="square" lIns="0" tIns="660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2000" i="1">
                <a:solidFill>
                  <a:srgbClr val="0F766E"/>
                </a:solidFill>
                <a:latin typeface="Georgia"/>
                <a:cs typeface="Georgia"/>
              </a:rPr>
              <a:t>Tools</a:t>
            </a:r>
            <a:r>
              <a:rPr dirty="0" sz="2000" spc="-70" i="1">
                <a:solidFill>
                  <a:srgbClr val="0F766E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0F766E"/>
                </a:solidFill>
                <a:latin typeface="Georgia"/>
                <a:cs typeface="Georgia"/>
              </a:rPr>
              <a:t>change.</a:t>
            </a:r>
            <a:r>
              <a:rPr dirty="0" sz="2000" spc="-70" i="1">
                <a:solidFill>
                  <a:srgbClr val="0F766E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0F766E"/>
                </a:solidFill>
                <a:latin typeface="Georgia"/>
                <a:cs typeface="Georgia"/>
              </a:rPr>
              <a:t>Rules</a:t>
            </a:r>
            <a:r>
              <a:rPr dirty="0" sz="2000" spc="-65" i="1">
                <a:solidFill>
                  <a:srgbClr val="0F766E"/>
                </a:solidFill>
                <a:latin typeface="Georgia"/>
                <a:cs typeface="Georgia"/>
              </a:rPr>
              <a:t> </a:t>
            </a:r>
            <a:r>
              <a:rPr dirty="0" sz="2000" spc="-10" i="1">
                <a:solidFill>
                  <a:srgbClr val="0F766E"/>
                </a:solidFill>
                <a:latin typeface="Georgia"/>
                <a:cs typeface="Georgia"/>
              </a:rPr>
              <a:t>stay.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116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10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374396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A</a:t>
            </a:r>
            <a:r>
              <a:rPr dirty="0" sz="4000" spc="-7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Real</a:t>
            </a:r>
            <a:r>
              <a:rPr dirty="0" sz="4000" spc="-6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Example: </a:t>
            </a:r>
            <a:r>
              <a:rPr dirty="0" sz="4000">
                <a:solidFill>
                  <a:srgbClr val="FFFFFF"/>
                </a:solidFill>
              </a:rPr>
              <a:t>Ecomm</a:t>
            </a:r>
            <a:r>
              <a:rPr dirty="0" sz="4000" spc="-165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Mart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432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/>
              <a:t>Building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Support</a:t>
            </a:r>
            <a:r>
              <a:rPr dirty="0" spc="-70"/>
              <a:t> </a:t>
            </a:r>
            <a:r>
              <a:rPr dirty="0"/>
              <a:t>Worker</a:t>
            </a:r>
            <a:r>
              <a:rPr dirty="0" spc="-75"/>
              <a:t> </a:t>
            </a:r>
            <a:r>
              <a:rPr dirty="0"/>
              <a:t>(Steps</a:t>
            </a:r>
            <a:r>
              <a:rPr dirty="0" spc="-70"/>
              <a:t> </a:t>
            </a:r>
            <a:r>
              <a:rPr dirty="0" spc="-20"/>
              <a:t>1–</a:t>
            </a:r>
            <a:r>
              <a:rPr dirty="0" spc="-25"/>
              <a:t>3)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1519" y="1005839"/>
            <a:ext cx="7680959" cy="1097280"/>
            <a:chOff x="731519" y="1005839"/>
            <a:chExt cx="7680959" cy="1097280"/>
          </a:xfrm>
        </p:grpSpPr>
        <p:sp>
          <p:nvSpPr>
            <p:cNvPr id="4" name="object 4"/>
            <p:cNvSpPr/>
            <p:nvPr/>
          </p:nvSpPr>
          <p:spPr>
            <a:xfrm>
              <a:off x="786383" y="1005839"/>
              <a:ext cx="7626350" cy="1097280"/>
            </a:xfrm>
            <a:custGeom>
              <a:avLst/>
              <a:gdLst/>
              <a:ahLst/>
              <a:cxnLst/>
              <a:rect l="l" t="t" r="r" b="b"/>
              <a:pathLst>
                <a:path w="7626350" h="1097280">
                  <a:moveTo>
                    <a:pt x="0" y="1097279"/>
                  </a:moveTo>
                  <a:lnTo>
                    <a:pt x="7626095" y="109727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solidFill>
              <a:srgbClr val="FFF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19" y="1005839"/>
              <a:ext cx="55244" cy="1097280"/>
            </a:xfrm>
            <a:custGeom>
              <a:avLst/>
              <a:gdLst/>
              <a:ahLst/>
              <a:cxnLst/>
              <a:rect l="l" t="t" r="r" b="b"/>
              <a:pathLst>
                <a:path w="55245" h="1097280">
                  <a:moveTo>
                    <a:pt x="54863" y="1097279"/>
                  </a:moveTo>
                  <a:lnTo>
                    <a:pt x="0" y="109727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9727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91565" y="1132332"/>
            <a:ext cx="473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97316"/>
                </a:solidFill>
                <a:latin typeface="Consolas"/>
                <a:cs typeface="Consolas"/>
              </a:rPr>
              <a:t>Step</a:t>
            </a:r>
            <a:r>
              <a:rPr dirty="0" sz="1100" spc="-20" b="1">
                <a:solidFill>
                  <a:srgbClr val="F97316"/>
                </a:solidFill>
                <a:latin typeface="Consolas"/>
                <a:cs typeface="Consolas"/>
              </a:rPr>
              <a:t> </a:t>
            </a:r>
            <a:r>
              <a:rPr dirty="0" sz="1100" spc="-50" b="1">
                <a:solidFill>
                  <a:srgbClr val="F97316"/>
                </a:solidFill>
                <a:latin typeface="Consolas"/>
                <a:cs typeface="Consolas"/>
              </a:rPr>
              <a:t>1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8845" y="1099820"/>
            <a:ext cx="187896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Write</a:t>
            </a:r>
            <a:r>
              <a:rPr dirty="0" sz="1500" spc="-4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Clear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Instructions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845" y="1535684"/>
            <a:ext cx="5499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Define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goal: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read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tickets,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classify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them,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write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replies,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escalate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hard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cases.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Set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budget: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$200/month</a:t>
            </a:r>
            <a:r>
              <a:rPr dirty="0" sz="1200" spc="-1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max.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19" y="2286000"/>
            <a:ext cx="7680959" cy="1097280"/>
            <a:chOff x="731519" y="2286000"/>
            <a:chExt cx="7680959" cy="1097280"/>
          </a:xfrm>
        </p:grpSpPr>
        <p:sp>
          <p:nvSpPr>
            <p:cNvPr id="10" name="object 10"/>
            <p:cNvSpPr/>
            <p:nvPr/>
          </p:nvSpPr>
          <p:spPr>
            <a:xfrm>
              <a:off x="786383" y="2286000"/>
              <a:ext cx="7626350" cy="1097280"/>
            </a:xfrm>
            <a:custGeom>
              <a:avLst/>
              <a:gdLst/>
              <a:ahLst/>
              <a:cxnLst/>
              <a:rect l="l" t="t" r="r" b="b"/>
              <a:pathLst>
                <a:path w="7626350" h="1097279">
                  <a:moveTo>
                    <a:pt x="0" y="1097279"/>
                  </a:moveTo>
                  <a:lnTo>
                    <a:pt x="7626095" y="109727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1519" y="2286000"/>
              <a:ext cx="55244" cy="1097280"/>
            </a:xfrm>
            <a:custGeom>
              <a:avLst/>
              <a:gdLst/>
              <a:ahLst/>
              <a:cxnLst/>
              <a:rect l="l" t="t" r="r" b="b"/>
              <a:pathLst>
                <a:path w="55245" h="1097279">
                  <a:moveTo>
                    <a:pt x="54863" y="1097279"/>
                  </a:moveTo>
                  <a:lnTo>
                    <a:pt x="0" y="109727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97279"/>
                  </a:lnTo>
                  <a:close/>
                </a:path>
              </a:pathLst>
            </a:custGeom>
            <a:solidFill>
              <a:srgbClr val="4F4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91565" y="2412492"/>
            <a:ext cx="473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4F46E4"/>
                </a:solidFill>
                <a:latin typeface="Consolas"/>
                <a:cs typeface="Consolas"/>
              </a:rPr>
              <a:t>Step</a:t>
            </a:r>
            <a:r>
              <a:rPr dirty="0" sz="1100" spc="-20" b="1">
                <a:solidFill>
                  <a:srgbClr val="4F46E4"/>
                </a:solidFill>
                <a:latin typeface="Consolas"/>
                <a:cs typeface="Consolas"/>
              </a:rPr>
              <a:t> </a:t>
            </a:r>
            <a:r>
              <a:rPr dirty="0" sz="1100" spc="-50" b="1">
                <a:solidFill>
                  <a:srgbClr val="4F46E4"/>
                </a:solidFill>
                <a:latin typeface="Consolas"/>
                <a:cs typeface="Consolas"/>
              </a:rPr>
              <a:t>2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845" y="2379980"/>
            <a:ext cx="23241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Connect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to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Company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Records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8845" y="2907284"/>
            <a:ext cx="5683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Link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Shopify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orders,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customer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database,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ticket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system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so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can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look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up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real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1519" y="3566159"/>
            <a:ext cx="7680959" cy="1097280"/>
            <a:chOff x="731519" y="3566159"/>
            <a:chExt cx="7680959" cy="1097280"/>
          </a:xfrm>
        </p:grpSpPr>
        <p:sp>
          <p:nvSpPr>
            <p:cNvPr id="16" name="object 16"/>
            <p:cNvSpPr/>
            <p:nvPr/>
          </p:nvSpPr>
          <p:spPr>
            <a:xfrm>
              <a:off x="786383" y="3566159"/>
              <a:ext cx="7626350" cy="1097280"/>
            </a:xfrm>
            <a:custGeom>
              <a:avLst/>
              <a:gdLst/>
              <a:ahLst/>
              <a:cxnLst/>
              <a:rect l="l" t="t" r="r" b="b"/>
              <a:pathLst>
                <a:path w="7626350" h="1097279">
                  <a:moveTo>
                    <a:pt x="0" y="1097279"/>
                  </a:moveTo>
                  <a:lnTo>
                    <a:pt x="7626095" y="109727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1519" y="3566159"/>
              <a:ext cx="55244" cy="1097280"/>
            </a:xfrm>
            <a:custGeom>
              <a:avLst/>
              <a:gdLst/>
              <a:ahLst/>
              <a:cxnLst/>
              <a:rect l="l" t="t" r="r" b="b"/>
              <a:pathLst>
                <a:path w="55245" h="1097279">
                  <a:moveTo>
                    <a:pt x="54863" y="1097279"/>
                  </a:moveTo>
                  <a:lnTo>
                    <a:pt x="0" y="109727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9727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91565" y="3692652"/>
            <a:ext cx="473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9488"/>
                </a:solidFill>
                <a:latin typeface="Consolas"/>
                <a:cs typeface="Consolas"/>
              </a:rPr>
              <a:t>Step</a:t>
            </a:r>
            <a:r>
              <a:rPr dirty="0" sz="11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100" spc="-50" b="1">
                <a:solidFill>
                  <a:srgbClr val="0D9488"/>
                </a:solidFill>
                <a:latin typeface="Consolas"/>
                <a:cs typeface="Consolas"/>
              </a:rPr>
              <a:t>3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8845" y="3660140"/>
            <a:ext cx="9645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Give</a:t>
            </a:r>
            <a:r>
              <a:rPr dirty="0" sz="15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It</a:t>
            </a:r>
            <a:r>
              <a:rPr dirty="0" sz="15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Skills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88845" y="4096004"/>
            <a:ext cx="5538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Teach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it: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how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write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professional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replies,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how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classify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tickets,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when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escalate.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Like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475568"/>
                </a:solidFill>
                <a:latin typeface="Calibri"/>
                <a:cs typeface="Calibri"/>
              </a:rPr>
              <a:t>a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training</a:t>
            </a:r>
            <a:r>
              <a:rPr dirty="0" sz="1200" spc="-6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manual.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432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/>
              <a:t>Building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Support</a:t>
            </a:r>
            <a:r>
              <a:rPr dirty="0" spc="-75"/>
              <a:t> </a:t>
            </a:r>
            <a:r>
              <a:rPr dirty="0"/>
              <a:t>Worker</a:t>
            </a:r>
            <a:r>
              <a:rPr dirty="0" spc="-75"/>
              <a:t> </a:t>
            </a:r>
            <a:r>
              <a:rPr dirty="0"/>
              <a:t>(Steps</a:t>
            </a:r>
            <a:r>
              <a:rPr dirty="0" spc="-75"/>
              <a:t> </a:t>
            </a:r>
            <a:r>
              <a:rPr dirty="0"/>
              <a:t>4–</a:t>
            </a:r>
            <a:r>
              <a:rPr dirty="0" spc="-25"/>
              <a:t>5)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1519" y="1005839"/>
            <a:ext cx="7680959" cy="1097280"/>
            <a:chOff x="731519" y="1005839"/>
            <a:chExt cx="7680959" cy="1097280"/>
          </a:xfrm>
        </p:grpSpPr>
        <p:sp>
          <p:nvSpPr>
            <p:cNvPr id="4" name="object 4"/>
            <p:cNvSpPr/>
            <p:nvPr/>
          </p:nvSpPr>
          <p:spPr>
            <a:xfrm>
              <a:off x="786383" y="1005839"/>
              <a:ext cx="7626350" cy="1097280"/>
            </a:xfrm>
            <a:custGeom>
              <a:avLst/>
              <a:gdLst/>
              <a:ahLst/>
              <a:cxnLst/>
              <a:rect l="l" t="t" r="r" b="b"/>
              <a:pathLst>
                <a:path w="7626350" h="1097280">
                  <a:moveTo>
                    <a:pt x="0" y="1097279"/>
                  </a:moveTo>
                  <a:lnTo>
                    <a:pt x="7626095" y="109727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solidFill>
              <a:srgbClr val="FF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19" y="1005839"/>
              <a:ext cx="55244" cy="1097280"/>
            </a:xfrm>
            <a:custGeom>
              <a:avLst/>
              <a:gdLst/>
              <a:ahLst/>
              <a:cxnLst/>
              <a:rect l="l" t="t" r="r" b="b"/>
              <a:pathLst>
                <a:path w="55245" h="1097280">
                  <a:moveTo>
                    <a:pt x="54863" y="1097279"/>
                  </a:moveTo>
                  <a:lnTo>
                    <a:pt x="0" y="109727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9727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91565" y="1132332"/>
            <a:ext cx="473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E11C48"/>
                </a:solidFill>
                <a:latin typeface="Consolas"/>
                <a:cs typeface="Consolas"/>
              </a:rPr>
              <a:t>Step</a:t>
            </a:r>
            <a:r>
              <a:rPr dirty="0" sz="1100" spc="-20" b="1">
                <a:solidFill>
                  <a:srgbClr val="E11C48"/>
                </a:solidFill>
                <a:latin typeface="Consolas"/>
                <a:cs typeface="Consolas"/>
              </a:rPr>
              <a:t> </a:t>
            </a:r>
            <a:r>
              <a:rPr dirty="0" sz="1100" spc="-50" b="1">
                <a:solidFill>
                  <a:srgbClr val="E11C48"/>
                </a:solidFill>
                <a:latin typeface="Consolas"/>
                <a:cs typeface="Consolas"/>
              </a:rPr>
              <a:t>4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8845" y="1099820"/>
            <a:ext cx="14249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Set</a:t>
            </a:r>
            <a:r>
              <a:rPr dirty="0" sz="15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500" spc="-2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Guardrails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845" y="1535684"/>
            <a:ext cx="5654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Budget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cap,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approval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for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big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refunds,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audit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trail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every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action.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AI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can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never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go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outside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these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limits,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all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will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be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define</a:t>
            </a:r>
            <a:r>
              <a:rPr dirty="0" sz="1200" spc="-3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in</a:t>
            </a:r>
            <a:r>
              <a:rPr dirty="0" sz="1200" spc="-3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specs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19" y="2286000"/>
            <a:ext cx="7680959" cy="1097280"/>
            <a:chOff x="731519" y="2286000"/>
            <a:chExt cx="7680959" cy="1097280"/>
          </a:xfrm>
        </p:grpSpPr>
        <p:sp>
          <p:nvSpPr>
            <p:cNvPr id="10" name="object 10"/>
            <p:cNvSpPr/>
            <p:nvPr/>
          </p:nvSpPr>
          <p:spPr>
            <a:xfrm>
              <a:off x="786383" y="2286000"/>
              <a:ext cx="7626350" cy="1097280"/>
            </a:xfrm>
            <a:custGeom>
              <a:avLst/>
              <a:gdLst/>
              <a:ahLst/>
              <a:cxnLst/>
              <a:rect l="l" t="t" r="r" b="b"/>
              <a:pathLst>
                <a:path w="7626350" h="1097279">
                  <a:moveTo>
                    <a:pt x="0" y="1097279"/>
                  </a:moveTo>
                  <a:lnTo>
                    <a:pt x="7626095" y="109727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1519" y="2286000"/>
              <a:ext cx="55244" cy="1097280"/>
            </a:xfrm>
            <a:custGeom>
              <a:avLst/>
              <a:gdLst/>
              <a:ahLst/>
              <a:cxnLst/>
              <a:rect l="l" t="t" r="r" b="b"/>
              <a:pathLst>
                <a:path w="55245" h="1097279">
                  <a:moveTo>
                    <a:pt x="54863" y="1097279"/>
                  </a:moveTo>
                  <a:lnTo>
                    <a:pt x="0" y="109727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097279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91565" y="2412492"/>
            <a:ext cx="473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6A34A"/>
                </a:solidFill>
                <a:latin typeface="Consolas"/>
                <a:cs typeface="Consolas"/>
              </a:rPr>
              <a:t>Step</a:t>
            </a:r>
            <a:r>
              <a:rPr dirty="0" sz="1100" spc="-20" b="1">
                <a:solidFill>
                  <a:srgbClr val="16A34A"/>
                </a:solidFill>
                <a:latin typeface="Consolas"/>
                <a:cs typeface="Consolas"/>
              </a:rPr>
              <a:t> </a:t>
            </a:r>
            <a:r>
              <a:rPr dirty="0" sz="1100" spc="-50" b="1">
                <a:solidFill>
                  <a:srgbClr val="16A34A"/>
                </a:solidFill>
                <a:latin typeface="Consolas"/>
                <a:cs typeface="Consolas"/>
              </a:rPr>
              <a:t>5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845" y="2379980"/>
            <a:ext cx="14116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1E293B"/>
                </a:solidFill>
                <a:latin typeface="Calibri"/>
                <a:cs typeface="Calibri"/>
              </a:rPr>
              <a:t>Test,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293B"/>
                </a:solidFill>
                <a:latin typeface="Calibri"/>
                <a:cs typeface="Calibri"/>
              </a:rPr>
              <a:t>Then</a:t>
            </a:r>
            <a:r>
              <a:rPr dirty="0" sz="1500" spc="-4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93B"/>
                </a:solidFill>
                <a:latin typeface="Calibri"/>
                <a:cs typeface="Calibri"/>
              </a:rPr>
              <a:t>Deploy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8845" y="2815844"/>
            <a:ext cx="5126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Run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on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100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old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tickets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first.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Check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results.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Fix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problems.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Only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then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let</a:t>
            </a:r>
            <a:r>
              <a:rPr dirty="0" sz="1200" spc="-25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it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8"/>
                </a:solidFill>
                <a:latin typeface="Calibri"/>
                <a:cs typeface="Calibri"/>
              </a:rPr>
              <a:t>handle</a:t>
            </a:r>
            <a:r>
              <a:rPr dirty="0" sz="1200" spc="-20">
                <a:solidFill>
                  <a:srgbClr val="475568"/>
                </a:solidFill>
                <a:latin typeface="Calibri"/>
                <a:cs typeface="Calibri"/>
              </a:rPr>
              <a:t> real </a:t>
            </a:r>
            <a:r>
              <a:rPr dirty="0" sz="1200" spc="-10">
                <a:solidFill>
                  <a:srgbClr val="475568"/>
                </a:solidFill>
                <a:latin typeface="Calibri"/>
                <a:cs typeface="Calibri"/>
              </a:rPr>
              <a:t>customers.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1519" y="3566159"/>
            <a:ext cx="7680959" cy="1188720"/>
            <a:chOff x="731519" y="3566159"/>
            <a:chExt cx="7680959" cy="1188720"/>
          </a:xfrm>
        </p:grpSpPr>
        <p:sp>
          <p:nvSpPr>
            <p:cNvPr id="16" name="object 16"/>
            <p:cNvSpPr/>
            <p:nvPr/>
          </p:nvSpPr>
          <p:spPr>
            <a:xfrm>
              <a:off x="786383" y="3566159"/>
              <a:ext cx="7626350" cy="1188720"/>
            </a:xfrm>
            <a:custGeom>
              <a:avLst/>
              <a:gdLst/>
              <a:ahLst/>
              <a:cxnLst/>
              <a:rect l="l" t="t" r="r" b="b"/>
              <a:pathLst>
                <a:path w="7626350" h="1188720">
                  <a:moveTo>
                    <a:pt x="0" y="1188719"/>
                  </a:moveTo>
                  <a:lnTo>
                    <a:pt x="7626095" y="1188719"/>
                  </a:lnTo>
                  <a:lnTo>
                    <a:pt x="7626095" y="0"/>
                  </a:lnTo>
                  <a:lnTo>
                    <a:pt x="0" y="0"/>
                  </a:lnTo>
                  <a:lnTo>
                    <a:pt x="0" y="118871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1519" y="3566159"/>
              <a:ext cx="55244" cy="1188720"/>
            </a:xfrm>
            <a:custGeom>
              <a:avLst/>
              <a:gdLst/>
              <a:ahLst/>
              <a:cxnLst/>
              <a:rect l="l" t="t" r="r" b="b"/>
              <a:pathLst>
                <a:path w="55245" h="1188720">
                  <a:moveTo>
                    <a:pt x="54863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18871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840" y="3749039"/>
              <a:ext cx="365759" cy="36575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86383" y="3785616"/>
            <a:ext cx="762635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3440" marR="627380">
              <a:lnSpc>
                <a:spcPct val="130000"/>
              </a:lnSpc>
              <a:spcBef>
                <a:spcPts val="100"/>
              </a:spcBef>
            </a:pP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Result: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You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just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built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Digital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FTE</a:t>
            </a:r>
            <a:r>
              <a:rPr dirty="0" sz="1400" spc="-2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—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Full-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Time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Employee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made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of</a:t>
            </a:r>
            <a:r>
              <a:rPr dirty="0" sz="1400" spc="-2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software.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It</a:t>
            </a:r>
            <a:r>
              <a:rPr dirty="0" sz="1400" spc="-3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works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24/7,</a:t>
            </a:r>
            <a:r>
              <a:rPr dirty="0" sz="1400" spc="-4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F766E"/>
                </a:solidFill>
                <a:latin typeface="Calibri"/>
                <a:cs typeface="Calibri"/>
              </a:rPr>
              <a:t>stays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within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rules,</a:t>
            </a:r>
            <a:r>
              <a:rPr dirty="0" sz="1400" spc="-4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handles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80%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F766E"/>
                </a:solidFill>
                <a:latin typeface="Calibri"/>
                <a:cs typeface="Calibri"/>
              </a:rPr>
              <a:t>of</a:t>
            </a:r>
            <a:r>
              <a:rPr dirty="0" sz="1400" spc="-40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support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tickets</a:t>
            </a:r>
            <a:r>
              <a:rPr dirty="0" sz="1400" spc="-35">
                <a:solidFill>
                  <a:srgbClr val="0F766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F766E"/>
                </a:solidFill>
                <a:latin typeface="Calibri"/>
                <a:cs typeface="Calibri"/>
              </a:rPr>
              <a:t>automatically.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200" y="152400"/>
            <a:ext cx="6451599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3931920"/>
            <a:ext cx="640079" cy="640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4545" y="1436116"/>
            <a:ext cx="6604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D9488"/>
                </a:solidFill>
                <a:latin typeface="Consolas"/>
                <a:cs typeface="Consolas"/>
              </a:rPr>
              <a:t>PART</a:t>
            </a:r>
            <a:r>
              <a:rPr dirty="0" sz="1300" spc="-20" b="1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dirty="0" sz="1300" spc="-25" b="1">
                <a:solidFill>
                  <a:srgbClr val="0D9488"/>
                </a:solidFill>
                <a:latin typeface="Consolas"/>
                <a:cs typeface="Consolas"/>
              </a:rPr>
              <a:t>11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4545" y="1925320"/>
            <a:ext cx="401383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Key</a:t>
            </a:r>
            <a:r>
              <a:rPr dirty="0" sz="4000" spc="-7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Vocabulary</a:t>
            </a:r>
            <a:r>
              <a:rPr dirty="0" sz="4000" spc="-65">
                <a:solidFill>
                  <a:srgbClr val="FFFFFF"/>
                </a:solidFill>
              </a:rPr>
              <a:t> </a:t>
            </a:r>
            <a:r>
              <a:rPr dirty="0" sz="4000" spc="-50">
                <a:solidFill>
                  <a:srgbClr val="FFFFFF"/>
                </a:solidFill>
              </a:rPr>
              <a:t>&amp; </a:t>
            </a:r>
            <a:r>
              <a:rPr dirty="0" sz="4000">
                <a:solidFill>
                  <a:srgbClr val="FFFFFF"/>
                </a:solidFill>
              </a:rPr>
              <a:t>What's</a:t>
            </a:r>
            <a:r>
              <a:rPr dirty="0" sz="4000" spc="-30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Next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731519" y="3840479"/>
            <a:ext cx="1097280" cy="55244"/>
          </a:xfrm>
          <a:custGeom>
            <a:avLst/>
            <a:gdLst/>
            <a:ahLst/>
            <a:cxnLst/>
            <a:rect l="l" t="t" r="r" b="b"/>
            <a:pathLst>
              <a:path w="1097280" h="55245">
                <a:moveTo>
                  <a:pt x="1097279" y="54864"/>
                </a:moveTo>
                <a:lnTo>
                  <a:pt x="0" y="54864"/>
                </a:lnTo>
                <a:lnTo>
                  <a:pt x="0" y="0"/>
                </a:lnTo>
                <a:lnTo>
                  <a:pt x="1097279" y="0"/>
                </a:lnTo>
                <a:lnTo>
                  <a:pt x="1097279" y="54864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432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Essential</a:t>
            </a:r>
            <a:r>
              <a:rPr dirty="0" spc="-55"/>
              <a:t> </a:t>
            </a:r>
            <a:r>
              <a:rPr dirty="0" spc="-10"/>
              <a:t>Vocabulary</a:t>
            </a:r>
            <a:r>
              <a:rPr dirty="0" spc="-50"/>
              <a:t> </a:t>
            </a:r>
            <a:r>
              <a:rPr dirty="0" spc="-10"/>
              <a:t>(1/2)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1519" y="914400"/>
          <a:ext cx="7757159" cy="3745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9920"/>
                <a:gridCol w="702309"/>
                <a:gridCol w="5078730"/>
              </a:tblGrid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1200" spc="-2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AI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46990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learns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makes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decisions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solidFill>
                      <a:srgbClr val="F0F1F4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Agentic</a:t>
                      </a:r>
                      <a:r>
                        <a:rPr dirty="0" sz="1200" spc="-8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AI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plans,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tools,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fixes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mistakes,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completes</a:t>
                      </a:r>
                      <a:r>
                        <a:rPr dirty="0" sz="1300" spc="-4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jobs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AI</a:t>
                      </a:r>
                      <a:r>
                        <a:rPr dirty="0" sz="1200" spc="-3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Worker</a:t>
                      </a:r>
                      <a:r>
                        <a:rPr dirty="0" sz="1200" spc="-3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/</a:t>
                      </a:r>
                      <a:r>
                        <a:rPr dirty="0" sz="1200" spc="-3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Digital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46990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</a:pPr>
                      <a:r>
                        <a:rPr dirty="0" sz="1200" spc="-2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FTE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46990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built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300" spc="-3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300" spc="-3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job,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300" spc="-3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human</a:t>
                      </a:r>
                      <a:r>
                        <a:rPr dirty="0" sz="1300" spc="-3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solidFill>
                      <a:srgbClr val="F0F1F4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Agent</a:t>
                      </a:r>
                      <a:r>
                        <a:rPr dirty="0" sz="1200" spc="-6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Factory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building</a:t>
                      </a:r>
                      <a:r>
                        <a:rPr dirty="0" sz="1300" spc="-2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workers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(a</a:t>
                      </a:r>
                      <a:r>
                        <a:rPr dirty="0" sz="1300" spc="-2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practice,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300" spc="-2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300" spc="-2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product)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1200" spc="-2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AI-</a:t>
                      </a:r>
                      <a:r>
                        <a:rPr dirty="0" sz="120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Native</a:t>
                      </a:r>
                      <a:r>
                        <a:rPr dirty="0" sz="1200" spc="-45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solidFill>
                            <a:srgbClr val="4F46E4"/>
                          </a:solidFill>
                          <a:latin typeface="Consolas"/>
                          <a:cs typeface="Consolas"/>
                        </a:rPr>
                        <a:t>Company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46990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Company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most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workers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AI,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selling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results</a:t>
                      </a:r>
                      <a:r>
                        <a:rPr dirty="0" sz="1300" spc="-35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300" spc="-4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E293B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432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Essential</a:t>
            </a:r>
            <a:r>
              <a:rPr dirty="0" spc="-55"/>
              <a:t> </a:t>
            </a:r>
            <a:r>
              <a:rPr dirty="0" spc="-10"/>
              <a:t>Vocabulary</a:t>
            </a:r>
            <a:r>
              <a:rPr dirty="0" spc="-50"/>
              <a:t> </a:t>
            </a:r>
            <a:r>
              <a:rPr dirty="0" spc="-10"/>
              <a:t>(2/2)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519" y="914400"/>
            <a:ext cx="7680959" cy="640080"/>
          </a:xfrm>
          <a:prstGeom prst="rect">
            <a:avLst/>
          </a:prstGeom>
          <a:solidFill>
            <a:srgbClr val="F0F1F4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tabLst>
                <a:tab pos="3011170" algn="l"/>
              </a:tabLst>
            </a:pPr>
            <a:r>
              <a:rPr dirty="0" baseline="2314" sz="1800" spc="-15">
                <a:solidFill>
                  <a:srgbClr val="4F46E4"/>
                </a:solidFill>
                <a:latin typeface="Consolas"/>
                <a:cs typeface="Consolas"/>
              </a:rPr>
              <a:t>Delegate</a:t>
            </a:r>
            <a:r>
              <a:rPr dirty="0" baseline="2314" sz="1800">
                <a:solidFill>
                  <a:srgbClr val="4F46E4"/>
                </a:solidFill>
                <a:latin typeface="Consolas"/>
                <a:cs typeface="Consolas"/>
              </a:rPr>
              <a:t>	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Your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personal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AI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that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manages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workforce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for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you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25" y="1901444"/>
            <a:ext cx="1364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F46E4"/>
                </a:solidFill>
                <a:latin typeface="Consolas"/>
                <a:cs typeface="Consolas"/>
              </a:rPr>
              <a:t>System</a:t>
            </a:r>
            <a:r>
              <a:rPr dirty="0" sz="1200" spc="-50">
                <a:solidFill>
                  <a:srgbClr val="4F46E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4F46E4"/>
                </a:solidFill>
                <a:latin typeface="Consolas"/>
                <a:cs typeface="Consolas"/>
              </a:rPr>
              <a:t>of</a:t>
            </a:r>
            <a:r>
              <a:rPr dirty="0" sz="1200" spc="-45">
                <a:solidFill>
                  <a:srgbClr val="4F46E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Consolas"/>
                <a:cs typeface="Consolas"/>
              </a:rPr>
              <a:t>Record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0625" y="1893316"/>
            <a:ext cx="37534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Company's</a:t>
            </a:r>
            <a:r>
              <a:rPr dirty="0" sz="13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official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memory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—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the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single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source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of</a:t>
            </a:r>
            <a:r>
              <a:rPr dirty="0" sz="13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truth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519" y="2468879"/>
            <a:ext cx="7680959" cy="640080"/>
          </a:xfrm>
          <a:prstGeom prst="rect">
            <a:avLst/>
          </a:prstGeom>
          <a:solidFill>
            <a:srgbClr val="F0F1F4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tabLst>
                <a:tab pos="3011170" algn="l"/>
              </a:tabLst>
            </a:pPr>
            <a:r>
              <a:rPr dirty="0" baseline="2314" sz="1800" spc="-30">
                <a:solidFill>
                  <a:srgbClr val="4F46E4"/>
                </a:solidFill>
                <a:latin typeface="Consolas"/>
                <a:cs typeface="Consolas"/>
              </a:rPr>
              <a:t>Spec</a:t>
            </a:r>
            <a:r>
              <a:rPr dirty="0" baseline="2314" sz="1800">
                <a:solidFill>
                  <a:srgbClr val="4F46E4"/>
                </a:solidFill>
                <a:latin typeface="Consolas"/>
                <a:cs typeface="Consolas"/>
              </a:rPr>
              <a:t>	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Clear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written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instruction: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goal,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limits,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budget,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success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criteria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7425" y="3455923"/>
            <a:ext cx="1113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4F46E4"/>
                </a:solidFill>
                <a:latin typeface="Consolas"/>
                <a:cs typeface="Consolas"/>
              </a:rPr>
              <a:t>10-80-</a:t>
            </a:r>
            <a:r>
              <a:rPr dirty="0" sz="1200">
                <a:solidFill>
                  <a:srgbClr val="4F46E4"/>
                </a:solidFill>
                <a:latin typeface="Consolas"/>
                <a:cs typeface="Consolas"/>
              </a:rPr>
              <a:t>10</a:t>
            </a:r>
            <a:r>
              <a:rPr dirty="0" sz="1200" spc="25">
                <a:solidFill>
                  <a:srgbClr val="4F46E4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4F46E4"/>
                </a:solidFill>
                <a:latin typeface="Consolas"/>
                <a:cs typeface="Consolas"/>
              </a:rPr>
              <a:t>Rule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0625" y="3447796"/>
            <a:ext cx="41471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Human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direction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(10%)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+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AI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work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(80%)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+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Human</a:t>
            </a:r>
            <a:r>
              <a:rPr dirty="0" sz="1300" spc="-4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E293B"/>
                </a:solidFill>
                <a:latin typeface="Calibri"/>
                <a:cs typeface="Calibri"/>
              </a:rPr>
              <a:t>check</a:t>
            </a:r>
            <a:r>
              <a:rPr dirty="0" sz="13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E293B"/>
                </a:solidFill>
                <a:latin typeface="Calibri"/>
                <a:cs typeface="Calibri"/>
              </a:rPr>
              <a:t>(10%)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0" y="0"/>
            <a:ext cx="2286000" cy="3200400"/>
          </a:xfrm>
          <a:custGeom>
            <a:avLst/>
            <a:gdLst/>
            <a:ahLst/>
            <a:cxnLst/>
            <a:rect l="l" t="t" r="r" b="b"/>
            <a:pathLst>
              <a:path w="2286000" h="3200400">
                <a:moveTo>
                  <a:pt x="2286000" y="3200399"/>
                </a:moveTo>
                <a:lnTo>
                  <a:pt x="2237560" y="3199896"/>
                </a:lnTo>
                <a:lnTo>
                  <a:pt x="2189367" y="3198394"/>
                </a:lnTo>
                <a:lnTo>
                  <a:pt x="2141429" y="3195902"/>
                </a:lnTo>
                <a:lnTo>
                  <a:pt x="2093757" y="3192430"/>
                </a:lnTo>
                <a:lnTo>
                  <a:pt x="2046360" y="3187989"/>
                </a:lnTo>
                <a:lnTo>
                  <a:pt x="1999249" y="3182588"/>
                </a:lnTo>
                <a:lnTo>
                  <a:pt x="1952432" y="3176237"/>
                </a:lnTo>
                <a:lnTo>
                  <a:pt x="1905921" y="3168947"/>
                </a:lnTo>
                <a:lnTo>
                  <a:pt x="1859725" y="3160726"/>
                </a:lnTo>
                <a:lnTo>
                  <a:pt x="1813854" y="3151585"/>
                </a:lnTo>
                <a:lnTo>
                  <a:pt x="1768318" y="3141534"/>
                </a:lnTo>
                <a:lnTo>
                  <a:pt x="1723127" y="3130583"/>
                </a:lnTo>
                <a:lnTo>
                  <a:pt x="1678290" y="3118741"/>
                </a:lnTo>
                <a:lnTo>
                  <a:pt x="1633818" y="3106019"/>
                </a:lnTo>
                <a:lnTo>
                  <a:pt x="1589721" y="3092427"/>
                </a:lnTo>
                <a:lnTo>
                  <a:pt x="1546009" y="3077974"/>
                </a:lnTo>
                <a:lnTo>
                  <a:pt x="1502690" y="3062670"/>
                </a:lnTo>
                <a:lnTo>
                  <a:pt x="1459776" y="3046526"/>
                </a:lnTo>
                <a:lnTo>
                  <a:pt x="1417277" y="3029550"/>
                </a:lnTo>
                <a:lnTo>
                  <a:pt x="1375201" y="3011754"/>
                </a:lnTo>
                <a:lnTo>
                  <a:pt x="1333560" y="2993147"/>
                </a:lnTo>
                <a:lnTo>
                  <a:pt x="1292363" y="2973739"/>
                </a:lnTo>
                <a:lnTo>
                  <a:pt x="1251619" y="2953539"/>
                </a:lnTo>
                <a:lnTo>
                  <a:pt x="1211340" y="2932559"/>
                </a:lnTo>
                <a:lnTo>
                  <a:pt x="1171534" y="2910807"/>
                </a:lnTo>
                <a:lnTo>
                  <a:pt x="1132212" y="2888293"/>
                </a:lnTo>
                <a:lnTo>
                  <a:pt x="1093383" y="2865029"/>
                </a:lnTo>
                <a:lnTo>
                  <a:pt x="1055058" y="2841022"/>
                </a:lnTo>
                <a:lnTo>
                  <a:pt x="1017247" y="2816284"/>
                </a:lnTo>
                <a:lnTo>
                  <a:pt x="979959" y="2790824"/>
                </a:lnTo>
                <a:lnTo>
                  <a:pt x="943204" y="2764653"/>
                </a:lnTo>
                <a:lnTo>
                  <a:pt x="906992" y="2737779"/>
                </a:lnTo>
                <a:lnTo>
                  <a:pt x="871334" y="2710214"/>
                </a:lnTo>
                <a:lnTo>
                  <a:pt x="836238" y="2681967"/>
                </a:lnTo>
                <a:lnTo>
                  <a:pt x="801716" y="2653047"/>
                </a:lnTo>
                <a:lnTo>
                  <a:pt x="767776" y="2623465"/>
                </a:lnTo>
                <a:lnTo>
                  <a:pt x="734429" y="2593231"/>
                </a:lnTo>
                <a:lnTo>
                  <a:pt x="701685" y="2562355"/>
                </a:lnTo>
                <a:lnTo>
                  <a:pt x="669554" y="2530846"/>
                </a:lnTo>
                <a:lnTo>
                  <a:pt x="638045" y="2498714"/>
                </a:lnTo>
                <a:lnTo>
                  <a:pt x="607168" y="2465970"/>
                </a:lnTo>
                <a:lnTo>
                  <a:pt x="576934" y="2432623"/>
                </a:lnTo>
                <a:lnTo>
                  <a:pt x="547352" y="2398683"/>
                </a:lnTo>
                <a:lnTo>
                  <a:pt x="518433" y="2364161"/>
                </a:lnTo>
                <a:lnTo>
                  <a:pt x="490185" y="2329065"/>
                </a:lnTo>
                <a:lnTo>
                  <a:pt x="462620" y="2293407"/>
                </a:lnTo>
                <a:lnTo>
                  <a:pt x="435746" y="2257195"/>
                </a:lnTo>
                <a:lnTo>
                  <a:pt x="409575" y="2220440"/>
                </a:lnTo>
                <a:lnTo>
                  <a:pt x="384115" y="2183152"/>
                </a:lnTo>
                <a:lnTo>
                  <a:pt x="359377" y="2145341"/>
                </a:lnTo>
                <a:lnTo>
                  <a:pt x="335370" y="2107016"/>
                </a:lnTo>
                <a:lnTo>
                  <a:pt x="312106" y="2068187"/>
                </a:lnTo>
                <a:lnTo>
                  <a:pt x="289592" y="2028865"/>
                </a:lnTo>
                <a:lnTo>
                  <a:pt x="267840" y="1989060"/>
                </a:lnTo>
                <a:lnTo>
                  <a:pt x="246860" y="1948780"/>
                </a:lnTo>
                <a:lnTo>
                  <a:pt x="226660" y="1908037"/>
                </a:lnTo>
                <a:lnTo>
                  <a:pt x="207252" y="1866839"/>
                </a:lnTo>
                <a:lnTo>
                  <a:pt x="188645" y="1825198"/>
                </a:lnTo>
                <a:lnTo>
                  <a:pt x="170849" y="1783122"/>
                </a:lnTo>
                <a:lnTo>
                  <a:pt x="153873" y="1740623"/>
                </a:lnTo>
                <a:lnTo>
                  <a:pt x="137729" y="1697709"/>
                </a:lnTo>
                <a:lnTo>
                  <a:pt x="122425" y="1654391"/>
                </a:lnTo>
                <a:lnTo>
                  <a:pt x="107972" y="1610678"/>
                </a:lnTo>
                <a:lnTo>
                  <a:pt x="94380" y="1566581"/>
                </a:lnTo>
                <a:lnTo>
                  <a:pt x="81658" y="1522109"/>
                </a:lnTo>
                <a:lnTo>
                  <a:pt x="69816" y="1477272"/>
                </a:lnTo>
                <a:lnTo>
                  <a:pt x="58865" y="1432081"/>
                </a:lnTo>
                <a:lnTo>
                  <a:pt x="48814" y="1386545"/>
                </a:lnTo>
                <a:lnTo>
                  <a:pt x="39673" y="1340674"/>
                </a:lnTo>
                <a:lnTo>
                  <a:pt x="31452" y="1294478"/>
                </a:lnTo>
                <a:lnTo>
                  <a:pt x="24162" y="1247967"/>
                </a:lnTo>
                <a:lnTo>
                  <a:pt x="17811" y="1201150"/>
                </a:lnTo>
                <a:lnTo>
                  <a:pt x="12410" y="1154039"/>
                </a:lnTo>
                <a:lnTo>
                  <a:pt x="7968" y="1106642"/>
                </a:lnTo>
                <a:lnTo>
                  <a:pt x="4497" y="1058970"/>
                </a:lnTo>
                <a:lnTo>
                  <a:pt x="2005" y="1011032"/>
                </a:lnTo>
                <a:lnTo>
                  <a:pt x="503" y="962839"/>
                </a:lnTo>
                <a:lnTo>
                  <a:pt x="0" y="914399"/>
                </a:lnTo>
                <a:lnTo>
                  <a:pt x="503" y="865960"/>
                </a:lnTo>
                <a:lnTo>
                  <a:pt x="2005" y="817767"/>
                </a:lnTo>
                <a:lnTo>
                  <a:pt x="4497" y="769829"/>
                </a:lnTo>
                <a:lnTo>
                  <a:pt x="7968" y="722157"/>
                </a:lnTo>
                <a:lnTo>
                  <a:pt x="12410" y="674760"/>
                </a:lnTo>
                <a:lnTo>
                  <a:pt x="17811" y="627649"/>
                </a:lnTo>
                <a:lnTo>
                  <a:pt x="24162" y="580832"/>
                </a:lnTo>
                <a:lnTo>
                  <a:pt x="31452" y="534321"/>
                </a:lnTo>
                <a:lnTo>
                  <a:pt x="39673" y="488125"/>
                </a:lnTo>
                <a:lnTo>
                  <a:pt x="48814" y="442254"/>
                </a:lnTo>
                <a:lnTo>
                  <a:pt x="58865" y="396718"/>
                </a:lnTo>
                <a:lnTo>
                  <a:pt x="69816" y="351527"/>
                </a:lnTo>
                <a:lnTo>
                  <a:pt x="81658" y="306690"/>
                </a:lnTo>
                <a:lnTo>
                  <a:pt x="94380" y="262218"/>
                </a:lnTo>
                <a:lnTo>
                  <a:pt x="107972" y="218121"/>
                </a:lnTo>
                <a:lnTo>
                  <a:pt x="122425" y="174408"/>
                </a:lnTo>
                <a:lnTo>
                  <a:pt x="137729" y="131090"/>
                </a:lnTo>
                <a:lnTo>
                  <a:pt x="153873" y="88176"/>
                </a:lnTo>
                <a:lnTo>
                  <a:pt x="170849" y="45677"/>
                </a:lnTo>
                <a:lnTo>
                  <a:pt x="188645" y="3601"/>
                </a:lnTo>
                <a:lnTo>
                  <a:pt x="2286000" y="0"/>
                </a:lnTo>
                <a:lnTo>
                  <a:pt x="2286000" y="320039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4545" y="423672"/>
            <a:ext cx="25565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EEAD4"/>
                </a:solidFill>
                <a:latin typeface="Consolas"/>
                <a:cs typeface="Consolas"/>
              </a:rPr>
              <a:t>TODAY'S</a:t>
            </a:r>
            <a:r>
              <a:rPr dirty="0" sz="1100" spc="-20">
                <a:solidFill>
                  <a:srgbClr val="5EEAD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4"/>
                </a:solidFill>
                <a:latin typeface="Consolas"/>
                <a:cs typeface="Consolas"/>
              </a:rPr>
              <a:t>BIG</a:t>
            </a:r>
            <a:r>
              <a:rPr dirty="0" sz="1100" spc="-15">
                <a:solidFill>
                  <a:srgbClr val="5EEAD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4"/>
                </a:solidFill>
                <a:latin typeface="Consolas"/>
                <a:cs typeface="Consolas"/>
              </a:rPr>
              <a:t>IDEAS</a:t>
            </a:r>
            <a:r>
              <a:rPr dirty="0" sz="1100" spc="-20">
                <a:solidFill>
                  <a:srgbClr val="5EEAD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4"/>
                </a:solidFill>
                <a:latin typeface="Consolas"/>
                <a:cs typeface="Consolas"/>
              </a:rPr>
              <a:t>—</a:t>
            </a:r>
            <a:r>
              <a:rPr dirty="0" sz="1100" spc="-15">
                <a:solidFill>
                  <a:srgbClr val="5EEAD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4"/>
                </a:solidFill>
                <a:latin typeface="Consolas"/>
                <a:cs typeface="Consolas"/>
              </a:rPr>
              <a:t>IN</a:t>
            </a:r>
            <a:r>
              <a:rPr dirty="0" sz="1100" spc="-20">
                <a:solidFill>
                  <a:srgbClr val="5EEAD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4"/>
                </a:solidFill>
                <a:latin typeface="Consolas"/>
                <a:cs typeface="Consolas"/>
              </a:rPr>
              <a:t>ONE</a:t>
            </a:r>
            <a:r>
              <a:rPr dirty="0" sz="1100" spc="-15">
                <a:solidFill>
                  <a:srgbClr val="5EEAD4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5EEAD4"/>
                </a:solidFill>
                <a:latin typeface="Consolas"/>
                <a:cs typeface="Consolas"/>
              </a:rPr>
              <a:t>BREATH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87425" y="858012"/>
            <a:ext cx="7022465" cy="6019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software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that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learns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makes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decisions.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Agentic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E1E7F0"/>
                </a:solidFill>
                <a:latin typeface="Calibri"/>
                <a:cs typeface="Calibri"/>
              </a:rPr>
              <a:t>takes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this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further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it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plans,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uses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tools,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completes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entire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E1E7F0"/>
                </a:solidFill>
                <a:latin typeface="Calibri"/>
                <a:cs typeface="Calibri"/>
              </a:rPr>
              <a:t>jobs.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425" y="1722119"/>
            <a:ext cx="7016115" cy="292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6245">
              <a:lnSpc>
                <a:spcPct val="135000"/>
              </a:lnSpc>
              <a:spcBef>
                <a:spcPts val="100"/>
              </a:spcBef>
            </a:pP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Agent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Factory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method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building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workers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organizing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them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into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AI-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Native Companies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where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does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work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humans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set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direction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check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quality.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25">
                <a:solidFill>
                  <a:srgbClr val="E1E7F0"/>
                </a:solidFill>
                <a:latin typeface="Calibri"/>
                <a:cs typeface="Calibri"/>
              </a:rPr>
              <a:t>You're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not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being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replaced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you're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being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promoted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from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worker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director.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5000"/>
              </a:lnSpc>
            </a:pP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future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belongs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people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who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can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clearly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tell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AI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what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do,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connect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it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real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data,</a:t>
            </a:r>
            <a:r>
              <a:rPr dirty="0" sz="14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verify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results</a:t>
            </a:r>
            <a:r>
              <a:rPr dirty="0" sz="14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1E7F0"/>
                </a:solidFill>
                <a:latin typeface="Calibri"/>
                <a:cs typeface="Calibri"/>
              </a:rPr>
              <a:t>are</a:t>
            </a:r>
            <a:r>
              <a:rPr dirty="0" sz="14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1E7F0"/>
                </a:solidFill>
                <a:latin typeface="Calibri"/>
                <a:cs typeface="Calibri"/>
              </a:rPr>
              <a:t>correct.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Calibri"/>
              <a:cs typeface="Calibri"/>
            </a:endParaRPr>
          </a:p>
          <a:p>
            <a:pPr marL="12700" marR="1270000">
              <a:lnSpc>
                <a:spcPct val="100000"/>
              </a:lnSpc>
            </a:pP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That's</a:t>
            </a:r>
            <a:r>
              <a:rPr dirty="0" sz="2000" spc="-75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what</a:t>
            </a:r>
            <a:r>
              <a:rPr dirty="0" sz="2000" spc="-70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this</a:t>
            </a:r>
            <a:r>
              <a:rPr dirty="0" sz="2000" spc="-75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program</a:t>
            </a:r>
            <a:r>
              <a:rPr dirty="0" sz="2000" spc="-70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will</a:t>
            </a:r>
            <a:r>
              <a:rPr dirty="0" sz="2000" spc="-75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teach</a:t>
            </a:r>
            <a:r>
              <a:rPr dirty="0" sz="2000" spc="-70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5EEAD4"/>
                </a:solidFill>
                <a:latin typeface="Georgia"/>
                <a:cs typeface="Georgia"/>
              </a:rPr>
              <a:t>you.</a:t>
            </a:r>
            <a:r>
              <a:rPr dirty="0" sz="2000" spc="-75" i="1">
                <a:solidFill>
                  <a:srgbClr val="5EEAD4"/>
                </a:solidFill>
                <a:latin typeface="Georgia"/>
                <a:cs typeface="Georgia"/>
              </a:rPr>
              <a:t> </a:t>
            </a:r>
            <a:r>
              <a:rPr dirty="0" sz="2000" spc="-10" i="1">
                <a:solidFill>
                  <a:srgbClr val="5EEAD4"/>
                </a:solidFill>
                <a:latin typeface="Georgia"/>
                <a:cs typeface="Georgia"/>
              </a:rPr>
              <a:t>Welcome aboard.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4206240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>
                <a:solidFill>
                  <a:srgbClr val="FFFFFF"/>
                </a:solidFill>
              </a:rPr>
              <a:t>Thank</a:t>
            </a:r>
            <a:r>
              <a:rPr dirty="0" sz="5200" spc="-175">
                <a:solidFill>
                  <a:srgbClr val="FFFFFF"/>
                </a:solidFill>
              </a:rPr>
              <a:t> </a:t>
            </a:r>
            <a:r>
              <a:rPr dirty="0" sz="5200" spc="-25">
                <a:solidFill>
                  <a:srgbClr val="FFFFFF"/>
                </a:solidFill>
              </a:rPr>
              <a:t>You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2735132" y="2675636"/>
            <a:ext cx="3670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94A3B8"/>
                </a:solidFill>
                <a:latin typeface="Calibri"/>
                <a:cs typeface="Calibri"/>
              </a:rPr>
              <a:t>Your</a:t>
            </a:r>
            <a:r>
              <a:rPr dirty="0" sz="1800" spc="-7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4A3B8"/>
                </a:solidFill>
                <a:latin typeface="Calibri"/>
                <a:cs typeface="Calibri"/>
              </a:rPr>
              <a:t>journey</a:t>
            </a:r>
            <a:r>
              <a:rPr dirty="0" sz="1800" spc="-6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4A3B8"/>
                </a:solidFill>
                <a:latin typeface="Calibri"/>
                <a:cs typeface="Calibri"/>
              </a:rPr>
              <a:t>into</a:t>
            </a:r>
            <a:r>
              <a:rPr dirty="0" sz="1800" spc="-6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4A3B8"/>
                </a:solidFill>
                <a:latin typeface="Calibri"/>
                <a:cs typeface="Calibri"/>
              </a:rPr>
              <a:t>Agentic</a:t>
            </a:r>
            <a:r>
              <a:rPr dirty="0" sz="1800" spc="-7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4A3B8"/>
                </a:solidFill>
                <a:latin typeface="Calibri"/>
                <a:cs typeface="Calibri"/>
              </a:rPr>
              <a:t>AI</a:t>
            </a:r>
            <a:r>
              <a:rPr dirty="0" sz="1800" spc="-6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94A3B8"/>
                </a:solidFill>
                <a:latin typeface="Calibri"/>
                <a:cs typeface="Calibri"/>
              </a:rPr>
              <a:t>starts</a:t>
            </a:r>
            <a:r>
              <a:rPr dirty="0" sz="1800" spc="-6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94A3B8"/>
                </a:solidFill>
                <a:latin typeface="Calibri"/>
                <a:cs typeface="Calibri"/>
              </a:rPr>
              <a:t>now.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4800" y="3291840"/>
            <a:ext cx="914400" cy="45720"/>
          </a:xfrm>
          <a:custGeom>
            <a:avLst/>
            <a:gdLst/>
            <a:ahLst/>
            <a:cxnLst/>
            <a:rect l="l" t="t" r="r" b="b"/>
            <a:pathLst>
              <a:path w="914400" h="45720">
                <a:moveTo>
                  <a:pt x="914399" y="45719"/>
                </a:moveTo>
                <a:lnTo>
                  <a:pt x="0" y="45719"/>
                </a:lnTo>
                <a:lnTo>
                  <a:pt x="0" y="0"/>
                </a:lnTo>
                <a:lnTo>
                  <a:pt x="914399" y="0"/>
                </a:lnTo>
                <a:lnTo>
                  <a:pt x="914399" y="45719"/>
                </a:lnTo>
                <a:close/>
              </a:path>
            </a:pathLst>
          </a:custGeom>
          <a:solidFill>
            <a:srgbClr val="5E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01429" y="3730244"/>
            <a:ext cx="21393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040" marR="5080" indent="-18097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4738B"/>
                </a:solidFill>
                <a:latin typeface="Calibri"/>
                <a:cs typeface="Calibri"/>
              </a:rPr>
              <a:t>Based</a:t>
            </a:r>
            <a:r>
              <a:rPr dirty="0" sz="1200" spc="-3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4738B"/>
                </a:solidFill>
                <a:latin typeface="Calibri"/>
                <a:cs typeface="Calibri"/>
              </a:rPr>
              <a:t>on</a:t>
            </a:r>
            <a:r>
              <a:rPr dirty="0" sz="1200" spc="-3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4738B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4738B"/>
                </a:solidFill>
                <a:latin typeface="Calibri"/>
                <a:cs typeface="Calibri"/>
              </a:rPr>
              <a:t>Agent</a:t>
            </a:r>
            <a:r>
              <a:rPr dirty="0" sz="1200" spc="-3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4738B"/>
                </a:solidFill>
                <a:latin typeface="Calibri"/>
                <a:cs typeface="Calibri"/>
              </a:rPr>
              <a:t>Factory</a:t>
            </a:r>
            <a:r>
              <a:rPr dirty="0" sz="1200" spc="-3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4738B"/>
                </a:solidFill>
                <a:latin typeface="Calibri"/>
                <a:cs typeface="Calibri"/>
              </a:rPr>
              <a:t>Thesis agentfactory.panaversity.org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Agentic-AI</dc:title>
  <dcterms:created xsi:type="dcterms:W3CDTF">2026-06-27T17:42:35Z</dcterms:created>
  <dcterms:modified xsi:type="dcterms:W3CDTF">2026-06-27T17:42:35Z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2026-06-27T00:00:00Z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2026-06-27T00:00:00Z</vt:filetime>
  </property>
</Properties>
</file>